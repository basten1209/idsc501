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4e82f6e29fc414d" /><Relationship Type="http://schemas.openxmlformats.org/officeDocument/2006/relationships/extended-properties" Target="/docProps/app.xml" Id="R2596391d060d42d4" /><Relationship Type="http://schemas.openxmlformats.org/officeDocument/2006/relationships/officeDocument" Target="/ppt/presentation.xml" Id="R68bbdf665ba94a0a" /></Relationships>
</file>

<file path=ppt/presentation.xml><?xml version="1.0" encoding="utf-8"?>
<p:presentation xmlns:p="http://schemas.openxmlformats.org/presentationml/2006/main">
  <p:sldMasterIdLst>
    <p:sldMasterId xmlns:r="http://schemas.openxmlformats.org/officeDocument/2006/relationships" id="2147483648" r:id="R1a2e8fc0063e49d3"/>
  </p:sldMasterIdLst>
  <p:notesMasterIdLst>
    <p:notesMasterId xmlns:r="http://schemas.openxmlformats.org/officeDocument/2006/relationships" r:id="R8762e99d069a4ffb"/>
  </p:notesMasterIdLst>
  <p:sldIdLst>
    <p:sldId xmlns:r="http://schemas.openxmlformats.org/officeDocument/2006/relationships" id="256" r:id="Rc02c6f75e8b1469d"/>
    <p:sldId xmlns:r="http://schemas.openxmlformats.org/officeDocument/2006/relationships" id="257" r:id="R1e2233075dae4ee8"/>
    <p:sldId xmlns:r="http://schemas.openxmlformats.org/officeDocument/2006/relationships" id="258" r:id="Reca237912c0d4427"/>
    <p:sldId xmlns:r="http://schemas.openxmlformats.org/officeDocument/2006/relationships" id="259" r:id="R949685981f244c14"/>
    <p:sldId xmlns:r="http://schemas.openxmlformats.org/officeDocument/2006/relationships" id="260" r:id="Rc495cc950ab04d15"/>
    <p:sldId xmlns:r="http://schemas.openxmlformats.org/officeDocument/2006/relationships" id="261" r:id="R8eb67ad3c07d4eb3"/>
    <p:sldId xmlns:r="http://schemas.openxmlformats.org/officeDocument/2006/relationships" id="262" r:id="R0b195f3d3a924c32"/>
    <p:sldId xmlns:r="http://schemas.openxmlformats.org/officeDocument/2006/relationships" id="263" r:id="R3e02c858adee47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f1b41969b44c61" /><Relationship Type="http://schemas.openxmlformats.org/officeDocument/2006/relationships/slideMaster" Target="/ppt/slideMasters/slideMaster1.xml" Id="R1a2e8fc0063e49d3" /><Relationship Type="http://schemas.openxmlformats.org/officeDocument/2006/relationships/notesMaster" Target="/ppt/notesMasters/notesMaster1.xml" Id="R8762e99d069a4ffb" /><Relationship Type="http://schemas.openxmlformats.org/officeDocument/2006/relationships/presProps" Target="/ppt/presProps.xml" Id="R5cdeb49ce3e04e88" /><Relationship Type="http://schemas.openxmlformats.org/officeDocument/2006/relationships/tableStyles" Target="/ppt/tableStyles.xml" Id="Rc16983210ea246ae" /><Relationship Type="http://schemas.openxmlformats.org/officeDocument/2006/relationships/slide" Target="/ppt/slides/slide1.xml" Id="Rc02c6f75e8b1469d" /><Relationship Type="http://schemas.openxmlformats.org/officeDocument/2006/relationships/slide" Target="/ppt/slides/slide2.xml" Id="R1e2233075dae4ee8" /><Relationship Type="http://schemas.openxmlformats.org/officeDocument/2006/relationships/slide" Target="/ppt/slides/slide3.xml" Id="Reca237912c0d4427" /><Relationship Type="http://schemas.openxmlformats.org/officeDocument/2006/relationships/slide" Target="/ppt/slides/slide4.xml" Id="R949685981f244c14" /><Relationship Type="http://schemas.openxmlformats.org/officeDocument/2006/relationships/slide" Target="/ppt/slides/slide5.xml" Id="Rc495cc950ab04d15" /><Relationship Type="http://schemas.openxmlformats.org/officeDocument/2006/relationships/slide" Target="/ppt/slides/slide6.xml" Id="R8eb67ad3c07d4eb3" /><Relationship Type="http://schemas.openxmlformats.org/officeDocument/2006/relationships/slide" Target="/ppt/slides/slide7.xml" Id="R0b195f3d3a924c32" /><Relationship Type="http://schemas.openxmlformats.org/officeDocument/2006/relationships/slide" Target="/ppt/slides/slide8.xml" Id="R3e02c858adee47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bd22f9729b4a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98deab41134c25" /><Relationship Type="http://schemas.openxmlformats.org/officeDocument/2006/relationships/notesMaster" Target="/ppt/notesMasters/notesMaster1.xml" Id="R04daba22f66647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4fe16df8ee4326" /><Relationship Type="http://schemas.openxmlformats.org/officeDocument/2006/relationships/notesMaster" Target="/ppt/notesMasters/notesMaster1.xml" Id="R8a4908bfe8394b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824447c792408c" /><Relationship Type="http://schemas.openxmlformats.org/officeDocument/2006/relationships/notesMaster" Target="/ppt/notesMasters/notesMaster1.xml" Id="R5ea0406c4d114e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0a7e7b7a264e31" /><Relationship Type="http://schemas.openxmlformats.org/officeDocument/2006/relationships/notesMaster" Target="/ppt/notesMasters/notesMaster1.xml" Id="R4da2c7d670ef40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8cf73601b94941" /><Relationship Type="http://schemas.openxmlformats.org/officeDocument/2006/relationships/notesMaster" Target="/ppt/notesMasters/notesMaster1.xml" Id="R355ef5a1d96644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3a114d63a745e2" /><Relationship Type="http://schemas.openxmlformats.org/officeDocument/2006/relationships/notesMaster" Target="/ppt/notesMasters/notesMaster1.xml" Id="Rbca1a0f72f0748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facced03a6463a" /><Relationship Type="http://schemas.openxmlformats.org/officeDocument/2006/relationships/notesMaster" Target="/ppt/notesMasters/notesMaster1.xml" Id="Rfeb84ec2d3564f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de1adc995849b1" /><Relationship Type="http://schemas.openxmlformats.org/officeDocument/2006/relationships/notesMaster" Target="/ppt/notesMasters/notesMaster1.xml" Id="R938f703426ae40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10초</a:t>
            </a:r>
          </a:p>
          <a:p xmlns:a="http://schemas.openxmlformats.org/drawingml/2006/main">
            <a:r>
              <a:t/>
            </a:r>
          </a:p>
          <a:p xmlns:a="http://schemas.openxmlformats.org/drawingml/2006/main">
            <a:r>
              <a:t>저희는 가격과 소셜 데이터를 함께 사용해 다음 날 가격 방향을 예측하는 Meme Coin Analysis Dashboard를 제안합니다.</a:t>
            </a:r>
          </a:p>
          <a:p xmlns:a="http://schemas.openxmlformats.org/drawingml/2006/main">
            <a:r>
              <a:t/>
            </a:r>
          </a:p>
          <a:p xmlns:a="http://schemas.openxmlformats.org/drawingml/2006/main">
            <a:r>
              <a:t>Sources</a:t>
            </a:r>
          </a:p>
          <a:p xmlns:a="http://schemas.openxmlformats.org/drawingml/2006/main">
            <a:r>
              <a:t>proposal/project-proposal.md</a:t>
            </a:r>
          </a:p>
          <a:p xmlns:a="http://schemas.openxmlformats.org/drawingml/2006/main">
            <a:r>
              <a:t>https://icons8.com/icons/set/doge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15초</a:t>
            </a:r>
          </a:p>
          <a:p xmlns:a="http://schemas.openxmlformats.org/drawingml/2006/main">
            <a:r>
              <a:t/>
            </a:r>
          </a:p>
          <a:p xmlns:a="http://schemas.openxmlformats.org/drawingml/2006/main">
            <a:r>
              <a:t>주제 선정 이유와 데이터 수집 방법을 먼저 설명하겠습니다. 이어서 전체 예측 파이프라인과 입력 전처리, 두 데이터베이스의 역할, 최종 대시보드를 보여 드리겠습니다.</a:t>
            </a:r>
          </a:p>
          <a:p xmlns:a="http://schemas.openxmlformats.org/drawingml/2006/main">
            <a:r>
              <a:t/>
            </a:r>
          </a:p>
          <a:p xmlns:a="http://schemas.openxmlformats.org/drawingml/2006/main">
            <a:r>
              <a:t>Sources</a:t>
            </a:r>
          </a:p>
          <a:p xmlns:a="http://schemas.openxmlformats.org/drawingml/2006/main">
            <a:r>
              <a:t>lecturenote/1_overview.html</a:t>
            </a:r>
          </a:p>
          <a:p xmlns:a="http://schemas.openxmlformats.org/drawingml/2006/main">
            <a:r>
              <a:t>proposal/presentation/slide-outline.md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50초</a:t>
            </a:r>
          </a:p>
          <a:p xmlns:a="http://schemas.openxmlformats.org/drawingml/2006/main">
            <a:r>
              <a:t/>
            </a:r>
          </a:p>
          <a:p xmlns:a="http://schemas.openxmlformats.org/drawingml/2006/main">
            <a:r>
              <a:t>제공받은 TRUMP 일별 종가입니다. 상승 구간은 what you want, 이후는 after you buy라고 표현했습니다. 실제 거래를 나타내는 것은 아닙니다.</a:t>
            </a:r>
          </a:p>
          <a:p xmlns:a="http://schemas.openxmlformats.org/drawingml/2006/main">
            <a:r>
              <a:t>가격만 보면 커뮤니티에서 어떤 이야기가 오갔는지는 알기 어렵습니다. 저희는 가격의 수치 정보에 게시물과 커뮤니티 활동을 더하면 다음 날 가격 방향을 예측하는 데 도움이 되는지 확인하려고 합니다. 구체적인 대상은 다음 UTC 일별 종가가 직전 종가보다 오를지 내릴지입니다.</a:t>
            </a:r>
          </a:p>
          <a:p xmlns:a="http://schemas.openxmlformats.org/drawingml/2006/main">
            <a:r>
              <a:t>가격만 사용한 같은 모델과 가격·소셜을 함께 사용한 모델을 비교할 계획이며, 현재 예측 성능이 입증된 상태는 아닙니다.</a:t>
            </a:r>
          </a:p>
          <a:p xmlns:a="http://schemas.openxmlformats.org/drawingml/2006/main">
            <a:r>
              <a:t/>
            </a:r>
          </a:p>
          <a:p xmlns:a="http://schemas.openxmlformats.org/drawingml/2006/main">
            <a:r>
              <a:t>Sources</a:t>
            </a:r>
          </a:p>
          <a:p xmlns:a="http://schemas.openxmlformats.org/drawingml/2006/main">
            <a:r>
              <a:t>.context/attachments/ogAuZF/memecoin_price.zip: OFFICIAL TRUMP.csv, 628 supplied daily closes, 2025-01-18–2026-10-07</a:t>
            </a:r>
          </a:p>
          <a:p xmlns:a="http://schemas.openxmlformats.org/drawingml/2006/main">
            <a:r>
              <a:t>architecture/prediction-design.md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60초</a:t>
            </a:r>
          </a:p>
          <a:p xmlns:a="http://schemas.openxmlformats.org/drawingml/2006/main">
            <a:r>
              <a:t/>
            </a:r>
          </a:p>
          <a:p xmlns:a="http://schemas.openxmlformats.org/drawingml/2006/main">
            <a:r>
              <a:t>가격은 팀원이 CoinMarketCap Historical Data 페이지를 크롤링해 CSV로 전달했고, 10개 코인 14,773행을 확보했습니다. 소셜은 수집 예정입니다.</a:t>
            </a:r>
          </a:p>
          <a:p xmlns:a="http://schemas.openxmlformats.org/drawingml/2006/main">
            <a:r>
              <a:t>X는 DOGE, SHIB, PEPE, BONK, SPX의 선정 계정을 FxTwitter API로 조회합니다. Reddit은 조건이 충족될 때 Arctic Shift API나 아카이브로 수집합니다. MemeChain은 수집할 사이트와 채널을 찾을 때 참고한 자료이며, 그 데이터셋을 적재하는 것은 아닙니다.</a:t>
            </a:r>
          </a:p>
          <a:p xmlns:a="http://schemas.openxmlformats.org/drawingml/2006/main">
            <a:r>
              <a:t>소셜은 매일 수집하고 최근 7일을 다시 확인합니다. 최신 예측을 발행하려면 10월 7일까지인 기존 가격도 갱신해야 합니다. 이를 위해 새 CSV를 받거나 팀원의 CMC 크롤러를 복원해야 합니다. 선정 계정의 활동을 전체 X의 관심도로 표현하지 않겠습니다.</a:t>
            </a:r>
          </a:p>
          <a:p xmlns:a="http://schemas.openxmlformats.org/drawingml/2006/main">
            <a:r>
              <a:t/>
            </a:r>
          </a:p>
          <a:p xmlns:a="http://schemas.openxmlformats.org/drawingml/2006/main">
            <a:r>
              <a:t>Sources</a:t>
            </a:r>
          </a:p>
          <a:p xmlns:a="http://schemas.openxmlformats.org/drawingml/2006/main">
            <a:r>
              <a:t>proposal/evidence-and-references.md</a:t>
            </a:r>
          </a:p>
          <a:p xmlns:a="http://schemas.openxmlformats.org/drawingml/2006/main">
            <a:r>
              <a:t>architecture/ingestion-and-archiving.md</a:t>
            </a:r>
          </a:p>
          <a:p xmlns:a="http://schemas.openxmlformats.org/drawingml/2006/main">
            <a:r>
              <a:t>https://docs.fxembed.com/api/introduction/</a:t>
            </a:r>
          </a:p>
          <a:p xmlns:a="http://schemas.openxmlformats.org/drawingml/2006/main">
            <a:r>
              <a:t>https://github.com/ArthurHeitmann/arctic_shift</a:t>
            </a:r>
          </a:p>
          <a:p xmlns:a="http://schemas.openxmlformats.org/drawingml/2006/main">
            <a:r>
              <a:t>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80초</a:t>
            </a:r>
          </a:p>
          <a:p xmlns:a="http://schemas.openxmlformats.org/drawingml/2006/main">
            <a:r>
              <a:t/>
            </a:r>
          </a:p>
          <a:p xmlns:a="http://schemas.openxmlformats.org/drawingml/2006/main">
            <a:r>
              <a:t>이 그림은 수집부터 예측, 평가까지의 흐름입니다. 위쪽에서 CMC 가격 CSV를 검증해 PostgreSQL에 저장하고, 아래쪽에서는 X·Reddit JSON을 표준화해 MongoDB에 문서와 관측 이력으로 저장합니다. 원본 파일 보관은 재처리용 보조 기능으로 유지합니다.</a:t>
            </a:r>
          </a:p>
          <a:p xmlns:a="http://schemas.openxmlformats.org/drawingml/2006/main">
            <a:r>
              <a:t>Python이 두 저장소에서 가격 이력과 소셜 기록을 읽어 수치 특성을 계산하고 입력 시점을 고정합니다. OpenAI API는 이 입력으로 다음 종가의 상승·하락과 근거를 생성합니다. 스키마와 근거를 검증한 결과는 PostgreSQL의 별도 예측 테이블에 저장합니다.</a:t>
            </a:r>
          </a:p>
          <a:p xmlns:a="http://schemas.openxmlformats.org/drawingml/2006/main">
            <a:r>
              <a:t>오른쪽 대시보드는 저장된 가격과 예측을 보여주고, 게시물 상세는 MongoDB에서 읽습니다. 다음 날 종가가 들어오면 원 예측과 비교합니다. 아래 점선은 오류 검토 결과를 다음 버전의 입력이나 프롬프트에 반영하는 피드백이며 자동 재학습은 아닙니다. API 호출은 일별 배치이고 화면 갱신마다 호출하지 않습니다.</a:t>
            </a:r>
          </a:p>
          <a:p xmlns:a="http://schemas.openxmlformats.org/drawingml/2006/main">
            <a:r>
              <a:t/>
            </a:r>
          </a:p>
          <a:p xmlns:a="http://schemas.openxmlformats.org/drawingml/2006/main">
            <a:r>
              <a:t>Sources</a:t>
            </a:r>
          </a:p>
          <a:p xmlns:a="http://schemas.openxmlformats.org/drawingml/2006/main">
            <a:r>
              <a:t>.context/attachments/yYZEUO/IMG_8630.HEIC: user whiteboard</a:t>
            </a:r>
          </a:p>
          <a:p xmlns:a="http://schemas.openxmlformats.org/drawingml/2006/main">
            <a:r>
              <a:t>architecture/system-design.md</a:t>
            </a:r>
          </a:p>
          <a:p xmlns:a="http://schemas.openxmlformats.org/drawingml/2006/main">
            <a:r>
              <a:t>architecture/prediction-design.md</a:t>
            </a:r>
          </a:p>
          <a:p xmlns:a="http://schemas.openxmlformats.org/drawingml/2006/main">
            <a:r>
              <a:t>https://developers.openai.com/api/docs/guides/structured-outputs</a:t>
            </a:r>
          </a:p>
          <a:p xmlns:a="http://schemas.openxmlformats.org/drawingml/2006/main">
            <a:r>
              <a:t>https://github.com/simple-icons/simple-icons</a:t>
            </a:r>
          </a:p>
          <a:p xmlns:a="http://schemas.openxmlformats.org/drawingml/2006/main">
            <a:r>
              <a:t>https://icons8.com/icon/35007/doge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60초</a:t>
            </a:r>
          </a:p>
          <a:p xmlns:a="http://schemas.openxmlformats.org/drawingml/2006/main">
            <a:r>
              <a:t/>
            </a:r>
          </a:p>
          <a:p xmlns:a="http://schemas.openxmlformats.org/drawingml/2006/main">
            <a:r>
              <a:t>입력은 가격 특성, 소셜 특성, 그리고 이들을 고정한 스냅샷으로 구성합니다. Python이 최근 31개 종가로 수익률과 변동성을 계산하고, 소셜은 최근 7일의 활동량과 감성, 제한된 수의 게시물 본문을 사용합니다. 코인 연결, 중복 제거, UTC 정규화, 품질 검증을 먼저 수행합니다.</a:t>
            </a:r>
          </a:p>
          <a:p xmlns:a="http://schemas.openxmlformats.org/drawingml/2006/main">
            <a:r>
              <a:t>중요한 기준은 예측할 때 실제로 알고 있던 정보입니다. 예를 들어 오늘 처음 받은 과거 게시물을 과거에도 알고 있었다고 처리하지 않습니다. 나중에 늘어난 좋아요도 이전 예측에 넣지 않습니다.</a:t>
            </a:r>
          </a:p>
          <a:p xmlns:a="http://schemas.openxmlformats.org/drawingml/2006/main">
            <a:r>
              <a:t>UTC 하루가 끝난 후 3시에 입력을 동결하고 3시 15분까지 해당 날짜 종가 방향을 발행합니다. 닫힌 하루까지의 사건만 사용합니다. 가격이 낡았거나 소셜이 누락되면 fusion을 보류하고, 가격 전용 결과는 별도로 구분합니다.</a:t>
            </a:r>
          </a:p>
          <a:p xmlns:a="http://schemas.openxmlformats.org/drawingml/2006/main">
            <a:r>
              <a:t/>
            </a:r>
          </a:p>
          <a:p xmlns:a="http://schemas.openxmlformats.org/drawingml/2006/main">
            <a:r>
              <a:t>Sources</a:t>
            </a:r>
          </a:p>
          <a:p xmlns:a="http://schemas.openxmlformats.org/drawingml/2006/main">
            <a:r>
              <a:t>architecture/prediction-design.md, sections 1–3</a:t>
            </a:r>
          </a:p>
          <a:p xmlns:a="http://schemas.openxmlformats.org/drawingml/2006/main">
            <a:r>
              <a:t>architecture/data-model.md</a:t>
            </a:r>
          </a:p>
          <a:p xmlns:a="http://schemas.openxmlformats.org/drawingml/2006/main">
            <a:r>
              <a:t>https://otexts.com/fpp3/toolbox.html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55초</a:t>
            </a:r>
          </a:p>
          <a:p xmlns:a="http://schemas.openxmlformats.org/drawingml/2006/main">
            <a:r>
              <a:t/>
            </a:r>
          </a:p>
          <a:p xmlns:a="http://schemas.openxmlformats.org/drawingml/2006/main">
            <a:r>
              <a:t>PostgreSQL도 JSON을 지원하지만, 이번 프로젝트는 문서형 모델과 관계형 모델의 역할을 나누어 구현합니다. MongoDB는 플랫폼마다 다른 게시물 구조와 관측 이력, 모델 요청·응답 문서를 저장합니다. PostgreSQL은 코인과 가격, 일별 특성, 예측 방향과 실제 결과를 관계와 제약조건으로 관리합니다.</a:t>
            </a:r>
          </a:p>
          <a:p xmlns:a="http://schemas.openxmlformats.org/drawingml/2006/main">
            <a:r>
              <a:t>각 예측은 당시 입력 snapshot과 모델·프롬프트 버전에 연결합니다. 다음 날 실제 가격이 들어오면 outcome을 추가하고 원 예측은 수정하지 않습니다. 소셜은 먼저 일별로 집계한 뒤 가격과 결합해 가격 행이 중복되지 않게 합니다.</a:t>
            </a:r>
          </a:p>
          <a:p xmlns:a="http://schemas.openxmlformats.org/drawingml/2006/main">
            <a:r>
              <a:t>두 DB의 백업과 일관성을 관리하는 비용은 있지만, SQL과 NoSQL 사이 ETL과 추적 가능한 예측을 보여 줄 수 있습니다.</a:t>
            </a:r>
          </a:p>
          <a:p xmlns:a="http://schemas.openxmlformats.org/drawingml/2006/main">
            <a:r>
              <a:t/>
            </a:r>
          </a:p>
          <a:p xmlns:a="http://schemas.openxmlformats.org/drawingml/2006/main">
            <a:r>
              <a:t>Sources</a:t>
            </a:r>
          </a:p>
          <a:p xmlns:a="http://schemas.openxmlformats.org/drawingml/2006/main">
            <a:r>
              <a:t>architecture/system-design.md, sections 3–4</a:t>
            </a:r>
          </a:p>
          <a:p xmlns:a="http://schemas.openxmlformats.org/drawingml/2006/main">
            <a:r>
              <a:t>architecture/data-model.md</a:t>
            </a:r>
          </a:p>
          <a:p xmlns:a="http://schemas.openxmlformats.org/drawingml/2006/main">
            <a:r>
              <a:t>https://www.postgresql.org/docs/current/datatype-json.html</a:t>
            </a:r>
          </a:p>
          <a:p xmlns:a="http://schemas.openxmlformats.org/drawingml/2006/main">
            <a:r>
              <a:t>https://www.mongodb.com/docs/manual/data-modeling/</a:t>
            </a:r>
          </a:p>
          <a:p xmlns:a="http://schemas.openxmlformats.org/drawingml/2006/main">
            <a:r>
              <a:t>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60초</a:t>
            </a:r>
          </a:p>
          <a:p xmlns:a="http://schemas.openxmlformats.org/drawingml/2006/main">
            <a:r>
              <a:t/>
            </a:r>
          </a:p>
          <a:p xmlns:a="http://schemas.openxmlformats.org/drawingml/2006/main">
            <a:r>
              <a:t>마지막으로 구현할 대시보드의 목업입니다. 왼쪽에서 코인을 고르고 가격과 기준 날짜를 확인합니다. 오른쪽에는 다음 종가의 상승·하락 예측과 대상일, 짧은 판단 근거를 표시합니다. 관련 주제와 게시물을 확인하고, 밈 이미지도 맥락으로 볼 수 있습니다. 이미지는 초기 예측의 입력에는 포함하지 않습니다.</a:t>
            </a:r>
          </a:p>
          <a:p xmlns:a="http://schemas.openxmlformats.org/drawingml/2006/main">
            <a:r>
              <a:t>이 화면의 가격 차트와 가격 숫자는 제공된 DOGE 자료입니다. UP 예측과 주제·근거는 화면 구성을 보여 주는 예시이며 실제 모델 결과는 아닙니다.</a:t>
            </a:r>
          </a:p>
          <a:p xmlns:a="http://schemas.openxmlformats.org/drawingml/2006/main">
            <a:r>
              <a:t>아래에는 앞으로 발행할 예측과 실제 결과를 쌓습니다. 직전 방향 기준선, 가격 전용 모델, 가격·소셜 모델을 같은 코인·날짜로 비교해 소셜 정보가 도움이 되는지 평가하겠습니다. 실제 표본 수와 실패·보류도 함께 공개합니다.</a:t>
            </a:r>
          </a:p>
          <a:p xmlns:a="http://schemas.openxmlformats.org/drawingml/2006/main">
            <a:r>
              <a:t/>
            </a:r>
          </a:p>
          <a:p xmlns:a="http://schemas.openxmlformats.org/drawingml/2006/main">
            <a:r>
              <a:t>Sources</a:t>
            </a:r>
          </a:p>
          <a:p xmlns:a="http://schemas.openxmlformats.org/drawingml/2006/main">
            <a:r>
              <a:t>.context/attachments/ogAuZF/memecoin_price.zip: Dogecoin.csv, 92 Q3 2026 closes; 2026-09-30 close 0.0944721408 USD; day-over-day change 0.6562627897%</a:t>
            </a:r>
          </a:p>
          <a:p xmlns:a="http://schemas.openxmlformats.org/drawingml/2006/main">
            <a:r>
              <a:t>architecture/prediction-design.md</a:t>
            </a:r>
          </a:p>
          <a:p xmlns:a="http://schemas.openxmlformats.org/drawingml/2006/main">
            <a:r>
              <a:t>https://icons8.com/icon/35007/doge</a:t>
            </a:r>
          </a:p>
          <a:p xmlns:a="http://schemas.openxmlformats.org/drawingml/2006/main">
            <a:r>
              <a:t>https://img.icons8.com/win10/1200/doge.jpg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59250ff20042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68bd8f7915e4e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e2c304039940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13a029a8bd45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96e15cb4274d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f774f69d564c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8BF071-7504-47A4-80E9-9E7D1C022A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802C37-9EF5-4C38-BB03-7C24BB79159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B4C43B-8F14-49B1-A2C5-3933625C79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C79A40-531C-4337-9394-F8460D005D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57A149E-5CD1-4F9D-828F-1C48DDE6F1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CCAFE5-6A7F-4038-8D49-069E702F14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B9D0CF-EA9C-4D09-90AC-52D9ACA8C5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973E80-97FD-4C22-9B41-3E321C96D9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5CD2D1-2082-40A1-86F6-FFC8F62261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B3149E-7445-42E0-B776-13C813AFBF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2d05d3ed2942d8" /><Relationship Type="http://schemas.openxmlformats.org/officeDocument/2006/relationships/slideLayout" Target="/ppt/slideLayouts/slideLayout1.xml" Id="R78054c0de64f4102" /><Relationship Type="http://schemas.openxmlformats.org/officeDocument/2006/relationships/slideLayout" Target="/ppt/slideLayouts/slideLayout2.xml" Id="R6ebb7c706320474c" /><Relationship Type="http://schemas.openxmlformats.org/officeDocument/2006/relationships/slideLayout" Target="/ppt/slideLayouts/slideLayout3.xml" Id="R65d5c919dcc84046" /><Relationship Type="http://schemas.openxmlformats.org/officeDocument/2006/relationships/slideLayout" Target="/ppt/slideLayouts/slideLayout4.xml" Id="Ree02987ac6314725" /><Relationship Type="http://schemas.openxmlformats.org/officeDocument/2006/relationships/slideLayout" Target="/ppt/slideLayouts/slideLayout5.xml" Id="R0c60492da0a04788" /><Relationship Type="http://schemas.openxmlformats.org/officeDocument/2006/relationships/slideLayout" Target="/ppt/slideLayouts/slideLayout6.xml" Id="R5ab38374609243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054c0de64f4102"/>
    <p:sldLayoutId xmlns:r="http://schemas.openxmlformats.org/officeDocument/2006/relationships" id="2147483650" r:id="R6ebb7c706320474c"/>
    <p:sldLayoutId xmlns:r="http://schemas.openxmlformats.org/officeDocument/2006/relationships" id="2147483651" r:id="R65d5c919dcc84046"/>
    <p:sldLayoutId xmlns:r="http://schemas.openxmlformats.org/officeDocument/2006/relationships" id="2147483652" r:id="Ree02987ac6314725"/>
    <p:sldLayoutId xmlns:r="http://schemas.openxmlformats.org/officeDocument/2006/relationships" id="2147483653" r:id="R0c60492da0a04788"/>
    <p:sldLayoutId xmlns:r="http://schemas.openxmlformats.org/officeDocument/2006/relationships" id="2147483654" r:id="R5ab38374609243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03fcaf4f404558" /><Relationship Type="http://schemas.openxmlformats.org/officeDocument/2006/relationships/image" Target="/ppt/media/image.jpeg" Id="Rd4b1a6719adc44ce" /><Relationship Type="http://schemas.openxmlformats.org/officeDocument/2006/relationships/notesSlide" Target="/ppt/notesSlides/notesSlide1.xml" Id="Rbfc6520b9b8447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d1ec150423b46d6" /><Relationship Type="http://schemas.openxmlformats.org/officeDocument/2006/relationships/notesSlide" Target="/ppt/notesSlides/notesSlide2.xml" Id="Raa25c42610db41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7a8406983bb4343" /><Relationship Type="http://schemas.openxmlformats.org/officeDocument/2006/relationships/chart" Target="/ppt/slides/charts/chart1.xml" Id="R4f908d25a0934cff" /><Relationship Type="http://schemas.openxmlformats.org/officeDocument/2006/relationships/notesSlide" Target="/ppt/notesSlides/notesSlide3.xml" Id="Rc957443b378341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0996c4ebff647e1" /><Relationship Type="http://schemas.openxmlformats.org/officeDocument/2006/relationships/image" Target="/ppt/media/image.png" Id="R1c92b5ee569d4295" /><Relationship Type="http://schemas.openxmlformats.org/officeDocument/2006/relationships/image" Target="/ppt/media/image.svg" Id="R752ef67ca6fb4098" /><Relationship Type="http://schemas.openxmlformats.org/officeDocument/2006/relationships/image" Target="/ppt/media/image2.png" Id="R5964872322da46b4" /><Relationship Type="http://schemas.openxmlformats.org/officeDocument/2006/relationships/image" Target="/ppt/media/image2.svg" Id="Rebc0791371984819" /><Relationship Type="http://schemas.openxmlformats.org/officeDocument/2006/relationships/image" Target="/ppt/media/image3.png" Id="R89af9b8d70884752" /><Relationship Type="http://schemas.openxmlformats.org/officeDocument/2006/relationships/image" Target="/ppt/media/image3.svg" Id="R5b4c08bcb5684992" /><Relationship Type="http://schemas.openxmlformats.org/officeDocument/2006/relationships/notesSlide" Target="/ppt/notesSlides/notesSlide4.xml" Id="Rf513d955ae684d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ea5ef47d7124bd8" /><Relationship Type="http://schemas.openxmlformats.org/officeDocument/2006/relationships/image" Target="/ppt/media/image4.png" Id="R703819fec4544493" /><Relationship Type="http://schemas.openxmlformats.org/officeDocument/2006/relationships/image" Target="/ppt/media/image4.svg" Id="R4bc67e13455f4569" /><Relationship Type="http://schemas.openxmlformats.org/officeDocument/2006/relationships/image" Target="/ppt/media/image5.png" Id="R55b3afba190a49a4" /><Relationship Type="http://schemas.openxmlformats.org/officeDocument/2006/relationships/image" Target="/ppt/media/image5.svg" Id="R8cd93d3d40f94816" /><Relationship Type="http://schemas.openxmlformats.org/officeDocument/2006/relationships/image" Target="/ppt/media/image6.png" Id="R19a00ce17fab4494" /><Relationship Type="http://schemas.openxmlformats.org/officeDocument/2006/relationships/image" Target="/ppt/media/image6.svg" Id="Rc613c3f1016a473c" /><Relationship Type="http://schemas.openxmlformats.org/officeDocument/2006/relationships/image" Target="/ppt/media/image7.png" Id="R829c43905b084d7f" /><Relationship Type="http://schemas.openxmlformats.org/officeDocument/2006/relationships/notesSlide" Target="/ppt/notesSlides/notesSlide5.xml" Id="Rf15176985e5642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91ab7d797ca4d83" /><Relationship Type="http://schemas.openxmlformats.org/officeDocument/2006/relationships/notesSlide" Target="/ppt/notesSlides/notesSlide6.xml" Id="Rcb8fd35fad4647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f8279d77484e1a" /><Relationship Type="http://schemas.openxmlformats.org/officeDocument/2006/relationships/image" Target="/ppt/media/image8.png" Id="R7cc8bf7625704691" /><Relationship Type="http://schemas.openxmlformats.org/officeDocument/2006/relationships/image" Target="/ppt/media/image7.svg" Id="Rfd8b02e9d4804c71" /><Relationship Type="http://schemas.openxmlformats.org/officeDocument/2006/relationships/image" Target="/ppt/media/image9.png" Id="R1a584c57f8cd44cf" /><Relationship Type="http://schemas.openxmlformats.org/officeDocument/2006/relationships/image" Target="/ppt/media/image8.svg" Id="R3b127ec14dae4313" /><Relationship Type="http://schemas.openxmlformats.org/officeDocument/2006/relationships/notesSlide" Target="/ppt/notesSlides/notesSlide7.xml" Id="Rc9aa57d3addb49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8057596218c4449" /><Relationship Type="http://schemas.openxmlformats.org/officeDocument/2006/relationships/chart" Target="/ppt/slides/charts/chart2.xml" Id="R55cb470145ce45f8" /><Relationship Type="http://schemas.openxmlformats.org/officeDocument/2006/relationships/image" Target="/ppt/media/image2.jpeg" Id="Rcba9b6ea2e7d49c0" /><Relationship Type="http://schemas.openxmlformats.org/officeDocument/2006/relationships/notesSlide" Target="/ppt/notesSlides/notesSlide8.xml" Id="Raf271dbba959441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After peak daily close</c:v>
          </c:tx>
          <c:spPr>
            <a:ln xmlns:a="http://schemas.openxmlformats.org/drawingml/2006/main" w="21908">
              <a:solidFill>
                <a:srgbClr val="111111"/>
              </a:solidFill>
            </a:ln>
          </c:spPr>
          <c:marker>
            <c:symbol val="none"/>
          </c:marker>
          <c:xVal>
            <c:numRef>
              <c:f>'Chart Data'!$A$2:$A$628</c:f>
              <c:numCache>
                <c:formatCode>General</c:formatCode>
                <c:ptCount val="627"/>
                <c:pt idx="0">
                  <c:v>45676</c:v>
                </c:pt>
                <c:pt idx="1">
                  <c:v>45677</c:v>
                </c:pt>
                <c:pt idx="2">
                  <c:v>45678</c:v>
                </c:pt>
                <c:pt idx="3">
                  <c:v>45679</c:v>
                </c:pt>
                <c:pt idx="4">
                  <c:v>45680</c:v>
                </c:pt>
                <c:pt idx="5">
                  <c:v>45681</c:v>
                </c:pt>
                <c:pt idx="6">
                  <c:v>45682</c:v>
                </c:pt>
                <c:pt idx="7">
                  <c:v>45683</c:v>
                </c:pt>
                <c:pt idx="8">
                  <c:v>45684</c:v>
                </c:pt>
                <c:pt idx="9">
                  <c:v>45685</c:v>
                </c:pt>
                <c:pt idx="10">
                  <c:v>45686</c:v>
                </c:pt>
                <c:pt idx="11">
                  <c:v>45687</c:v>
                </c:pt>
                <c:pt idx="12">
                  <c:v>45688</c:v>
                </c:pt>
                <c:pt idx="13">
                  <c:v>45689</c:v>
                </c:pt>
                <c:pt idx="14">
                  <c:v>45690</c:v>
                </c:pt>
                <c:pt idx="15">
                  <c:v>45691</c:v>
                </c:pt>
                <c:pt idx="16">
                  <c:v>45692</c:v>
                </c:pt>
                <c:pt idx="17">
                  <c:v>45693</c:v>
                </c:pt>
                <c:pt idx="18">
                  <c:v>45694</c:v>
                </c:pt>
                <c:pt idx="19">
                  <c:v>45695</c:v>
                </c:pt>
                <c:pt idx="20">
                  <c:v>45696</c:v>
                </c:pt>
                <c:pt idx="21">
                  <c:v>45697</c:v>
                </c:pt>
                <c:pt idx="22">
                  <c:v>45698</c:v>
                </c:pt>
                <c:pt idx="23">
                  <c:v>45699</c:v>
                </c:pt>
                <c:pt idx="24">
                  <c:v>45700</c:v>
                </c:pt>
                <c:pt idx="25">
                  <c:v>45701</c:v>
                </c:pt>
                <c:pt idx="26">
                  <c:v>45702</c:v>
                </c:pt>
                <c:pt idx="27">
                  <c:v>45703</c:v>
                </c:pt>
                <c:pt idx="28">
                  <c:v>45704</c:v>
                </c:pt>
                <c:pt idx="29">
                  <c:v>45705</c:v>
                </c:pt>
                <c:pt idx="30">
                  <c:v>45706</c:v>
                </c:pt>
                <c:pt idx="31">
                  <c:v>45707</c:v>
                </c:pt>
                <c:pt idx="32">
                  <c:v>45708</c:v>
                </c:pt>
                <c:pt idx="33">
                  <c:v>45709</c:v>
                </c:pt>
                <c:pt idx="34">
                  <c:v>45710</c:v>
                </c:pt>
                <c:pt idx="35">
                  <c:v>45711</c:v>
                </c:pt>
                <c:pt idx="36">
                  <c:v>45712</c:v>
                </c:pt>
                <c:pt idx="37">
                  <c:v>45713</c:v>
                </c:pt>
                <c:pt idx="38">
                  <c:v>45714</c:v>
                </c:pt>
                <c:pt idx="39">
                  <c:v>45715</c:v>
                </c:pt>
                <c:pt idx="40">
                  <c:v>45716</c:v>
                </c:pt>
                <c:pt idx="41">
                  <c:v>45717</c:v>
                </c:pt>
                <c:pt idx="42">
                  <c:v>45718</c:v>
                </c:pt>
                <c:pt idx="43">
                  <c:v>45719</c:v>
                </c:pt>
                <c:pt idx="44">
                  <c:v>45720</c:v>
                </c:pt>
                <c:pt idx="45">
                  <c:v>45721</c:v>
                </c:pt>
                <c:pt idx="46">
                  <c:v>45722</c:v>
                </c:pt>
                <c:pt idx="47">
                  <c:v>45723</c:v>
                </c:pt>
                <c:pt idx="48">
                  <c:v>45724</c:v>
                </c:pt>
                <c:pt idx="49">
                  <c:v>45725</c:v>
                </c:pt>
                <c:pt idx="50">
                  <c:v>45726</c:v>
                </c:pt>
                <c:pt idx="51">
                  <c:v>45727</c:v>
                </c:pt>
                <c:pt idx="52">
                  <c:v>45728</c:v>
                </c:pt>
                <c:pt idx="53">
                  <c:v>45729</c:v>
                </c:pt>
                <c:pt idx="54">
                  <c:v>45730</c:v>
                </c:pt>
                <c:pt idx="55">
                  <c:v>45731</c:v>
                </c:pt>
                <c:pt idx="56">
                  <c:v>45732</c:v>
                </c:pt>
                <c:pt idx="57">
                  <c:v>45733</c:v>
                </c:pt>
                <c:pt idx="58">
                  <c:v>45734</c:v>
                </c:pt>
                <c:pt idx="59">
                  <c:v>45735</c:v>
                </c:pt>
                <c:pt idx="60">
                  <c:v>45736</c:v>
                </c:pt>
                <c:pt idx="61">
                  <c:v>45737</c:v>
                </c:pt>
                <c:pt idx="62">
                  <c:v>45738</c:v>
                </c:pt>
                <c:pt idx="63">
                  <c:v>45739</c:v>
                </c:pt>
                <c:pt idx="64">
                  <c:v>45740</c:v>
                </c:pt>
                <c:pt idx="65">
                  <c:v>45741</c:v>
                </c:pt>
                <c:pt idx="66">
                  <c:v>45742</c:v>
                </c:pt>
                <c:pt idx="67">
                  <c:v>45743</c:v>
                </c:pt>
                <c:pt idx="68">
                  <c:v>45744</c:v>
                </c:pt>
                <c:pt idx="69">
                  <c:v>45745</c:v>
                </c:pt>
                <c:pt idx="70">
                  <c:v>45746</c:v>
                </c:pt>
                <c:pt idx="71">
                  <c:v>45747</c:v>
                </c:pt>
                <c:pt idx="72">
                  <c:v>45748</c:v>
                </c:pt>
                <c:pt idx="73">
                  <c:v>45749</c:v>
                </c:pt>
                <c:pt idx="74">
                  <c:v>45750</c:v>
                </c:pt>
                <c:pt idx="75">
                  <c:v>45751</c:v>
                </c:pt>
                <c:pt idx="76">
                  <c:v>45752</c:v>
                </c:pt>
                <c:pt idx="77">
                  <c:v>45753</c:v>
                </c:pt>
                <c:pt idx="78">
                  <c:v>45754</c:v>
                </c:pt>
                <c:pt idx="79">
                  <c:v>45755</c:v>
                </c:pt>
                <c:pt idx="80">
                  <c:v>45756</c:v>
                </c:pt>
                <c:pt idx="81">
                  <c:v>45757</c:v>
                </c:pt>
                <c:pt idx="82">
                  <c:v>45758</c:v>
                </c:pt>
                <c:pt idx="83">
                  <c:v>45759</c:v>
                </c:pt>
                <c:pt idx="84">
                  <c:v>45760</c:v>
                </c:pt>
                <c:pt idx="85">
                  <c:v>45761</c:v>
                </c:pt>
                <c:pt idx="86">
                  <c:v>45762</c:v>
                </c:pt>
                <c:pt idx="87">
                  <c:v>45763</c:v>
                </c:pt>
                <c:pt idx="88">
                  <c:v>45764</c:v>
                </c:pt>
                <c:pt idx="89">
                  <c:v>45765</c:v>
                </c:pt>
                <c:pt idx="90">
                  <c:v>45766</c:v>
                </c:pt>
                <c:pt idx="91">
                  <c:v>45767</c:v>
                </c:pt>
                <c:pt idx="92">
                  <c:v>45768</c:v>
                </c:pt>
                <c:pt idx="93">
                  <c:v>45769</c:v>
                </c:pt>
                <c:pt idx="94">
                  <c:v>45770</c:v>
                </c:pt>
                <c:pt idx="95">
                  <c:v>45771</c:v>
                </c:pt>
                <c:pt idx="96">
                  <c:v>45772</c:v>
                </c:pt>
                <c:pt idx="97">
                  <c:v>45773</c:v>
                </c:pt>
                <c:pt idx="98">
                  <c:v>45774</c:v>
                </c:pt>
                <c:pt idx="99">
                  <c:v>45775</c:v>
                </c:pt>
                <c:pt idx="100">
                  <c:v>45776</c:v>
                </c:pt>
                <c:pt idx="101">
                  <c:v>45777</c:v>
                </c:pt>
                <c:pt idx="102">
                  <c:v>45778</c:v>
                </c:pt>
                <c:pt idx="103">
                  <c:v>45779</c:v>
                </c:pt>
                <c:pt idx="104">
                  <c:v>45780</c:v>
                </c:pt>
                <c:pt idx="105">
                  <c:v>45781</c:v>
                </c:pt>
                <c:pt idx="106">
                  <c:v>45782</c:v>
                </c:pt>
                <c:pt idx="107">
                  <c:v>45783</c:v>
                </c:pt>
                <c:pt idx="108">
                  <c:v>45784</c:v>
                </c:pt>
                <c:pt idx="109">
                  <c:v>45785</c:v>
                </c:pt>
                <c:pt idx="110">
                  <c:v>45786</c:v>
                </c:pt>
                <c:pt idx="111">
                  <c:v>45787</c:v>
                </c:pt>
                <c:pt idx="112">
                  <c:v>45788</c:v>
                </c:pt>
                <c:pt idx="113">
                  <c:v>45789</c:v>
                </c:pt>
                <c:pt idx="114">
                  <c:v>45790</c:v>
                </c:pt>
                <c:pt idx="115">
                  <c:v>45791</c:v>
                </c:pt>
                <c:pt idx="116">
                  <c:v>45792</c:v>
                </c:pt>
                <c:pt idx="117">
                  <c:v>45793</c:v>
                </c:pt>
                <c:pt idx="118">
                  <c:v>45794</c:v>
                </c:pt>
                <c:pt idx="119">
                  <c:v>45795</c:v>
                </c:pt>
                <c:pt idx="120">
                  <c:v>45796</c:v>
                </c:pt>
                <c:pt idx="121">
                  <c:v>45797</c:v>
                </c:pt>
                <c:pt idx="122">
                  <c:v>45798</c:v>
                </c:pt>
                <c:pt idx="123">
                  <c:v>45799</c:v>
                </c:pt>
                <c:pt idx="124">
                  <c:v>45800</c:v>
                </c:pt>
                <c:pt idx="125">
                  <c:v>45801</c:v>
                </c:pt>
                <c:pt idx="126">
                  <c:v>45802</c:v>
                </c:pt>
                <c:pt idx="127">
                  <c:v>45803</c:v>
                </c:pt>
                <c:pt idx="128">
                  <c:v>45804</c:v>
                </c:pt>
                <c:pt idx="129">
                  <c:v>45805</c:v>
                </c:pt>
                <c:pt idx="130">
                  <c:v>45806</c:v>
                </c:pt>
                <c:pt idx="131">
                  <c:v>45807</c:v>
                </c:pt>
                <c:pt idx="132">
                  <c:v>45808</c:v>
                </c:pt>
                <c:pt idx="133">
                  <c:v>45809</c:v>
                </c:pt>
                <c:pt idx="134">
                  <c:v>45810</c:v>
                </c:pt>
                <c:pt idx="135">
                  <c:v>45811</c:v>
                </c:pt>
                <c:pt idx="136">
                  <c:v>45812</c:v>
                </c:pt>
                <c:pt idx="137">
                  <c:v>45813</c:v>
                </c:pt>
                <c:pt idx="138">
                  <c:v>45814</c:v>
                </c:pt>
                <c:pt idx="139">
                  <c:v>45815</c:v>
                </c:pt>
                <c:pt idx="140">
                  <c:v>45816</c:v>
                </c:pt>
                <c:pt idx="141">
                  <c:v>45817</c:v>
                </c:pt>
                <c:pt idx="142">
                  <c:v>45818</c:v>
                </c:pt>
                <c:pt idx="143">
                  <c:v>45819</c:v>
                </c:pt>
                <c:pt idx="144">
                  <c:v>45820</c:v>
                </c:pt>
                <c:pt idx="145">
                  <c:v>45821</c:v>
                </c:pt>
                <c:pt idx="146">
                  <c:v>45822</c:v>
                </c:pt>
                <c:pt idx="147">
                  <c:v>45823</c:v>
                </c:pt>
                <c:pt idx="148">
                  <c:v>45824</c:v>
                </c:pt>
                <c:pt idx="149">
                  <c:v>45825</c:v>
                </c:pt>
                <c:pt idx="150">
                  <c:v>45826</c:v>
                </c:pt>
                <c:pt idx="151">
                  <c:v>45827</c:v>
                </c:pt>
                <c:pt idx="152">
                  <c:v>45828</c:v>
                </c:pt>
                <c:pt idx="153">
                  <c:v>45829</c:v>
                </c:pt>
                <c:pt idx="154">
                  <c:v>45830</c:v>
                </c:pt>
                <c:pt idx="155">
                  <c:v>45831</c:v>
                </c:pt>
                <c:pt idx="156">
                  <c:v>45832</c:v>
                </c:pt>
                <c:pt idx="157">
                  <c:v>45833</c:v>
                </c:pt>
                <c:pt idx="158">
                  <c:v>45834</c:v>
                </c:pt>
                <c:pt idx="159">
                  <c:v>45835</c:v>
                </c:pt>
                <c:pt idx="160">
                  <c:v>45836</c:v>
                </c:pt>
                <c:pt idx="161">
                  <c:v>45837</c:v>
                </c:pt>
                <c:pt idx="162">
                  <c:v>45838</c:v>
                </c:pt>
                <c:pt idx="163">
                  <c:v>45839</c:v>
                </c:pt>
                <c:pt idx="164">
                  <c:v>45840</c:v>
                </c:pt>
                <c:pt idx="165">
                  <c:v>45841</c:v>
                </c:pt>
                <c:pt idx="166">
                  <c:v>45842</c:v>
                </c:pt>
                <c:pt idx="167">
                  <c:v>45843</c:v>
                </c:pt>
                <c:pt idx="168">
                  <c:v>45844</c:v>
                </c:pt>
                <c:pt idx="169">
                  <c:v>45845</c:v>
                </c:pt>
                <c:pt idx="170">
                  <c:v>45846</c:v>
                </c:pt>
                <c:pt idx="171">
                  <c:v>45847</c:v>
                </c:pt>
                <c:pt idx="172">
                  <c:v>45848</c:v>
                </c:pt>
                <c:pt idx="173">
                  <c:v>45849</c:v>
                </c:pt>
                <c:pt idx="174">
                  <c:v>45850</c:v>
                </c:pt>
                <c:pt idx="175">
                  <c:v>45851</c:v>
                </c:pt>
                <c:pt idx="176">
                  <c:v>45852</c:v>
                </c:pt>
                <c:pt idx="177">
                  <c:v>45853</c:v>
                </c:pt>
                <c:pt idx="178">
                  <c:v>45854</c:v>
                </c:pt>
                <c:pt idx="179">
                  <c:v>45855</c:v>
                </c:pt>
                <c:pt idx="180">
                  <c:v>45856</c:v>
                </c:pt>
                <c:pt idx="181">
                  <c:v>45857</c:v>
                </c:pt>
                <c:pt idx="182">
                  <c:v>45858</c:v>
                </c:pt>
                <c:pt idx="183">
                  <c:v>45859</c:v>
                </c:pt>
                <c:pt idx="184">
                  <c:v>45860</c:v>
                </c:pt>
                <c:pt idx="185">
                  <c:v>45861</c:v>
                </c:pt>
                <c:pt idx="186">
                  <c:v>45862</c:v>
                </c:pt>
                <c:pt idx="187">
                  <c:v>45863</c:v>
                </c:pt>
                <c:pt idx="188">
                  <c:v>45864</c:v>
                </c:pt>
                <c:pt idx="189">
                  <c:v>45865</c:v>
                </c:pt>
                <c:pt idx="190">
                  <c:v>45866</c:v>
                </c:pt>
                <c:pt idx="191">
                  <c:v>45867</c:v>
                </c:pt>
                <c:pt idx="192">
                  <c:v>45868</c:v>
                </c:pt>
                <c:pt idx="193">
                  <c:v>45869</c:v>
                </c:pt>
                <c:pt idx="194">
                  <c:v>45870</c:v>
                </c:pt>
                <c:pt idx="195">
                  <c:v>45871</c:v>
                </c:pt>
                <c:pt idx="196">
                  <c:v>45872</c:v>
                </c:pt>
                <c:pt idx="197">
                  <c:v>45873</c:v>
                </c:pt>
                <c:pt idx="198">
                  <c:v>45874</c:v>
                </c:pt>
                <c:pt idx="199">
                  <c:v>45875</c:v>
                </c:pt>
                <c:pt idx="200">
                  <c:v>45876</c:v>
                </c:pt>
                <c:pt idx="201">
                  <c:v>45877</c:v>
                </c:pt>
                <c:pt idx="202">
                  <c:v>45878</c:v>
                </c:pt>
                <c:pt idx="203">
                  <c:v>45879</c:v>
                </c:pt>
                <c:pt idx="204">
                  <c:v>45880</c:v>
                </c:pt>
                <c:pt idx="205">
                  <c:v>45881</c:v>
                </c:pt>
                <c:pt idx="206">
                  <c:v>45882</c:v>
                </c:pt>
                <c:pt idx="207">
                  <c:v>45883</c:v>
                </c:pt>
                <c:pt idx="208">
                  <c:v>45884</c:v>
                </c:pt>
                <c:pt idx="209">
                  <c:v>45885</c:v>
                </c:pt>
                <c:pt idx="210">
                  <c:v>45886</c:v>
                </c:pt>
                <c:pt idx="211">
                  <c:v>45887</c:v>
                </c:pt>
                <c:pt idx="212">
                  <c:v>45888</c:v>
                </c:pt>
                <c:pt idx="213">
                  <c:v>45889</c:v>
                </c:pt>
                <c:pt idx="214">
                  <c:v>45890</c:v>
                </c:pt>
                <c:pt idx="215">
                  <c:v>45891</c:v>
                </c:pt>
                <c:pt idx="216">
                  <c:v>45892</c:v>
                </c:pt>
                <c:pt idx="217">
                  <c:v>45893</c:v>
                </c:pt>
                <c:pt idx="218">
                  <c:v>45894</c:v>
                </c:pt>
                <c:pt idx="219">
                  <c:v>45895</c:v>
                </c:pt>
                <c:pt idx="220">
                  <c:v>45896</c:v>
                </c:pt>
                <c:pt idx="221">
                  <c:v>45897</c:v>
                </c:pt>
                <c:pt idx="222">
                  <c:v>45898</c:v>
                </c:pt>
                <c:pt idx="223">
                  <c:v>45899</c:v>
                </c:pt>
                <c:pt idx="224">
                  <c:v>45900</c:v>
                </c:pt>
                <c:pt idx="225">
                  <c:v>45901</c:v>
                </c:pt>
                <c:pt idx="226">
                  <c:v>45902</c:v>
                </c:pt>
                <c:pt idx="227">
                  <c:v>45903</c:v>
                </c:pt>
                <c:pt idx="228">
                  <c:v>45904</c:v>
                </c:pt>
                <c:pt idx="229">
                  <c:v>45905</c:v>
                </c:pt>
                <c:pt idx="230">
                  <c:v>45906</c:v>
                </c:pt>
                <c:pt idx="231">
                  <c:v>45907</c:v>
                </c:pt>
                <c:pt idx="232">
                  <c:v>45908</c:v>
                </c:pt>
                <c:pt idx="233">
                  <c:v>45909</c:v>
                </c:pt>
                <c:pt idx="234">
                  <c:v>45910</c:v>
                </c:pt>
                <c:pt idx="235">
                  <c:v>45911</c:v>
                </c:pt>
                <c:pt idx="236">
                  <c:v>45912</c:v>
                </c:pt>
                <c:pt idx="237">
                  <c:v>45913</c:v>
                </c:pt>
                <c:pt idx="238">
                  <c:v>45914</c:v>
                </c:pt>
                <c:pt idx="239">
                  <c:v>45915</c:v>
                </c:pt>
                <c:pt idx="240">
                  <c:v>45916</c:v>
                </c:pt>
                <c:pt idx="241">
                  <c:v>45917</c:v>
                </c:pt>
                <c:pt idx="242">
                  <c:v>45918</c:v>
                </c:pt>
                <c:pt idx="243">
                  <c:v>45919</c:v>
                </c:pt>
                <c:pt idx="244">
                  <c:v>45920</c:v>
                </c:pt>
                <c:pt idx="245">
                  <c:v>45921</c:v>
                </c:pt>
                <c:pt idx="246">
                  <c:v>45922</c:v>
                </c:pt>
                <c:pt idx="247">
                  <c:v>45923</c:v>
                </c:pt>
                <c:pt idx="248">
                  <c:v>45924</c:v>
                </c:pt>
                <c:pt idx="249">
                  <c:v>45925</c:v>
                </c:pt>
                <c:pt idx="250">
                  <c:v>45926</c:v>
                </c:pt>
                <c:pt idx="251">
                  <c:v>45927</c:v>
                </c:pt>
                <c:pt idx="252">
                  <c:v>45928</c:v>
                </c:pt>
                <c:pt idx="253">
                  <c:v>45929</c:v>
                </c:pt>
                <c:pt idx="254">
                  <c:v>45930</c:v>
                </c:pt>
                <c:pt idx="255">
                  <c:v>45931</c:v>
                </c:pt>
                <c:pt idx="256">
                  <c:v>45932</c:v>
                </c:pt>
                <c:pt idx="257">
                  <c:v>45933</c:v>
                </c:pt>
                <c:pt idx="258">
                  <c:v>45934</c:v>
                </c:pt>
                <c:pt idx="259">
                  <c:v>45935</c:v>
                </c:pt>
                <c:pt idx="260">
                  <c:v>45936</c:v>
                </c:pt>
                <c:pt idx="261">
                  <c:v>45937</c:v>
                </c:pt>
                <c:pt idx="262">
                  <c:v>45938</c:v>
                </c:pt>
                <c:pt idx="263">
                  <c:v>45939</c:v>
                </c:pt>
                <c:pt idx="264">
                  <c:v>45940</c:v>
                </c:pt>
                <c:pt idx="265">
                  <c:v>45941</c:v>
                </c:pt>
                <c:pt idx="266">
                  <c:v>45942</c:v>
                </c:pt>
                <c:pt idx="267">
                  <c:v>45943</c:v>
                </c:pt>
                <c:pt idx="268">
                  <c:v>45944</c:v>
                </c:pt>
                <c:pt idx="269">
                  <c:v>45945</c:v>
                </c:pt>
                <c:pt idx="270">
                  <c:v>45946</c:v>
                </c:pt>
                <c:pt idx="271">
                  <c:v>45947</c:v>
                </c:pt>
                <c:pt idx="272">
                  <c:v>45948</c:v>
                </c:pt>
                <c:pt idx="273">
                  <c:v>45949</c:v>
                </c:pt>
                <c:pt idx="274">
                  <c:v>45950</c:v>
                </c:pt>
                <c:pt idx="275">
                  <c:v>45951</c:v>
                </c:pt>
                <c:pt idx="276">
                  <c:v>45952</c:v>
                </c:pt>
                <c:pt idx="277">
                  <c:v>45953</c:v>
                </c:pt>
                <c:pt idx="278">
                  <c:v>45954</c:v>
                </c:pt>
                <c:pt idx="279">
                  <c:v>45955</c:v>
                </c:pt>
                <c:pt idx="280">
                  <c:v>45956</c:v>
                </c:pt>
                <c:pt idx="281">
                  <c:v>45957</c:v>
                </c:pt>
                <c:pt idx="282">
                  <c:v>45958</c:v>
                </c:pt>
                <c:pt idx="283">
                  <c:v>45959</c:v>
                </c:pt>
                <c:pt idx="284">
                  <c:v>45960</c:v>
                </c:pt>
                <c:pt idx="285">
                  <c:v>45961</c:v>
                </c:pt>
                <c:pt idx="286">
                  <c:v>45962</c:v>
                </c:pt>
                <c:pt idx="287">
                  <c:v>45963</c:v>
                </c:pt>
                <c:pt idx="288">
                  <c:v>45964</c:v>
                </c:pt>
                <c:pt idx="289">
                  <c:v>45965</c:v>
                </c:pt>
                <c:pt idx="290">
                  <c:v>45966</c:v>
                </c:pt>
                <c:pt idx="291">
                  <c:v>45967</c:v>
                </c:pt>
                <c:pt idx="292">
                  <c:v>45968</c:v>
                </c:pt>
                <c:pt idx="293">
                  <c:v>45969</c:v>
                </c:pt>
                <c:pt idx="294">
                  <c:v>45970</c:v>
                </c:pt>
                <c:pt idx="295">
                  <c:v>45971</c:v>
                </c:pt>
                <c:pt idx="296">
                  <c:v>45972</c:v>
                </c:pt>
                <c:pt idx="297">
                  <c:v>45973</c:v>
                </c:pt>
                <c:pt idx="298">
                  <c:v>45974</c:v>
                </c:pt>
                <c:pt idx="299">
                  <c:v>45975</c:v>
                </c:pt>
                <c:pt idx="300">
                  <c:v>45976</c:v>
                </c:pt>
                <c:pt idx="301">
                  <c:v>45977</c:v>
                </c:pt>
                <c:pt idx="302">
                  <c:v>45978</c:v>
                </c:pt>
                <c:pt idx="303">
                  <c:v>45979</c:v>
                </c:pt>
                <c:pt idx="304">
                  <c:v>45980</c:v>
                </c:pt>
                <c:pt idx="305">
                  <c:v>45981</c:v>
                </c:pt>
                <c:pt idx="306">
                  <c:v>45982</c:v>
                </c:pt>
                <c:pt idx="307">
                  <c:v>45983</c:v>
                </c:pt>
                <c:pt idx="308">
                  <c:v>45984</c:v>
                </c:pt>
                <c:pt idx="309">
                  <c:v>45985</c:v>
                </c:pt>
                <c:pt idx="310">
                  <c:v>45986</c:v>
                </c:pt>
                <c:pt idx="311">
                  <c:v>45987</c:v>
                </c:pt>
                <c:pt idx="312">
                  <c:v>45988</c:v>
                </c:pt>
                <c:pt idx="313">
                  <c:v>45989</c:v>
                </c:pt>
                <c:pt idx="314">
                  <c:v>45990</c:v>
                </c:pt>
                <c:pt idx="315">
                  <c:v>45991</c:v>
                </c:pt>
                <c:pt idx="316">
                  <c:v>45992</c:v>
                </c:pt>
                <c:pt idx="317">
                  <c:v>45993</c:v>
                </c:pt>
                <c:pt idx="318">
                  <c:v>45994</c:v>
                </c:pt>
                <c:pt idx="319">
                  <c:v>45995</c:v>
                </c:pt>
                <c:pt idx="320">
                  <c:v>45996</c:v>
                </c:pt>
                <c:pt idx="321">
                  <c:v>45997</c:v>
                </c:pt>
                <c:pt idx="322">
                  <c:v>45998</c:v>
                </c:pt>
                <c:pt idx="323">
                  <c:v>45999</c:v>
                </c:pt>
                <c:pt idx="324">
                  <c:v>46000</c:v>
                </c:pt>
                <c:pt idx="325">
                  <c:v>46001</c:v>
                </c:pt>
                <c:pt idx="326">
                  <c:v>46002</c:v>
                </c:pt>
                <c:pt idx="327">
                  <c:v>46003</c:v>
                </c:pt>
                <c:pt idx="328">
                  <c:v>46004</c:v>
                </c:pt>
                <c:pt idx="329">
                  <c:v>46005</c:v>
                </c:pt>
                <c:pt idx="330">
                  <c:v>46006</c:v>
                </c:pt>
                <c:pt idx="331">
                  <c:v>46007</c:v>
                </c:pt>
                <c:pt idx="332">
                  <c:v>46008</c:v>
                </c:pt>
                <c:pt idx="333">
                  <c:v>46009</c:v>
                </c:pt>
                <c:pt idx="334">
                  <c:v>46010</c:v>
                </c:pt>
                <c:pt idx="335">
                  <c:v>46011</c:v>
                </c:pt>
                <c:pt idx="336">
                  <c:v>46012</c:v>
                </c:pt>
                <c:pt idx="337">
                  <c:v>46013</c:v>
                </c:pt>
                <c:pt idx="338">
                  <c:v>46014</c:v>
                </c:pt>
                <c:pt idx="339">
                  <c:v>46015</c:v>
                </c:pt>
                <c:pt idx="340">
                  <c:v>46016</c:v>
                </c:pt>
                <c:pt idx="341">
                  <c:v>46017</c:v>
                </c:pt>
                <c:pt idx="342">
                  <c:v>46018</c:v>
                </c:pt>
                <c:pt idx="343">
                  <c:v>46019</c:v>
                </c:pt>
                <c:pt idx="344">
                  <c:v>46020</c:v>
                </c:pt>
                <c:pt idx="345">
                  <c:v>46021</c:v>
                </c:pt>
                <c:pt idx="346">
                  <c:v>46022</c:v>
                </c:pt>
                <c:pt idx="347">
                  <c:v>46023</c:v>
                </c:pt>
                <c:pt idx="348">
                  <c:v>46024</c:v>
                </c:pt>
                <c:pt idx="349">
                  <c:v>46025</c:v>
                </c:pt>
                <c:pt idx="350">
                  <c:v>46026</c:v>
                </c:pt>
                <c:pt idx="351">
                  <c:v>46027</c:v>
                </c:pt>
                <c:pt idx="352">
                  <c:v>46028</c:v>
                </c:pt>
                <c:pt idx="353">
                  <c:v>46029</c:v>
                </c:pt>
                <c:pt idx="354">
                  <c:v>46030</c:v>
                </c:pt>
                <c:pt idx="355">
                  <c:v>46031</c:v>
                </c:pt>
                <c:pt idx="356">
                  <c:v>46032</c:v>
                </c:pt>
                <c:pt idx="357">
                  <c:v>46033</c:v>
                </c:pt>
                <c:pt idx="358">
                  <c:v>46034</c:v>
                </c:pt>
                <c:pt idx="359">
                  <c:v>46035</c:v>
                </c:pt>
                <c:pt idx="360">
                  <c:v>46036</c:v>
                </c:pt>
                <c:pt idx="361">
                  <c:v>46037</c:v>
                </c:pt>
                <c:pt idx="362">
                  <c:v>46038</c:v>
                </c:pt>
                <c:pt idx="363">
                  <c:v>46039</c:v>
                </c:pt>
                <c:pt idx="364">
                  <c:v>46040</c:v>
                </c:pt>
                <c:pt idx="365">
                  <c:v>46041</c:v>
                </c:pt>
                <c:pt idx="366">
                  <c:v>46042</c:v>
                </c:pt>
                <c:pt idx="367">
                  <c:v>46043</c:v>
                </c:pt>
                <c:pt idx="368">
                  <c:v>46044</c:v>
                </c:pt>
                <c:pt idx="369">
                  <c:v>46045</c:v>
                </c:pt>
                <c:pt idx="370">
                  <c:v>46046</c:v>
                </c:pt>
                <c:pt idx="371">
                  <c:v>46047</c:v>
                </c:pt>
                <c:pt idx="372">
                  <c:v>46048</c:v>
                </c:pt>
                <c:pt idx="373">
                  <c:v>46049</c:v>
                </c:pt>
                <c:pt idx="374">
                  <c:v>46050</c:v>
                </c:pt>
                <c:pt idx="375">
                  <c:v>46051</c:v>
                </c:pt>
                <c:pt idx="376">
                  <c:v>46052</c:v>
                </c:pt>
                <c:pt idx="377">
                  <c:v>46053</c:v>
                </c:pt>
                <c:pt idx="378">
                  <c:v>46054</c:v>
                </c:pt>
                <c:pt idx="379">
                  <c:v>46055</c:v>
                </c:pt>
                <c:pt idx="380">
                  <c:v>46056</c:v>
                </c:pt>
                <c:pt idx="381">
                  <c:v>46057</c:v>
                </c:pt>
                <c:pt idx="382">
                  <c:v>46058</c:v>
                </c:pt>
                <c:pt idx="383">
                  <c:v>46059</c:v>
                </c:pt>
                <c:pt idx="384">
                  <c:v>46060</c:v>
                </c:pt>
                <c:pt idx="385">
                  <c:v>46061</c:v>
                </c:pt>
                <c:pt idx="386">
                  <c:v>46062</c:v>
                </c:pt>
                <c:pt idx="387">
                  <c:v>46063</c:v>
                </c:pt>
                <c:pt idx="388">
                  <c:v>46064</c:v>
                </c:pt>
                <c:pt idx="389">
                  <c:v>46065</c:v>
                </c:pt>
                <c:pt idx="390">
                  <c:v>46066</c:v>
                </c:pt>
                <c:pt idx="391">
                  <c:v>46067</c:v>
                </c:pt>
                <c:pt idx="392">
                  <c:v>46068</c:v>
                </c:pt>
                <c:pt idx="393">
                  <c:v>46069</c:v>
                </c:pt>
                <c:pt idx="394">
                  <c:v>46070</c:v>
                </c:pt>
                <c:pt idx="395">
                  <c:v>46071</c:v>
                </c:pt>
                <c:pt idx="396">
                  <c:v>46072</c:v>
                </c:pt>
                <c:pt idx="397">
                  <c:v>46073</c:v>
                </c:pt>
                <c:pt idx="398">
                  <c:v>46074</c:v>
                </c:pt>
                <c:pt idx="399">
                  <c:v>46075</c:v>
                </c:pt>
                <c:pt idx="400">
                  <c:v>46076</c:v>
                </c:pt>
                <c:pt idx="401">
                  <c:v>46077</c:v>
                </c:pt>
                <c:pt idx="402">
                  <c:v>46078</c:v>
                </c:pt>
                <c:pt idx="403">
                  <c:v>46079</c:v>
                </c:pt>
                <c:pt idx="404">
                  <c:v>46080</c:v>
                </c:pt>
                <c:pt idx="405">
                  <c:v>46081</c:v>
                </c:pt>
                <c:pt idx="406">
                  <c:v>46082</c:v>
                </c:pt>
                <c:pt idx="407">
                  <c:v>46083</c:v>
                </c:pt>
                <c:pt idx="408">
                  <c:v>46084</c:v>
                </c:pt>
                <c:pt idx="409">
                  <c:v>46085</c:v>
                </c:pt>
                <c:pt idx="410">
                  <c:v>46086</c:v>
                </c:pt>
                <c:pt idx="411">
                  <c:v>46087</c:v>
                </c:pt>
                <c:pt idx="412">
                  <c:v>46088</c:v>
                </c:pt>
                <c:pt idx="413">
                  <c:v>46089</c:v>
                </c:pt>
                <c:pt idx="414">
                  <c:v>46090</c:v>
                </c:pt>
                <c:pt idx="415">
                  <c:v>46091</c:v>
                </c:pt>
                <c:pt idx="416">
                  <c:v>46092</c:v>
                </c:pt>
                <c:pt idx="417">
                  <c:v>46093</c:v>
                </c:pt>
                <c:pt idx="418">
                  <c:v>46094</c:v>
                </c:pt>
                <c:pt idx="419">
                  <c:v>46095</c:v>
                </c:pt>
                <c:pt idx="420">
                  <c:v>46096</c:v>
                </c:pt>
                <c:pt idx="421">
                  <c:v>46097</c:v>
                </c:pt>
                <c:pt idx="422">
                  <c:v>46098</c:v>
                </c:pt>
                <c:pt idx="423">
                  <c:v>46099</c:v>
                </c:pt>
                <c:pt idx="424">
                  <c:v>46100</c:v>
                </c:pt>
                <c:pt idx="425">
                  <c:v>46101</c:v>
                </c:pt>
                <c:pt idx="426">
                  <c:v>46102</c:v>
                </c:pt>
                <c:pt idx="427">
                  <c:v>46103</c:v>
                </c:pt>
                <c:pt idx="428">
                  <c:v>46104</c:v>
                </c:pt>
                <c:pt idx="429">
                  <c:v>46105</c:v>
                </c:pt>
                <c:pt idx="430">
                  <c:v>46106</c:v>
                </c:pt>
                <c:pt idx="431">
                  <c:v>46107</c:v>
                </c:pt>
                <c:pt idx="432">
                  <c:v>46108</c:v>
                </c:pt>
                <c:pt idx="433">
                  <c:v>46109</c:v>
                </c:pt>
                <c:pt idx="434">
                  <c:v>46110</c:v>
                </c:pt>
                <c:pt idx="435">
                  <c:v>46111</c:v>
                </c:pt>
                <c:pt idx="436">
                  <c:v>46112</c:v>
                </c:pt>
                <c:pt idx="437">
                  <c:v>46113</c:v>
                </c:pt>
                <c:pt idx="438">
                  <c:v>46114</c:v>
                </c:pt>
                <c:pt idx="439">
                  <c:v>46115</c:v>
                </c:pt>
                <c:pt idx="440">
                  <c:v>46116</c:v>
                </c:pt>
                <c:pt idx="441">
                  <c:v>46117</c:v>
                </c:pt>
                <c:pt idx="442">
                  <c:v>46118</c:v>
                </c:pt>
                <c:pt idx="443">
                  <c:v>46119</c:v>
                </c:pt>
                <c:pt idx="444">
                  <c:v>46120</c:v>
                </c:pt>
                <c:pt idx="445">
                  <c:v>46121</c:v>
                </c:pt>
                <c:pt idx="446">
                  <c:v>46122</c:v>
                </c:pt>
                <c:pt idx="447">
                  <c:v>46123</c:v>
                </c:pt>
                <c:pt idx="448">
                  <c:v>46124</c:v>
                </c:pt>
                <c:pt idx="449">
                  <c:v>46125</c:v>
                </c:pt>
                <c:pt idx="450">
                  <c:v>46126</c:v>
                </c:pt>
                <c:pt idx="451">
                  <c:v>46127</c:v>
                </c:pt>
                <c:pt idx="452">
                  <c:v>46128</c:v>
                </c:pt>
                <c:pt idx="453">
                  <c:v>46129</c:v>
                </c:pt>
                <c:pt idx="454">
                  <c:v>46130</c:v>
                </c:pt>
                <c:pt idx="455">
                  <c:v>46131</c:v>
                </c:pt>
                <c:pt idx="456">
                  <c:v>46132</c:v>
                </c:pt>
                <c:pt idx="457">
                  <c:v>46133</c:v>
                </c:pt>
                <c:pt idx="458">
                  <c:v>46134</c:v>
                </c:pt>
                <c:pt idx="459">
                  <c:v>46135</c:v>
                </c:pt>
                <c:pt idx="460">
                  <c:v>46136</c:v>
                </c:pt>
                <c:pt idx="461">
                  <c:v>46137</c:v>
                </c:pt>
                <c:pt idx="462">
                  <c:v>46138</c:v>
                </c:pt>
                <c:pt idx="463">
                  <c:v>46139</c:v>
                </c:pt>
                <c:pt idx="464">
                  <c:v>46140</c:v>
                </c:pt>
                <c:pt idx="465">
                  <c:v>46141</c:v>
                </c:pt>
                <c:pt idx="466">
                  <c:v>46142</c:v>
                </c:pt>
                <c:pt idx="467">
                  <c:v>46143</c:v>
                </c:pt>
                <c:pt idx="468">
                  <c:v>46144</c:v>
                </c:pt>
                <c:pt idx="469">
                  <c:v>46145</c:v>
                </c:pt>
                <c:pt idx="470">
                  <c:v>46146</c:v>
                </c:pt>
                <c:pt idx="471">
                  <c:v>46147</c:v>
                </c:pt>
                <c:pt idx="472">
                  <c:v>46148</c:v>
                </c:pt>
                <c:pt idx="473">
                  <c:v>46149</c:v>
                </c:pt>
                <c:pt idx="474">
                  <c:v>46150</c:v>
                </c:pt>
                <c:pt idx="475">
                  <c:v>46151</c:v>
                </c:pt>
                <c:pt idx="476">
                  <c:v>46152</c:v>
                </c:pt>
                <c:pt idx="477">
                  <c:v>46153</c:v>
                </c:pt>
                <c:pt idx="478">
                  <c:v>46154</c:v>
                </c:pt>
                <c:pt idx="479">
                  <c:v>46155</c:v>
                </c:pt>
                <c:pt idx="480">
                  <c:v>46156</c:v>
                </c:pt>
                <c:pt idx="481">
                  <c:v>46157</c:v>
                </c:pt>
                <c:pt idx="482">
                  <c:v>46158</c:v>
                </c:pt>
                <c:pt idx="483">
                  <c:v>46159</c:v>
                </c:pt>
                <c:pt idx="484">
                  <c:v>46160</c:v>
                </c:pt>
                <c:pt idx="485">
                  <c:v>46161</c:v>
                </c:pt>
                <c:pt idx="486">
                  <c:v>46162</c:v>
                </c:pt>
                <c:pt idx="487">
                  <c:v>46163</c:v>
                </c:pt>
                <c:pt idx="488">
                  <c:v>46164</c:v>
                </c:pt>
                <c:pt idx="489">
                  <c:v>46165</c:v>
                </c:pt>
                <c:pt idx="490">
                  <c:v>46166</c:v>
                </c:pt>
                <c:pt idx="491">
                  <c:v>46167</c:v>
                </c:pt>
                <c:pt idx="492">
                  <c:v>46168</c:v>
                </c:pt>
                <c:pt idx="493">
                  <c:v>46169</c:v>
                </c:pt>
                <c:pt idx="494">
                  <c:v>46170</c:v>
                </c:pt>
                <c:pt idx="495">
                  <c:v>46171</c:v>
                </c:pt>
                <c:pt idx="496">
                  <c:v>46172</c:v>
                </c:pt>
                <c:pt idx="497">
                  <c:v>46173</c:v>
                </c:pt>
                <c:pt idx="498">
                  <c:v>46174</c:v>
                </c:pt>
                <c:pt idx="499">
                  <c:v>46175</c:v>
                </c:pt>
                <c:pt idx="500">
                  <c:v>46176</c:v>
                </c:pt>
                <c:pt idx="501">
                  <c:v>46177</c:v>
                </c:pt>
                <c:pt idx="502">
                  <c:v>46178</c:v>
                </c:pt>
                <c:pt idx="503">
                  <c:v>46179</c:v>
                </c:pt>
                <c:pt idx="504">
                  <c:v>46180</c:v>
                </c:pt>
                <c:pt idx="505">
                  <c:v>46181</c:v>
                </c:pt>
                <c:pt idx="506">
                  <c:v>46182</c:v>
                </c:pt>
                <c:pt idx="507">
                  <c:v>46183</c:v>
                </c:pt>
                <c:pt idx="508">
                  <c:v>46184</c:v>
                </c:pt>
                <c:pt idx="509">
                  <c:v>46185</c:v>
                </c:pt>
                <c:pt idx="510">
                  <c:v>46186</c:v>
                </c:pt>
                <c:pt idx="511">
                  <c:v>46187</c:v>
                </c:pt>
                <c:pt idx="512">
                  <c:v>46188</c:v>
                </c:pt>
                <c:pt idx="513">
                  <c:v>46189</c:v>
                </c:pt>
                <c:pt idx="514">
                  <c:v>46190</c:v>
                </c:pt>
                <c:pt idx="515">
                  <c:v>46191</c:v>
                </c:pt>
                <c:pt idx="516">
                  <c:v>46192</c:v>
                </c:pt>
                <c:pt idx="517">
                  <c:v>46193</c:v>
                </c:pt>
                <c:pt idx="518">
                  <c:v>46194</c:v>
                </c:pt>
                <c:pt idx="519">
                  <c:v>46195</c:v>
                </c:pt>
                <c:pt idx="520">
                  <c:v>46196</c:v>
                </c:pt>
                <c:pt idx="521">
                  <c:v>46197</c:v>
                </c:pt>
                <c:pt idx="522">
                  <c:v>46198</c:v>
                </c:pt>
                <c:pt idx="523">
                  <c:v>46199</c:v>
                </c:pt>
                <c:pt idx="524">
                  <c:v>46200</c:v>
                </c:pt>
                <c:pt idx="525">
                  <c:v>46201</c:v>
                </c:pt>
                <c:pt idx="526">
                  <c:v>46202</c:v>
                </c:pt>
                <c:pt idx="527">
                  <c:v>46203</c:v>
                </c:pt>
                <c:pt idx="528">
                  <c:v>46204</c:v>
                </c:pt>
                <c:pt idx="529">
                  <c:v>46205</c:v>
                </c:pt>
                <c:pt idx="530">
                  <c:v>46206</c:v>
                </c:pt>
                <c:pt idx="531">
                  <c:v>46207</c:v>
                </c:pt>
                <c:pt idx="532">
                  <c:v>46208</c:v>
                </c:pt>
                <c:pt idx="533">
                  <c:v>46209</c:v>
                </c:pt>
                <c:pt idx="534">
                  <c:v>46210</c:v>
                </c:pt>
                <c:pt idx="535">
                  <c:v>46211</c:v>
                </c:pt>
                <c:pt idx="536">
                  <c:v>46212</c:v>
                </c:pt>
                <c:pt idx="537">
                  <c:v>46213</c:v>
                </c:pt>
                <c:pt idx="538">
                  <c:v>46214</c:v>
                </c:pt>
                <c:pt idx="539">
                  <c:v>46215</c:v>
                </c:pt>
                <c:pt idx="540">
                  <c:v>46216</c:v>
                </c:pt>
                <c:pt idx="541">
                  <c:v>46217</c:v>
                </c:pt>
                <c:pt idx="542">
                  <c:v>46218</c:v>
                </c:pt>
                <c:pt idx="543">
                  <c:v>46219</c:v>
                </c:pt>
                <c:pt idx="544">
                  <c:v>46220</c:v>
                </c:pt>
                <c:pt idx="545">
                  <c:v>46221</c:v>
                </c:pt>
                <c:pt idx="546">
                  <c:v>46222</c:v>
                </c:pt>
                <c:pt idx="547">
                  <c:v>46223</c:v>
                </c:pt>
                <c:pt idx="548">
                  <c:v>46224</c:v>
                </c:pt>
                <c:pt idx="549">
                  <c:v>46225</c:v>
                </c:pt>
                <c:pt idx="550">
                  <c:v>46226</c:v>
                </c:pt>
                <c:pt idx="551">
                  <c:v>46227</c:v>
                </c:pt>
                <c:pt idx="552">
                  <c:v>46228</c:v>
                </c:pt>
                <c:pt idx="553">
                  <c:v>46229</c:v>
                </c:pt>
                <c:pt idx="554">
                  <c:v>46230</c:v>
                </c:pt>
                <c:pt idx="555">
                  <c:v>46231</c:v>
                </c:pt>
                <c:pt idx="556">
                  <c:v>46232</c:v>
                </c:pt>
                <c:pt idx="557">
                  <c:v>46233</c:v>
                </c:pt>
                <c:pt idx="558">
                  <c:v>46234</c:v>
                </c:pt>
                <c:pt idx="559">
                  <c:v>46235</c:v>
                </c:pt>
                <c:pt idx="560">
                  <c:v>46236</c:v>
                </c:pt>
                <c:pt idx="561">
                  <c:v>46237</c:v>
                </c:pt>
                <c:pt idx="562">
                  <c:v>46238</c:v>
                </c:pt>
                <c:pt idx="563">
                  <c:v>46239</c:v>
                </c:pt>
                <c:pt idx="564">
                  <c:v>46240</c:v>
                </c:pt>
                <c:pt idx="565">
                  <c:v>46241</c:v>
                </c:pt>
                <c:pt idx="566">
                  <c:v>46242</c:v>
                </c:pt>
                <c:pt idx="567">
                  <c:v>46243</c:v>
                </c:pt>
                <c:pt idx="568">
                  <c:v>46244</c:v>
                </c:pt>
                <c:pt idx="569">
                  <c:v>46245</c:v>
                </c:pt>
                <c:pt idx="570">
                  <c:v>46246</c:v>
                </c:pt>
                <c:pt idx="571">
                  <c:v>46247</c:v>
                </c:pt>
                <c:pt idx="572">
                  <c:v>46248</c:v>
                </c:pt>
                <c:pt idx="573">
                  <c:v>46249</c:v>
                </c:pt>
                <c:pt idx="574">
                  <c:v>46250</c:v>
                </c:pt>
                <c:pt idx="575">
                  <c:v>46251</c:v>
                </c:pt>
                <c:pt idx="576">
                  <c:v>46252</c:v>
                </c:pt>
                <c:pt idx="577">
                  <c:v>46253</c:v>
                </c:pt>
                <c:pt idx="578">
                  <c:v>46254</c:v>
                </c:pt>
                <c:pt idx="579">
                  <c:v>46255</c:v>
                </c:pt>
                <c:pt idx="580">
                  <c:v>46256</c:v>
                </c:pt>
                <c:pt idx="581">
                  <c:v>46257</c:v>
                </c:pt>
                <c:pt idx="582">
                  <c:v>46258</c:v>
                </c:pt>
                <c:pt idx="583">
                  <c:v>46259</c:v>
                </c:pt>
                <c:pt idx="584">
                  <c:v>46260</c:v>
                </c:pt>
                <c:pt idx="585">
                  <c:v>46261</c:v>
                </c:pt>
                <c:pt idx="586">
                  <c:v>46262</c:v>
                </c:pt>
                <c:pt idx="587">
                  <c:v>46263</c:v>
                </c:pt>
                <c:pt idx="588">
                  <c:v>46264</c:v>
                </c:pt>
                <c:pt idx="589">
                  <c:v>46265</c:v>
                </c:pt>
                <c:pt idx="590">
                  <c:v>46266</c:v>
                </c:pt>
                <c:pt idx="591">
                  <c:v>46267</c:v>
                </c:pt>
                <c:pt idx="592">
                  <c:v>46268</c:v>
                </c:pt>
                <c:pt idx="593">
                  <c:v>46269</c:v>
                </c:pt>
                <c:pt idx="594">
                  <c:v>46270</c:v>
                </c:pt>
                <c:pt idx="595">
                  <c:v>46271</c:v>
                </c:pt>
                <c:pt idx="596">
                  <c:v>46272</c:v>
                </c:pt>
                <c:pt idx="597">
                  <c:v>46273</c:v>
                </c:pt>
                <c:pt idx="598">
                  <c:v>46274</c:v>
                </c:pt>
                <c:pt idx="599">
                  <c:v>46275</c:v>
                </c:pt>
                <c:pt idx="600">
                  <c:v>46276</c:v>
                </c:pt>
                <c:pt idx="601">
                  <c:v>46277</c:v>
                </c:pt>
                <c:pt idx="602">
                  <c:v>46278</c:v>
                </c:pt>
                <c:pt idx="603">
                  <c:v>46279</c:v>
                </c:pt>
                <c:pt idx="604">
                  <c:v>46280</c:v>
                </c:pt>
                <c:pt idx="605">
                  <c:v>46281</c:v>
                </c:pt>
                <c:pt idx="606">
                  <c:v>46282</c:v>
                </c:pt>
                <c:pt idx="607">
                  <c:v>46283</c:v>
                </c:pt>
                <c:pt idx="608">
                  <c:v>46284</c:v>
                </c:pt>
                <c:pt idx="609">
                  <c:v>46285</c:v>
                </c:pt>
                <c:pt idx="610">
                  <c:v>46286</c:v>
                </c:pt>
                <c:pt idx="611">
                  <c:v>46287</c:v>
                </c:pt>
                <c:pt idx="612">
                  <c:v>46288</c:v>
                </c:pt>
                <c:pt idx="613">
                  <c:v>46289</c:v>
                </c:pt>
                <c:pt idx="614">
                  <c:v>46290</c:v>
                </c:pt>
                <c:pt idx="615">
                  <c:v>46291</c:v>
                </c:pt>
                <c:pt idx="616">
                  <c:v>46292</c:v>
                </c:pt>
                <c:pt idx="617">
                  <c:v>46293</c:v>
                </c:pt>
                <c:pt idx="618">
                  <c:v>46294</c:v>
                </c:pt>
                <c:pt idx="619">
                  <c:v>46295</c:v>
                </c:pt>
                <c:pt idx="620">
                  <c:v>46296</c:v>
                </c:pt>
                <c:pt idx="621">
                  <c:v>46297</c:v>
                </c:pt>
                <c:pt idx="622">
                  <c:v>46298</c:v>
                </c:pt>
                <c:pt idx="623">
                  <c:v>46299</c:v>
                </c:pt>
                <c:pt idx="624">
                  <c:v>46300</c:v>
                </c:pt>
                <c:pt idx="625">
                  <c:v>46301</c:v>
                </c:pt>
                <c:pt idx="626">
                  <c:v>46302</c:v>
                </c:pt>
              </c:numCache>
            </c:numRef>
          </c:xVal>
          <c:yVal>
            <c:numRef>
              <c:f>'Chart Data'!$B$2:$B$628</c:f>
              <c:numCache>
                <c:formatCode>$0</c:formatCode>
                <c:ptCount val="627"/>
                <c:pt idx="0">
                  <c:v>45.5030010328</c:v>
                </c:pt>
                <c:pt idx="1">
                  <c:v>36.9606590793</c:v>
                </c:pt>
                <c:pt idx="2">
                  <c:v>44.0049969891</c:v>
                </c:pt>
                <c:pt idx="3">
                  <c:v>36.9057571143</c:v>
                </c:pt>
                <c:pt idx="4">
                  <c:v>34.7083060806</c:v>
                </c:pt>
                <c:pt idx="5">
                  <c:v>30.0813004249</c:v>
                </c:pt>
                <c:pt idx="6">
                  <c:v>28.8858209191</c:v>
                </c:pt>
                <c:pt idx="7">
                  <c:v>27.3513932482</c:v>
                </c:pt>
                <c:pt idx="8">
                  <c:v>28.0485638761</c:v>
                </c:pt>
                <c:pt idx="9">
                  <c:v>27.3368789836</c:v>
                </c:pt>
                <c:pt idx="10">
                  <c:v>27.2055763914</c:v>
                </c:pt>
                <c:pt idx="11">
                  <c:v>26.0775761673</c:v>
                </c:pt>
                <c:pt idx="12">
                  <c:v>24.1116164683</c:v>
                </c:pt>
                <c:pt idx="13">
                  <c:v>19.7367385755</c:v>
                </c:pt>
                <c:pt idx="14">
                  <c:v>20.8576512905</c:v>
                </c:pt>
                <c:pt idx="15">
                  <c:v>19.6657196635</c:v>
                </c:pt>
                <c:pt idx="16">
                  <c:v>17.2070144873</c:v>
                </c:pt>
                <c:pt idx="17">
                  <c:v>18.1397337977</c:v>
                </c:pt>
                <c:pt idx="18">
                  <c:v>17.1183966881</c:v>
                </c:pt>
                <c:pt idx="19">
                  <c:v>16.5950975909</c:v>
                </c:pt>
                <c:pt idx="20">
                  <c:v>17.2727350246</c:v>
                </c:pt>
                <c:pt idx="21">
                  <c:v>15.910079347</c:v>
                </c:pt>
                <c:pt idx="22">
                  <c:v>15.8942137211</c:v>
                </c:pt>
                <c:pt idx="23">
                  <c:v>15.3399339415</c:v>
                </c:pt>
                <c:pt idx="24">
                  <c:v>15.4407200126</c:v>
                </c:pt>
                <c:pt idx="25">
                  <c:v>16.2842720747</c:v>
                </c:pt>
                <c:pt idx="26">
                  <c:v>21.4867029471</c:v>
                </c:pt>
                <c:pt idx="27">
                  <c:v>18.669437314</c:v>
                </c:pt>
                <c:pt idx="28">
                  <c:v>18.7658325851</c:v>
                </c:pt>
                <c:pt idx="29">
                  <c:v>17.1886947564</c:v>
                </c:pt>
                <c:pt idx="30">
                  <c:v>16.3430468723</c:v>
                </c:pt>
                <c:pt idx="31">
                  <c:v>17.0392405627</c:v>
                </c:pt>
                <c:pt idx="32">
                  <c:v>17.0634190484</c:v>
                </c:pt>
                <c:pt idx="33">
                  <c:v>15.8694430792</c:v>
                </c:pt>
                <c:pt idx="34">
                  <c:v>16.5103934136</c:v>
                </c:pt>
                <c:pt idx="35">
                  <c:v>16.1268282476</c:v>
                </c:pt>
                <c:pt idx="36">
                  <c:v>12.905040985</c:v>
                </c:pt>
                <c:pt idx="37">
                  <c:v>13.2392005889</c:v>
                </c:pt>
                <c:pt idx="38">
                  <c:v>13.2886748063</c:v>
                </c:pt>
                <c:pt idx="39">
                  <c:v>12.5942666016</c:v>
                </c:pt>
                <c:pt idx="40">
                  <c:v>12.9659160369</c:v>
                </c:pt>
                <c:pt idx="41">
                  <c:v>13.190515052</c:v>
                </c:pt>
                <c:pt idx="42">
                  <c:v>16.8663992594</c:v>
                </c:pt>
                <c:pt idx="43">
                  <c:v>12.8092273565</c:v>
                </c:pt>
                <c:pt idx="44">
                  <c:v>13.0010469342</c:v>
                </c:pt>
                <c:pt idx="45">
                  <c:v>13.2203445312</c:v>
                </c:pt>
                <c:pt idx="46">
                  <c:v>13.0967656329</c:v>
                </c:pt>
                <c:pt idx="47">
                  <c:v>12.3515324972</c:v>
                </c:pt>
                <c:pt idx="48">
                  <c:v>12.0239942186</c:v>
                </c:pt>
                <c:pt idx="49">
                  <c:v>10.6988621621</c:v>
                </c:pt>
                <c:pt idx="50">
                  <c:v>10.3040149848</c:v>
                </c:pt>
                <c:pt idx="51">
                  <c:v>10.4871653751</c:v>
                </c:pt>
                <c:pt idx="52">
                  <c:v>10.5768959561</c:v>
                </c:pt>
                <c:pt idx="53">
                  <c:v>10.7117578697</c:v>
                </c:pt>
                <c:pt idx="54">
                  <c:v>11.8928710098</c:v>
                </c:pt>
                <c:pt idx="55">
                  <c:v>12.1829904899</c:v>
                </c:pt>
                <c:pt idx="56">
                  <c:v>11.209065435</c:v>
                </c:pt>
                <c:pt idx="57">
                  <c:v>11.4183753505</c:v>
                </c:pt>
                <c:pt idx="58">
                  <c:v>11.0248332965</c:v>
                </c:pt>
                <c:pt idx="59">
                  <c:v>11.6666825712</c:v>
                </c:pt>
                <c:pt idx="60">
                  <c:v>11.0488226092</c:v>
                </c:pt>
                <c:pt idx="61">
                  <c:v>10.8472096439</c:v>
                </c:pt>
                <c:pt idx="62">
                  <c:v>10.7412243508</c:v>
                </c:pt>
                <c:pt idx="63">
                  <c:v>11.4865255907</c:v>
                </c:pt>
                <c:pt idx="64">
                  <c:v>11.8734825374</c:v>
                </c:pt>
                <c:pt idx="65">
                  <c:v>11.6064347121</c:v>
                </c:pt>
                <c:pt idx="66">
                  <c:v>11.3954071477</c:v>
                </c:pt>
                <c:pt idx="67">
                  <c:v>11.1039255785</c:v>
                </c:pt>
                <c:pt idx="68">
                  <c:v>10.3327658203</c:v>
                </c:pt>
                <c:pt idx="69">
                  <c:v>10.0744625708</c:v>
                </c:pt>
                <c:pt idx="70">
                  <c:v>10.2008588136</c:v>
                </c:pt>
                <c:pt idx="71">
                  <c:v>10.0219331612</c:v>
                </c:pt>
                <c:pt idx="72">
                  <c:v>10.3973526153</c:v>
                </c:pt>
                <c:pt idx="73">
                  <c:v>9.1801502717</c:v>
                </c:pt>
                <c:pt idx="74">
                  <c:v>9.4675278672</c:v>
                </c:pt>
                <c:pt idx="75">
                  <c:v>9.3488217976</c:v>
                </c:pt>
                <c:pt idx="76">
                  <c:v>9.2195024107</c:v>
                </c:pt>
                <c:pt idx="77">
                  <c:v>7.9113468315</c:v>
                </c:pt>
                <c:pt idx="78">
                  <c:v>7.8302417918</c:v>
                </c:pt>
                <c:pt idx="79">
                  <c:v>7.5733076389</c:v>
                </c:pt>
                <c:pt idx="80">
                  <c:v>8.1649371996</c:v>
                </c:pt>
                <c:pt idx="81">
                  <c:v>7.9122059106</c:v>
                </c:pt>
                <c:pt idx="82">
                  <c:v>8.0519767643</c:v>
                </c:pt>
                <c:pt idx="83">
                  <c:v>8.6717934512</c:v>
                </c:pt>
                <c:pt idx="84">
                  <c:v>8.2846966936</c:v>
                </c:pt>
                <c:pt idx="85">
                  <c:v>7.8734876902</c:v>
                </c:pt>
                <c:pt idx="86">
                  <c:v>7.8115266525</c:v>
                </c:pt>
                <c:pt idx="87">
                  <c:v>7.721686774</c:v>
                </c:pt>
                <c:pt idx="88">
                  <c:v>7.5435181798</c:v>
                </c:pt>
                <c:pt idx="89">
                  <c:v>7.7935272395</c:v>
                </c:pt>
                <c:pt idx="90">
                  <c:v>8.4229021762</c:v>
                </c:pt>
                <c:pt idx="91">
                  <c:v>8.1724731685</c:v>
                </c:pt>
                <c:pt idx="92">
                  <c:v>8.3308639783</c:v>
                </c:pt>
                <c:pt idx="93">
                  <c:v>9.2236496384</c:v>
                </c:pt>
                <c:pt idx="94">
                  <c:v>13.3528765106</c:v>
                </c:pt>
                <c:pt idx="95">
                  <c:v>12.2324752451</c:v>
                </c:pt>
                <c:pt idx="96">
                  <c:v>13.3668856956</c:v>
                </c:pt>
                <c:pt idx="97">
                  <c:v>15.6106189385</c:v>
                </c:pt>
                <c:pt idx="98">
                  <c:v>14.8774681039</c:v>
                </c:pt>
                <c:pt idx="99">
                  <c:v>14.6580481303</c:v>
                </c:pt>
                <c:pt idx="100">
                  <c:v>13.0100662524</c:v>
                </c:pt>
                <c:pt idx="101">
                  <c:v>13.1675123063</c:v>
                </c:pt>
                <c:pt idx="102">
                  <c:v>12.72071342</c:v>
                </c:pt>
                <c:pt idx="103">
                  <c:v>13.2298815004</c:v>
                </c:pt>
                <c:pt idx="104">
                  <c:v>11.3286718964</c:v>
                </c:pt>
                <c:pt idx="105">
                  <c:v>10.9857996572</c:v>
                </c:pt>
                <c:pt idx="106">
                  <c:v>11.1771404757</c:v>
                </c:pt>
                <c:pt idx="107">
                  <c:v>11.029093901</c:v>
                </c:pt>
                <c:pt idx="108">
                  <c:v>10.9902290205</c:v>
                </c:pt>
                <c:pt idx="109">
                  <c:v>12.5687440886</c:v>
                </c:pt>
                <c:pt idx="110">
                  <c:v>14.2724386235</c:v>
                </c:pt>
                <c:pt idx="111">
                  <c:v>14.9206765674</c:v>
                </c:pt>
                <c:pt idx="112">
                  <c:v>13.7263091152</c:v>
                </c:pt>
                <c:pt idx="113">
                  <c:v>13.0954450002</c:v>
                </c:pt>
                <c:pt idx="114">
                  <c:v>13.8089157015</c:v>
                </c:pt>
                <c:pt idx="115">
                  <c:v>13.3933211656</c:v>
                </c:pt>
                <c:pt idx="116">
                  <c:v>12.7694593332</c:v>
                </c:pt>
                <c:pt idx="117">
                  <c:v>12.6234727556</c:v>
                </c:pt>
                <c:pt idx="118">
                  <c:v>12.6380853459</c:v>
                </c:pt>
                <c:pt idx="119">
                  <c:v>13.3034963644</c:v>
                </c:pt>
                <c:pt idx="120">
                  <c:v>12.8709161663</c:v>
                </c:pt>
                <c:pt idx="121">
                  <c:v>14.4357236412</c:v>
                </c:pt>
                <c:pt idx="122">
                  <c:v>14.4327305349</c:v>
                </c:pt>
                <c:pt idx="123">
                  <c:v>14.7067908021</c:v>
                </c:pt>
                <c:pt idx="124">
                  <c:v>12.5163711726</c:v>
                </c:pt>
                <c:pt idx="125">
                  <c:v>12.9310432332</c:v>
                </c:pt>
                <c:pt idx="126">
                  <c:v>12.8254262938</c:v>
                </c:pt>
                <c:pt idx="127">
                  <c:v>12.7261910075</c:v>
                </c:pt>
                <c:pt idx="128">
                  <c:v>12.7827330829</c:v>
                </c:pt>
                <c:pt idx="129">
                  <c:v>12.4699609439</c:v>
                </c:pt>
                <c:pt idx="130">
                  <c:v>11.9285511784</c:v>
                </c:pt>
                <c:pt idx="131">
                  <c:v>10.8372824588</c:v>
                </c:pt>
                <c:pt idx="132">
                  <c:v>11.2454618498</c:v>
                </c:pt>
                <c:pt idx="133">
                  <c:v>11.3742062791</c:v>
                </c:pt>
                <c:pt idx="134">
                  <c:v>11.333423406</c:v>
                </c:pt>
                <c:pt idx="135">
                  <c:v>11.1814481411</c:v>
                </c:pt>
                <c:pt idx="136">
                  <c:v>10.8126963839</c:v>
                </c:pt>
                <c:pt idx="137">
                  <c:v>9.752081115</c:v>
                </c:pt>
                <c:pt idx="138">
                  <c:v>10.1111642575</c:v>
                </c:pt>
                <c:pt idx="139">
                  <c:v>10.390046975</c:v>
                </c:pt>
                <c:pt idx="140">
                  <c:v>10.4091622749</c:v>
                </c:pt>
                <c:pt idx="141">
                  <c:v>10.8609600368</c:v>
                </c:pt>
                <c:pt idx="142">
                  <c:v>10.9594057982</c:v>
                </c:pt>
                <c:pt idx="143">
                  <c:v>10.7129794413</c:v>
                </c:pt>
                <c:pt idx="144">
                  <c:v>10.155886118</c:v>
                </c:pt>
                <c:pt idx="145">
                  <c:v>10.2184782294</c:v>
                </c:pt>
                <c:pt idx="146">
                  <c:v>10.0357047275</c:v>
                </c:pt>
                <c:pt idx="147">
                  <c:v>9.9729994196</c:v>
                </c:pt>
                <c:pt idx="148">
                  <c:v>9.6521509289</c:v>
                </c:pt>
                <c:pt idx="149">
                  <c:v>9.5260363474</c:v>
                </c:pt>
                <c:pt idx="150">
                  <c:v>9.3756409143</c:v>
                </c:pt>
                <c:pt idx="151">
                  <c:v>9.3544699247</c:v>
                </c:pt>
                <c:pt idx="152">
                  <c:v>9.1926935588</c:v>
                </c:pt>
                <c:pt idx="153">
                  <c:v>8.9468455218</c:v>
                </c:pt>
                <c:pt idx="154">
                  <c:v>8.7261784039</c:v>
                </c:pt>
                <c:pt idx="155">
                  <c:v>9.3057754944</c:v>
                </c:pt>
                <c:pt idx="156">
                  <c:v>9.2931045497</c:v>
                </c:pt>
                <c:pt idx="157">
                  <c:v>8.9416034991</c:v>
                </c:pt>
                <c:pt idx="158">
                  <c:v>8.9646517715</c:v>
                </c:pt>
                <c:pt idx="159">
                  <c:v>9.0085125279</c:v>
                </c:pt>
                <c:pt idx="160">
                  <c:v>9.1151600114</c:v>
                </c:pt>
                <c:pt idx="161">
                  <c:v>9.2445950181</c:v>
                </c:pt>
                <c:pt idx="162">
                  <c:v>8.8877093731</c:v>
                </c:pt>
                <c:pt idx="163">
                  <c:v>8.5798056034</c:v>
                </c:pt>
                <c:pt idx="164">
                  <c:v>8.830587016</c:v>
                </c:pt>
                <c:pt idx="165">
                  <c:v>8.9172473222</c:v>
                </c:pt>
                <c:pt idx="166">
                  <c:v>8.5063230106</c:v>
                </c:pt>
                <c:pt idx="167">
                  <c:v>8.5342837311</c:v>
                </c:pt>
                <c:pt idx="168">
                  <c:v>8.6324204799</c:v>
                </c:pt>
                <c:pt idx="169">
                  <c:v>8.5825589435</c:v>
                </c:pt>
                <c:pt idx="170">
                  <c:v>8.6211500443</c:v>
                </c:pt>
                <c:pt idx="171">
                  <c:v>9.050284135</c:v>
                </c:pt>
                <c:pt idx="172">
                  <c:v>9.7970722922</c:v>
                </c:pt>
                <c:pt idx="173">
                  <c:v>9.9278587984</c:v>
                </c:pt>
                <c:pt idx="174">
                  <c:v>9.5970186507</c:v>
                </c:pt>
                <c:pt idx="175">
                  <c:v>9.5451795071</c:v>
                </c:pt>
                <c:pt idx="176">
                  <c:v>9.4242766005</c:v>
                </c:pt>
                <c:pt idx="177">
                  <c:v>9.4827861494</c:v>
                </c:pt>
                <c:pt idx="178">
                  <c:v>9.8631261503</c:v>
                </c:pt>
                <c:pt idx="179">
                  <c:v>9.993601576</c:v>
                </c:pt>
                <c:pt idx="180">
                  <c:v>10.0003363877</c:v>
                </c:pt>
                <c:pt idx="181">
                  <c:v>10.1635359294</c:v>
                </c:pt>
                <c:pt idx="182">
                  <c:v>10.7540358841</c:v>
                </c:pt>
                <c:pt idx="183">
                  <c:v>11.2335345452</c:v>
                </c:pt>
                <c:pt idx="184">
                  <c:v>11.1497970318</c:v>
                </c:pt>
                <c:pt idx="185">
                  <c:v>10.1280578175</c:v>
                </c:pt>
                <c:pt idx="186">
                  <c:v>9.9841682239</c:v>
                </c:pt>
                <c:pt idx="187">
                  <c:v>10.1207752581</c:v>
                </c:pt>
                <c:pt idx="188">
                  <c:v>10.145427136</c:v>
                </c:pt>
                <c:pt idx="189">
                  <c:v>10.3200384859</c:v>
                </c:pt>
                <c:pt idx="190">
                  <c:v>9.6972290522</c:v>
                </c:pt>
                <c:pt idx="191">
                  <c:v>9.4859382347</c:v>
                </c:pt>
                <c:pt idx="192">
                  <c:v>9.3036198555</c:v>
                </c:pt>
                <c:pt idx="193">
                  <c:v>8.9544253199</c:v>
                </c:pt>
                <c:pt idx="194">
                  <c:v>8.7262870257</c:v>
                </c:pt>
                <c:pt idx="195">
                  <c:v>8.6158789429</c:v>
                </c:pt>
                <c:pt idx="196">
                  <c:v>8.820397096</c:v>
                </c:pt>
                <c:pt idx="197">
                  <c:v>9.0412409665</c:v>
                </c:pt>
                <c:pt idx="198">
                  <c:v>8.6817367433</c:v>
                </c:pt>
                <c:pt idx="199">
                  <c:v>8.8569134191</c:v>
                </c:pt>
                <c:pt idx="200">
                  <c:v>9.2416277647</c:v>
                </c:pt>
                <c:pt idx="201">
                  <c:v>9.3971883488</c:v>
                </c:pt>
                <c:pt idx="202">
                  <c:v>9.5364207574</c:v>
                </c:pt>
                <c:pt idx="203">
                  <c:v>9.2799888981</c:v>
                </c:pt>
                <c:pt idx="204">
                  <c:v>8.8070146877</c:v>
                </c:pt>
                <c:pt idx="205">
                  <c:v>9.2166084331</c:v>
                </c:pt>
                <c:pt idx="206">
                  <c:v>9.6375427759</c:v>
                </c:pt>
                <c:pt idx="207">
                  <c:v>9.0974909837</c:v>
                </c:pt>
                <c:pt idx="208">
                  <c:v>9.2551437796</c:v>
                </c:pt>
                <c:pt idx="209">
                  <c:v>9.1185553438</c:v>
                </c:pt>
                <c:pt idx="210">
                  <c:v>9.2431688315</c:v>
                </c:pt>
                <c:pt idx="211">
                  <c:v>9.0779013553</c:v>
                </c:pt>
                <c:pt idx="212">
                  <c:v>8.6082022306</c:v>
                </c:pt>
                <c:pt idx="213">
                  <c:v>8.8993115625</c:v>
                </c:pt>
                <c:pt idx="214">
                  <c:v>8.3992514153</c:v>
                </c:pt>
                <c:pt idx="215">
                  <c:v>8.9982363298</c:v>
                </c:pt>
                <c:pt idx="216">
                  <c:v>8.9008522032</c:v>
                </c:pt>
                <c:pt idx="217">
                  <c:v>8.6726033743</c:v>
                </c:pt>
                <c:pt idx="218">
                  <c:v>8.1840401539</c:v>
                </c:pt>
                <c:pt idx="219">
                  <c:v>8.4466241445</c:v>
                </c:pt>
                <c:pt idx="220">
                  <c:v>8.4072829975</c:v>
                </c:pt>
                <c:pt idx="221">
                  <c:v>8.5639225705</c:v>
                </c:pt>
                <c:pt idx="222">
                  <c:v>8.3651598862</c:v>
                </c:pt>
                <c:pt idx="223">
                  <c:v>8.366002437</c:v>
                </c:pt>
                <c:pt idx="224">
                  <c:v>8.6256268941</c:v>
                </c:pt>
                <c:pt idx="225">
                  <c:v>8.3427236344</c:v>
                </c:pt>
                <c:pt idx="226">
                  <c:v>8.3913465477</c:v>
                </c:pt>
                <c:pt idx="227">
                  <c:v>8.4375174942</c:v>
                </c:pt>
                <c:pt idx="228">
                  <c:v>8.2880042833</c:v>
                </c:pt>
                <c:pt idx="229">
                  <c:v>8.3595397536</c:v>
                </c:pt>
                <c:pt idx="230">
                  <c:v>8.3574305946</c:v>
                </c:pt>
                <c:pt idx="231">
                  <c:v>8.4851294146</c:v>
                </c:pt>
                <c:pt idx="232">
                  <c:v>8.6127646619</c:v>
                </c:pt>
                <c:pt idx="233">
                  <c:v>8.6757595788</c:v>
                </c:pt>
                <c:pt idx="234">
                  <c:v>8.8144477124</c:v>
                </c:pt>
                <c:pt idx="235">
                  <c:v>8.8251689788</c:v>
                </c:pt>
                <c:pt idx="236">
                  <c:v>8.9922571933</c:v>
                </c:pt>
                <c:pt idx="237">
                  <c:v>9.2432033259</c:v>
                </c:pt>
                <c:pt idx="238">
                  <c:v>8.7453730944</c:v>
                </c:pt>
                <c:pt idx="239">
                  <c:v>8.5320916331</c:v>
                </c:pt>
                <c:pt idx="240">
                  <c:v>8.603266655</c:v>
                </c:pt>
                <c:pt idx="241">
                  <c:v>8.6975594129</c:v>
                </c:pt>
                <c:pt idx="242">
                  <c:v>8.6668075032</c:v>
                </c:pt>
                <c:pt idx="243">
                  <c:v>8.416173719</c:v>
                </c:pt>
                <c:pt idx="244">
                  <c:v>8.4463292876</c:v>
                </c:pt>
                <c:pt idx="245">
                  <c:v>8.3758349461</c:v>
                </c:pt>
                <c:pt idx="246">
                  <c:v>7.6873105597</c:v>
                </c:pt>
                <c:pt idx="247">
                  <c:v>7.6346946793</c:v>
                </c:pt>
                <c:pt idx="248">
                  <c:v>7.7052032109</c:v>
                </c:pt>
                <c:pt idx="249">
                  <c:v>7.3984929725</c:v>
                </c:pt>
                <c:pt idx="250">
                  <c:v>7.5877188204</c:v>
                </c:pt>
                <c:pt idx="251">
                  <c:v>7.572781012</c:v>
                </c:pt>
                <c:pt idx="252">
                  <c:v>7.6565316489</c:v>
                </c:pt>
                <c:pt idx="253">
                  <c:v>7.579413391</c:v>
                </c:pt>
                <c:pt idx="254">
                  <c:v>7.3758042718</c:v>
                </c:pt>
                <c:pt idx="255">
                  <c:v>7.5820220903</c:v>
                </c:pt>
                <c:pt idx="256">
                  <c:v>7.8290565104</c:v>
                </c:pt>
                <c:pt idx="257">
                  <c:v>7.8566055601</c:v>
                </c:pt>
                <c:pt idx="258">
                  <c:v>7.7585036291</c:v>
                </c:pt>
                <c:pt idx="259">
                  <c:v>7.78960915</c:v>
                </c:pt>
                <c:pt idx="260">
                  <c:v>7.9575108559</c:v>
                </c:pt>
                <c:pt idx="261">
                  <c:v>7.529919853</c:v>
                </c:pt>
                <c:pt idx="262">
                  <c:v>7.7294512516</c:v>
                </c:pt>
                <c:pt idx="263">
                  <c:v>7.5376504527</c:v>
                </c:pt>
                <c:pt idx="264">
                  <c:v>5.405416528</c:v>
                </c:pt>
                <c:pt idx="265">
                  <c:v>5.8625161781</c:v>
                </c:pt>
                <c:pt idx="266">
                  <c:v>6.2117435783</c:v>
                </c:pt>
                <c:pt idx="267">
                  <c:v>6.549190108</c:v>
                </c:pt>
                <c:pt idx="268">
                  <c:v>6.2961059724</c:v>
                </c:pt>
                <c:pt idx="269">
                  <c:v>6.0620150101</c:v>
                </c:pt>
                <c:pt idx="270">
                  <c:v>5.9419080692</c:v>
                </c:pt>
                <c:pt idx="271">
                  <c:v>5.7560667156</c:v>
                </c:pt>
                <c:pt idx="272">
                  <c:v>5.8796643376</c:v>
                </c:pt>
                <c:pt idx="273">
                  <c:v>5.9534068929</c:v>
                </c:pt>
                <c:pt idx="274">
                  <c:v>5.9790441896</c:v>
                </c:pt>
                <c:pt idx="275">
                  <c:v>5.8711633827</c:v>
                </c:pt>
                <c:pt idx="276">
                  <c:v>5.7159099563</c:v>
                </c:pt>
                <c:pt idx="277">
                  <c:v>5.8616574342</c:v>
                </c:pt>
                <c:pt idx="278">
                  <c:v>5.9612485218</c:v>
                </c:pt>
                <c:pt idx="279">
                  <c:v>5.9920305888</c:v>
                </c:pt>
                <c:pt idx="280">
                  <c:v>6.2799459067</c:v>
                </c:pt>
                <c:pt idx="281">
                  <c:v>7.1516408953</c:v>
                </c:pt>
                <c:pt idx="282">
                  <c:v>7.2060873729</c:v>
                </c:pt>
                <c:pt idx="283">
                  <c:v>8.2539278109</c:v>
                </c:pt>
                <c:pt idx="284">
                  <c:v>7.5164731203</c:v>
                </c:pt>
                <c:pt idx="285">
                  <c:v>7.9908159843</c:v>
                </c:pt>
                <c:pt idx="286">
                  <c:v>7.7559391036</c:v>
                </c:pt>
                <c:pt idx="287">
                  <c:v>7.5379215888</c:v>
                </c:pt>
                <c:pt idx="288">
                  <c:v>7.2735763101</c:v>
                </c:pt>
                <c:pt idx="289">
                  <c:v>6.9671007438</c:v>
                </c:pt>
                <c:pt idx="290">
                  <c:v>8.104238351</c:v>
                </c:pt>
                <c:pt idx="291">
                  <c:v>7.6019784999</c:v>
                </c:pt>
                <c:pt idx="292">
                  <c:v>7.6988817381</c:v>
                </c:pt>
                <c:pt idx="293">
                  <c:v>7.5029808708</c:v>
                </c:pt>
                <c:pt idx="294">
                  <c:v>7.6999909274</c:v>
                </c:pt>
                <c:pt idx="295">
                  <c:v>8.8436575842</c:v>
                </c:pt>
                <c:pt idx="296">
                  <c:v>7.884328247</c:v>
                </c:pt>
                <c:pt idx="297">
                  <c:v>7.4723226785</c:v>
                </c:pt>
                <c:pt idx="298">
                  <c:v>7.2706987163</c:v>
                </c:pt>
                <c:pt idx="299">
                  <c:v>7.184756073</c:v>
                </c:pt>
                <c:pt idx="300">
                  <c:v>7.2089727966</c:v>
                </c:pt>
                <c:pt idx="301">
                  <c:v>7.0601106073</c:v>
                </c:pt>
                <c:pt idx="302">
                  <c:v>6.9058096642</c:v>
                </c:pt>
                <c:pt idx="303">
                  <c:v>7.1347431774</c:v>
                </c:pt>
                <c:pt idx="304">
                  <c:v>6.8611618479</c:v>
                </c:pt>
                <c:pt idx="305">
                  <c:v>6.6544885364</c:v>
                </c:pt>
                <c:pt idx="306">
                  <c:v>6.2682374794</c:v>
                </c:pt>
                <c:pt idx="307">
                  <c:v>6.294130999</c:v>
                </c:pt>
                <c:pt idx="308">
                  <c:v>6.2595061531</c:v>
                </c:pt>
                <c:pt idx="309">
                  <c:v>6.3678349588</c:v>
                </c:pt>
                <c:pt idx="310">
                  <c:v>6.2293246506</c:v>
                </c:pt>
                <c:pt idx="311">
                  <c:v>6.2859019218</c:v>
                </c:pt>
                <c:pt idx="312">
                  <c:v>6.143455016</c:v>
                </c:pt>
                <c:pt idx="313">
                  <c:v>6.0448126676</c:v>
                </c:pt>
                <c:pt idx="314">
                  <c:v>6.034412146</c:v>
                </c:pt>
                <c:pt idx="315">
                  <c:v>6.0099349805</c:v>
                </c:pt>
                <c:pt idx="316">
                  <c:v>5.7306394101</c:v>
                </c:pt>
                <c:pt idx="317">
                  <c:v>5.9920173522</c:v>
                </c:pt>
                <c:pt idx="318">
                  <c:v>6.0741422635</c:v>
                </c:pt>
                <c:pt idx="319">
                  <c:v>5.9255719715</c:v>
                </c:pt>
                <c:pt idx="320">
                  <c:v>5.7436341685</c:v>
                </c:pt>
                <c:pt idx="321">
                  <c:v>5.7218679187</c:v>
                </c:pt>
                <c:pt idx="322">
                  <c:v>5.6553055459</c:v>
                </c:pt>
                <c:pt idx="323">
                  <c:v>5.6901063762</c:v>
                </c:pt>
                <c:pt idx="324">
                  <c:v>5.9358860376</c:v>
                </c:pt>
                <c:pt idx="325">
                  <c:v>5.7472454495</c:v>
                </c:pt>
                <c:pt idx="326">
                  <c:v>5.6875596606</c:v>
                </c:pt>
                <c:pt idx="327">
                  <c:v>5.6124054695</c:v>
                </c:pt>
                <c:pt idx="328">
                  <c:v>5.5565571154</c:v>
                </c:pt>
                <c:pt idx="329">
                  <c:v>5.4198556742</c:v>
                </c:pt>
                <c:pt idx="330">
                  <c:v>5.3290635056</c:v>
                </c:pt>
                <c:pt idx="331">
                  <c:v>5.2947571275</c:v>
                </c:pt>
                <c:pt idx="332">
                  <c:v>5.1359796569</c:v>
                </c:pt>
                <c:pt idx="333">
                  <c:v>5.0119846973</c:v>
                </c:pt>
                <c:pt idx="334">
                  <c:v>5.1583906735</c:v>
                </c:pt>
                <c:pt idx="335">
                  <c:v>5.090307434</c:v>
                </c:pt>
                <c:pt idx="336">
                  <c:v>5.0679691383</c:v>
                </c:pt>
                <c:pt idx="337">
                  <c:v>4.9749956275</c:v>
                </c:pt>
                <c:pt idx="338">
                  <c:v>4.9471518714</c:v>
                </c:pt>
                <c:pt idx="339">
                  <c:v>4.9145201318</c:v>
                </c:pt>
                <c:pt idx="340">
                  <c:v>4.8682377457</c:v>
                </c:pt>
                <c:pt idx="341">
                  <c:v>4.892803095</c:v>
                </c:pt>
                <c:pt idx="342">
                  <c:v>4.9613064721</c:v>
                </c:pt>
                <c:pt idx="343">
                  <c:v>4.919580798</c:v>
                </c:pt>
                <c:pt idx="344">
                  <c:v>4.9057067948</c:v>
                </c:pt>
                <c:pt idx="345">
                  <c:v>4.9021312244</c:v>
                </c:pt>
                <c:pt idx="346">
                  <c:v>4.8017246226</c:v>
                </c:pt>
                <c:pt idx="347">
                  <c:v>4.8831244609</c:v>
                </c:pt>
                <c:pt idx="348">
                  <c:v>5.0469639692</c:v>
                </c:pt>
                <c:pt idx="349">
                  <c:v>5.2606239417</c:v>
                </c:pt>
                <c:pt idx="350">
                  <c:v>5.4023466224</c:v>
                </c:pt>
                <c:pt idx="351">
                  <c:v>5.6257338531</c:v>
                </c:pt>
                <c:pt idx="352">
                  <c:v>5.4798217237</c:v>
                </c:pt>
                <c:pt idx="353">
                  <c:v>5.3611889511</c:v>
                </c:pt>
                <c:pt idx="354">
                  <c:v>5.359479996</c:v>
                </c:pt>
                <c:pt idx="355">
                  <c:v>5.430355617</c:v>
                </c:pt>
                <c:pt idx="356">
                  <c:v>5.3970002708</c:v>
                </c:pt>
                <c:pt idx="357">
                  <c:v>5.4350158227</c:v>
                </c:pt>
                <c:pt idx="358">
                  <c:v>5.3427133777</c:v>
                </c:pt>
                <c:pt idx="359">
                  <c:v>5.6600279404</c:v>
                </c:pt>
                <c:pt idx="360">
                  <c:v>5.5627827307</c:v>
                </c:pt>
                <c:pt idx="361">
                  <c:v>5.3622754028</c:v>
                </c:pt>
                <c:pt idx="362">
                  <c:v>5.3843932437</c:v>
                </c:pt>
                <c:pt idx="363">
                  <c:v>5.3154452694</c:v>
                </c:pt>
                <c:pt idx="364">
                  <c:v>5.0888965191</c:v>
                </c:pt>
                <c:pt idx="365">
                  <c:v>5.0085851745</c:v>
                </c:pt>
                <c:pt idx="366">
                  <c:v>4.8297591459</c:v>
                </c:pt>
                <c:pt idx="367">
                  <c:v>4.9354738682</c:v>
                </c:pt>
                <c:pt idx="368">
                  <c:v>4.8404004852</c:v>
                </c:pt>
                <c:pt idx="369">
                  <c:v>4.8481192325</c:v>
                </c:pt>
                <c:pt idx="370">
                  <c:v>4.9324376786</c:v>
                </c:pt>
                <c:pt idx="371">
                  <c:v>4.754316358</c:v>
                </c:pt>
                <c:pt idx="372">
                  <c:v>4.8043915672</c:v>
                </c:pt>
                <c:pt idx="373">
                  <c:v>4.796563156</c:v>
                </c:pt>
                <c:pt idx="374">
                  <c:v>4.7549936912</c:v>
                </c:pt>
                <c:pt idx="375">
                  <c:v>4.5701364539</c:v>
                </c:pt>
                <c:pt idx="376">
                  <c:v>4.4548776362</c:v>
                </c:pt>
                <c:pt idx="377">
                  <c:v>4.2411810791</c:v>
                </c:pt>
                <c:pt idx="378">
                  <c:v>4.1355793055</c:v>
                </c:pt>
                <c:pt idx="379">
                  <c:v>4.2637219957</c:v>
                </c:pt>
                <c:pt idx="380">
                  <c:v>4.2059073517</c:v>
                </c:pt>
                <c:pt idx="381">
                  <c:v>4.1399929144</c:v>
                </c:pt>
                <c:pt idx="382">
                  <c:v>3.4251425622</c:v>
                </c:pt>
                <c:pt idx="383">
                  <c:v>3.5116592367</c:v>
                </c:pt>
                <c:pt idx="384">
                  <c:v>3.4358628849</c:v>
                </c:pt>
                <c:pt idx="385">
                  <c:v>3.3619236522</c:v>
                </c:pt>
                <c:pt idx="386">
                  <c:v>3.3576647271</c:v>
                </c:pt>
                <c:pt idx="387">
                  <c:v>3.2377339206</c:v>
                </c:pt>
                <c:pt idx="388">
                  <c:v>3.2156284582</c:v>
                </c:pt>
                <c:pt idx="389">
                  <c:v>3.2887960563</c:v>
                </c:pt>
                <c:pt idx="390">
                  <c:v>3.419107101</c:v>
                </c:pt>
                <c:pt idx="391">
                  <c:v>3.5847847611</c:v>
                </c:pt>
                <c:pt idx="392">
                  <c:v>3.4062454105</c:v>
                </c:pt>
                <c:pt idx="393">
                  <c:v>3.3812403022</c:v>
                </c:pt>
                <c:pt idx="394">
                  <c:v>3.4503649111</c:v>
                </c:pt>
                <c:pt idx="395">
                  <c:v>3.3763278372</c:v>
                </c:pt>
                <c:pt idx="396">
                  <c:v>3.4184752969</c:v>
                </c:pt>
                <c:pt idx="397">
                  <c:v>3.5707244553</c:v>
                </c:pt>
                <c:pt idx="398">
                  <c:v>3.4712654127</c:v>
                </c:pt>
                <c:pt idx="399">
                  <c:v>3.3868399312</c:v>
                </c:pt>
                <c:pt idx="400">
                  <c:v>3.3059579857</c:v>
                </c:pt>
                <c:pt idx="401">
                  <c:v>3.366458195</c:v>
                </c:pt>
                <c:pt idx="402">
                  <c:v>3.519945427</c:v>
                </c:pt>
                <c:pt idx="403">
                  <c:v>3.4677111738</c:v>
                </c:pt>
                <c:pt idx="404">
                  <c:v>3.4012377612</c:v>
                </c:pt>
                <c:pt idx="405">
                  <c:v>3.4658219023</c:v>
                </c:pt>
                <c:pt idx="406">
                  <c:v>3.4209759897</c:v>
                </c:pt>
                <c:pt idx="407">
                  <c:v>3.4771168416</c:v>
                </c:pt>
                <c:pt idx="408">
                  <c:v>3.3932989081</c:v>
                </c:pt>
                <c:pt idx="409">
                  <c:v>3.4302993942</c:v>
                </c:pt>
                <c:pt idx="410">
                  <c:v>3.2279527862</c:v>
                </c:pt>
                <c:pt idx="411">
                  <c:v>3.1311657716</c:v>
                </c:pt>
                <c:pt idx="412">
                  <c:v>2.9990657364</c:v>
                </c:pt>
                <c:pt idx="413">
                  <c:v>2.9681935601</c:v>
                </c:pt>
                <c:pt idx="414">
                  <c:v>2.8821926306</c:v>
                </c:pt>
                <c:pt idx="415">
                  <c:v>2.9035010878</c:v>
                </c:pt>
                <c:pt idx="416">
                  <c:v>2.9008449138</c:v>
                </c:pt>
                <c:pt idx="417">
                  <c:v>2.935727337</c:v>
                </c:pt>
                <c:pt idx="418">
                  <c:v>3.8505826533</c:v>
                </c:pt>
                <c:pt idx="419">
                  <c:v>4.0147745002</c:v>
                </c:pt>
                <c:pt idx="420">
                  <c:v>4.0521750144</c:v>
                </c:pt>
                <c:pt idx="421">
                  <c:v>3.8999025921</c:v>
                </c:pt>
                <c:pt idx="422">
                  <c:v>3.6558414698</c:v>
                </c:pt>
                <c:pt idx="423">
                  <c:v>3.4893735097</c:v>
                </c:pt>
                <c:pt idx="424">
                  <c:v>3.3446038655</c:v>
                </c:pt>
                <c:pt idx="425">
                  <c:v>3.3527933106</c:v>
                </c:pt>
                <c:pt idx="426">
                  <c:v>3.2468705174</c:v>
                </c:pt>
                <c:pt idx="427">
                  <c:v>3.195800045</c:v>
                </c:pt>
                <c:pt idx="428">
                  <c:v>3.2858991565</c:v>
                </c:pt>
                <c:pt idx="429">
                  <c:v>3.2709206486</c:v>
                </c:pt>
                <c:pt idx="430">
                  <c:v>3.2821705295</c:v>
                </c:pt>
                <c:pt idx="431">
                  <c:v>3.1307161051</c:v>
                </c:pt>
                <c:pt idx="432">
                  <c:v>2.9908726935</c:v>
                </c:pt>
                <c:pt idx="433">
                  <c:v>2.9376434067</c:v>
                </c:pt>
                <c:pt idx="434">
                  <c:v>2.8614931545</c:v>
                </c:pt>
                <c:pt idx="435">
                  <c:v>2.9324246896</c:v>
                </c:pt>
                <c:pt idx="436">
                  <c:v>3.0097055048</c:v>
                </c:pt>
                <c:pt idx="437">
                  <c:v>2.9480806711</c:v>
                </c:pt>
                <c:pt idx="438">
                  <c:v>2.8149435638</c:v>
                </c:pt>
                <c:pt idx="439">
                  <c:v>2.7946728636</c:v>
                </c:pt>
                <c:pt idx="440">
                  <c:v>2.903923421</c:v>
                </c:pt>
                <c:pt idx="441">
                  <c:v>2.8765511957</c:v>
                </c:pt>
                <c:pt idx="442">
                  <c:v>2.8408457045</c:v>
                </c:pt>
                <c:pt idx="443">
                  <c:v>3.0011770247</c:v>
                </c:pt>
                <c:pt idx="444">
                  <c:v>2.9202938897</c:v>
                </c:pt>
                <c:pt idx="445">
                  <c:v>2.9284429281</c:v>
                </c:pt>
                <c:pt idx="446">
                  <c:v>2.8538000932</c:v>
                </c:pt>
                <c:pt idx="447">
                  <c:v>2.8283936505</c:v>
                </c:pt>
                <c:pt idx="448">
                  <c:v>2.7959558174</c:v>
                </c:pt>
                <c:pt idx="449">
                  <c:v>2.874881387</c:v>
                </c:pt>
                <c:pt idx="450">
                  <c:v>2.8067318551</c:v>
                </c:pt>
                <c:pt idx="451">
                  <c:v>2.9343865478</c:v>
                </c:pt>
                <c:pt idx="452">
                  <c:v>3.0725188375</c:v>
                </c:pt>
                <c:pt idx="453">
                  <c:v>3.0473959791</c:v>
                </c:pt>
                <c:pt idx="454">
                  <c:v>2.8784383887</c:v>
                </c:pt>
                <c:pt idx="455">
                  <c:v>2.7926246444</c:v>
                </c:pt>
                <c:pt idx="456">
                  <c:v>2.8730005022</c:v>
                </c:pt>
                <c:pt idx="457">
                  <c:v>2.8543702171</c:v>
                </c:pt>
                <c:pt idx="458">
                  <c:v>2.9120200277</c:v>
                </c:pt>
                <c:pt idx="459">
                  <c:v>2.8703548879</c:v>
                </c:pt>
                <c:pt idx="460">
                  <c:v>2.8797730219</c:v>
                </c:pt>
                <c:pt idx="461">
                  <c:v>2.570249926</c:v>
                </c:pt>
                <c:pt idx="462">
                  <c:v>2.6158528948</c:v>
                </c:pt>
                <c:pt idx="463">
                  <c:v>2.528798839</c:v>
                </c:pt>
                <c:pt idx="464">
                  <c:v>2.4853940377</c:v>
                </c:pt>
                <c:pt idx="465">
                  <c:v>2.392278287</c:v>
                </c:pt>
                <c:pt idx="466">
                  <c:v>2.3836226797</c:v>
                </c:pt>
                <c:pt idx="467">
                  <c:v>2.3131752711</c:v>
                </c:pt>
                <c:pt idx="468">
                  <c:v>2.358367443</c:v>
                </c:pt>
                <c:pt idx="469">
                  <c:v>2.3325662668</c:v>
                </c:pt>
                <c:pt idx="470">
                  <c:v>2.3159473152</c:v>
                </c:pt>
                <c:pt idx="471">
                  <c:v>2.3764709532</c:v>
                </c:pt>
                <c:pt idx="472">
                  <c:v>2.371238376</c:v>
                </c:pt>
                <c:pt idx="473">
                  <c:v>2.3786843075</c:v>
                </c:pt>
                <c:pt idx="474">
                  <c:v>2.4722023342</c:v>
                </c:pt>
                <c:pt idx="475">
                  <c:v>2.4598254383</c:v>
                </c:pt>
                <c:pt idx="476">
                  <c:v>2.4892356868</c:v>
                </c:pt>
                <c:pt idx="477">
                  <c:v>2.4313534003</c:v>
                </c:pt>
                <c:pt idx="478">
                  <c:v>2.4434101204</c:v>
                </c:pt>
                <c:pt idx="479">
                  <c:v>2.3595022731</c:v>
                </c:pt>
                <c:pt idx="480">
                  <c:v>2.3749591822</c:v>
                </c:pt>
                <c:pt idx="481">
                  <c:v>2.2484899584</c:v>
                </c:pt>
                <c:pt idx="482">
                  <c:v>2.1749102555</c:v>
                </c:pt>
                <c:pt idx="483">
                  <c:v>2.0830475731</c:v>
                </c:pt>
                <c:pt idx="484">
                  <c:v>2.072545137</c:v>
                </c:pt>
                <c:pt idx="485">
                  <c:v>2.0159901849</c:v>
                </c:pt>
                <c:pt idx="486">
                  <c:v>2.0299976511</c:v>
                </c:pt>
                <c:pt idx="487">
                  <c:v>2.0776072612</c:v>
                </c:pt>
                <c:pt idx="488">
                  <c:v>2.0171215966</c:v>
                </c:pt>
                <c:pt idx="489">
                  <c:v>2.0965620082</c:v>
                </c:pt>
                <c:pt idx="490">
                  <c:v>2.0594829488</c:v>
                </c:pt>
                <c:pt idx="491">
                  <c:v>2.0820640356</c:v>
                </c:pt>
                <c:pt idx="492">
                  <c:v>2.0125288251</c:v>
                </c:pt>
                <c:pt idx="493">
                  <c:v>1.9519058978</c:v>
                </c:pt>
                <c:pt idx="494">
                  <c:v>1.9036864474</c:v>
                </c:pt>
                <c:pt idx="495">
                  <c:v>1.9738819654</c:v>
                </c:pt>
                <c:pt idx="496">
                  <c:v>1.9915664957</c:v>
                </c:pt>
                <c:pt idx="497">
                  <c:v>2.0122230765</c:v>
                </c:pt>
                <c:pt idx="498">
                  <c:v>2.0393556359</c:v>
                </c:pt>
                <c:pt idx="499">
                  <c:v>1.9446443794</c:v>
                </c:pt>
                <c:pt idx="500">
                  <c:v>1.9810185244</c:v>
                </c:pt>
                <c:pt idx="501">
                  <c:v>1.8000979359</c:v>
                </c:pt>
                <c:pt idx="502">
                  <c:v>1.5913818066</c:v>
                </c:pt>
                <c:pt idx="503">
                  <c:v>1.5794913174</c:v>
                </c:pt>
                <c:pt idx="504">
                  <c:v>1.6639153681</c:v>
                </c:pt>
                <c:pt idx="505">
                  <c:v>1.6807944929</c:v>
                </c:pt>
                <c:pt idx="506">
                  <c:v>1.6578692104</c:v>
                </c:pt>
                <c:pt idx="507">
                  <c:v>1.639563048</c:v>
                </c:pt>
                <c:pt idx="508">
                  <c:v>1.7385260194</c:v>
                </c:pt>
                <c:pt idx="509">
                  <c:v>2.163354858</c:v>
                </c:pt>
                <c:pt idx="510">
                  <c:v>2.1882650363</c:v>
                </c:pt>
                <c:pt idx="511">
                  <c:v>2.0733129661</c:v>
                </c:pt>
                <c:pt idx="512">
                  <c:v>1.9913795858</c:v>
                </c:pt>
                <c:pt idx="513">
                  <c:v>1.906559939</c:v>
                </c:pt>
                <c:pt idx="514">
                  <c:v>1.912631429</c:v>
                </c:pt>
                <c:pt idx="515">
                  <c:v>1.8878758168</c:v>
                </c:pt>
                <c:pt idx="516">
                  <c:v>1.85263781</c:v>
                </c:pt>
                <c:pt idx="517">
                  <c:v>1.8082699387</c:v>
                </c:pt>
                <c:pt idx="518">
                  <c:v>1.8806844837</c:v>
                </c:pt>
                <c:pt idx="519">
                  <c:v>1.8694589791</c:v>
                </c:pt>
                <c:pt idx="520">
                  <c:v>1.7660676681</c:v>
                </c:pt>
                <c:pt idx="521">
                  <c:v>1.6926834263</c:v>
                </c:pt>
                <c:pt idx="522">
                  <c:v>1.6405351618</c:v>
                </c:pt>
                <c:pt idx="523">
                  <c:v>1.7067041269</c:v>
                </c:pt>
                <c:pt idx="524">
                  <c:v>1.6512037281</c:v>
                </c:pt>
                <c:pt idx="525">
                  <c:v>1.6317465995</c:v>
                </c:pt>
                <c:pt idx="526">
                  <c:v>1.6755466331</c:v>
                </c:pt>
                <c:pt idx="527">
                  <c:v>1.6552456583</c:v>
                </c:pt>
                <c:pt idx="528">
                  <c:v>1.6827678168</c:v>
                </c:pt>
                <c:pt idx="529">
                  <c:v>1.7168797462</c:v>
                </c:pt>
                <c:pt idx="530">
                  <c:v>1.7860401007</c:v>
                </c:pt>
                <c:pt idx="531">
                  <c:v>1.818712379</c:v>
                </c:pt>
                <c:pt idx="532">
                  <c:v>1.7045436324</c:v>
                </c:pt>
                <c:pt idx="533">
                  <c:v>1.6924995803</c:v>
                </c:pt>
                <c:pt idx="534">
                  <c:v>1.6458999851</c:v>
                </c:pt>
                <c:pt idx="535">
                  <c:v>1.6025010804</c:v>
                </c:pt>
                <c:pt idx="536">
                  <c:v>1.6063044872</c:v>
                </c:pt>
                <c:pt idx="537">
                  <c:v>1.6138146707</c:v>
                </c:pt>
                <c:pt idx="538">
                  <c:v>1.5883814999</c:v>
                </c:pt>
                <c:pt idx="539">
                  <c:v>1.5571898973</c:v>
                </c:pt>
                <c:pt idx="540">
                  <c:v>1.5427124961</c:v>
                </c:pt>
                <c:pt idx="541">
                  <c:v>1.558537645</c:v>
                </c:pt>
                <c:pt idx="542">
                  <c:v>1.5787901578</c:v>
                </c:pt>
                <c:pt idx="543">
                  <c:v>1.5446650528</c:v>
                </c:pt>
                <c:pt idx="544">
                  <c:v>1.5528278598</c:v>
                </c:pt>
                <c:pt idx="545">
                  <c:v>1.6230855275</c:v>
                </c:pt>
                <c:pt idx="546">
                  <c:v>1.566922657</c:v>
                </c:pt>
                <c:pt idx="547">
                  <c:v>1.5888270103</c:v>
                </c:pt>
                <c:pt idx="548">
                  <c:v>1.5901193715</c:v>
                </c:pt>
                <c:pt idx="549">
                  <c:v>1.6083104493</c:v>
                </c:pt>
                <c:pt idx="550">
                  <c:v>1.5997571252</c:v>
                </c:pt>
                <c:pt idx="551">
                  <c:v>1.5603905155</c:v>
                </c:pt>
                <c:pt idx="552">
                  <c:v>1.5659442983</c:v>
                </c:pt>
                <c:pt idx="553">
                  <c:v>1.5962226262</c:v>
                </c:pt>
                <c:pt idx="554">
                  <c:v>1.5270480932</c:v>
                </c:pt>
                <c:pt idx="555">
                  <c:v>1.4665930976</c:v>
                </c:pt>
                <c:pt idx="556">
                  <c:v>1.4594962459</c:v>
                </c:pt>
                <c:pt idx="557">
                  <c:v>1.4568650927</c:v>
                </c:pt>
                <c:pt idx="558">
                  <c:v>1.4155763178</c:v>
                </c:pt>
                <c:pt idx="559">
                  <c:v>1.4348951842</c:v>
                </c:pt>
                <c:pt idx="560">
                  <c:v>1.4381821956</c:v>
                </c:pt>
                <c:pt idx="561">
                  <c:v>1.4700057333</c:v>
                </c:pt>
                <c:pt idx="562">
                  <c:v>1.4667953019</c:v>
                </c:pt>
                <c:pt idx="563">
                  <c:v>1.4652732519</c:v>
                </c:pt>
                <c:pt idx="564">
                  <c:v>1.476479686</c:v>
                </c:pt>
                <c:pt idx="565">
                  <c:v>1.4765626719</c:v>
                </c:pt>
                <c:pt idx="566">
                  <c:v>1.4882644149</c:v>
                </c:pt>
                <c:pt idx="567">
                  <c:v>1.4851985588</c:v>
                </c:pt>
                <c:pt idx="568">
                  <c:v>1.4808686906</c:v>
                </c:pt>
                <c:pt idx="569">
                  <c:v>1.4786957564</c:v>
                </c:pt>
                <c:pt idx="570">
                  <c:v>1.4084534578</c:v>
                </c:pt>
                <c:pt idx="571">
                  <c:v>1.3947192818</c:v>
                </c:pt>
                <c:pt idx="572">
                  <c:v>1.4312128411</c:v>
                </c:pt>
                <c:pt idx="573">
                  <c:v>1.4031303735</c:v>
                </c:pt>
                <c:pt idx="574">
                  <c:v>1.3988135391</c:v>
                </c:pt>
                <c:pt idx="575">
                  <c:v>1.3957428683</c:v>
                </c:pt>
                <c:pt idx="576">
                  <c:v>1.4072843714</c:v>
                </c:pt>
                <c:pt idx="577">
                  <c:v>1.7910941096</c:v>
                </c:pt>
                <c:pt idx="578">
                  <c:v>1.6486963754</c:v>
                </c:pt>
                <c:pt idx="579">
                  <c:v>1.8662551316</c:v>
                </c:pt>
                <c:pt idx="580">
                  <c:v>2.3942921589</c:v>
                </c:pt>
                <c:pt idx="581">
                  <c:v>2.6166410009</c:v>
                </c:pt>
                <c:pt idx="582">
                  <c:v>2.3923298743</c:v>
                </c:pt>
                <c:pt idx="583">
                  <c:v>2.172542331</c:v>
                </c:pt>
                <c:pt idx="584">
                  <c:v>2.3301637309</c:v>
                </c:pt>
                <c:pt idx="585">
                  <c:v>2.5538869671</c:v>
                </c:pt>
                <c:pt idx="586">
                  <c:v>2.7365880068</c:v>
                </c:pt>
                <c:pt idx="587">
                  <c:v>2.6798178447</c:v>
                </c:pt>
                <c:pt idx="588">
                  <c:v>2.3465576284</c:v>
                </c:pt>
                <c:pt idx="589">
                  <c:v>2.4234937392</c:v>
                </c:pt>
                <c:pt idx="590">
                  <c:v>2.271062003</c:v>
                </c:pt>
                <c:pt idx="591">
                  <c:v>2.2143501307</c:v>
                </c:pt>
                <c:pt idx="592">
                  <c:v>2.3886274392</c:v>
                </c:pt>
                <c:pt idx="593">
                  <c:v>2.3066569405</c:v>
                </c:pt>
                <c:pt idx="594">
                  <c:v>2.3735232124</c:v>
                </c:pt>
                <c:pt idx="595">
                  <c:v>2.3331438364</c:v>
                </c:pt>
                <c:pt idx="596">
                  <c:v>2.3078357213</c:v>
                </c:pt>
                <c:pt idx="597">
                  <c:v>2.2238702766</c:v>
                </c:pt>
                <c:pt idx="598">
                  <c:v>2.029882597</c:v>
                </c:pt>
                <c:pt idx="599">
                  <c:v>1.9439150385</c:v>
                </c:pt>
                <c:pt idx="600">
                  <c:v>1.9809577531</c:v>
                </c:pt>
                <c:pt idx="601">
                  <c:v>1.9893984581</c:v>
                </c:pt>
                <c:pt idx="602">
                  <c:v>1.9285938714</c:v>
                </c:pt>
                <c:pt idx="603">
                  <c:v>2.001785933</c:v>
                </c:pt>
                <c:pt idx="604">
                  <c:v>1.8814745295</c:v>
                </c:pt>
                <c:pt idx="605">
                  <c:v>1.9370269841</c:v>
                </c:pt>
                <c:pt idx="606">
                  <c:v>1.9539342183</c:v>
                </c:pt>
                <c:pt idx="607">
                  <c:v>2.0834677553</c:v>
                </c:pt>
                <c:pt idx="608">
                  <c:v>2.1034525424</c:v>
                </c:pt>
                <c:pt idx="609">
                  <c:v>2.0713364648</c:v>
                </c:pt>
                <c:pt idx="610">
                  <c:v>2.1864415128</c:v>
                </c:pt>
                <c:pt idx="611">
                  <c:v>2.2456171647</c:v>
                </c:pt>
                <c:pt idx="612">
                  <c:v>1.9642949855</c:v>
                </c:pt>
                <c:pt idx="613">
                  <c:v>2.0742844502</c:v>
                </c:pt>
                <c:pt idx="614">
                  <c:v>2.121981837</c:v>
                </c:pt>
                <c:pt idx="615">
                  <c:v>2.1156845643</c:v>
                </c:pt>
                <c:pt idx="616">
                  <c:v>2.1267630028</c:v>
                </c:pt>
                <c:pt idx="617">
                  <c:v>2.0085685323</c:v>
                </c:pt>
                <c:pt idx="618">
                  <c:v>2.0230051743</c:v>
                </c:pt>
                <c:pt idx="619">
                  <c:v>2.0504787828</c:v>
                </c:pt>
                <c:pt idx="620">
                  <c:v>2.0611996178</c:v>
                </c:pt>
                <c:pt idx="621">
                  <c:v>2.1149922691</c:v>
                </c:pt>
                <c:pt idx="622">
                  <c:v>2.0450565605</c:v>
                </c:pt>
                <c:pt idx="623">
                  <c:v>2.0647212877</c:v>
                </c:pt>
                <c:pt idx="624">
                  <c:v>2.0568460803</c:v>
                </c:pt>
                <c:pt idx="625">
                  <c:v>2.0112944747</c:v>
                </c:pt>
                <c:pt idx="626">
                  <c:v>1.8772949946</c:v>
                </c:pt>
              </c:numCache>
            </c:numRef>
          </c:yVal>
          <c:smooth val="0"/>
        </c:ser>
        <c:ser>
          <c:idx val="1"/>
          <c:order val="1"/>
          <c:tx>
            <c:v>First daily closes</c:v>
          </c:tx>
          <c:spPr>
            <a:ln xmlns:a="http://schemas.openxmlformats.org/drawingml/2006/main" w="38100">
              <a:solidFill>
                <a:srgbClr val="A61955"/>
              </a:solidFill>
            </a:ln>
          </c:spPr>
          <c:marker>
            <c:symbol val="none"/>
          </c:marker>
          <c:xVal>
            <c:numRef>
              <c:f>'Chart Data'!$C$2:$C$3</c:f>
              <c:numCache>
                <c:formatCode>General</c:formatCode>
                <c:ptCount val="2"/>
                <c:pt idx="0">
                  <c:v>45675</c:v>
                </c:pt>
                <c:pt idx="1">
                  <c:v>45676</c:v>
                </c:pt>
              </c:numCache>
            </c:numRef>
          </c:xVal>
          <c:yVal>
            <c:numRef>
              <c:f>'Chart Data'!$D$2:$D$3</c:f>
              <c:numCache>
                <c:formatCode>$0</c:formatCode>
                <c:ptCount val="2"/>
                <c:pt idx="0">
                  <c:v>28.7279147134</c:v>
                </c:pt>
                <c:pt idx="1">
                  <c:v>45.5030010328</c:v>
                </c:pt>
              </c:numCache>
            </c:numRef>
          </c:yVal>
          <c:smooth val="0"/>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EEEEEE"/>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50112"/>
        <c:majorUnit val="10"/>
      </c:valAx>
      <c:valAx>
        <c:axId val="48650112"/>
        <c:scaling>
          <c:orientation val="minMax"/>
          <c:max val="46302"/>
          <c:min val="45671"/>
        </c:scaling>
        <c:delete val="0"/>
        <c:axPos val="b"/>
        <c:numFmt formatCode="mmm yy"/>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72768"/>
        <c:majorUnit val="180"/>
      </c:valAx>
      <c:spPr>
        <a:solidFill xmlns:a="http://schemas.openxmlformats.org/drawingml/2006/main">
          <a:srgbClr val="FFFFFF"/>
        </a:solidFill>
        <a:ln xmlns:a="http://schemas.openxmlformats.org/drawingml/2006/main" w="0">
          <a:noFill/>
        </a:ln>
      </c:spPr>
    </c:plotArea>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DOGE daily close (USD)</c:v>
          </c:tx>
          <c:spPr>
            <a:ln xmlns:a="http://schemas.openxmlformats.org/drawingml/2006/main" w="23813">
              <a:solidFill>
                <a:srgbClr val="111111"/>
              </a:solidFill>
            </a:ln>
          </c:spPr>
          <c:marker>
            <c:symbol val="none"/>
          </c:marker>
          <c:xVal>
            <c:numRef>
              <c:f>'Chart Data'!$A$2:$A$93</c:f>
              <c:numCache>
                <c:formatCode>General</c:formatCode>
                <c:ptCount val="92"/>
                <c:pt idx="0">
                  <c:v>46204</c:v>
                </c:pt>
                <c:pt idx="1">
                  <c:v>46205</c:v>
                </c:pt>
                <c:pt idx="2">
                  <c:v>46206</c:v>
                </c:pt>
                <c:pt idx="3">
                  <c:v>46207</c:v>
                </c:pt>
                <c:pt idx="4">
                  <c:v>46208</c:v>
                </c:pt>
                <c:pt idx="5">
                  <c:v>46209</c:v>
                </c:pt>
                <c:pt idx="6">
                  <c:v>46210</c:v>
                </c:pt>
                <c:pt idx="7">
                  <c:v>46211</c:v>
                </c:pt>
                <c:pt idx="8">
                  <c:v>46212</c:v>
                </c:pt>
                <c:pt idx="9">
                  <c:v>46213</c:v>
                </c:pt>
                <c:pt idx="10">
                  <c:v>46214</c:v>
                </c:pt>
                <c:pt idx="11">
                  <c:v>46215</c:v>
                </c:pt>
                <c:pt idx="12">
                  <c:v>46216</c:v>
                </c:pt>
                <c:pt idx="13">
                  <c:v>46217</c:v>
                </c:pt>
                <c:pt idx="14">
                  <c:v>46218</c:v>
                </c:pt>
                <c:pt idx="15">
                  <c:v>46219</c:v>
                </c:pt>
                <c:pt idx="16">
                  <c:v>46220</c:v>
                </c:pt>
                <c:pt idx="17">
                  <c:v>46221</c:v>
                </c:pt>
                <c:pt idx="18">
                  <c:v>46222</c:v>
                </c:pt>
                <c:pt idx="19">
                  <c:v>46223</c:v>
                </c:pt>
                <c:pt idx="20">
                  <c:v>46224</c:v>
                </c:pt>
                <c:pt idx="21">
                  <c:v>46225</c:v>
                </c:pt>
                <c:pt idx="22">
                  <c:v>46226</c:v>
                </c:pt>
                <c:pt idx="23">
                  <c:v>46227</c:v>
                </c:pt>
                <c:pt idx="24">
                  <c:v>46228</c:v>
                </c:pt>
                <c:pt idx="25">
                  <c:v>46229</c:v>
                </c:pt>
                <c:pt idx="26">
                  <c:v>46230</c:v>
                </c:pt>
                <c:pt idx="27">
                  <c:v>46231</c:v>
                </c:pt>
                <c:pt idx="28">
                  <c:v>46232</c:v>
                </c:pt>
                <c:pt idx="29">
                  <c:v>46233</c:v>
                </c:pt>
                <c:pt idx="30">
                  <c:v>46234</c:v>
                </c:pt>
                <c:pt idx="31">
                  <c:v>46235</c:v>
                </c:pt>
                <c:pt idx="32">
                  <c:v>46236</c:v>
                </c:pt>
                <c:pt idx="33">
                  <c:v>46237</c:v>
                </c:pt>
                <c:pt idx="34">
                  <c:v>46238</c:v>
                </c:pt>
                <c:pt idx="35">
                  <c:v>46239</c:v>
                </c:pt>
                <c:pt idx="36">
                  <c:v>46240</c:v>
                </c:pt>
                <c:pt idx="37">
                  <c:v>46241</c:v>
                </c:pt>
                <c:pt idx="38">
                  <c:v>46242</c:v>
                </c:pt>
                <c:pt idx="39">
                  <c:v>46243</c:v>
                </c:pt>
                <c:pt idx="40">
                  <c:v>46244</c:v>
                </c:pt>
                <c:pt idx="41">
                  <c:v>46245</c:v>
                </c:pt>
                <c:pt idx="42">
                  <c:v>46246</c:v>
                </c:pt>
                <c:pt idx="43">
                  <c:v>46247</c:v>
                </c:pt>
                <c:pt idx="44">
                  <c:v>46248</c:v>
                </c:pt>
                <c:pt idx="45">
                  <c:v>46249</c:v>
                </c:pt>
                <c:pt idx="46">
                  <c:v>46250</c:v>
                </c:pt>
                <c:pt idx="47">
                  <c:v>46251</c:v>
                </c:pt>
                <c:pt idx="48">
                  <c:v>46252</c:v>
                </c:pt>
                <c:pt idx="49">
                  <c:v>46253</c:v>
                </c:pt>
                <c:pt idx="50">
                  <c:v>46254</c:v>
                </c:pt>
                <c:pt idx="51">
                  <c:v>46255</c:v>
                </c:pt>
                <c:pt idx="52">
                  <c:v>46256</c:v>
                </c:pt>
                <c:pt idx="53">
                  <c:v>46257</c:v>
                </c:pt>
                <c:pt idx="54">
                  <c:v>46258</c:v>
                </c:pt>
                <c:pt idx="55">
                  <c:v>46259</c:v>
                </c:pt>
                <c:pt idx="56">
                  <c:v>46260</c:v>
                </c:pt>
                <c:pt idx="57">
                  <c:v>46261</c:v>
                </c:pt>
                <c:pt idx="58">
                  <c:v>46262</c:v>
                </c:pt>
                <c:pt idx="59">
                  <c:v>46263</c:v>
                </c:pt>
                <c:pt idx="60">
                  <c:v>46264</c:v>
                </c:pt>
                <c:pt idx="61">
                  <c:v>46265</c:v>
                </c:pt>
                <c:pt idx="62">
                  <c:v>46266</c:v>
                </c:pt>
                <c:pt idx="63">
                  <c:v>46267</c:v>
                </c:pt>
                <c:pt idx="64">
                  <c:v>46268</c:v>
                </c:pt>
                <c:pt idx="65">
                  <c:v>46269</c:v>
                </c:pt>
                <c:pt idx="66">
                  <c:v>46270</c:v>
                </c:pt>
                <c:pt idx="67">
                  <c:v>46271</c:v>
                </c:pt>
                <c:pt idx="68">
                  <c:v>46272</c:v>
                </c:pt>
                <c:pt idx="69">
                  <c:v>46273</c:v>
                </c:pt>
                <c:pt idx="70">
                  <c:v>46274</c:v>
                </c:pt>
                <c:pt idx="71">
                  <c:v>46275</c:v>
                </c:pt>
                <c:pt idx="72">
                  <c:v>46276</c:v>
                </c:pt>
                <c:pt idx="73">
                  <c:v>46277</c:v>
                </c:pt>
                <c:pt idx="74">
                  <c:v>46278</c:v>
                </c:pt>
                <c:pt idx="75">
                  <c:v>46279</c:v>
                </c:pt>
                <c:pt idx="76">
                  <c:v>46280</c:v>
                </c:pt>
                <c:pt idx="77">
                  <c:v>46281</c:v>
                </c:pt>
                <c:pt idx="78">
                  <c:v>46282</c:v>
                </c:pt>
                <c:pt idx="79">
                  <c:v>46283</c:v>
                </c:pt>
                <c:pt idx="80">
                  <c:v>46284</c:v>
                </c:pt>
                <c:pt idx="81">
                  <c:v>46285</c:v>
                </c:pt>
                <c:pt idx="82">
                  <c:v>46286</c:v>
                </c:pt>
                <c:pt idx="83">
                  <c:v>46287</c:v>
                </c:pt>
                <c:pt idx="84">
                  <c:v>46288</c:v>
                </c:pt>
                <c:pt idx="85">
                  <c:v>46289</c:v>
                </c:pt>
                <c:pt idx="86">
                  <c:v>46290</c:v>
                </c:pt>
                <c:pt idx="87">
                  <c:v>46291</c:v>
                </c:pt>
                <c:pt idx="88">
                  <c:v>46292</c:v>
                </c:pt>
                <c:pt idx="89">
                  <c:v>46293</c:v>
                </c:pt>
                <c:pt idx="90">
                  <c:v>46294</c:v>
                </c:pt>
                <c:pt idx="91">
                  <c:v>46295</c:v>
                </c:pt>
              </c:numCache>
            </c:numRef>
          </c:xVal>
          <c:yVal>
            <c:numRef>
              <c:f>'Chart Data'!$B$2:$B$93</c:f>
              <c:numCache>
                <c:formatCode>$0.00</c:formatCode>
                <c:ptCount val="92"/>
                <c:pt idx="0">
                  <c:v>0.0721772701</c:v>
                </c:pt>
                <c:pt idx="1">
                  <c:v>0.074080066</c:v>
                </c:pt>
                <c:pt idx="2">
                  <c:v>0.0774896737</c:v>
                </c:pt>
                <c:pt idx="3">
                  <c:v>0.0775885126</c:v>
                </c:pt>
                <c:pt idx="4">
                  <c:v>0.0777337855</c:v>
                </c:pt>
                <c:pt idx="5">
                  <c:v>0.0765829849</c:v>
                </c:pt>
                <c:pt idx="6">
                  <c:v>0.0741835303</c:v>
                </c:pt>
                <c:pt idx="7">
                  <c:v>0.0723113034</c:v>
                </c:pt>
                <c:pt idx="8">
                  <c:v>0.0728585654</c:v>
                </c:pt>
                <c:pt idx="9">
                  <c:v>0.0740469871</c:v>
                </c:pt>
                <c:pt idx="10">
                  <c:v>0.0732688774</c:v>
                </c:pt>
                <c:pt idx="11">
                  <c:v>0.0726828774</c:v>
                </c:pt>
                <c:pt idx="12">
                  <c:v>0.0718505528</c:v>
                </c:pt>
                <c:pt idx="13">
                  <c:v>0.0744406787</c:v>
                </c:pt>
                <c:pt idx="14">
                  <c:v>0.0740440875</c:v>
                </c:pt>
                <c:pt idx="15">
                  <c:v>0.0723413371</c:v>
                </c:pt>
                <c:pt idx="16">
                  <c:v>0.0725107007</c:v>
                </c:pt>
                <c:pt idx="17">
                  <c:v>0.0724690703</c:v>
                </c:pt>
                <c:pt idx="18">
                  <c:v>0.072310217</c:v>
                </c:pt>
                <c:pt idx="19">
                  <c:v>0.0721394954</c:v>
                </c:pt>
                <c:pt idx="20">
                  <c:v>0.0732823364</c:v>
                </c:pt>
                <c:pt idx="21">
                  <c:v>0.0729518563</c:v>
                </c:pt>
                <c:pt idx="22">
                  <c:v>0.0691331344</c:v>
                </c:pt>
                <c:pt idx="23">
                  <c:v>0.0695205228</c:v>
                </c:pt>
                <c:pt idx="24">
                  <c:v>0.0716754396</c:v>
                </c:pt>
                <c:pt idx="25">
                  <c:v>0.0732970842</c:v>
                </c:pt>
                <c:pt idx="26">
                  <c:v>0.0703339317</c:v>
                </c:pt>
                <c:pt idx="27">
                  <c:v>0.0707504566</c:v>
                </c:pt>
                <c:pt idx="28">
                  <c:v>0.0700737644</c:v>
                </c:pt>
                <c:pt idx="29">
                  <c:v>0.0705518696</c:v>
                </c:pt>
                <c:pt idx="30">
                  <c:v>0.0695199333</c:v>
                </c:pt>
                <c:pt idx="31">
                  <c:v>0.0690720206</c:v>
                </c:pt>
                <c:pt idx="32">
                  <c:v>0.0706793877</c:v>
                </c:pt>
                <c:pt idx="33">
                  <c:v>0.0701444524</c:v>
                </c:pt>
                <c:pt idx="34">
                  <c:v>0.0700433004</c:v>
                </c:pt>
                <c:pt idx="35">
                  <c:v>0.0699821715</c:v>
                </c:pt>
                <c:pt idx="36">
                  <c:v>0.0689875105</c:v>
                </c:pt>
                <c:pt idx="37">
                  <c:v>0.0696227662</c:v>
                </c:pt>
                <c:pt idx="38">
                  <c:v>0.070391145</c:v>
                </c:pt>
                <c:pt idx="39">
                  <c:v>0.0692552308</c:v>
                </c:pt>
                <c:pt idx="40">
                  <c:v>0.0696879429</c:v>
                </c:pt>
                <c:pt idx="41">
                  <c:v>0.0718310053</c:v>
                </c:pt>
                <c:pt idx="42">
                  <c:v>0.069592431</c:v>
                </c:pt>
                <c:pt idx="43">
                  <c:v>0.0700889072</c:v>
                </c:pt>
                <c:pt idx="44">
                  <c:v>0.0700015362</c:v>
                </c:pt>
                <c:pt idx="45">
                  <c:v>0.0695497812</c:v>
                </c:pt>
                <c:pt idx="46">
                  <c:v>0.0694824044</c:v>
                </c:pt>
                <c:pt idx="47">
                  <c:v>0.0703483335</c:v>
                </c:pt>
                <c:pt idx="48">
                  <c:v>0.0702131911</c:v>
                </c:pt>
                <c:pt idx="49">
                  <c:v>0.0749723157</c:v>
                </c:pt>
                <c:pt idx="50">
                  <c:v>0.080422414</c:v>
                </c:pt>
                <c:pt idx="51">
                  <c:v>0.0916272205</c:v>
                </c:pt>
                <c:pt idx="52">
                  <c:v>0.0919524251</c:v>
                </c:pt>
                <c:pt idx="53">
                  <c:v>0.0934181391</c:v>
                </c:pt>
                <c:pt idx="54">
                  <c:v>0.0899098827</c:v>
                </c:pt>
                <c:pt idx="55">
                  <c:v>0.0857161756</c:v>
                </c:pt>
                <c:pt idx="56">
                  <c:v>0.087741435</c:v>
                </c:pt>
                <c:pt idx="57">
                  <c:v>0.0891425217</c:v>
                </c:pt>
                <c:pt idx="58">
                  <c:v>0.0852185086</c:v>
                </c:pt>
                <c:pt idx="59">
                  <c:v>0.0852805557</c:v>
                </c:pt>
                <c:pt idx="60">
                  <c:v>0.0820965786</c:v>
                </c:pt>
                <c:pt idx="61">
                  <c:v>0.0828138227</c:v>
                </c:pt>
                <c:pt idx="62">
                  <c:v>0.0816449892</c:v>
                </c:pt>
                <c:pt idx="63">
                  <c:v>0.0816362387</c:v>
                </c:pt>
                <c:pt idx="64">
                  <c:v>0.0877814356</c:v>
                </c:pt>
                <c:pt idx="65">
                  <c:v>0.084815459</c:v>
                </c:pt>
                <c:pt idx="66">
                  <c:v>0.0896840504</c:v>
                </c:pt>
                <c:pt idx="67">
                  <c:v>0.0908191091</c:v>
                </c:pt>
                <c:pt idx="68">
                  <c:v>0.0906274284</c:v>
                </c:pt>
                <c:pt idx="69">
                  <c:v>0.0899940575</c:v>
                </c:pt>
                <c:pt idx="70">
                  <c:v>0.0861630055</c:v>
                </c:pt>
                <c:pt idx="71">
                  <c:v>0.0829143172</c:v>
                </c:pt>
                <c:pt idx="72">
                  <c:v>0.0842842615</c:v>
                </c:pt>
                <c:pt idx="73">
                  <c:v>0.0848533993</c:v>
                </c:pt>
                <c:pt idx="74">
                  <c:v>0.0824212989</c:v>
                </c:pt>
                <c:pt idx="75">
                  <c:v>0.0836318875</c:v>
                </c:pt>
                <c:pt idx="76">
                  <c:v>0.0800761653</c:v>
                </c:pt>
                <c:pt idx="77">
                  <c:v>0.0808664436</c:v>
                </c:pt>
                <c:pt idx="78">
                  <c:v>0.0817179865</c:v>
                </c:pt>
                <c:pt idx="79">
                  <c:v>0.0874111968</c:v>
                </c:pt>
                <c:pt idx="80">
                  <c:v>0.0877222377</c:v>
                </c:pt>
                <c:pt idx="81">
                  <c:v>0.0872825155</c:v>
                </c:pt>
                <c:pt idx="82">
                  <c:v>0.0996215775</c:v>
                </c:pt>
                <c:pt idx="83">
                  <c:v>0.1003674134</c:v>
                </c:pt>
                <c:pt idx="84">
                  <c:v>0.0926901322</c:v>
                </c:pt>
                <c:pt idx="85">
                  <c:v>0.0957495925</c:v>
                </c:pt>
                <c:pt idx="86">
                  <c:v>0.0989479685</c:v>
                </c:pt>
                <c:pt idx="87">
                  <c:v>0.0967662722</c:v>
                </c:pt>
                <c:pt idx="88">
                  <c:v>0.0970336787</c:v>
                </c:pt>
                <c:pt idx="89">
                  <c:v>0.093875308</c:v>
                </c:pt>
                <c:pt idx="90">
                  <c:v>0.0938561975</c:v>
                </c:pt>
                <c:pt idx="91">
                  <c:v>0.0944721408</c:v>
                </c:pt>
              </c:numCache>
            </c:numRef>
          </c:yVal>
          <c:smooth val="0"/>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0.12"/>
          <c:min val="0"/>
        </c:scaling>
        <c:delete val="0"/>
        <c:axPos val="l"/>
        <c:majorGridlines>
          <c:spPr>
            <a:ln xmlns:a="http://schemas.openxmlformats.org/drawingml/2006/main" w="9525">
              <a:solidFill>
                <a:srgbClr val="EEEEEE"/>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50112"/>
        <c:majorUnit val="0.04"/>
      </c:valAx>
      <c:valAx>
        <c:axId val="48650112"/>
        <c:scaling>
          <c:orientation val="minMax"/>
          <c:max val="46295"/>
          <c:min val="46204"/>
        </c:scaling>
        <c:delete val="0"/>
        <c:axPos val="b"/>
        <c:numFmt formatCode="d mmm"/>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72768"/>
        <c:majorUnit val="30"/>
      </c:valAx>
      <c:spPr>
        <a:solidFill xmlns:a="http://schemas.openxmlformats.org/drawingml/2006/main">
          <a:srgbClr val="FFFFFF"/>
        </a:solidFill>
        <a:ln xmlns:a="http://schemas.openxmlformats.org/drawingml/2006/main" w="0">
          <a:noFill/>
        </a:ln>
      </c:spPr>
    </c:plotArea>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7AB7FF70-5D9E-4696-8C65-28D6FEB2DA6B}"/>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01</a:t>
            </a:r>
          </a:p>
        </p:txBody>
      </p:sp>
      <p:sp>
        <p:nvSpPr>
          <p:cNvPr id="2" name="Meme Coin&#10;Analysis&#10;Dashboard">
            <a:extLst xmlns:a="http://schemas.openxmlformats.org/drawingml/2006/main">
              <a:ext uri="{FF2B5EF4-FFF2-40B4-BE49-F238E27FC236}">
                <a16:creationId xmlns:a16="http://schemas.microsoft.com/office/drawing/2014/main" id="{C4958479-F0FF-4F37-A7FC-A06C7EF89DA9}"/>
              </a:ext>
            </a:extLst>
          </p:cNvPr>
          <p:cNvSpPr>
            <a:spLocks xmlns:a="http://schemas.openxmlformats.org/drawingml/2006/main" noGrp="1"/>
          </p:cNvSpPr>
          <p:nvPr/>
        </p:nvSpPr>
        <p:spPr>
          <a:xfrm xmlns:a="http://schemas.openxmlformats.org/drawingml/2006/main">
            <a:off x="685800" y="1247775"/>
            <a:ext cx="7381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525" b="1">
                <a:solidFill>
                  <a:srgbClr val="111111"/>
                </a:solidFill>
                <a:latin typeface="Geist"/>
                <a:ea typeface="Geist"/>
                <a:cs typeface="Geist"/>
              </a:defRPr>
            </a:defPPr>
          </a:lstStyle>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Meme Coin</a:t>
            </a:r>
          </a:p>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Analysis</a:t>
            </a:r>
          </a:p>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Dashboard</a:t>
            </a:r>
          </a:p>
        </p:txBody>
      </p:sp>
      <p:sp>
        <p:nvSpPr>
          <p:cNvPr id="3" name="Data Engineering Project Proposal">
            <a:extLst xmlns:a="http://schemas.openxmlformats.org/drawingml/2006/main">
              <a:ext uri="{FF2B5EF4-FFF2-40B4-BE49-F238E27FC236}">
                <a16:creationId xmlns:a16="http://schemas.microsoft.com/office/drawing/2014/main" id="{FF1D02D8-EC70-4F3E-877B-F322B45A3B0A}"/>
              </a:ext>
            </a:extLst>
          </p:cNvPr>
          <p:cNvSpPr>
            <a:spLocks xmlns:a="http://schemas.openxmlformats.org/drawingml/2006/main" noGrp="1"/>
          </p:cNvSpPr>
          <p:nvPr/>
        </p:nvSpPr>
        <p:spPr>
          <a:xfrm xmlns:a="http://schemas.openxmlformats.org/drawingml/2006/main">
            <a:off x="733425" y="4743450"/>
            <a:ext cx="704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a:ea typeface="Geist"/>
                <a:cs typeface="Geist"/>
              </a:defRPr>
            </a:defPPr>
          </a:lstStyle>
          <a:p xmlns:a="http://schemas.openxmlformats.org/drawingml/2006/main">
            <a:pPr algn="l">
              <a:buNone/>
              <a:defRPr sz="2250" b="0">
                <a:solidFill>
                  <a:srgbClr val="A61955"/>
                </a:solidFill>
                <a:latin typeface="Geist"/>
                <a:ea typeface="Geist"/>
                <a:cs typeface="Geist"/>
              </a:defRPr>
            </a:pPr>
            <a:r>
              <a:rPr sz="2250" b="0">
                <a:solidFill>
                  <a:srgbClr val="A61955"/>
                </a:solidFill>
                <a:latin typeface="Geist"/>
                <a:ea typeface="Geist"/>
                <a:cs typeface="Geist"/>
              </a:rPr>
              <a:t>Data Engineering Project Proposal</a:t>
            </a:r>
          </a:p>
        </p:txBody>
      </p:sp>
      <p:sp>
        <p:nvSpPr>
          <p:cNvPr id="4" name="IDSC501">
            <a:extLst xmlns:a="http://schemas.openxmlformats.org/drawingml/2006/main">
              <a:ext uri="{FF2B5EF4-FFF2-40B4-BE49-F238E27FC236}">
                <a16:creationId xmlns:a16="http://schemas.microsoft.com/office/drawing/2014/main" id="{A0D38EF6-C5E0-49F7-9563-177EF0083236}"/>
              </a:ext>
            </a:extLst>
          </p:cNvPr>
          <p:cNvSpPr>
            <a:spLocks xmlns:a="http://schemas.openxmlformats.org/drawingml/2006/main" noGrp="1"/>
          </p:cNvSpPr>
          <p:nvPr/>
        </p:nvSpPr>
        <p:spPr>
          <a:xfrm xmlns:a="http://schemas.openxmlformats.org/drawingml/2006/main">
            <a:off x="733425" y="5724525"/>
            <a:ext cx="314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Mono"/>
                <a:ea typeface="Geist Mono"/>
                <a:cs typeface="Geist Mono"/>
              </a:defRPr>
            </a:defPPr>
          </a:lstStyle>
          <a:p xmlns:a="http://schemas.openxmlformats.org/drawingml/2006/main">
            <a:pPr algn="l">
              <a:buNone/>
              <a:defRPr sz="1650" b="0">
                <a:solidFill>
                  <a:srgbClr val="555555"/>
                </a:solidFill>
                <a:latin typeface="Geist Mono"/>
                <a:ea typeface="Geist Mono"/>
                <a:cs typeface="Geist Mono"/>
              </a:defRPr>
            </a:pPr>
            <a:r>
              <a:rPr sz="1650" b="0">
                <a:solidFill>
                  <a:srgbClr val="555555"/>
                </a:solidFill>
                <a:latin typeface="Geist Mono"/>
                <a:ea typeface="Geist Mono"/>
                <a:cs typeface="Geist Mono"/>
              </a:rPr>
              <a:t>IDSC501</a:t>
            </a:r>
          </a:p>
        </p:txBody>
      </p:sp>
      <p:sp>
        <p:nvSpPr>
          <p:cNvPr id="5" name="Team members: TBD">
            <a:extLst xmlns:a="http://schemas.openxmlformats.org/drawingml/2006/main">
              <a:ext uri="{FF2B5EF4-FFF2-40B4-BE49-F238E27FC236}">
                <a16:creationId xmlns:a16="http://schemas.microsoft.com/office/drawing/2014/main" id="{E576B874-E23B-4F35-9AB9-582731F04466}"/>
              </a:ext>
            </a:extLst>
          </p:cNvPr>
          <p:cNvSpPr>
            <a:spLocks xmlns:a="http://schemas.openxmlformats.org/drawingml/2006/main" noGrp="1"/>
          </p:cNvSpPr>
          <p:nvPr/>
        </p:nvSpPr>
        <p:spPr>
          <a:xfrm xmlns:a="http://schemas.openxmlformats.org/drawingml/2006/main">
            <a:off x="733425" y="61245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buNone/>
              <a:defRPr sz="1650" b="0">
                <a:solidFill>
                  <a:srgbClr val="555555"/>
                </a:solidFill>
                <a:latin typeface="Geist"/>
                <a:ea typeface="Geist"/>
                <a:cs typeface="Geist"/>
              </a:defRPr>
            </a:pPr>
            <a:r>
              <a:rPr sz="1650" b="0">
                <a:solidFill>
                  <a:srgbClr val="555555"/>
                </a:solidFill>
                <a:latin typeface="Geist"/>
                <a:ea typeface="Geist"/>
                <a:cs typeface="Geist"/>
              </a:rPr>
              <a:t>Team members: TBD</a:t>
            </a:r>
          </a:p>
        </p:txBody>
      </p:sp>
      <p:pic>
        <p:nvPicPr>
          <p:cNvPr id="6" name="">
            <a:extLst xmlns:a="http://schemas.openxmlformats.org/drawingml/2006/main">
              <a:ext uri="{FF2B5EF4-FFF2-40B4-BE49-F238E27FC236}">
                <a16:creationId xmlns:a16="http://schemas.microsoft.com/office/drawing/2014/main" id="{7C4D6B88-EB5C-4917-98C2-D6A469EB03E3}"/>
              </a:ext>
            </a:extLst>
          </p:cNvPr>
          <p:cNvPicPr>
            <a:picLocks xmlns:a="http://schemas.openxmlformats.org/drawingml/2006/main" noChangeAspect="1"/>
          </p:cNvPicPr>
          <p:nvPr/>
        </p:nvPicPr>
        <p:blipFill>
          <a:blip xmlns:r="http://schemas.openxmlformats.org/officeDocument/2006/relationships" xmlns:a="http://schemas.openxmlformats.org/drawingml/2006/main" r:embed="Rd4b1a6719adc44ce"/>
          <a:stretch xmlns:a="http://schemas.openxmlformats.org/drawingml/2006/main"/>
        </p:blipFill>
        <p:spPr>
          <a:xfrm xmlns:a="http://schemas.openxmlformats.org/drawingml/2006/main">
            <a:off x="8267700" y="1971675"/>
            <a:ext cx="3238500" cy="3238500"/>
          </a:xfrm>
          <a:prstGeom xmlns:a="http://schemas.openxmlformats.org/drawingml/2006/main" prst="rect">
            <a:avLst/>
          </a:prstGeom>
        </p:spPr>
      </p:pic>
      <p:sp>
        <p:nvSpPr>
          <p:cNvPr id="7" name="much data.&#10;such pipeline.">
            <a:extLst xmlns:a="http://schemas.openxmlformats.org/drawingml/2006/main">
              <a:ext uri="{FF2B5EF4-FFF2-40B4-BE49-F238E27FC236}">
                <a16:creationId xmlns:a16="http://schemas.microsoft.com/office/drawing/2014/main" id="{A1DA26EC-9142-41C5-B690-853DC282AA2C}"/>
              </a:ext>
            </a:extLst>
          </p:cNvPr>
          <p:cNvSpPr>
            <a:spLocks xmlns:a="http://schemas.openxmlformats.org/drawingml/2006/main" noGrp="1"/>
          </p:cNvSpPr>
          <p:nvPr/>
        </p:nvSpPr>
        <p:spPr>
          <a:xfrm xmlns:a="http://schemas.openxmlformats.org/drawingml/2006/main">
            <a:off x="8286750" y="5381625"/>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Mono"/>
                <a:ea typeface="Geist Mono"/>
                <a:cs typeface="Geist Mono"/>
              </a:defRPr>
            </a:defPPr>
          </a:lstStyle>
          <a:p xmlns:a="http://schemas.openxmlformats.org/drawingml/2006/main">
            <a:pPr algn="l">
              <a:buNone/>
              <a:defRPr sz="1875" b="0">
                <a:solidFill>
                  <a:srgbClr val="555555"/>
                </a:solidFill>
                <a:latin typeface="Geist Mono"/>
                <a:ea typeface="Geist Mono"/>
                <a:cs typeface="Geist Mono"/>
              </a:defRPr>
            </a:pPr>
            <a:r>
              <a:rPr sz="1875" b="0">
                <a:solidFill>
                  <a:srgbClr val="555555"/>
                </a:solidFill>
                <a:latin typeface="Geist Mono"/>
                <a:ea typeface="Geist Mono"/>
                <a:cs typeface="Geist Mono"/>
              </a:rPr>
              <a:t>much data.</a:t>
            </a:r>
          </a:p>
          <a:p xmlns:a="http://schemas.openxmlformats.org/drawingml/2006/main">
            <a:pPr algn="l">
              <a:buNone/>
              <a:defRPr sz="1875" b="0">
                <a:solidFill>
                  <a:srgbClr val="555555"/>
                </a:solidFill>
                <a:latin typeface="Geist Mono"/>
                <a:ea typeface="Geist Mono"/>
                <a:cs typeface="Geist Mono"/>
              </a:defRPr>
            </a:pPr>
            <a:r>
              <a:rPr sz="1875" b="0">
                <a:solidFill>
                  <a:srgbClr val="555555"/>
                </a:solidFill>
                <a:latin typeface="Geist Mono"/>
                <a:ea typeface="Geist Mono"/>
                <a:cs typeface="Geist Mono"/>
              </a:rPr>
              <a:t>such pipeline.</a:t>
            </a:r>
          </a:p>
        </p:txBody>
      </p:sp>
      <p:sp>
        <p:nvSpPr>
          <p:cNvPr id="8" name="Doge illustration: Icons8">
            <a:extLst xmlns:a="http://schemas.openxmlformats.org/drawingml/2006/main">
              <a:ext uri="{FF2B5EF4-FFF2-40B4-BE49-F238E27FC236}">
                <a16:creationId xmlns:a16="http://schemas.microsoft.com/office/drawing/2014/main" id="{BEC383FE-B66E-4D6A-9C64-686B8659A912}"/>
              </a:ext>
            </a:extLst>
          </p:cNvPr>
          <p:cNvSpPr>
            <a:spLocks xmlns:a="http://schemas.openxmlformats.org/drawingml/2006/main" noGrp="1"/>
          </p:cNvSpPr>
          <p:nvPr/>
        </p:nvSpPr>
        <p:spPr>
          <a:xfrm xmlns:a="http://schemas.openxmlformats.org/drawingml/2006/main">
            <a:off x="8286750" y="6238875"/>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5555"/>
                </a:solidFill>
                <a:latin typeface="Geist"/>
                <a:ea typeface="Geist"/>
                <a:cs typeface="Geist"/>
              </a:defRPr>
            </a:defPPr>
          </a:lstStyle>
          <a:p xmlns:a="http://schemas.openxmlformats.org/drawingml/2006/main">
            <a:pPr algn="l">
              <a:buNone/>
              <a:defRPr sz="1050" b="0">
                <a:solidFill>
                  <a:srgbClr val="555555"/>
                </a:solidFill>
                <a:latin typeface="Geist"/>
                <a:ea typeface="Geist"/>
                <a:cs typeface="Geist"/>
              </a:defRPr>
            </a:pPr>
            <a:r>
              <a:rPr sz="1050" b="0">
                <a:solidFill>
                  <a:srgbClr val="555555"/>
                </a:solidFill>
                <a:latin typeface="Geist"/>
                <a:ea typeface="Geist"/>
                <a:cs typeface="Geist"/>
              </a:rPr>
              <a:t>Doge illustration: Icons8</a:t>
            </a:r>
          </a:p>
        </p:txBody>
      </p:sp>
    </p:spTree>
    <p:extLst>
      <p:ext uri="{BB962C8B-B14F-4D97-AF65-F5344CB8AC3E}">
        <p14:creationId xmlns:p14="http://schemas.microsoft.com/office/powerpoint/2010/main" val="13383191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Contents">
            <a:extLst xmlns:a="http://schemas.openxmlformats.org/drawingml/2006/main">
              <a:ext uri="{FF2B5EF4-FFF2-40B4-BE49-F238E27FC236}">
                <a16:creationId xmlns:a16="http://schemas.microsoft.com/office/drawing/2014/main" id="{B47C37CA-101E-418C-84BC-9A94C0843539}"/>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Contents</a:t>
            </a:r>
          </a:p>
        </p:txBody>
      </p:sp>
      <p:sp>
        <p:nvSpPr>
          <p:cNvPr id="2" name="02">
            <a:extLst xmlns:a="http://schemas.openxmlformats.org/drawingml/2006/main">
              <a:ext uri="{FF2B5EF4-FFF2-40B4-BE49-F238E27FC236}">
                <a16:creationId xmlns:a16="http://schemas.microsoft.com/office/drawing/2014/main" id="{EC67684E-0031-4F74-8968-3D7DCF90E037}"/>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02</a:t>
            </a:r>
          </a:p>
        </p:txBody>
      </p:sp>
      <p:sp>
        <p:nvSpPr>
          <p:cNvPr id="3" name="01">
            <a:extLst xmlns:a="http://schemas.openxmlformats.org/drawingml/2006/main">
              <a:ext uri="{FF2B5EF4-FFF2-40B4-BE49-F238E27FC236}">
                <a16:creationId xmlns:a16="http://schemas.microsoft.com/office/drawing/2014/main" id="{959BCFCC-2C1D-45B6-ACC0-38B9F953A23C}"/>
              </a:ext>
            </a:extLst>
          </p:cNvPr>
          <p:cNvSpPr>
            <a:spLocks xmlns:a="http://schemas.openxmlformats.org/drawingml/2006/main" noGrp="1"/>
          </p:cNvSpPr>
          <p:nvPr/>
        </p:nvSpPr>
        <p:spPr>
          <a:xfrm xmlns:a="http://schemas.openxmlformats.org/drawingml/2006/main">
            <a:off x="704850" y="1724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61955"/>
                </a:solidFill>
                <a:latin typeface="Geist Mono"/>
                <a:ea typeface="Geist Mono"/>
                <a:cs typeface="Geist Mono"/>
              </a:defRPr>
            </a:defPPr>
          </a:lstStyle>
          <a:p xmlns:a="http://schemas.openxmlformats.org/drawingml/2006/main">
            <a:pPr algn="l">
              <a:defRPr sz="2175" b="0">
                <a:solidFill>
                  <a:srgbClr val="A61955"/>
                </a:solidFill>
                <a:latin typeface="Geist Mono"/>
                <a:ea typeface="Geist Mono"/>
                <a:cs typeface="Geist Mono"/>
              </a:defRPr>
            </a:pPr>
            <a:r>
              <a:rPr sz="2175" b="0">
                <a:solidFill>
                  <a:srgbClr val="A61955"/>
                </a:solidFill>
                <a:latin typeface="Geist Mono"/>
                <a:ea typeface="Geist Mono"/>
                <a:cs typeface="Geist Mono"/>
              </a:rPr>
              <a:t>01</a:t>
            </a:r>
          </a:p>
        </p:txBody>
      </p:sp>
      <p:sp>
        <p:nvSpPr>
          <p:cNvPr id="4" name="Ideation">
            <a:extLst xmlns:a="http://schemas.openxmlformats.org/drawingml/2006/main">
              <a:ext uri="{FF2B5EF4-FFF2-40B4-BE49-F238E27FC236}">
                <a16:creationId xmlns:a16="http://schemas.microsoft.com/office/drawing/2014/main" id="{60BD018B-1438-495D-BE01-FEFC16026BFC}"/>
              </a:ext>
            </a:extLst>
          </p:cNvPr>
          <p:cNvSpPr>
            <a:spLocks xmlns:a="http://schemas.openxmlformats.org/drawingml/2006/main" noGrp="1"/>
          </p:cNvSpPr>
          <p:nvPr/>
        </p:nvSpPr>
        <p:spPr>
          <a:xfrm xmlns:a="http://schemas.openxmlformats.org/drawingml/2006/main">
            <a:off x="1828800" y="16954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11111"/>
                </a:solidFill>
                <a:latin typeface="Geist"/>
                <a:ea typeface="Geist"/>
                <a:cs typeface="Geist"/>
              </a:defRPr>
            </a:defPPr>
          </a:lstStyle>
          <a:p xmlns:a="http://schemas.openxmlformats.org/drawingml/2006/main">
            <a:pPr algn="l">
              <a:defRPr sz="2625" b="1">
                <a:solidFill>
                  <a:srgbClr val="111111"/>
                </a:solidFill>
                <a:latin typeface="Geist"/>
                <a:ea typeface="Geist"/>
                <a:cs typeface="Geist"/>
              </a:defRPr>
            </a:pPr>
            <a:r>
              <a:rPr sz="2625" b="1">
                <a:solidFill>
                  <a:srgbClr val="111111"/>
                </a:solidFill>
                <a:latin typeface="Geist"/>
                <a:ea typeface="Geist"/>
                <a:cs typeface="Geist"/>
              </a:rPr>
              <a:t>Ideation</a:t>
            </a:r>
          </a:p>
        </p:txBody>
      </p:sp>
      <p:sp>
        <p:nvSpPr>
          <p:cNvPr id="5" name="Why predict meme coin prices?">
            <a:extLst xmlns:a="http://schemas.openxmlformats.org/drawingml/2006/main">
              <a:ext uri="{FF2B5EF4-FFF2-40B4-BE49-F238E27FC236}">
                <a16:creationId xmlns:a16="http://schemas.microsoft.com/office/drawing/2014/main" id="{D191383F-021C-4421-B0B3-923E84413DDE}"/>
              </a:ext>
            </a:extLst>
          </p:cNvPr>
          <p:cNvSpPr>
            <a:spLocks xmlns:a="http://schemas.openxmlformats.org/drawingml/2006/main" noGrp="1"/>
          </p:cNvSpPr>
          <p:nvPr/>
        </p:nvSpPr>
        <p:spPr>
          <a:xfrm xmlns:a="http://schemas.openxmlformats.org/drawingml/2006/main">
            <a:off x="7762875" y="1743075"/>
            <a:ext cx="377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Why predict meme coin prices?</a:t>
            </a:r>
          </a:p>
        </p:txBody>
      </p:sp>
      <p:cxnSp>
        <p:nvCxnSpPr>
          <p:cNvPr id="6" name="Data flow">
            <a:extLst xmlns:a="http://schemas.openxmlformats.org/drawingml/2006/main">
              <a:ext uri="{FF2B5EF4-FFF2-40B4-BE49-F238E27FC236}">
                <a16:creationId xmlns:a16="http://schemas.microsoft.com/office/drawing/2014/main" id="{9FCAAB89-358D-4823-8253-DA3B900FC112}"/>
              </a:ext>
            </a:extLst>
          </p:cNvPr>
          <p:cNvCxnSpPr/>
          <p:nvPr/>
        </p:nvCxnSpPr>
        <p:spPr>
          <a:xfrm xmlns:a="http://schemas.openxmlformats.org/drawingml/2006/main">
            <a:off x="1828800" y="2390775"/>
            <a:ext cx="9677400" cy="0"/>
          </a:xfrm>
          <a:prstGeom xmlns:a="http://schemas.openxmlformats.org/drawingml/2006/main" prst="straightConnector1">
            <a:avLst/>
          </a:prstGeom>
          <a:ln xmlns:a="http://schemas.openxmlformats.org/drawingml/2006/main" w="9525">
            <a:solidFill>
              <a:srgbClr val="D5D5D5"/>
            </a:solidFill>
            <a:prstDash val="solid"/>
          </a:ln>
        </p:spPr>
      </p:cxnSp>
      <p:sp>
        <p:nvSpPr>
          <p:cNvPr id="7" name="02">
            <a:extLst xmlns:a="http://schemas.openxmlformats.org/drawingml/2006/main">
              <a:ext uri="{FF2B5EF4-FFF2-40B4-BE49-F238E27FC236}">
                <a16:creationId xmlns:a16="http://schemas.microsoft.com/office/drawing/2014/main" id="{E640B5D3-7D81-41BE-A870-05846EE12EF1}"/>
              </a:ext>
            </a:extLst>
          </p:cNvPr>
          <p:cNvSpPr>
            <a:spLocks xmlns:a="http://schemas.openxmlformats.org/drawingml/2006/main" noGrp="1"/>
          </p:cNvSpPr>
          <p:nvPr/>
        </p:nvSpPr>
        <p:spPr>
          <a:xfrm xmlns:a="http://schemas.openxmlformats.org/drawingml/2006/main">
            <a:off x="704850" y="27527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61955"/>
                </a:solidFill>
                <a:latin typeface="Geist Mono"/>
                <a:ea typeface="Geist Mono"/>
                <a:cs typeface="Geist Mono"/>
              </a:defRPr>
            </a:defPPr>
          </a:lstStyle>
          <a:p xmlns:a="http://schemas.openxmlformats.org/drawingml/2006/main">
            <a:pPr algn="l">
              <a:defRPr sz="2175" b="0">
                <a:solidFill>
                  <a:srgbClr val="A61955"/>
                </a:solidFill>
                <a:latin typeface="Geist Mono"/>
                <a:ea typeface="Geist Mono"/>
                <a:cs typeface="Geist Mono"/>
              </a:defRPr>
            </a:pPr>
            <a:r>
              <a:rPr sz="2175" b="0">
                <a:solidFill>
                  <a:srgbClr val="A61955"/>
                </a:solidFill>
                <a:latin typeface="Geist Mono"/>
                <a:ea typeface="Geist Mono"/>
                <a:cs typeface="Geist Mono"/>
              </a:rPr>
              <a:t>02</a:t>
            </a:r>
          </a:p>
        </p:txBody>
      </p:sp>
      <p:sp>
        <p:nvSpPr>
          <p:cNvPr id="8" name="Data collection">
            <a:extLst xmlns:a="http://schemas.openxmlformats.org/drawingml/2006/main">
              <a:ext uri="{FF2B5EF4-FFF2-40B4-BE49-F238E27FC236}">
                <a16:creationId xmlns:a16="http://schemas.microsoft.com/office/drawing/2014/main" id="{D655A41E-8C06-4703-83D8-702CAB35B358}"/>
              </a:ext>
            </a:extLst>
          </p:cNvPr>
          <p:cNvSpPr>
            <a:spLocks xmlns:a="http://schemas.openxmlformats.org/drawingml/2006/main" noGrp="1"/>
          </p:cNvSpPr>
          <p:nvPr/>
        </p:nvSpPr>
        <p:spPr>
          <a:xfrm xmlns:a="http://schemas.openxmlformats.org/drawingml/2006/main">
            <a:off x="1828800" y="27241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11111"/>
                </a:solidFill>
                <a:latin typeface="Geist"/>
                <a:ea typeface="Geist"/>
                <a:cs typeface="Geist"/>
              </a:defRPr>
            </a:defPPr>
          </a:lstStyle>
          <a:p xmlns:a="http://schemas.openxmlformats.org/drawingml/2006/main">
            <a:pPr algn="l">
              <a:defRPr sz="2625" b="1">
                <a:solidFill>
                  <a:srgbClr val="111111"/>
                </a:solidFill>
                <a:latin typeface="Geist"/>
                <a:ea typeface="Geist"/>
                <a:cs typeface="Geist"/>
              </a:defRPr>
            </a:pPr>
            <a:r>
              <a:rPr sz="2625" b="1">
                <a:solidFill>
                  <a:srgbClr val="111111"/>
                </a:solidFill>
                <a:latin typeface="Geist"/>
                <a:ea typeface="Geist"/>
                <a:cs typeface="Geist"/>
              </a:rPr>
              <a:t>Data collection</a:t>
            </a:r>
          </a:p>
        </p:txBody>
      </p:sp>
      <p:sp>
        <p:nvSpPr>
          <p:cNvPr id="9" name="Crawling, APIs and source coverage">
            <a:extLst xmlns:a="http://schemas.openxmlformats.org/drawingml/2006/main">
              <a:ext uri="{FF2B5EF4-FFF2-40B4-BE49-F238E27FC236}">
                <a16:creationId xmlns:a16="http://schemas.microsoft.com/office/drawing/2014/main" id="{54093CEF-B202-492D-B548-1E5A15EB936F}"/>
              </a:ext>
            </a:extLst>
          </p:cNvPr>
          <p:cNvSpPr>
            <a:spLocks xmlns:a="http://schemas.openxmlformats.org/drawingml/2006/main" noGrp="1"/>
          </p:cNvSpPr>
          <p:nvPr/>
        </p:nvSpPr>
        <p:spPr>
          <a:xfrm xmlns:a="http://schemas.openxmlformats.org/drawingml/2006/main">
            <a:off x="7762875" y="2771775"/>
            <a:ext cx="377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Crawling, APIs and source coverage</a:t>
            </a:r>
          </a:p>
        </p:txBody>
      </p:sp>
      <p:cxnSp>
        <p:nvCxnSpPr>
          <p:cNvPr id="10" name="Data flow">
            <a:extLst xmlns:a="http://schemas.openxmlformats.org/drawingml/2006/main">
              <a:ext uri="{FF2B5EF4-FFF2-40B4-BE49-F238E27FC236}">
                <a16:creationId xmlns:a16="http://schemas.microsoft.com/office/drawing/2014/main" id="{D9EBF4A6-85CD-4096-A7D8-03BCF30557D8}"/>
              </a:ext>
            </a:extLst>
          </p:cNvPr>
          <p:cNvCxnSpPr/>
          <p:nvPr/>
        </p:nvCxnSpPr>
        <p:spPr>
          <a:xfrm xmlns:a="http://schemas.openxmlformats.org/drawingml/2006/main">
            <a:off x="1828800" y="3419475"/>
            <a:ext cx="9677400" cy="0"/>
          </a:xfrm>
          <a:prstGeom xmlns:a="http://schemas.openxmlformats.org/drawingml/2006/main" prst="straightConnector1">
            <a:avLst/>
          </a:prstGeom>
          <a:ln xmlns:a="http://schemas.openxmlformats.org/drawingml/2006/main" w="9525">
            <a:solidFill>
              <a:srgbClr val="D5D5D5"/>
            </a:solidFill>
            <a:prstDash val="solid"/>
          </a:ln>
        </p:spPr>
      </p:cxnSp>
      <p:sp>
        <p:nvSpPr>
          <p:cNvPr id="11" name="03">
            <a:extLst xmlns:a="http://schemas.openxmlformats.org/drawingml/2006/main">
              <a:ext uri="{FF2B5EF4-FFF2-40B4-BE49-F238E27FC236}">
                <a16:creationId xmlns:a16="http://schemas.microsoft.com/office/drawing/2014/main" id="{6D84DE97-FFC3-4BBC-910A-4EDED094AD7B}"/>
              </a:ext>
            </a:extLst>
          </p:cNvPr>
          <p:cNvSpPr>
            <a:spLocks xmlns:a="http://schemas.openxmlformats.org/drawingml/2006/main" noGrp="1"/>
          </p:cNvSpPr>
          <p:nvPr/>
        </p:nvSpPr>
        <p:spPr>
          <a:xfrm xmlns:a="http://schemas.openxmlformats.org/drawingml/2006/main">
            <a:off x="704850" y="37814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61955"/>
                </a:solidFill>
                <a:latin typeface="Geist Mono"/>
                <a:ea typeface="Geist Mono"/>
                <a:cs typeface="Geist Mono"/>
              </a:defRPr>
            </a:defPPr>
          </a:lstStyle>
          <a:p xmlns:a="http://schemas.openxmlformats.org/drawingml/2006/main">
            <a:pPr algn="l">
              <a:defRPr sz="2175" b="0">
                <a:solidFill>
                  <a:srgbClr val="A61955"/>
                </a:solidFill>
                <a:latin typeface="Geist Mono"/>
                <a:ea typeface="Geist Mono"/>
                <a:cs typeface="Geist Mono"/>
              </a:defRPr>
            </a:pPr>
            <a:r>
              <a:rPr sz="2175" b="0">
                <a:solidFill>
                  <a:srgbClr val="A61955"/>
                </a:solidFill>
                <a:latin typeface="Geist Mono"/>
                <a:ea typeface="Geist Mono"/>
                <a:cs typeface="Geist Mono"/>
              </a:rPr>
              <a:t>03</a:t>
            </a:r>
          </a:p>
        </p:txBody>
      </p:sp>
      <p:sp>
        <p:nvSpPr>
          <p:cNvPr id="12" name="Pipeline &amp; preprocessing">
            <a:extLst xmlns:a="http://schemas.openxmlformats.org/drawingml/2006/main">
              <a:ext uri="{FF2B5EF4-FFF2-40B4-BE49-F238E27FC236}">
                <a16:creationId xmlns:a16="http://schemas.microsoft.com/office/drawing/2014/main" id="{B0B49933-3727-4FE9-9482-354EDF5D1820}"/>
              </a:ext>
            </a:extLst>
          </p:cNvPr>
          <p:cNvSpPr>
            <a:spLocks xmlns:a="http://schemas.openxmlformats.org/drawingml/2006/main" noGrp="1"/>
          </p:cNvSpPr>
          <p:nvPr/>
        </p:nvSpPr>
        <p:spPr>
          <a:xfrm xmlns:a="http://schemas.openxmlformats.org/drawingml/2006/main">
            <a:off x="1828800" y="37528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11111"/>
                </a:solidFill>
                <a:latin typeface="Geist"/>
                <a:ea typeface="Geist"/>
                <a:cs typeface="Geist"/>
              </a:defRPr>
            </a:defPPr>
          </a:lstStyle>
          <a:p xmlns:a="http://schemas.openxmlformats.org/drawingml/2006/main">
            <a:pPr algn="l">
              <a:defRPr sz="2625" b="1">
                <a:solidFill>
                  <a:srgbClr val="111111"/>
                </a:solidFill>
                <a:latin typeface="Geist"/>
                <a:ea typeface="Geist"/>
                <a:cs typeface="Geist"/>
              </a:defRPr>
            </a:pPr>
            <a:r>
              <a:rPr sz="2625" b="1">
                <a:solidFill>
                  <a:srgbClr val="111111"/>
                </a:solidFill>
                <a:latin typeface="Geist"/>
                <a:ea typeface="Geist"/>
                <a:cs typeface="Geist"/>
              </a:rPr>
              <a:t>Pipeline &amp; preprocessing</a:t>
            </a:r>
          </a:p>
        </p:txBody>
      </p:sp>
      <p:sp>
        <p:nvSpPr>
          <p:cNvPr id="13" name="Frozen inputs for the model">
            <a:extLst xmlns:a="http://schemas.openxmlformats.org/drawingml/2006/main">
              <a:ext uri="{FF2B5EF4-FFF2-40B4-BE49-F238E27FC236}">
                <a16:creationId xmlns:a16="http://schemas.microsoft.com/office/drawing/2014/main" id="{0388138B-5CF7-48F3-B2F6-966649E81F7A}"/>
              </a:ext>
            </a:extLst>
          </p:cNvPr>
          <p:cNvSpPr>
            <a:spLocks xmlns:a="http://schemas.openxmlformats.org/drawingml/2006/main" noGrp="1"/>
          </p:cNvSpPr>
          <p:nvPr/>
        </p:nvSpPr>
        <p:spPr>
          <a:xfrm xmlns:a="http://schemas.openxmlformats.org/drawingml/2006/main">
            <a:off x="7762875" y="3800475"/>
            <a:ext cx="377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Frozen inputs for the model</a:t>
            </a:r>
          </a:p>
        </p:txBody>
      </p:sp>
      <p:cxnSp>
        <p:nvCxnSpPr>
          <p:cNvPr id="14" name="Data flow">
            <a:extLst xmlns:a="http://schemas.openxmlformats.org/drawingml/2006/main">
              <a:ext uri="{FF2B5EF4-FFF2-40B4-BE49-F238E27FC236}">
                <a16:creationId xmlns:a16="http://schemas.microsoft.com/office/drawing/2014/main" id="{7160429F-CFA4-456D-B0E7-B2BD9085DD71}"/>
              </a:ext>
            </a:extLst>
          </p:cNvPr>
          <p:cNvCxnSpPr/>
          <p:nvPr/>
        </p:nvCxnSpPr>
        <p:spPr>
          <a:xfrm xmlns:a="http://schemas.openxmlformats.org/drawingml/2006/main">
            <a:off x="1828800" y="4448175"/>
            <a:ext cx="9677400" cy="0"/>
          </a:xfrm>
          <a:prstGeom xmlns:a="http://schemas.openxmlformats.org/drawingml/2006/main" prst="straightConnector1">
            <a:avLst/>
          </a:prstGeom>
          <a:ln xmlns:a="http://schemas.openxmlformats.org/drawingml/2006/main" w="9525">
            <a:solidFill>
              <a:srgbClr val="D5D5D5"/>
            </a:solidFill>
            <a:prstDash val="solid"/>
          </a:ln>
        </p:spPr>
      </p:cxnSp>
      <p:sp>
        <p:nvSpPr>
          <p:cNvPr id="15" name="04">
            <a:extLst xmlns:a="http://schemas.openxmlformats.org/drawingml/2006/main">
              <a:ext uri="{FF2B5EF4-FFF2-40B4-BE49-F238E27FC236}">
                <a16:creationId xmlns:a16="http://schemas.microsoft.com/office/drawing/2014/main" id="{BA8B2C28-7F2A-4C02-99E3-152A70C3EF8E}"/>
              </a:ext>
            </a:extLst>
          </p:cNvPr>
          <p:cNvSpPr>
            <a:spLocks xmlns:a="http://schemas.openxmlformats.org/drawingml/2006/main" noGrp="1"/>
          </p:cNvSpPr>
          <p:nvPr/>
        </p:nvSpPr>
        <p:spPr>
          <a:xfrm xmlns:a="http://schemas.openxmlformats.org/drawingml/2006/main">
            <a:off x="704850" y="4810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61955"/>
                </a:solidFill>
                <a:latin typeface="Geist Mono"/>
                <a:ea typeface="Geist Mono"/>
                <a:cs typeface="Geist Mono"/>
              </a:defRPr>
            </a:defPPr>
          </a:lstStyle>
          <a:p xmlns:a="http://schemas.openxmlformats.org/drawingml/2006/main">
            <a:pPr algn="l">
              <a:defRPr sz="2175" b="0">
                <a:solidFill>
                  <a:srgbClr val="A61955"/>
                </a:solidFill>
                <a:latin typeface="Geist Mono"/>
                <a:ea typeface="Geist Mono"/>
                <a:cs typeface="Geist Mono"/>
              </a:defRPr>
            </a:pPr>
            <a:r>
              <a:rPr sz="2175" b="0">
                <a:solidFill>
                  <a:srgbClr val="A61955"/>
                </a:solidFill>
                <a:latin typeface="Geist Mono"/>
                <a:ea typeface="Geist Mono"/>
                <a:cs typeface="Geist Mono"/>
              </a:rPr>
              <a:t>04</a:t>
            </a:r>
          </a:p>
        </p:txBody>
      </p:sp>
      <p:sp>
        <p:nvSpPr>
          <p:cNvPr id="16" name="Database &amp; dashboard">
            <a:extLst xmlns:a="http://schemas.openxmlformats.org/drawingml/2006/main">
              <a:ext uri="{FF2B5EF4-FFF2-40B4-BE49-F238E27FC236}">
                <a16:creationId xmlns:a16="http://schemas.microsoft.com/office/drawing/2014/main" id="{F423E24F-A834-4411-8D9B-CA5752746FD9}"/>
              </a:ext>
            </a:extLst>
          </p:cNvPr>
          <p:cNvSpPr>
            <a:spLocks xmlns:a="http://schemas.openxmlformats.org/drawingml/2006/main" noGrp="1"/>
          </p:cNvSpPr>
          <p:nvPr/>
        </p:nvSpPr>
        <p:spPr>
          <a:xfrm xmlns:a="http://schemas.openxmlformats.org/drawingml/2006/main">
            <a:off x="1828800" y="47815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11111"/>
                </a:solidFill>
                <a:latin typeface="Geist"/>
                <a:ea typeface="Geist"/>
                <a:cs typeface="Geist"/>
              </a:defRPr>
            </a:defPPr>
          </a:lstStyle>
          <a:p xmlns:a="http://schemas.openxmlformats.org/drawingml/2006/main">
            <a:pPr algn="l">
              <a:defRPr sz="2625" b="1">
                <a:solidFill>
                  <a:srgbClr val="111111"/>
                </a:solidFill>
                <a:latin typeface="Geist"/>
                <a:ea typeface="Geist"/>
                <a:cs typeface="Geist"/>
              </a:defRPr>
            </a:pPr>
            <a:r>
              <a:rPr sz="2625" b="1">
                <a:solidFill>
                  <a:srgbClr val="111111"/>
                </a:solidFill>
                <a:latin typeface="Geist"/>
                <a:ea typeface="Geist"/>
                <a:cs typeface="Geist"/>
              </a:rPr>
              <a:t>Database &amp; dashboard</a:t>
            </a:r>
          </a:p>
        </p:txBody>
      </p:sp>
      <p:sp>
        <p:nvSpPr>
          <p:cNvPr id="17" name="Predictions, evidence and results">
            <a:extLst xmlns:a="http://schemas.openxmlformats.org/drawingml/2006/main">
              <a:ext uri="{FF2B5EF4-FFF2-40B4-BE49-F238E27FC236}">
                <a16:creationId xmlns:a16="http://schemas.microsoft.com/office/drawing/2014/main" id="{26CA00E5-9858-40C9-A063-17609D728E97}"/>
              </a:ext>
            </a:extLst>
          </p:cNvPr>
          <p:cNvSpPr>
            <a:spLocks xmlns:a="http://schemas.openxmlformats.org/drawingml/2006/main" noGrp="1"/>
          </p:cNvSpPr>
          <p:nvPr/>
        </p:nvSpPr>
        <p:spPr>
          <a:xfrm xmlns:a="http://schemas.openxmlformats.org/drawingml/2006/main">
            <a:off x="7762875" y="4829175"/>
            <a:ext cx="377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Predictions, evidence and results</a:t>
            </a:r>
          </a:p>
        </p:txBody>
      </p:sp>
    </p:spTree>
    <p:extLst>
      <p:ext uri="{BB962C8B-B14F-4D97-AF65-F5344CB8AC3E}">
        <p14:creationId xmlns:p14="http://schemas.microsoft.com/office/powerpoint/2010/main" val="13020600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hy meme coins?">
            <a:extLst xmlns:a="http://schemas.openxmlformats.org/drawingml/2006/main">
              <a:ext uri="{FF2B5EF4-FFF2-40B4-BE49-F238E27FC236}">
                <a16:creationId xmlns:a16="http://schemas.microsoft.com/office/drawing/2014/main" id="{266CC1CD-952E-42D7-8052-440D88F493D1}"/>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Why meme coins?</a:t>
            </a:r>
          </a:p>
        </p:txBody>
      </p:sp>
      <p:sp>
        <p:nvSpPr>
          <p:cNvPr id="2" name="03">
            <a:extLst xmlns:a="http://schemas.openxmlformats.org/drawingml/2006/main">
              <a:ext uri="{FF2B5EF4-FFF2-40B4-BE49-F238E27FC236}">
                <a16:creationId xmlns:a16="http://schemas.microsoft.com/office/drawing/2014/main" id="{59CC9765-8981-40EF-BF0B-92793850C35F}"/>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03</a:t>
            </a:r>
          </a:p>
        </p:txBody>
      </p:sp>
      <p:sp>
        <p:nvSpPr>
          <p:cNvPr id="3" name="TRUMP daily close (USD)">
            <a:extLst xmlns:a="http://schemas.openxmlformats.org/drawingml/2006/main">
              <a:ext uri="{FF2B5EF4-FFF2-40B4-BE49-F238E27FC236}">
                <a16:creationId xmlns:a16="http://schemas.microsoft.com/office/drawing/2014/main" id="{BDAD84C8-C5B3-4DF7-88B1-0FBA17DEFF29}"/>
              </a:ext>
            </a:extLst>
          </p:cNvPr>
          <p:cNvSpPr>
            <a:spLocks xmlns:a="http://schemas.openxmlformats.org/drawingml/2006/main" noGrp="1"/>
          </p:cNvSpPr>
          <p:nvPr/>
        </p:nvSpPr>
        <p:spPr>
          <a:xfrm xmlns:a="http://schemas.openxmlformats.org/drawingml/2006/main">
            <a:off x="704850" y="118110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buNone/>
              <a:defRPr sz="1725" b="0">
                <a:solidFill>
                  <a:srgbClr val="555555"/>
                </a:solidFill>
                <a:latin typeface="Geist"/>
                <a:ea typeface="Geist"/>
                <a:cs typeface="Geist"/>
              </a:defRPr>
            </a:pPr>
            <a:r>
              <a:rPr sz="1725" b="0">
                <a:solidFill>
                  <a:srgbClr val="555555"/>
                </a:solidFill>
                <a:latin typeface="Geist"/>
                <a:ea typeface="Geist"/>
                <a:cs typeface="Geist"/>
              </a:rPr>
              <a:t>TRUMP daily close (USD)</a:t>
            </a:r>
          </a:p>
        </p:txBody>
      </p:sp>
      <p:sp>
        <p:nvSpPr>
          <p:cNvPr id="4" name="what you want">
            <a:extLst xmlns:a="http://schemas.openxmlformats.org/drawingml/2006/main">
              <a:ext uri="{FF2B5EF4-FFF2-40B4-BE49-F238E27FC236}">
                <a16:creationId xmlns:a16="http://schemas.microsoft.com/office/drawing/2014/main" id="{76EF3803-9627-4821-9DCF-452CAFA64B59}"/>
              </a:ext>
            </a:extLst>
          </p:cNvPr>
          <p:cNvSpPr>
            <a:spLocks xmlns:a="http://schemas.openxmlformats.org/drawingml/2006/main" noGrp="1"/>
          </p:cNvSpPr>
          <p:nvPr/>
        </p:nvSpPr>
        <p:spPr>
          <a:xfrm xmlns:a="http://schemas.openxmlformats.org/drawingml/2006/main">
            <a:off x="1152525" y="17240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61955"/>
                </a:solidFill>
                <a:latin typeface="Geist"/>
                <a:ea typeface="Geist"/>
                <a:cs typeface="Geist"/>
              </a:defRPr>
            </a:defPPr>
          </a:lstStyle>
          <a:p xmlns:a="http://schemas.openxmlformats.org/drawingml/2006/main">
            <a:pPr algn="l">
              <a:buNone/>
              <a:defRPr sz="2325" b="1">
                <a:solidFill>
                  <a:srgbClr val="A61955"/>
                </a:solidFill>
                <a:latin typeface="Geist"/>
                <a:ea typeface="Geist"/>
                <a:cs typeface="Geist"/>
              </a:defRPr>
            </a:pPr>
            <a:r>
              <a:rPr sz="2325" b="1">
                <a:solidFill>
                  <a:srgbClr val="A61955"/>
                </a:solidFill>
                <a:latin typeface="Geist"/>
                <a:ea typeface="Geist"/>
                <a:cs typeface="Geist"/>
              </a:rPr>
              <a:t>what you want</a:t>
            </a:r>
          </a:p>
        </p:txBody>
      </p:sp>
      <p:sp>
        <p:nvSpPr>
          <p:cNvPr id="5" name="after you buy">
            <a:extLst xmlns:a="http://schemas.openxmlformats.org/drawingml/2006/main">
              <a:ext uri="{FF2B5EF4-FFF2-40B4-BE49-F238E27FC236}">
                <a16:creationId xmlns:a16="http://schemas.microsoft.com/office/drawing/2014/main" id="{BA4719E7-BFEB-40DF-965D-4F253CAF7A8F}"/>
              </a:ext>
            </a:extLst>
          </p:cNvPr>
          <p:cNvSpPr>
            <a:spLocks xmlns:a="http://schemas.openxmlformats.org/drawingml/2006/main" noGrp="1"/>
          </p:cNvSpPr>
          <p:nvPr/>
        </p:nvSpPr>
        <p:spPr>
          <a:xfrm xmlns:a="http://schemas.openxmlformats.org/drawingml/2006/main">
            <a:off x="7477125" y="17240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1111"/>
                </a:solidFill>
                <a:latin typeface="Geist"/>
                <a:ea typeface="Geist"/>
                <a:cs typeface="Geist"/>
              </a:defRPr>
            </a:defPPr>
          </a:lstStyle>
          <a:p xmlns:a="http://schemas.openxmlformats.org/drawingml/2006/main">
            <a:pPr algn="l">
              <a:buNone/>
              <a:defRPr sz="2325" b="1">
                <a:solidFill>
                  <a:srgbClr val="111111"/>
                </a:solidFill>
                <a:latin typeface="Geist"/>
                <a:ea typeface="Geist"/>
                <a:cs typeface="Geist"/>
              </a:defRPr>
            </a:pPr>
            <a:r>
              <a:rPr sz="2325" b="1">
                <a:solidFill>
                  <a:srgbClr val="111111"/>
                </a:solidFill>
                <a:latin typeface="Geist"/>
                <a:ea typeface="Geist"/>
                <a:cs typeface="Geist"/>
              </a:rPr>
              <a:t>after you buy</a:t>
            </a:r>
          </a:p>
        </p:txBody>
      </p:sp>
      <p:graphicFrame>
        <p:nvGraphicFramePr>
          <p:cNvPr id="6" name="Chart">
            <a:extLst xmlns:a="http://schemas.openxmlformats.org/drawingml/2006/main">
              <a:ext uri="{FF2B5EF4-FFF2-40B4-BE49-F238E27FC236}">
                <a16:creationId xmlns:a16="http://schemas.microsoft.com/office/drawing/2014/main" id="{513A433C-F8C9-4136-85D3-51DB2EB9FDC1}"/>
              </a:ext>
            </a:extLst>
          </p:cNvPr>
          <p:cNvGraphicFramePr/>
          <p:nvPr/>
        </p:nvGraphicFramePr>
        <p:xfrm>
          <a:off xmlns:a="http://schemas.openxmlformats.org/drawingml/2006/main" x="762000" y="2324100"/>
          <a:ext xmlns:a="http://schemas.openxmlformats.org/drawingml/2006/main" cx="10668000" cy="2886075"/>
        </p:xfrm>
        <a:graphic xmlns:a="http://schemas.openxmlformats.org/drawingml/2006/main">
          <a:graphicData uri="http://schemas.openxmlformats.org/drawingml/2006/chart">
            <c:chart xmlns:r="http://schemas.openxmlformats.org/officeDocument/2006/relationships" xmlns:c="http://schemas.openxmlformats.org/drawingml/2006/chart" r:id="R4f908d25a0934cff"/>
          </a:graphicData>
        </a:graphic>
      </p:graphicFrame>
      <p:sp>
        <p:nvSpPr>
          <p:cNvPr id="7" name="What was the community saying?">
            <a:extLst xmlns:a="http://schemas.openxmlformats.org/drawingml/2006/main">
              <a:ext uri="{FF2B5EF4-FFF2-40B4-BE49-F238E27FC236}">
                <a16:creationId xmlns:a16="http://schemas.microsoft.com/office/drawing/2014/main" id="{9BD56540-3B66-4859-B715-75F8497A2786}"/>
              </a:ext>
            </a:extLst>
          </p:cNvPr>
          <p:cNvSpPr>
            <a:spLocks xmlns:a="http://schemas.openxmlformats.org/drawingml/2006/main" noGrp="1"/>
          </p:cNvSpPr>
          <p:nvPr/>
        </p:nvSpPr>
        <p:spPr>
          <a:xfrm xmlns:a="http://schemas.openxmlformats.org/drawingml/2006/main">
            <a:off x="704850" y="55245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61955"/>
                </a:solidFill>
                <a:latin typeface="Geist"/>
                <a:ea typeface="Geist"/>
                <a:cs typeface="Geist"/>
              </a:defRPr>
            </a:defPPr>
          </a:lstStyle>
          <a:p xmlns:a="http://schemas.openxmlformats.org/drawingml/2006/main">
            <a:pPr algn="l">
              <a:buNone/>
              <a:defRPr sz="2625" b="1">
                <a:solidFill>
                  <a:srgbClr val="A61955"/>
                </a:solidFill>
                <a:latin typeface="Geist"/>
                <a:ea typeface="Geist"/>
                <a:cs typeface="Geist"/>
              </a:defRPr>
            </a:pPr>
            <a:r>
              <a:rPr sz="2625" b="1">
                <a:solidFill>
                  <a:srgbClr val="A61955"/>
                </a:solidFill>
                <a:latin typeface="Geist"/>
                <a:ea typeface="Geist"/>
                <a:cs typeface="Geist"/>
              </a:rPr>
              <a:t>Can prices + posts predict the next move?</a:t>
            </a:r>
          </a:p>
        </p:txBody>
      </p:sp>
      <p:sp>
        <p:nvSpPr>
          <p:cNvPr id="8" name="18 Jan 2025–7 Oct 2026. Supplied daily closes. Captions are ">
            <a:extLst xmlns:a="http://schemas.openxmlformats.org/drawingml/2006/main">
              <a:ext uri="{FF2B5EF4-FFF2-40B4-BE49-F238E27FC236}">
                <a16:creationId xmlns:a16="http://schemas.microsoft.com/office/drawing/2014/main" id="{B87B6731-385A-4E8E-A008-D08C09A7CC75}"/>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18 Jan 2025–7 Oct 2026. Supplied daily closes. Captions are a joke, not an actual trade.</a:t>
            </a:r>
          </a:p>
        </p:txBody>
      </p:sp>
    </p:spTree>
    <p:extLst>
      <p:ext uri="{BB962C8B-B14F-4D97-AF65-F5344CB8AC3E}">
        <p14:creationId xmlns:p14="http://schemas.microsoft.com/office/powerpoint/2010/main" val="19450595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ta collection">
            <a:extLst xmlns:a="http://schemas.openxmlformats.org/drawingml/2006/main">
              <a:ext uri="{FF2B5EF4-FFF2-40B4-BE49-F238E27FC236}">
                <a16:creationId xmlns:a16="http://schemas.microsoft.com/office/drawing/2014/main" id="{B15BD8F4-1DE5-4039-9F5F-2B05649358AC}"/>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Data collection</a:t>
            </a:r>
          </a:p>
        </p:txBody>
      </p:sp>
      <p:sp>
        <p:nvSpPr>
          <p:cNvPr id="2" name="05">
            <a:extLst xmlns:a="http://schemas.openxmlformats.org/drawingml/2006/main">
              <a:ext uri="{FF2B5EF4-FFF2-40B4-BE49-F238E27FC236}">
                <a16:creationId xmlns:a16="http://schemas.microsoft.com/office/drawing/2014/main" id="{B607FCFF-2963-41A1-9716-F8B3B4435EE1}"/>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04</a:t>
            </a:r>
          </a:p>
        </p:txBody>
      </p:sp>
      <p:graphicFrame>
        <p:nvGraphicFramePr>
          <p:cNvPr id="3" name="">
            <a:extLst xmlns:a="http://schemas.openxmlformats.org/drawingml/2006/main">
              <a:ext uri="{FF2B5EF4-FFF2-40B4-BE49-F238E27FC236}">
                <a16:creationId xmlns:a16="http://schemas.microsoft.com/office/drawing/2014/main" id="{E40B816A-53BA-47EF-853D-AA8150C8A7D0}"/>
              </a:ext>
            </a:extLst>
          </p:cNvPr>
          <p:cNvGraphicFramePr/>
          <p:nvPr/>
        </p:nvGraphicFramePr>
        <p:xfrm>
          <a:off xmlns:a="http://schemas.openxmlformats.org/drawingml/2006/main" x="1371600" y="1600200"/>
          <a:ext xmlns:a="http://schemas.openxmlformats.org/drawingml/2006/main" cx="10134600" cy="3124200"/>
        </p:xfrm>
        <a:graphic xmlns:a="http://schemas.openxmlformats.org/drawingml/2006/main">
          <a:graphicData uri="http://schemas.openxmlformats.org/drawingml/2006/table">
            <a:tbl>
              <a:tblPr firstRow="1" bandRow="0"/>
              <a:tblGrid>
                <a:gridCol w="3143250"/>
                <a:gridCol w="3476625"/>
                <a:gridCol w="3514725"/>
              </a:tblGrid>
              <a:tr h="781050">
                <a:tc>
                  <a:txBody>
                    <a:bodyPr wrap="square" lIns="133350" tIns="133350" rIns="133350" bIns="133350">
                      <a:noAutofit/>
                    </a:bodyPr>
                    <a:lstStyle/>
                    <a:p>
                      <a:r>
                        <a:rPr sz="1650" b="1">
                          <a:solidFill>
                            <a:srgbClr val="111111"/>
                          </a:solidFill>
                          <a:latin typeface="Geist"/>
                          <a:ea typeface="Geist"/>
                          <a:cs typeface="Geist"/>
                        </a:rPr>
                        <a:t>Source</a:t>
                      </a:r>
                    </a:p>
                  </a:txBody>
                  <a:tcPr marL="91440" marR="91440" marT="45720" marB="45720" anchor="ctr">
                    <a:solidFill>
                      <a:srgbClr val="FFFFFF"/>
                    </a:solidFill>
                  </a:tcPr>
                </a:tc>
                <a:tc>
                  <a:txBody>
                    <a:bodyPr wrap="square" lIns="133350" tIns="133350" rIns="133350" bIns="133350">
                      <a:noAutofit/>
                    </a:bodyPr>
                    <a:lstStyle/>
                    <a:p>
                      <a:r>
                        <a:rPr sz="1650" b="1">
                          <a:solidFill>
                            <a:srgbClr val="111111"/>
                          </a:solidFill>
                          <a:latin typeface="Geist"/>
                          <a:ea typeface="Geist"/>
                          <a:cs typeface="Geist"/>
                        </a:rPr>
                        <a:t>Collection method</a:t>
                      </a:r>
                    </a:p>
                  </a:txBody>
                  <a:tcPr marL="91440" marR="91440" marT="45720" marB="45720" anchor="ctr">
                    <a:solidFill>
                      <a:srgbClr val="FFFFFF"/>
                    </a:solidFill>
                  </a:tcPr>
                </a:tc>
                <a:tc>
                  <a:txBody>
                    <a:bodyPr wrap="square" lIns="133350" tIns="133350" rIns="133350" bIns="133350">
                      <a:noAutofit/>
                    </a:bodyPr>
                    <a:lstStyle/>
                    <a:p>
                      <a:r>
                        <a:rPr sz="1650" b="1">
                          <a:solidFill>
                            <a:srgbClr val="111111"/>
                          </a:solidFill>
                          <a:latin typeface="Geist"/>
                          <a:ea typeface="Geist"/>
                          <a:cs typeface="Geist"/>
                        </a:rPr>
                        <a:t>Output</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CoinMarketCap</a:t>
                      </a:r>
                    </a:p>
                    <a:p>
                      <a:r>
                        <a:rPr sz="1800" b="0">
                          <a:solidFill>
                            <a:srgbClr val="111111"/>
                          </a:solidFill>
                          <a:latin typeface="Geist"/>
                          <a:ea typeface="Geist"/>
                          <a:cs typeface="Geist"/>
                        </a:rPr>
                        <a:t>Historical Data</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Web crawling</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Daily price CSV</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X via FxTwitter</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Third-party API</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Posts + reactions</a:t>
                      </a:r>
                    </a:p>
                    <a:p>
                      <a:r>
                        <a:rPr sz="1800" b="0">
                          <a:solidFill>
                            <a:srgbClr val="111111"/>
                          </a:solidFill>
                          <a:latin typeface="Geist"/>
                          <a:ea typeface="Geist"/>
                          <a:cs typeface="Geist"/>
                        </a:rPr>
                        <a:t>in JSON</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Reddit via</a:t>
                      </a:r>
                    </a:p>
                    <a:p>
                      <a:r>
                        <a:rPr sz="1800" b="0">
                          <a:solidFill>
                            <a:srgbClr val="111111"/>
                          </a:solidFill>
                          <a:latin typeface="Geist"/>
                          <a:ea typeface="Geist"/>
                          <a:cs typeface="Geist"/>
                        </a:rPr>
                        <a:t>Arctic Shift</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Archive API / files</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Posts + comments</a:t>
                      </a:r>
                    </a:p>
                  </a:txBody>
                  <a:tcPr marL="91440" marR="91440" marT="45720" marB="45720" anchor="ctr">
                    <a:solidFill>
                      <a:srgbClr val="FFFFFF"/>
                    </a:solidFill>
                  </a:tcPr>
                </a:tc>
              </a:tr>
            </a:tbl>
          </a:graphicData>
        </a:graphic>
      </p:graphicFrame>
      <p:pic>
        <p:nvPicPr>
          <p:cNvPr id="4" name="">
            <a:extLst xmlns:a="http://schemas.openxmlformats.org/drawingml/2006/main">
              <a:ext uri="{FF2B5EF4-FFF2-40B4-BE49-F238E27FC236}">
                <a16:creationId xmlns:a16="http://schemas.microsoft.com/office/drawing/2014/main" id="{A2C69473-B163-4C34-96A7-99DD31A3D4E4}"/>
              </a:ext>
            </a:extLst>
          </p:cNvPr>
          <p:cNvPicPr>
            <a:picLocks xmlns:a="http://schemas.openxmlformats.org/drawingml/2006/main" noChangeAspect="1"/>
          </p:cNvPicPr>
          <p:nvPr/>
        </p:nvPicPr>
        <p:blipFill>
          <a:blip xmlns:r="http://schemas.openxmlformats.org/officeDocument/2006/relationships" xmlns:a="http://schemas.openxmlformats.org/drawingml/2006/main" r:embed="R1c92b5ee569d4295">
            <a:extLst>
              <a:ext uri="{96DAC541-7B7A-43D3-8B79-37D633B846F1}">
                <asvg:svgBlip xmlns:asvg="http://schemas.microsoft.com/office/drawing/2016/SVG/main" r:embed="R752ef67ca6fb4098"/>
              </a:ext>
            </a:extLst>
          </a:blip>
          <a:stretch xmlns:a="http://schemas.openxmlformats.org/drawingml/2006/main"/>
        </p:blipFill>
        <p:spPr>
          <a:xfrm xmlns:a="http://schemas.openxmlformats.org/drawingml/2006/main">
            <a:off x="723900" y="2590800"/>
            <a:ext cx="400050" cy="4000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4F2499AE-A320-4995-BEDB-EAFB83C3F224}"/>
              </a:ext>
            </a:extLst>
          </p:cNvPr>
          <p:cNvPicPr>
            <a:picLocks xmlns:a="http://schemas.openxmlformats.org/drawingml/2006/main" noChangeAspect="1"/>
          </p:cNvPicPr>
          <p:nvPr/>
        </p:nvPicPr>
        <p:blipFill>
          <a:blip xmlns:r="http://schemas.openxmlformats.org/officeDocument/2006/relationships" xmlns:a="http://schemas.openxmlformats.org/drawingml/2006/main" r:embed="R5964872322da46b4">
            <a:extLst>
              <a:ext uri="{96DAC541-7B7A-43D3-8B79-37D633B846F1}">
                <asvg:svgBlip xmlns:asvg="http://schemas.microsoft.com/office/drawing/2016/SVG/main" r:embed="Rebc0791371984819"/>
              </a:ext>
            </a:extLst>
          </a:blip>
          <a:stretch xmlns:a="http://schemas.openxmlformats.org/drawingml/2006/main"/>
        </p:blipFill>
        <p:spPr>
          <a:xfrm xmlns:a="http://schemas.openxmlformats.org/drawingml/2006/main">
            <a:off x="723900" y="3371850"/>
            <a:ext cx="400050" cy="4000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4503901-4F6A-4398-B93A-C8EE684F846B}"/>
              </a:ext>
            </a:extLst>
          </p:cNvPr>
          <p:cNvPicPr>
            <a:picLocks xmlns:a="http://schemas.openxmlformats.org/drawingml/2006/main" noChangeAspect="1"/>
          </p:cNvPicPr>
          <p:nvPr/>
        </p:nvPicPr>
        <p:blipFill>
          <a:blip xmlns:r="http://schemas.openxmlformats.org/officeDocument/2006/relationships" xmlns:a="http://schemas.openxmlformats.org/drawingml/2006/main" r:embed="R89af9b8d70884752">
            <a:extLst>
              <a:ext uri="{96DAC541-7B7A-43D3-8B79-37D633B846F1}">
                <asvg:svgBlip xmlns:asvg="http://schemas.microsoft.com/office/drawing/2016/SVG/main" r:embed="R5b4c08bcb5684992"/>
              </a:ext>
            </a:extLst>
          </a:blip>
          <a:stretch xmlns:a="http://schemas.openxmlformats.org/drawingml/2006/main"/>
        </p:blipFill>
        <p:spPr>
          <a:xfrm xmlns:a="http://schemas.openxmlformats.org/drawingml/2006/main">
            <a:off x="723900" y="4152900"/>
            <a:ext cx="400050" cy="400050"/>
          </a:xfrm>
          <a:prstGeom xmlns:a="http://schemas.openxmlformats.org/drawingml/2006/main" prst="rect">
            <a:avLst/>
          </a:prstGeom>
        </p:spPr>
      </p:pic>
      <p:sp>
        <p:nvSpPr>
          <p:cNvPr id="7" name="Daily social batches, with a seven-day overlap.">
            <a:extLst xmlns:a="http://schemas.openxmlformats.org/drawingml/2006/main">
              <a:ext uri="{FF2B5EF4-FFF2-40B4-BE49-F238E27FC236}">
                <a16:creationId xmlns:a16="http://schemas.microsoft.com/office/drawing/2014/main" id="{AEC284EC-D027-4EB3-80DF-A890C79D22AA}"/>
              </a:ext>
            </a:extLst>
          </p:cNvPr>
          <p:cNvSpPr>
            <a:spLocks xmlns:a="http://schemas.openxmlformats.org/drawingml/2006/main" noGrp="1"/>
          </p:cNvSpPr>
          <p:nvPr/>
        </p:nvSpPr>
        <p:spPr>
          <a:xfrm xmlns:a="http://schemas.openxmlformats.org/drawingml/2006/main">
            <a:off x="695325" y="505777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buNone/>
              <a:defRPr sz="2175" b="1">
                <a:solidFill>
                  <a:srgbClr val="111111"/>
                </a:solidFill>
                <a:latin typeface="Geist"/>
                <a:ea typeface="Geist"/>
                <a:cs typeface="Geist"/>
              </a:defRPr>
            </a:pPr>
            <a:r>
              <a:rPr sz="2175" b="1">
                <a:solidFill>
                  <a:srgbClr val="111111"/>
                </a:solidFill>
                <a:latin typeface="Geist"/>
                <a:ea typeface="Geist"/>
                <a:cs typeface="Geist"/>
              </a:rPr>
              <a:t>Daily social batches, with a seven-day overlap.</a:t>
            </a:r>
          </a:p>
        </p:txBody>
      </p:sp>
      <p:sp>
        <p:nvSpPr>
          <p:cNvPr id="8" name="Project websites: crawl links and contract details to verify">
            <a:extLst xmlns:a="http://schemas.openxmlformats.org/drawingml/2006/main">
              <a:ext uri="{FF2B5EF4-FFF2-40B4-BE49-F238E27FC236}">
                <a16:creationId xmlns:a16="http://schemas.microsoft.com/office/drawing/2014/main" id="{F3EFE7FE-ADCB-4335-8D64-11D4A72FDC1C}"/>
              </a:ext>
            </a:extLst>
          </p:cNvPr>
          <p:cNvSpPr>
            <a:spLocks xmlns:a="http://schemas.openxmlformats.org/drawingml/2006/main" noGrp="1"/>
          </p:cNvSpPr>
          <p:nvPr/>
        </p:nvSpPr>
        <p:spPr>
          <a:xfrm xmlns:a="http://schemas.openxmlformats.org/drawingml/2006/main">
            <a:off x="695325" y="560070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Project websites: crawl links and contract details to verify sources.</a:t>
            </a:r>
          </a:p>
        </p:txBody>
      </p:sp>
      <p:sp>
        <p:nvSpPr>
          <p:cNvPr id="9" name="Reddit awaits access conditions. Price refresh needs new CSV">
            <a:extLst xmlns:a="http://schemas.openxmlformats.org/drawingml/2006/main">
              <a:ext uri="{FF2B5EF4-FFF2-40B4-BE49-F238E27FC236}">
                <a16:creationId xmlns:a16="http://schemas.microsoft.com/office/drawing/2014/main" id="{909FEA8B-55FF-4071-9E56-99D6257B968E}"/>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Reddit awaits access conditions. Price refresh needs new CSVs or restoration of the team crawler.</a:t>
            </a:r>
          </a:p>
        </p:txBody>
      </p:sp>
      <p:sp>
        <p:nvSpPr>
          <p:cNvPr id="11" name="14,773 price rows">
            <a:extLst xmlns:a="http://schemas.openxmlformats.org/drawingml/2006/main">
              <a:ext uri="{FF2B5EF4-FFF2-40B4-BE49-F238E27FC236}">
                <a16:creationId xmlns:a16="http://schemas.microsoft.com/office/drawing/2014/main" id="{273A7EED-4CB8-47FD-824E-7DB99AC35A2F}"/>
              </a:ext>
            </a:extLst>
          </p:cNvPr>
          <p:cNvSpPr>
            <a:spLocks xmlns:a="http://schemas.openxmlformats.org/drawingml/2006/main" noGrp="1"/>
          </p:cNvSpPr>
          <p:nvPr/>
        </p:nvSpPr>
        <p:spPr>
          <a:xfrm xmlns:a="http://schemas.openxmlformats.org/drawingml/2006/main">
            <a:off x="685800" y="116205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A61955"/>
                </a:solidFill>
                <a:latin typeface="Geist"/>
                <a:ea typeface="Geist"/>
                <a:cs typeface="Geist"/>
              </a:defRPr>
            </a:defPPr>
          </a:lstStyle>
          <a:p xmlns:a="http://schemas.openxmlformats.org/drawingml/2006/main">
            <a:pPr algn="l">
              <a:buNone/>
              <a:defRPr sz="1950" b="1">
                <a:solidFill>
                  <a:srgbClr val="A61955"/>
                </a:solidFill>
                <a:latin typeface="Geist"/>
                <a:ea typeface="Geist"/>
                <a:cs typeface="Geist"/>
              </a:defRPr>
            </a:pPr>
            <a:r>
              <a:rPr sz="1950" b="1">
                <a:solidFill>
                  <a:srgbClr val="A61955"/>
                </a:solidFill>
                <a:latin typeface="Geist"/>
                <a:ea typeface="Geist"/>
                <a:cs typeface="Geist"/>
              </a:rPr>
              <a:t>14,773 price rows</a:t>
            </a:r>
          </a:p>
        </p:txBody>
      </p:sp>
      <p:sp>
        <p:nvSpPr>
          <p:cNvPr id="12" name="10 coins · social collection planned">
            <a:extLst xmlns:a="http://schemas.openxmlformats.org/drawingml/2006/main">
              <a:ext uri="{FF2B5EF4-FFF2-40B4-BE49-F238E27FC236}">
                <a16:creationId xmlns:a16="http://schemas.microsoft.com/office/drawing/2014/main" id="{D032DF09-9365-4273-B91E-39BE9E7D73AD}"/>
              </a:ext>
            </a:extLst>
          </p:cNvPr>
          <p:cNvSpPr>
            <a:spLocks xmlns:a="http://schemas.openxmlformats.org/drawingml/2006/main" noGrp="1"/>
          </p:cNvSpPr>
          <p:nvPr/>
        </p:nvSpPr>
        <p:spPr>
          <a:xfrm xmlns:a="http://schemas.openxmlformats.org/drawingml/2006/main">
            <a:off x="3476625" y="1200150"/>
            <a:ext cx="8020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10 coins · social collection planned</a:t>
            </a:r>
          </a:p>
        </p:txBody>
      </p:sp>
    </p:spTree>
    <p:extLst>
      <p:ext uri="{BB962C8B-B14F-4D97-AF65-F5344CB8AC3E}">
        <p14:creationId xmlns:p14="http://schemas.microsoft.com/office/powerpoint/2010/main" val="16947484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Data pipeline">
            <a:extLst xmlns:a="http://schemas.openxmlformats.org/drawingml/2006/main">
              <a:ext uri="{FF2B5EF4-FFF2-40B4-BE49-F238E27FC236}">
                <a16:creationId xmlns:a16="http://schemas.microsoft.com/office/drawing/2014/main" id="{B132CF47-EAB7-42F4-A9C3-F464126646A7}"/>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Data pipeline</a:t>
            </a:r>
          </a:p>
        </p:txBody>
      </p:sp>
      <p:sp>
        <p:nvSpPr>
          <p:cNvPr id="2" name="05">
            <a:extLst xmlns:a="http://schemas.openxmlformats.org/drawingml/2006/main">
              <a:ext uri="{FF2B5EF4-FFF2-40B4-BE49-F238E27FC236}">
                <a16:creationId xmlns:a16="http://schemas.microsoft.com/office/drawing/2014/main" id="{8046D575-4D4B-4FEE-AD2F-D325270BB2B0}"/>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05</a:t>
            </a:r>
          </a:p>
        </p:txBody>
      </p:sp>
      <p:sp>
        <p:nvSpPr>
          <p:cNvPr id="3" name="Next UTC close: UP or DOWN">
            <a:extLst xmlns:a="http://schemas.openxmlformats.org/drawingml/2006/main">
              <a:ext uri="{FF2B5EF4-FFF2-40B4-BE49-F238E27FC236}">
                <a16:creationId xmlns:a16="http://schemas.microsoft.com/office/drawing/2014/main" id="{D96705CA-83C5-48FF-B7AE-FB6A1F3D894F}"/>
              </a:ext>
            </a:extLst>
          </p:cNvPr>
          <p:cNvSpPr>
            <a:spLocks xmlns:a="http://schemas.openxmlformats.org/drawingml/2006/main" noGrp="1"/>
          </p:cNvSpPr>
          <p:nvPr/>
        </p:nvSpPr>
        <p:spPr>
          <a:xfrm xmlns:a="http://schemas.openxmlformats.org/drawingml/2006/main">
            <a:off x="685800" y="11811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55555"/>
                </a:solidFill>
                <a:latin typeface="Geist"/>
                <a:ea typeface="Geist"/>
                <a:cs typeface="Geist"/>
              </a:defRPr>
            </a:defPPr>
          </a:lstStyle>
          <a:p xmlns:a="http://schemas.openxmlformats.org/drawingml/2006/main">
            <a:pPr algn="l">
              <a:defRPr sz="2100" b="0">
                <a:solidFill>
                  <a:srgbClr val="555555"/>
                </a:solidFill>
                <a:latin typeface="Geist"/>
                <a:ea typeface="Geist"/>
                <a:cs typeface="Geist"/>
              </a:defRPr>
            </a:pPr>
            <a:r>
              <a:rPr sz="2100" b="0">
                <a:solidFill>
                  <a:srgbClr val="555555"/>
                </a:solidFill>
                <a:latin typeface="Geist"/>
                <a:ea typeface="Geist"/>
                <a:cs typeface="Geist"/>
              </a:rPr>
              <a:t>Next UTC close: UP or DOWN</a:t>
            </a:r>
          </a:p>
        </p:txBody>
      </p:sp>
      <p:pic>
        <p:nvPicPr>
          <p:cNvPr id="4" name="">
            <a:extLst xmlns:a="http://schemas.openxmlformats.org/drawingml/2006/main">
              <a:ext uri="{FF2B5EF4-FFF2-40B4-BE49-F238E27FC236}">
                <a16:creationId xmlns:a16="http://schemas.microsoft.com/office/drawing/2014/main" id="{4BE4E7DE-DED0-49F1-B3BD-96B3FC873844}"/>
              </a:ext>
            </a:extLst>
          </p:cNvPr>
          <p:cNvPicPr>
            <a:picLocks xmlns:a="http://schemas.openxmlformats.org/drawingml/2006/main" noChangeAspect="1"/>
          </p:cNvPicPr>
          <p:nvPr/>
        </p:nvPicPr>
        <p:blipFill>
          <a:blip xmlns:r="http://schemas.openxmlformats.org/officeDocument/2006/relationships" xmlns:a="http://schemas.openxmlformats.org/drawingml/2006/main" r:embed="R703819fec4544493">
            <a:extLst>
              <a:ext uri="{96DAC541-7B7A-43D3-8B79-37D633B846F1}">
                <asvg:svgBlip xmlns:asvg="http://schemas.microsoft.com/office/drawing/2016/SVG/main" r:embed="R4bc67e13455f4569"/>
              </a:ext>
            </a:extLst>
          </a:blip>
          <a:stretch xmlns:a="http://schemas.openxmlformats.org/drawingml/2006/main"/>
        </p:blipFill>
        <p:spPr>
          <a:xfrm xmlns:a="http://schemas.openxmlformats.org/drawingml/2006/main">
            <a:off x="685800" y="2143125"/>
            <a:ext cx="342900" cy="342900"/>
          </a:xfrm>
          <a:prstGeom xmlns:a="http://schemas.openxmlformats.org/drawingml/2006/main" prst="rect">
            <a:avLst/>
          </a:prstGeom>
        </p:spPr>
      </p:pic>
      <p:sp>
        <p:nvSpPr>
          <p:cNvPr id="5" name="CMC">
            <a:extLst xmlns:a="http://schemas.openxmlformats.org/drawingml/2006/main">
              <a:ext uri="{FF2B5EF4-FFF2-40B4-BE49-F238E27FC236}">
                <a16:creationId xmlns:a16="http://schemas.microsoft.com/office/drawing/2014/main" id="{2DB0D879-B1C4-4A55-B78D-03FF2EE0A9BA}"/>
              </a:ext>
            </a:extLst>
          </p:cNvPr>
          <p:cNvSpPr>
            <a:spLocks xmlns:a="http://schemas.openxmlformats.org/drawingml/2006/main" noGrp="1"/>
          </p:cNvSpPr>
          <p:nvPr/>
        </p:nvSpPr>
        <p:spPr>
          <a:xfrm xmlns:a="http://schemas.openxmlformats.org/drawingml/2006/main">
            <a:off x="1143000" y="2162175"/>
            <a:ext cx="1047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CMC</a:t>
            </a:r>
          </a:p>
        </p:txBody>
      </p:sp>
      <p:sp>
        <p:nvSpPr>
          <p:cNvPr id="6" name="Web crawl">
            <a:extLst xmlns:a="http://schemas.openxmlformats.org/drawingml/2006/main">
              <a:ext uri="{FF2B5EF4-FFF2-40B4-BE49-F238E27FC236}">
                <a16:creationId xmlns:a16="http://schemas.microsoft.com/office/drawing/2014/main" id="{396C2CB1-9F1E-44D6-9C17-505FC385B34A}"/>
              </a:ext>
            </a:extLst>
          </p:cNvPr>
          <p:cNvSpPr>
            <a:spLocks xmlns:a="http://schemas.openxmlformats.org/drawingml/2006/main" noGrp="1"/>
          </p:cNvSpPr>
          <p:nvPr/>
        </p:nvSpPr>
        <p:spPr>
          <a:xfrm xmlns:a="http://schemas.openxmlformats.org/drawingml/2006/main">
            <a:off x="685800" y="2600325"/>
            <a:ext cx="1476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5555"/>
                </a:solidFill>
                <a:latin typeface="Geist"/>
                <a:ea typeface="Geist"/>
                <a:cs typeface="Geist"/>
              </a:defRPr>
            </a:defPPr>
          </a:lstStyle>
          <a:p xmlns:a="http://schemas.openxmlformats.org/drawingml/2006/main">
            <a:pPr algn="l">
              <a:defRPr sz="1575" b="0">
                <a:solidFill>
                  <a:srgbClr val="555555"/>
                </a:solidFill>
                <a:latin typeface="Geist"/>
                <a:ea typeface="Geist"/>
                <a:cs typeface="Geist"/>
              </a:defRPr>
            </a:pPr>
            <a:r>
              <a:rPr sz="1575" b="0">
                <a:solidFill>
                  <a:srgbClr val="555555"/>
                </a:solidFill>
                <a:latin typeface="Geist"/>
                <a:ea typeface="Geist"/>
                <a:cs typeface="Geist"/>
              </a:rPr>
              <a:t>Web crawl</a:t>
            </a:r>
          </a:p>
        </p:txBody>
      </p:sp>
      <p:sp>
        <p:nvSpPr>
          <p:cNvPr id="7" name="CSV validation">
            <a:extLst xmlns:a="http://schemas.openxmlformats.org/drawingml/2006/main">
              <a:ext uri="{FF2B5EF4-FFF2-40B4-BE49-F238E27FC236}">
                <a16:creationId xmlns:a16="http://schemas.microsoft.com/office/drawing/2014/main" id="{5C5F72AE-784E-4FCD-8F6D-1B1DA741C090}"/>
              </a:ext>
            </a:extLst>
          </p:cNvPr>
          <p:cNvSpPr>
            <a:spLocks xmlns:a="http://schemas.openxmlformats.org/drawingml/2006/main" noGrp="1"/>
          </p:cNvSpPr>
          <p:nvPr/>
        </p:nvSpPr>
        <p:spPr>
          <a:xfrm xmlns:a="http://schemas.openxmlformats.org/drawingml/2006/main">
            <a:off x="2428875" y="2190750"/>
            <a:ext cx="1266825" cy="742950"/>
          </a:xfrm>
          <a:prstGeom xmlns:a="http://schemas.openxmlformats.org/drawingml/2006/main" prst="roundRect">
            <a:avLst>
              <a:gd name="adj" fmla="val 7692"/>
            </a:avLst>
          </a:prstGeom>
          <a:noFill xmlns:a="http://schemas.openxmlformats.org/drawingml/2006/main"/>
          <a:ln xmlns:a="http://schemas.openxmlformats.org/drawingml/2006/main" w="12859">
            <a:solidFill>
              <a:srgbClr val="D5D5D5"/>
            </a:solidFill>
          </a:ln>
        </p:spPr>
      </p:sp>
      <p:sp>
        <p:nvSpPr>
          <p:cNvPr id="8" name="CSV">
            <a:extLst xmlns:a="http://schemas.openxmlformats.org/drawingml/2006/main">
              <a:ext uri="{FF2B5EF4-FFF2-40B4-BE49-F238E27FC236}">
                <a16:creationId xmlns:a16="http://schemas.microsoft.com/office/drawing/2014/main" id="{1ECDC04E-6F15-4A4A-B61F-839B253CAC49}"/>
              </a:ext>
            </a:extLst>
          </p:cNvPr>
          <p:cNvSpPr>
            <a:spLocks xmlns:a="http://schemas.openxmlformats.org/drawingml/2006/main" noGrp="1"/>
          </p:cNvSpPr>
          <p:nvPr/>
        </p:nvSpPr>
        <p:spPr>
          <a:xfrm xmlns:a="http://schemas.openxmlformats.org/drawingml/2006/main">
            <a:off x="2590800" y="2305050"/>
            <a:ext cx="942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11111"/>
                </a:solidFill>
                <a:latin typeface="Geist"/>
                <a:ea typeface="Geist"/>
                <a:cs typeface="Geist"/>
              </a:defRPr>
            </a:defPPr>
          </a:lstStyle>
          <a:p xmlns:a="http://schemas.openxmlformats.org/drawingml/2006/main">
            <a:pPr algn="ctr">
              <a:defRPr sz="1875" b="1">
                <a:solidFill>
                  <a:srgbClr val="111111"/>
                </a:solidFill>
                <a:latin typeface="Geist"/>
                <a:ea typeface="Geist"/>
                <a:cs typeface="Geist"/>
              </a:defRPr>
            </a:pPr>
            <a:r>
              <a:rPr sz="1875" b="1">
                <a:solidFill>
                  <a:srgbClr val="111111"/>
                </a:solidFill>
                <a:latin typeface="Geist"/>
                <a:ea typeface="Geist"/>
                <a:cs typeface="Geist"/>
              </a:rPr>
              <a:t>CSV</a:t>
            </a:r>
          </a:p>
        </p:txBody>
      </p:sp>
      <p:sp>
        <p:nvSpPr>
          <p:cNvPr id="9" name="validate">
            <a:extLst xmlns:a="http://schemas.openxmlformats.org/drawingml/2006/main">
              <a:ext uri="{FF2B5EF4-FFF2-40B4-BE49-F238E27FC236}">
                <a16:creationId xmlns:a16="http://schemas.microsoft.com/office/drawing/2014/main" id="{F095DD1F-4EA2-423A-9799-5231F2743AE5}"/>
              </a:ext>
            </a:extLst>
          </p:cNvPr>
          <p:cNvSpPr>
            <a:spLocks xmlns:a="http://schemas.openxmlformats.org/drawingml/2006/main" noGrp="1"/>
          </p:cNvSpPr>
          <p:nvPr/>
        </p:nvSpPr>
        <p:spPr>
          <a:xfrm xmlns:a="http://schemas.openxmlformats.org/drawingml/2006/main">
            <a:off x="2562225" y="2628900"/>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55555"/>
                </a:solidFill>
                <a:latin typeface="Geist"/>
                <a:ea typeface="Geist"/>
                <a:cs typeface="Geist"/>
              </a:defRPr>
            </a:defPPr>
          </a:lstStyle>
          <a:p xmlns:a="http://schemas.openxmlformats.org/drawingml/2006/main">
            <a:pPr algn="ctr">
              <a:defRPr sz="1350" b="0">
                <a:solidFill>
                  <a:srgbClr val="555555"/>
                </a:solidFill>
                <a:latin typeface="Geist"/>
                <a:ea typeface="Geist"/>
                <a:cs typeface="Geist"/>
              </a:defRPr>
            </a:pPr>
            <a:r>
              <a:rPr sz="1350" b="0">
                <a:solidFill>
                  <a:srgbClr val="555555"/>
                </a:solidFill>
                <a:latin typeface="Geist"/>
                <a:ea typeface="Geist"/>
                <a:cs typeface="Geist"/>
              </a:rPr>
              <a:t>validate</a:t>
            </a:r>
          </a:p>
        </p:txBody>
      </p:sp>
      <p:pic>
        <p:nvPicPr>
          <p:cNvPr id="10" name="">
            <a:extLst xmlns:a="http://schemas.openxmlformats.org/drawingml/2006/main">
              <a:ext uri="{FF2B5EF4-FFF2-40B4-BE49-F238E27FC236}">
                <a16:creationId xmlns:a16="http://schemas.microsoft.com/office/drawing/2014/main" id="{BED6D50C-ECA6-4F2D-9D92-B79B48FD6FE7}"/>
              </a:ext>
            </a:extLst>
          </p:cNvPr>
          <p:cNvPicPr>
            <a:picLocks xmlns:a="http://schemas.openxmlformats.org/drawingml/2006/main" noChangeAspect="1"/>
          </p:cNvPicPr>
          <p:nvPr/>
        </p:nvPicPr>
        <p:blipFill>
          <a:blip xmlns:r="http://schemas.openxmlformats.org/officeDocument/2006/relationships" xmlns:a="http://schemas.openxmlformats.org/drawingml/2006/main" r:embed="R55b3afba190a49a4">
            <a:extLst>
              <a:ext uri="{96DAC541-7B7A-43D3-8B79-37D633B846F1}">
                <asvg:svgBlip xmlns:asvg="http://schemas.microsoft.com/office/drawing/2016/SVG/main" r:embed="R8cd93d3d40f94816"/>
              </a:ext>
            </a:extLst>
          </a:blip>
          <a:stretch xmlns:a="http://schemas.openxmlformats.org/drawingml/2006/main"/>
        </p:blipFill>
        <p:spPr>
          <a:xfrm xmlns:a="http://schemas.openxmlformats.org/drawingml/2006/main">
            <a:off x="685800" y="4219575"/>
            <a:ext cx="295275" cy="295275"/>
          </a:xfrm>
          <a:prstGeom xmlns:a="http://schemas.openxmlformats.org/drawingml/2006/main" prst="rect">
            <a:avLst/>
          </a:prstGeom>
        </p:spPr>
      </p:pic>
      <p:sp>
        <p:nvSpPr>
          <p:cNvPr id="11" name="FxTwitter">
            <a:extLst xmlns:a="http://schemas.openxmlformats.org/drawingml/2006/main">
              <a:ext uri="{FF2B5EF4-FFF2-40B4-BE49-F238E27FC236}">
                <a16:creationId xmlns:a16="http://schemas.microsoft.com/office/drawing/2014/main" id="{5BD52885-DE9D-45DC-8904-2984188142D9}"/>
              </a:ext>
            </a:extLst>
          </p:cNvPr>
          <p:cNvSpPr>
            <a:spLocks xmlns:a="http://schemas.openxmlformats.org/drawingml/2006/main" noGrp="1"/>
          </p:cNvSpPr>
          <p:nvPr/>
        </p:nvSpPr>
        <p:spPr>
          <a:xfrm xmlns:a="http://schemas.openxmlformats.org/drawingml/2006/main">
            <a:off x="1123950" y="42195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Geist"/>
                <a:ea typeface="Geist"/>
                <a:cs typeface="Geist"/>
              </a:defRPr>
            </a:defPPr>
          </a:lstStyle>
          <a:p xmlns:a="http://schemas.openxmlformats.org/drawingml/2006/main">
            <a:pPr algn="l">
              <a:defRPr sz="1650" b="0">
                <a:solidFill>
                  <a:srgbClr val="111111"/>
                </a:solidFill>
                <a:latin typeface="Geist"/>
                <a:ea typeface="Geist"/>
                <a:cs typeface="Geist"/>
              </a:defRPr>
            </a:pPr>
            <a:r>
              <a:rPr sz="1650" b="0">
                <a:solidFill>
                  <a:srgbClr val="111111"/>
                </a:solidFill>
                <a:latin typeface="Geist"/>
                <a:ea typeface="Geist"/>
                <a:cs typeface="Geist"/>
              </a:rPr>
              <a:t>FxTwitter</a:t>
            </a:r>
          </a:p>
        </p:txBody>
      </p:sp>
      <p:pic>
        <p:nvPicPr>
          <p:cNvPr id="12" name="">
            <a:extLst xmlns:a="http://schemas.openxmlformats.org/drawingml/2006/main">
              <a:ext uri="{FF2B5EF4-FFF2-40B4-BE49-F238E27FC236}">
                <a16:creationId xmlns:a16="http://schemas.microsoft.com/office/drawing/2014/main" id="{E0388F95-DD51-4AAB-B609-A3BCF6D01060}"/>
              </a:ext>
            </a:extLst>
          </p:cNvPr>
          <p:cNvPicPr>
            <a:picLocks xmlns:a="http://schemas.openxmlformats.org/drawingml/2006/main" noChangeAspect="1"/>
          </p:cNvPicPr>
          <p:nvPr/>
        </p:nvPicPr>
        <p:blipFill>
          <a:blip xmlns:r="http://schemas.openxmlformats.org/officeDocument/2006/relationships" xmlns:a="http://schemas.openxmlformats.org/drawingml/2006/main" r:embed="R19a00ce17fab4494">
            <a:extLst>
              <a:ext uri="{96DAC541-7B7A-43D3-8B79-37D633B846F1}">
                <asvg:svgBlip xmlns:asvg="http://schemas.microsoft.com/office/drawing/2016/SVG/main" r:embed="Rc613c3f1016a473c"/>
              </a:ext>
            </a:extLst>
          </a:blip>
          <a:stretch xmlns:a="http://schemas.openxmlformats.org/drawingml/2006/main"/>
        </p:blipFill>
        <p:spPr>
          <a:xfrm xmlns:a="http://schemas.openxmlformats.org/drawingml/2006/main">
            <a:off x="685800" y="4953000"/>
            <a:ext cx="295275" cy="295275"/>
          </a:xfrm>
          <a:prstGeom xmlns:a="http://schemas.openxmlformats.org/drawingml/2006/main" prst="rect">
            <a:avLst/>
          </a:prstGeom>
        </p:spPr>
      </p:pic>
      <p:sp>
        <p:nvSpPr>
          <p:cNvPr id="13" name="Arctic Shift*">
            <a:extLst xmlns:a="http://schemas.openxmlformats.org/drawingml/2006/main">
              <a:ext uri="{FF2B5EF4-FFF2-40B4-BE49-F238E27FC236}">
                <a16:creationId xmlns:a16="http://schemas.microsoft.com/office/drawing/2014/main" id="{DDC613ED-90C9-477A-B1A8-9CFB511A2A8C}"/>
              </a:ext>
            </a:extLst>
          </p:cNvPr>
          <p:cNvSpPr>
            <a:spLocks xmlns:a="http://schemas.openxmlformats.org/drawingml/2006/main" noGrp="1"/>
          </p:cNvSpPr>
          <p:nvPr/>
        </p:nvSpPr>
        <p:spPr>
          <a:xfrm xmlns:a="http://schemas.openxmlformats.org/drawingml/2006/main">
            <a:off x="1123950" y="4953000"/>
            <a:ext cx="1323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11111"/>
                </a:solidFill>
                <a:latin typeface="Geist"/>
                <a:ea typeface="Geist"/>
                <a:cs typeface="Geist"/>
              </a:defRPr>
            </a:defPPr>
          </a:lstStyle>
          <a:p xmlns:a="http://schemas.openxmlformats.org/drawingml/2006/main">
            <a:pPr algn="l">
              <a:defRPr sz="1575" b="0">
                <a:solidFill>
                  <a:srgbClr val="111111"/>
                </a:solidFill>
                <a:latin typeface="Geist"/>
                <a:ea typeface="Geist"/>
                <a:cs typeface="Geist"/>
              </a:defRPr>
            </a:pPr>
            <a:r>
              <a:rPr sz="1575" b="0">
                <a:solidFill>
                  <a:srgbClr val="111111"/>
                </a:solidFill>
                <a:latin typeface="Geist"/>
                <a:ea typeface="Geist"/>
                <a:cs typeface="Geist"/>
              </a:rPr>
              <a:t>Arctic Shift*</a:t>
            </a:r>
          </a:p>
        </p:txBody>
      </p:sp>
      <p:sp>
        <p:nvSpPr>
          <p:cNvPr id="14" name="JSON ingestion">
            <a:extLst xmlns:a="http://schemas.openxmlformats.org/drawingml/2006/main">
              <a:ext uri="{FF2B5EF4-FFF2-40B4-BE49-F238E27FC236}">
                <a16:creationId xmlns:a16="http://schemas.microsoft.com/office/drawing/2014/main" id="{436CC877-EDD0-419E-93F9-E2224483ED03}"/>
              </a:ext>
            </a:extLst>
          </p:cNvPr>
          <p:cNvSpPr>
            <a:spLocks xmlns:a="http://schemas.openxmlformats.org/drawingml/2006/main" noGrp="1"/>
          </p:cNvSpPr>
          <p:nvPr/>
        </p:nvSpPr>
        <p:spPr>
          <a:xfrm xmlns:a="http://schemas.openxmlformats.org/drawingml/2006/main">
            <a:off x="2667000" y="4286250"/>
            <a:ext cx="809625" cy="952500"/>
          </a:xfrm>
          <a:prstGeom xmlns:a="http://schemas.openxmlformats.org/drawingml/2006/main" prst="foldedCorner">
            <a:avLst/>
          </a:prstGeom>
          <a:noFill xmlns:a="http://schemas.openxmlformats.org/drawingml/2006/main"/>
          <a:ln xmlns:a="http://schemas.openxmlformats.org/drawingml/2006/main" w="12859">
            <a:solidFill>
              <a:srgbClr val="D5D5D5"/>
            </a:solidFill>
          </a:ln>
        </p:spPr>
      </p:sp>
      <p:sp>
        <p:nvSpPr>
          <p:cNvPr id="15" name="JSON">
            <a:extLst xmlns:a="http://schemas.openxmlformats.org/drawingml/2006/main">
              <a:ext uri="{FF2B5EF4-FFF2-40B4-BE49-F238E27FC236}">
                <a16:creationId xmlns:a16="http://schemas.microsoft.com/office/drawing/2014/main" id="{7D1DA131-2D44-44A2-84AC-C360F2ACB5B0}"/>
              </a:ext>
            </a:extLst>
          </p:cNvPr>
          <p:cNvSpPr>
            <a:spLocks xmlns:a="http://schemas.openxmlformats.org/drawingml/2006/main" noGrp="1"/>
          </p:cNvSpPr>
          <p:nvPr/>
        </p:nvSpPr>
        <p:spPr>
          <a:xfrm xmlns:a="http://schemas.openxmlformats.org/drawingml/2006/main">
            <a:off x="2733675" y="4572000"/>
            <a:ext cx="676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11111"/>
                </a:solidFill>
                <a:latin typeface="Geist"/>
                <a:ea typeface="Geist"/>
                <a:cs typeface="Geist"/>
              </a:defRPr>
            </a:defPPr>
          </a:lstStyle>
          <a:p xmlns:a="http://schemas.openxmlformats.org/drawingml/2006/main">
            <a:pPr algn="ctr">
              <a:defRPr sz="1725" b="1">
                <a:solidFill>
                  <a:srgbClr val="111111"/>
                </a:solidFill>
                <a:latin typeface="Geist"/>
                <a:ea typeface="Geist"/>
                <a:cs typeface="Geist"/>
              </a:defRPr>
            </a:pPr>
            <a:r>
              <a:rPr sz="1725" b="1">
                <a:solidFill>
                  <a:srgbClr val="111111"/>
                </a:solidFill>
                <a:latin typeface="Geist"/>
                <a:ea typeface="Geist"/>
                <a:cs typeface="Geist"/>
              </a:rPr>
              <a:t>JSON</a:t>
            </a:r>
          </a:p>
        </p:txBody>
      </p:sp>
      <p:sp>
        <p:nvSpPr>
          <p:cNvPr id="16" name="MongoDB source documents">
            <a:extLst xmlns:a="http://schemas.openxmlformats.org/drawingml/2006/main">
              <a:ext uri="{FF2B5EF4-FFF2-40B4-BE49-F238E27FC236}">
                <a16:creationId xmlns:a16="http://schemas.microsoft.com/office/drawing/2014/main" id="{8B8EC627-E628-4EDD-8745-16A5AA1349F0}"/>
              </a:ext>
            </a:extLst>
          </p:cNvPr>
          <p:cNvSpPr>
            <a:spLocks xmlns:a="http://schemas.openxmlformats.org/drawingml/2006/main" noGrp="1"/>
          </p:cNvSpPr>
          <p:nvPr/>
        </p:nvSpPr>
        <p:spPr>
          <a:xfrm xmlns:a="http://schemas.openxmlformats.org/drawingml/2006/main">
            <a:off x="3905250" y="4286250"/>
            <a:ext cx="1476375" cy="1066800"/>
          </a:xfrm>
          <a:prstGeom xmlns:a="http://schemas.openxmlformats.org/drawingml/2006/main" prst="can">
            <a:avLst/>
          </a:prstGeom>
          <a:noFill xmlns:a="http://schemas.openxmlformats.org/drawingml/2006/main"/>
          <a:ln xmlns:a="http://schemas.openxmlformats.org/drawingml/2006/main" w="12859">
            <a:solidFill>
              <a:srgbClr val="555555"/>
            </a:solidFill>
          </a:ln>
        </p:spPr>
      </p:sp>
      <p:sp>
        <p:nvSpPr>
          <p:cNvPr id="17" name="MongoDB">
            <a:extLst xmlns:a="http://schemas.openxmlformats.org/drawingml/2006/main">
              <a:ext uri="{FF2B5EF4-FFF2-40B4-BE49-F238E27FC236}">
                <a16:creationId xmlns:a16="http://schemas.microsoft.com/office/drawing/2014/main" id="{6E0F4918-121B-41D6-BFC8-E0DDFBD59107}"/>
              </a:ext>
            </a:extLst>
          </p:cNvPr>
          <p:cNvSpPr>
            <a:spLocks xmlns:a="http://schemas.openxmlformats.org/drawingml/2006/main" noGrp="1"/>
          </p:cNvSpPr>
          <p:nvPr/>
        </p:nvSpPr>
        <p:spPr>
          <a:xfrm xmlns:a="http://schemas.openxmlformats.org/drawingml/2006/main">
            <a:off x="3981450" y="4514850"/>
            <a:ext cx="1323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11111"/>
                </a:solidFill>
                <a:latin typeface="Geist"/>
                <a:ea typeface="Geist"/>
                <a:cs typeface="Geist"/>
              </a:defRPr>
            </a:defPPr>
          </a:lstStyle>
          <a:p xmlns:a="http://schemas.openxmlformats.org/drawingml/2006/main">
            <a:pPr algn="ctr">
              <a:defRPr sz="1800" b="1">
                <a:solidFill>
                  <a:srgbClr val="111111"/>
                </a:solidFill>
                <a:latin typeface="Geist"/>
                <a:ea typeface="Geist"/>
                <a:cs typeface="Geist"/>
              </a:defRPr>
            </a:pPr>
            <a:r>
              <a:rPr sz="1800" b="1">
                <a:solidFill>
                  <a:srgbClr val="111111"/>
                </a:solidFill>
                <a:latin typeface="Geist"/>
                <a:ea typeface="Geist"/>
                <a:cs typeface="Geist"/>
              </a:rPr>
              <a:t>MongoDB</a:t>
            </a:r>
          </a:p>
        </p:txBody>
      </p:sp>
      <p:sp>
        <p:nvSpPr>
          <p:cNvPr id="18" name="posts + history">
            <a:extLst xmlns:a="http://schemas.openxmlformats.org/drawingml/2006/main">
              <a:ext uri="{FF2B5EF4-FFF2-40B4-BE49-F238E27FC236}">
                <a16:creationId xmlns:a16="http://schemas.microsoft.com/office/drawing/2014/main" id="{7BBFFB5E-B646-4401-A6BE-E1C1C6B36F34}"/>
              </a:ext>
            </a:extLst>
          </p:cNvPr>
          <p:cNvSpPr>
            <a:spLocks xmlns:a="http://schemas.openxmlformats.org/drawingml/2006/main" noGrp="1"/>
          </p:cNvSpPr>
          <p:nvPr/>
        </p:nvSpPr>
        <p:spPr>
          <a:xfrm xmlns:a="http://schemas.openxmlformats.org/drawingml/2006/main">
            <a:off x="3962400" y="4914900"/>
            <a:ext cx="1362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55555"/>
                </a:solidFill>
                <a:latin typeface="Geist"/>
                <a:ea typeface="Geist"/>
                <a:cs typeface="Geist"/>
              </a:defRPr>
            </a:defPPr>
          </a:lstStyle>
          <a:p xmlns:a="http://schemas.openxmlformats.org/drawingml/2006/main">
            <a:pPr algn="ctr">
              <a:defRPr sz="1350" b="0">
                <a:solidFill>
                  <a:srgbClr val="555555"/>
                </a:solidFill>
                <a:latin typeface="Geist"/>
                <a:ea typeface="Geist"/>
                <a:cs typeface="Geist"/>
              </a:defRPr>
            </a:pPr>
            <a:r>
              <a:rPr sz="1350" b="0">
                <a:solidFill>
                  <a:srgbClr val="555555"/>
                </a:solidFill>
                <a:latin typeface="Geist"/>
                <a:ea typeface="Geist"/>
                <a:cs typeface="Geist"/>
              </a:rPr>
              <a:t>posts + history</a:t>
            </a:r>
          </a:p>
        </p:txBody>
      </p:sp>
      <p:sp>
        <p:nvSpPr>
          <p:cNvPr id="19" name="Frozen model input construction">
            <a:extLst xmlns:a="http://schemas.openxmlformats.org/drawingml/2006/main">
              <a:ext uri="{FF2B5EF4-FFF2-40B4-BE49-F238E27FC236}">
                <a16:creationId xmlns:a16="http://schemas.microsoft.com/office/drawing/2014/main" id="{9670320A-FC75-4962-B857-ED761F897AEC}"/>
              </a:ext>
            </a:extLst>
          </p:cNvPr>
          <p:cNvSpPr>
            <a:spLocks xmlns:a="http://schemas.openxmlformats.org/drawingml/2006/main" noGrp="1"/>
          </p:cNvSpPr>
          <p:nvPr/>
        </p:nvSpPr>
        <p:spPr>
          <a:xfrm xmlns:a="http://schemas.openxmlformats.org/drawingml/2006/main">
            <a:off x="5953125" y="4095750"/>
            <a:ext cx="1381125" cy="952500"/>
          </a:xfrm>
          <a:prstGeom xmlns:a="http://schemas.openxmlformats.org/drawingml/2006/main" prst="roundRect">
            <a:avLst>
              <a:gd name="adj" fmla="val 6000"/>
            </a:avLst>
          </a:prstGeom>
          <a:noFill xmlns:a="http://schemas.openxmlformats.org/drawingml/2006/main"/>
          <a:ln xmlns:a="http://schemas.openxmlformats.org/drawingml/2006/main" w="12859">
            <a:solidFill>
              <a:srgbClr val="555555"/>
            </a:solidFill>
          </a:ln>
        </p:spPr>
      </p:sp>
      <p:sp>
        <p:nvSpPr>
          <p:cNvPr id="20" name="Python">
            <a:extLst xmlns:a="http://schemas.openxmlformats.org/drawingml/2006/main">
              <a:ext uri="{FF2B5EF4-FFF2-40B4-BE49-F238E27FC236}">
                <a16:creationId xmlns:a16="http://schemas.microsoft.com/office/drawing/2014/main" id="{26AFA8C6-050A-4D35-98F2-310D64A26082}"/>
              </a:ext>
            </a:extLst>
          </p:cNvPr>
          <p:cNvSpPr>
            <a:spLocks xmlns:a="http://schemas.openxmlformats.org/drawingml/2006/main" noGrp="1"/>
          </p:cNvSpPr>
          <p:nvPr/>
        </p:nvSpPr>
        <p:spPr>
          <a:xfrm xmlns:a="http://schemas.openxmlformats.org/drawingml/2006/main">
            <a:off x="6048375" y="4200525"/>
            <a:ext cx="1190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11111"/>
                </a:solidFill>
                <a:latin typeface="Geist"/>
                <a:ea typeface="Geist"/>
                <a:cs typeface="Geist"/>
              </a:defRPr>
            </a:defPPr>
          </a:lstStyle>
          <a:p xmlns:a="http://schemas.openxmlformats.org/drawingml/2006/main">
            <a:pPr algn="ctr">
              <a:defRPr sz="1800" b="1">
                <a:solidFill>
                  <a:srgbClr val="111111"/>
                </a:solidFill>
                <a:latin typeface="Geist"/>
                <a:ea typeface="Geist"/>
                <a:cs typeface="Geist"/>
              </a:defRPr>
            </a:pPr>
            <a:r>
              <a:rPr sz="1800" b="1">
                <a:solidFill>
                  <a:srgbClr val="111111"/>
                </a:solidFill>
                <a:latin typeface="Geist"/>
                <a:ea typeface="Geist"/>
                <a:cs typeface="Geist"/>
              </a:rPr>
              <a:t>Python</a:t>
            </a:r>
          </a:p>
        </p:txBody>
      </p:sp>
      <p:sp>
        <p:nvSpPr>
          <p:cNvPr id="21" name="features&#10;frozen inputs">
            <a:extLst xmlns:a="http://schemas.openxmlformats.org/drawingml/2006/main">
              <a:ext uri="{FF2B5EF4-FFF2-40B4-BE49-F238E27FC236}">
                <a16:creationId xmlns:a16="http://schemas.microsoft.com/office/drawing/2014/main" id="{3BB5FB5B-193B-4453-B8BF-682660658CD5}"/>
              </a:ext>
            </a:extLst>
          </p:cNvPr>
          <p:cNvSpPr>
            <a:spLocks xmlns:a="http://schemas.openxmlformats.org/drawingml/2006/main" noGrp="1"/>
          </p:cNvSpPr>
          <p:nvPr/>
        </p:nvSpPr>
        <p:spPr>
          <a:xfrm xmlns:a="http://schemas.openxmlformats.org/drawingml/2006/main">
            <a:off x="6048375" y="4533900"/>
            <a:ext cx="1190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55555"/>
                </a:solidFill>
                <a:latin typeface="Geist"/>
                <a:ea typeface="Geist"/>
                <a:cs typeface="Geist"/>
              </a:defRPr>
            </a:defPPr>
          </a:lstStyle>
          <a:p xmlns:a="http://schemas.openxmlformats.org/drawingml/2006/main">
            <a:pPr algn="ctr">
              <a:defRPr sz="1350" b="0">
                <a:solidFill>
                  <a:srgbClr val="555555"/>
                </a:solidFill>
                <a:latin typeface="Geist"/>
                <a:ea typeface="Geist"/>
                <a:cs typeface="Geist"/>
              </a:defRPr>
            </a:pPr>
            <a:r>
              <a:rPr sz="1350" b="0">
                <a:solidFill>
                  <a:srgbClr val="555555"/>
                </a:solidFill>
                <a:latin typeface="Geist"/>
                <a:ea typeface="Geist"/>
                <a:cs typeface="Geist"/>
              </a:rPr>
              <a:t>features</a:t>
            </a:r>
          </a:p>
          <a:p xmlns:a="http://schemas.openxmlformats.org/drawingml/2006/main">
            <a:pPr algn="ctr">
              <a:defRPr sz="1350" b="0">
                <a:solidFill>
                  <a:srgbClr val="555555"/>
                </a:solidFill>
                <a:latin typeface="Geist"/>
                <a:ea typeface="Geist"/>
                <a:cs typeface="Geist"/>
              </a:defRPr>
            </a:pPr>
            <a:r>
              <a:rPr sz="1350" b="0">
                <a:solidFill>
                  <a:srgbClr val="555555"/>
                </a:solidFill>
                <a:latin typeface="Geist"/>
                <a:ea typeface="Geist"/>
                <a:cs typeface="Geist"/>
              </a:rPr>
              <a:t>frozen inputs</a:t>
            </a:r>
          </a:p>
        </p:txBody>
      </p:sp>
      <p:sp>
        <p:nvSpPr>
          <p:cNvPr id="22" name="Direction inference">
            <a:extLst xmlns:a="http://schemas.openxmlformats.org/drawingml/2006/main">
              <a:ext uri="{FF2B5EF4-FFF2-40B4-BE49-F238E27FC236}">
                <a16:creationId xmlns:a16="http://schemas.microsoft.com/office/drawing/2014/main" id="{0AD6F045-0290-4D51-99B0-C4DC9A00065A}"/>
              </a:ext>
            </a:extLst>
          </p:cNvPr>
          <p:cNvSpPr>
            <a:spLocks xmlns:a="http://schemas.openxmlformats.org/drawingml/2006/main" noGrp="1"/>
          </p:cNvSpPr>
          <p:nvPr/>
        </p:nvSpPr>
        <p:spPr>
          <a:xfrm xmlns:a="http://schemas.openxmlformats.org/drawingml/2006/main">
            <a:off x="7667625" y="4095750"/>
            <a:ext cx="1524000" cy="952500"/>
          </a:xfrm>
          <a:prstGeom xmlns:a="http://schemas.openxmlformats.org/drawingml/2006/main" prst="roundRect">
            <a:avLst>
              <a:gd name="adj" fmla="val 6000"/>
            </a:avLst>
          </a:prstGeom>
          <a:noFill xmlns:a="http://schemas.openxmlformats.org/drawingml/2006/main"/>
          <a:ln xmlns:a="http://schemas.openxmlformats.org/drawingml/2006/main" w="12859">
            <a:solidFill>
              <a:srgbClr val="A61955"/>
            </a:solidFill>
          </a:ln>
        </p:spPr>
      </p:sp>
      <p:sp>
        <p:nvSpPr>
          <p:cNvPr id="23" name="OpenAI API">
            <a:extLst xmlns:a="http://schemas.openxmlformats.org/drawingml/2006/main">
              <a:ext uri="{FF2B5EF4-FFF2-40B4-BE49-F238E27FC236}">
                <a16:creationId xmlns:a16="http://schemas.microsoft.com/office/drawing/2014/main" id="{2A60344E-944A-420D-ADB5-0A1CFBDE4D39}"/>
              </a:ext>
            </a:extLst>
          </p:cNvPr>
          <p:cNvSpPr>
            <a:spLocks xmlns:a="http://schemas.openxmlformats.org/drawingml/2006/main" noGrp="1"/>
          </p:cNvSpPr>
          <p:nvPr/>
        </p:nvSpPr>
        <p:spPr>
          <a:xfrm xmlns:a="http://schemas.openxmlformats.org/drawingml/2006/main">
            <a:off x="7762875" y="4229100"/>
            <a:ext cx="133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A61955"/>
                </a:solidFill>
                <a:latin typeface="Geist"/>
                <a:ea typeface="Geist"/>
                <a:cs typeface="Geist"/>
              </a:defRPr>
            </a:defPPr>
          </a:lstStyle>
          <a:p xmlns:a="http://schemas.openxmlformats.org/drawingml/2006/main">
            <a:pPr algn="ctr">
              <a:defRPr sz="1800" b="1">
                <a:solidFill>
                  <a:srgbClr val="A61955"/>
                </a:solidFill>
                <a:latin typeface="Geist"/>
                <a:ea typeface="Geist"/>
                <a:cs typeface="Geist"/>
              </a:defRPr>
            </a:pPr>
            <a:r>
              <a:rPr sz="1800" b="1">
                <a:solidFill>
                  <a:srgbClr val="A61955"/>
                </a:solidFill>
                <a:latin typeface="Geist"/>
                <a:ea typeface="Geist"/>
                <a:cs typeface="Geist"/>
              </a:rPr>
              <a:t>OpenAI API</a:t>
            </a:r>
          </a:p>
        </p:txBody>
      </p:sp>
      <p:sp>
        <p:nvSpPr>
          <p:cNvPr id="24" name="UP / DOWN&#10;+ rationale">
            <a:extLst xmlns:a="http://schemas.openxmlformats.org/drawingml/2006/main">
              <a:ext uri="{FF2B5EF4-FFF2-40B4-BE49-F238E27FC236}">
                <a16:creationId xmlns:a16="http://schemas.microsoft.com/office/drawing/2014/main" id="{86BC60AE-1942-4111-A486-EF07AD28DF29}"/>
              </a:ext>
            </a:extLst>
          </p:cNvPr>
          <p:cNvSpPr>
            <a:spLocks xmlns:a="http://schemas.openxmlformats.org/drawingml/2006/main" noGrp="1"/>
          </p:cNvSpPr>
          <p:nvPr/>
        </p:nvSpPr>
        <p:spPr>
          <a:xfrm xmlns:a="http://schemas.openxmlformats.org/drawingml/2006/main">
            <a:off x="7781925" y="4572000"/>
            <a:ext cx="1295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111111"/>
                </a:solidFill>
                <a:latin typeface="Geist"/>
                <a:ea typeface="Geist"/>
                <a:cs typeface="Geist"/>
              </a:defRPr>
            </a:defPPr>
          </a:lstStyle>
          <a:p xmlns:a="http://schemas.openxmlformats.org/drawingml/2006/main">
            <a:pPr algn="ctr">
              <a:defRPr sz="1350" b="0">
                <a:solidFill>
                  <a:srgbClr val="111111"/>
                </a:solidFill>
                <a:latin typeface="Geist"/>
                <a:ea typeface="Geist"/>
                <a:cs typeface="Geist"/>
              </a:defRPr>
            </a:pPr>
            <a:r>
              <a:rPr sz="1350" b="0">
                <a:solidFill>
                  <a:srgbClr val="111111"/>
                </a:solidFill>
                <a:latin typeface="Geist"/>
                <a:ea typeface="Geist"/>
                <a:cs typeface="Geist"/>
              </a:rPr>
              <a:t>UP / DOWN</a:t>
            </a:r>
          </a:p>
          <a:p xmlns:a="http://schemas.openxmlformats.org/drawingml/2006/main">
            <a:pPr algn="ctr">
              <a:defRPr sz="1350" b="0">
                <a:solidFill>
                  <a:srgbClr val="111111"/>
                </a:solidFill>
                <a:latin typeface="Geist"/>
                <a:ea typeface="Geist"/>
                <a:cs typeface="Geist"/>
              </a:defRPr>
            </a:pPr>
            <a:r>
              <a:rPr sz="1350" b="0">
                <a:solidFill>
                  <a:srgbClr val="111111"/>
                </a:solidFill>
                <a:latin typeface="Geist"/>
                <a:ea typeface="Geist"/>
                <a:cs typeface="Geist"/>
              </a:rPr>
              <a:t>+ rationale</a:t>
            </a:r>
          </a:p>
        </p:txBody>
      </p:sp>
      <p:sp>
        <p:nvSpPr>
          <p:cNvPr id="25" name="Relational price and prediction storage">
            <a:extLst xmlns:a="http://schemas.openxmlformats.org/drawingml/2006/main">
              <a:ext uri="{FF2B5EF4-FFF2-40B4-BE49-F238E27FC236}">
                <a16:creationId xmlns:a16="http://schemas.microsoft.com/office/drawing/2014/main" id="{1FB8FE57-665B-4B10-A8F0-C93ADF363B3C}"/>
              </a:ext>
            </a:extLst>
          </p:cNvPr>
          <p:cNvSpPr>
            <a:spLocks xmlns:a="http://schemas.openxmlformats.org/drawingml/2006/main" noGrp="1"/>
          </p:cNvSpPr>
          <p:nvPr/>
        </p:nvSpPr>
        <p:spPr>
          <a:xfrm xmlns:a="http://schemas.openxmlformats.org/drawingml/2006/main">
            <a:off x="8953500" y="1952625"/>
            <a:ext cx="1571625" cy="1638300"/>
          </a:xfrm>
          <a:prstGeom xmlns:a="http://schemas.openxmlformats.org/drawingml/2006/main" prst="can">
            <a:avLst/>
          </a:prstGeom>
          <a:noFill xmlns:a="http://schemas.openxmlformats.org/drawingml/2006/main"/>
          <a:ln xmlns:a="http://schemas.openxmlformats.org/drawingml/2006/main" w="12859">
            <a:solidFill>
              <a:srgbClr val="555555"/>
            </a:solidFill>
          </a:ln>
        </p:spPr>
      </p:sp>
      <p:sp>
        <p:nvSpPr>
          <p:cNvPr id="26" name="PostgreSQL">
            <a:extLst xmlns:a="http://schemas.openxmlformats.org/drawingml/2006/main">
              <a:ext uri="{FF2B5EF4-FFF2-40B4-BE49-F238E27FC236}">
                <a16:creationId xmlns:a16="http://schemas.microsoft.com/office/drawing/2014/main" id="{712D42C1-B123-4195-9E49-6B1842C2E655}"/>
              </a:ext>
            </a:extLst>
          </p:cNvPr>
          <p:cNvSpPr>
            <a:spLocks xmlns:a="http://schemas.openxmlformats.org/drawingml/2006/main" noGrp="1"/>
          </p:cNvSpPr>
          <p:nvPr/>
        </p:nvSpPr>
        <p:spPr>
          <a:xfrm xmlns:a="http://schemas.openxmlformats.org/drawingml/2006/main">
            <a:off x="9039225" y="2295525"/>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11111"/>
                </a:solidFill>
                <a:latin typeface="Geist"/>
                <a:ea typeface="Geist"/>
                <a:cs typeface="Geist"/>
              </a:defRPr>
            </a:defPPr>
          </a:lstStyle>
          <a:p xmlns:a="http://schemas.openxmlformats.org/drawingml/2006/main">
            <a:pPr algn="ctr">
              <a:defRPr sz="1800" b="1">
                <a:solidFill>
                  <a:srgbClr val="111111"/>
                </a:solidFill>
                <a:latin typeface="Geist"/>
                <a:ea typeface="Geist"/>
                <a:cs typeface="Geist"/>
              </a:defRPr>
            </a:pPr>
            <a:r>
              <a:rPr sz="1800" b="1">
                <a:solidFill>
                  <a:srgbClr val="111111"/>
                </a:solidFill>
                <a:latin typeface="Geist"/>
                <a:ea typeface="Geist"/>
                <a:cs typeface="Geist"/>
              </a:rPr>
              <a:t>PostgreSQL</a:t>
            </a:r>
          </a:p>
        </p:txBody>
      </p:sp>
      <p:sp>
        <p:nvSpPr>
          <p:cNvPr id="27" name="prices&#10;predictions&#10;outcomes">
            <a:extLst xmlns:a="http://schemas.openxmlformats.org/drawingml/2006/main">
              <a:ext uri="{FF2B5EF4-FFF2-40B4-BE49-F238E27FC236}">
                <a16:creationId xmlns:a16="http://schemas.microsoft.com/office/drawing/2014/main" id="{E4477237-28EC-48EF-9828-6EC72C7C65E8}"/>
              </a:ext>
            </a:extLst>
          </p:cNvPr>
          <p:cNvSpPr>
            <a:spLocks xmlns:a="http://schemas.openxmlformats.org/drawingml/2006/main" noGrp="1"/>
          </p:cNvSpPr>
          <p:nvPr/>
        </p:nvSpPr>
        <p:spPr>
          <a:xfrm xmlns:a="http://schemas.openxmlformats.org/drawingml/2006/main">
            <a:off x="9067800" y="2695575"/>
            <a:ext cx="1343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555555"/>
                </a:solidFill>
                <a:latin typeface="Geist"/>
                <a:ea typeface="Geist"/>
                <a:cs typeface="Geist"/>
              </a:defRPr>
            </a:defPPr>
          </a:lstStyle>
          <a:p xmlns:a="http://schemas.openxmlformats.org/drawingml/2006/main">
            <a:pPr algn="ctr">
              <a:defRPr sz="1500" b="0">
                <a:solidFill>
                  <a:srgbClr val="555555"/>
                </a:solidFill>
                <a:latin typeface="Geist"/>
                <a:ea typeface="Geist"/>
                <a:cs typeface="Geist"/>
              </a:defRPr>
            </a:pPr>
            <a:r>
              <a:rPr sz="1500" b="0">
                <a:solidFill>
                  <a:srgbClr val="555555"/>
                </a:solidFill>
                <a:latin typeface="Geist"/>
                <a:ea typeface="Geist"/>
                <a:cs typeface="Geist"/>
              </a:rPr>
              <a:t>prices</a:t>
            </a:r>
          </a:p>
          <a:p xmlns:a="http://schemas.openxmlformats.org/drawingml/2006/main">
            <a:pPr algn="ctr">
              <a:defRPr sz="1500" b="0">
                <a:solidFill>
                  <a:srgbClr val="555555"/>
                </a:solidFill>
                <a:latin typeface="Geist"/>
                <a:ea typeface="Geist"/>
                <a:cs typeface="Geist"/>
              </a:defRPr>
            </a:pPr>
            <a:r>
              <a:rPr sz="1500" b="0">
                <a:solidFill>
                  <a:srgbClr val="555555"/>
                </a:solidFill>
                <a:latin typeface="Geist"/>
                <a:ea typeface="Geist"/>
                <a:cs typeface="Geist"/>
              </a:rPr>
              <a:t>predictions</a:t>
            </a:r>
          </a:p>
          <a:p xmlns:a="http://schemas.openxmlformats.org/drawingml/2006/main">
            <a:pPr algn="ctr">
              <a:defRPr sz="1500" b="0">
                <a:solidFill>
                  <a:srgbClr val="555555"/>
                </a:solidFill>
                <a:latin typeface="Geist"/>
                <a:ea typeface="Geist"/>
                <a:cs typeface="Geist"/>
              </a:defRPr>
            </a:pPr>
            <a:r>
              <a:rPr sz="1500" b="0">
                <a:solidFill>
                  <a:srgbClr val="555555"/>
                </a:solidFill>
                <a:latin typeface="Geist"/>
                <a:ea typeface="Geist"/>
                <a:cs typeface="Geist"/>
              </a:rPr>
              <a:t>outcomes</a:t>
            </a:r>
          </a:p>
        </p:txBody>
      </p:sp>
      <p:sp>
        <p:nvSpPr>
          <p:cNvPr id="28" name="Dashboard preview frame">
            <a:extLst xmlns:a="http://schemas.openxmlformats.org/drawingml/2006/main">
              <a:ext uri="{FF2B5EF4-FFF2-40B4-BE49-F238E27FC236}">
                <a16:creationId xmlns:a16="http://schemas.microsoft.com/office/drawing/2014/main" id="{117AC59D-CF6A-4291-8184-DE9B78E39B69}"/>
              </a:ext>
            </a:extLst>
          </p:cNvPr>
          <p:cNvSpPr>
            <a:spLocks xmlns:a="http://schemas.openxmlformats.org/drawingml/2006/main" noGrp="1"/>
          </p:cNvSpPr>
          <p:nvPr/>
        </p:nvSpPr>
        <p:spPr>
          <a:xfrm xmlns:a="http://schemas.openxmlformats.org/drawingml/2006/main">
            <a:off x="10839450" y="2266950"/>
            <a:ext cx="1066800" cy="819150"/>
          </a:xfrm>
          <a:prstGeom xmlns:a="http://schemas.openxmlformats.org/drawingml/2006/main" prst="rect">
            <a:avLst/>
          </a:prstGeom>
          <a:noFill xmlns:a="http://schemas.openxmlformats.org/drawingml/2006/main"/>
          <a:ln xmlns:a="http://schemas.openxmlformats.org/drawingml/2006/main" w="12859">
            <a:solidFill>
              <a:srgbClr val="D5D5D5"/>
            </a:solidFill>
          </a:ln>
        </p:spPr>
      </p:sp>
      <p:pic>
        <p:nvPicPr>
          <p:cNvPr id="29" name="">
            <a:extLst xmlns:a="http://schemas.openxmlformats.org/drawingml/2006/main">
              <a:ext uri="{FF2B5EF4-FFF2-40B4-BE49-F238E27FC236}">
                <a16:creationId xmlns:a16="http://schemas.microsoft.com/office/drawing/2014/main" id="{9FA85A83-91C5-4AEB-978A-016E797FC6A7}"/>
              </a:ext>
            </a:extLst>
          </p:cNvPr>
          <p:cNvPicPr>
            <a:picLocks xmlns:a="http://schemas.openxmlformats.org/drawingml/2006/main" noChangeAspect="1"/>
          </p:cNvPicPr>
          <p:nvPr/>
        </p:nvPicPr>
        <p:blipFill>
          <a:blip xmlns:r="http://schemas.openxmlformats.org/officeDocument/2006/relationships" xmlns:a="http://schemas.openxmlformats.org/drawingml/2006/main" r:embed="R829c43905b084d7f"/>
          <a:srcRect xmlns:a="http://schemas.openxmlformats.org/drawingml/2006/main" l="4375" t="20139" r="4375" b="9861"/>
          <a:stretch xmlns:a="http://schemas.openxmlformats.org/drawingml/2006/main"/>
        </p:blipFill>
        <p:spPr>
          <a:xfrm xmlns:a="http://schemas.openxmlformats.org/drawingml/2006/main">
            <a:off x="10868025" y="2295525"/>
            <a:ext cx="1009650" cy="762000"/>
          </a:xfrm>
          <a:prstGeom xmlns:a="http://schemas.openxmlformats.org/drawingml/2006/main" prst="rect">
            <a:avLst/>
          </a:prstGeom>
        </p:spPr>
      </p:pic>
      <p:sp>
        <p:nvSpPr>
          <p:cNvPr id="30" name="Dashboard">
            <a:extLst xmlns:a="http://schemas.openxmlformats.org/drawingml/2006/main">
              <a:ext uri="{FF2B5EF4-FFF2-40B4-BE49-F238E27FC236}">
                <a16:creationId xmlns:a16="http://schemas.microsoft.com/office/drawing/2014/main" id="{F8E863C7-13AF-4E37-8E83-010BDB5F9C2F}"/>
              </a:ext>
            </a:extLst>
          </p:cNvPr>
          <p:cNvSpPr>
            <a:spLocks xmlns:a="http://schemas.openxmlformats.org/drawingml/2006/main" noGrp="1"/>
          </p:cNvSpPr>
          <p:nvPr/>
        </p:nvSpPr>
        <p:spPr>
          <a:xfrm xmlns:a="http://schemas.openxmlformats.org/drawingml/2006/main">
            <a:off x="10706100" y="3257550"/>
            <a:ext cx="1362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111111"/>
                </a:solidFill>
                <a:latin typeface="Geist"/>
                <a:ea typeface="Geist"/>
                <a:cs typeface="Geist"/>
              </a:defRPr>
            </a:defPPr>
          </a:lstStyle>
          <a:p xmlns:a="http://schemas.openxmlformats.org/drawingml/2006/main">
            <a:pPr algn="ctr">
              <a:defRPr sz="1575" b="1">
                <a:solidFill>
                  <a:srgbClr val="111111"/>
                </a:solidFill>
                <a:latin typeface="Geist"/>
                <a:ea typeface="Geist"/>
                <a:cs typeface="Geist"/>
              </a:defRPr>
            </a:pPr>
            <a:r>
              <a:rPr sz="1575" b="1">
                <a:solidFill>
                  <a:srgbClr val="111111"/>
                </a:solidFill>
                <a:latin typeface="Geist"/>
                <a:ea typeface="Geist"/>
                <a:cs typeface="Geist"/>
              </a:rPr>
              <a:t>Dashboard</a:t>
            </a:r>
          </a:p>
        </p:txBody>
      </p:sp>
      <p:cxnSp>
        <p:nvCxnSpPr>
          <p:cNvPr id="31" name="Data flow">
            <a:extLst xmlns:a="http://schemas.openxmlformats.org/drawingml/2006/main">
              <a:ext uri="{FF2B5EF4-FFF2-40B4-BE49-F238E27FC236}">
                <a16:creationId xmlns:a16="http://schemas.microsoft.com/office/drawing/2014/main" id="{0D915B2D-3633-46A9-A90B-F216FE589A91}"/>
              </a:ext>
            </a:extLst>
          </p:cNvPr>
          <p:cNvCxnSpPr/>
          <p:nvPr/>
        </p:nvCxnSpPr>
        <p:spPr>
          <a:xfrm xmlns:a="http://schemas.openxmlformats.org/drawingml/2006/main">
            <a:off x="2114550" y="2524125"/>
            <a:ext cx="31432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32" name="Data flow">
            <a:extLst xmlns:a="http://schemas.openxmlformats.org/drawingml/2006/main">
              <a:ext uri="{FF2B5EF4-FFF2-40B4-BE49-F238E27FC236}">
                <a16:creationId xmlns:a16="http://schemas.microsoft.com/office/drawing/2014/main" id="{A75F9D54-787B-4560-8DC4-334AA141F97D}"/>
              </a:ext>
            </a:extLst>
          </p:cNvPr>
          <p:cNvCxnSpPr/>
          <p:nvPr/>
        </p:nvCxnSpPr>
        <p:spPr>
          <a:xfrm xmlns:a="http://schemas.openxmlformats.org/drawingml/2006/main">
            <a:off x="3695700" y="2524125"/>
            <a:ext cx="5257800"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sp>
        <p:nvSpPr>
          <p:cNvPr id="33" name="Daily prices">
            <a:extLst xmlns:a="http://schemas.openxmlformats.org/drawingml/2006/main">
              <a:ext uri="{FF2B5EF4-FFF2-40B4-BE49-F238E27FC236}">
                <a16:creationId xmlns:a16="http://schemas.microsoft.com/office/drawing/2014/main" id="{4CBA5A88-2816-48BB-BA9A-B6B860E8342F}"/>
              </a:ext>
            </a:extLst>
          </p:cNvPr>
          <p:cNvSpPr>
            <a:spLocks xmlns:a="http://schemas.openxmlformats.org/drawingml/2006/main" noGrp="1"/>
          </p:cNvSpPr>
          <p:nvPr/>
        </p:nvSpPr>
        <p:spPr>
          <a:xfrm xmlns:a="http://schemas.openxmlformats.org/drawingml/2006/main">
            <a:off x="5762625" y="2171700"/>
            <a:ext cx="2286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Daily prices</a:t>
            </a:r>
          </a:p>
        </p:txBody>
      </p:sp>
      <p:cxnSp>
        <p:nvCxnSpPr>
          <p:cNvPr id="34" name="Data flow">
            <a:extLst xmlns:a="http://schemas.openxmlformats.org/drawingml/2006/main">
              <a:ext uri="{FF2B5EF4-FFF2-40B4-BE49-F238E27FC236}">
                <a16:creationId xmlns:a16="http://schemas.microsoft.com/office/drawing/2014/main" id="{FACA4FE6-D3CC-4E8D-B795-7F6363185CDF}"/>
              </a:ext>
            </a:extLst>
          </p:cNvPr>
          <p:cNvCxnSpPr/>
          <p:nvPr/>
        </p:nvCxnSpPr>
        <p:spPr>
          <a:xfrm xmlns:a="http://schemas.openxmlformats.org/drawingml/2006/main">
            <a:off x="2457450" y="4371975"/>
            <a:ext cx="9525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35" name="Data flow">
            <a:extLst xmlns:a="http://schemas.openxmlformats.org/drawingml/2006/main">
              <a:ext uri="{FF2B5EF4-FFF2-40B4-BE49-F238E27FC236}">
                <a16:creationId xmlns:a16="http://schemas.microsoft.com/office/drawing/2014/main" id="{AD4CEA81-D972-4475-A7DB-2A698861AF3B}"/>
              </a:ext>
            </a:extLst>
          </p:cNvPr>
          <p:cNvCxnSpPr/>
          <p:nvPr/>
        </p:nvCxnSpPr>
        <p:spPr>
          <a:xfrm xmlns:a="http://schemas.openxmlformats.org/drawingml/2006/main">
            <a:off x="2457450" y="5105400"/>
            <a:ext cx="9525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36" name="Data flow">
            <a:extLst xmlns:a="http://schemas.openxmlformats.org/drawingml/2006/main">
              <a:ext uri="{FF2B5EF4-FFF2-40B4-BE49-F238E27FC236}">
                <a16:creationId xmlns:a16="http://schemas.microsoft.com/office/drawing/2014/main" id="{40D2A15C-8D9D-4C75-8919-D9317E6B9BB3}"/>
              </a:ext>
            </a:extLst>
          </p:cNvPr>
          <p:cNvCxnSpPr/>
          <p:nvPr/>
        </p:nvCxnSpPr>
        <p:spPr>
          <a:xfrm xmlns:a="http://schemas.openxmlformats.org/drawingml/2006/main">
            <a:off x="2552700" y="4371975"/>
            <a:ext cx="0" cy="733425"/>
          </a:xfrm>
          <a:prstGeom xmlns:a="http://schemas.openxmlformats.org/drawingml/2006/main" prst="straightConnector1">
            <a:avLst/>
          </a:prstGeom>
          <a:ln xmlns:a="http://schemas.openxmlformats.org/drawingml/2006/main" w="17145">
            <a:solidFill>
              <a:srgbClr val="555555"/>
            </a:solidFill>
            <a:prstDash val="solid"/>
          </a:ln>
        </p:spPr>
      </p:cxnSp>
      <p:cxnSp>
        <p:nvCxnSpPr>
          <p:cNvPr id="37" name="Data flow">
            <a:extLst xmlns:a="http://schemas.openxmlformats.org/drawingml/2006/main">
              <a:ext uri="{FF2B5EF4-FFF2-40B4-BE49-F238E27FC236}">
                <a16:creationId xmlns:a16="http://schemas.microsoft.com/office/drawing/2014/main" id="{6CCB7DDB-9C6B-48C4-9520-AD986AED5E6C}"/>
              </a:ext>
            </a:extLst>
          </p:cNvPr>
          <p:cNvCxnSpPr/>
          <p:nvPr/>
        </p:nvCxnSpPr>
        <p:spPr>
          <a:xfrm xmlns:a="http://schemas.openxmlformats.org/drawingml/2006/main">
            <a:off x="2552700" y="4752975"/>
            <a:ext cx="114300"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38" name="Data flow">
            <a:extLst xmlns:a="http://schemas.openxmlformats.org/drawingml/2006/main">
              <a:ext uri="{FF2B5EF4-FFF2-40B4-BE49-F238E27FC236}">
                <a16:creationId xmlns:a16="http://schemas.microsoft.com/office/drawing/2014/main" id="{60D8BA9B-0220-4F29-9251-E0E4876D4B8A}"/>
              </a:ext>
            </a:extLst>
          </p:cNvPr>
          <p:cNvCxnSpPr/>
          <p:nvPr/>
        </p:nvCxnSpPr>
        <p:spPr>
          <a:xfrm xmlns:a="http://schemas.openxmlformats.org/drawingml/2006/main">
            <a:off x="3476625" y="4819650"/>
            <a:ext cx="42862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39" name="Data flow">
            <a:extLst xmlns:a="http://schemas.openxmlformats.org/drawingml/2006/main">
              <a:ext uri="{FF2B5EF4-FFF2-40B4-BE49-F238E27FC236}">
                <a16:creationId xmlns:a16="http://schemas.microsoft.com/office/drawing/2014/main" id="{78BB46CC-B34C-4A32-A5F3-FA7F84886FC4}"/>
              </a:ext>
            </a:extLst>
          </p:cNvPr>
          <p:cNvCxnSpPr/>
          <p:nvPr/>
        </p:nvCxnSpPr>
        <p:spPr>
          <a:xfrm xmlns:a="http://schemas.openxmlformats.org/drawingml/2006/main">
            <a:off x="5381625" y="4819650"/>
            <a:ext cx="571500"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40" name="Data flow">
            <a:extLst xmlns:a="http://schemas.openxmlformats.org/drawingml/2006/main">
              <a:ext uri="{FF2B5EF4-FFF2-40B4-BE49-F238E27FC236}">
                <a16:creationId xmlns:a16="http://schemas.microsoft.com/office/drawing/2014/main" id="{978EF3B6-C650-49B6-9842-B47AA5AE8B1F}"/>
              </a:ext>
            </a:extLst>
          </p:cNvPr>
          <p:cNvCxnSpPr/>
          <p:nvPr/>
        </p:nvCxnSpPr>
        <p:spPr>
          <a:xfrm xmlns:a="http://schemas.openxmlformats.org/drawingml/2006/main">
            <a:off x="8686800" y="3171825"/>
            <a:ext cx="26670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41" name="Data flow">
            <a:extLst xmlns:a="http://schemas.openxmlformats.org/drawingml/2006/main">
              <a:ext uri="{FF2B5EF4-FFF2-40B4-BE49-F238E27FC236}">
                <a16:creationId xmlns:a16="http://schemas.microsoft.com/office/drawing/2014/main" id="{AC8AB621-1936-4572-A48B-192EBC80C38B}"/>
              </a:ext>
            </a:extLst>
          </p:cNvPr>
          <p:cNvCxnSpPr/>
          <p:nvPr/>
        </p:nvCxnSpPr>
        <p:spPr>
          <a:xfrm xmlns:a="http://schemas.openxmlformats.org/drawingml/2006/main">
            <a:off x="8686800" y="3171825"/>
            <a:ext cx="0" cy="552450"/>
          </a:xfrm>
          <a:prstGeom xmlns:a="http://schemas.openxmlformats.org/drawingml/2006/main" prst="straightConnector1">
            <a:avLst/>
          </a:prstGeom>
          <a:ln xmlns:a="http://schemas.openxmlformats.org/drawingml/2006/main" w="17145">
            <a:solidFill>
              <a:srgbClr val="555555"/>
            </a:solidFill>
            <a:prstDash val="solid"/>
          </a:ln>
        </p:spPr>
      </p:cxnSp>
      <p:cxnSp>
        <p:nvCxnSpPr>
          <p:cNvPr id="42" name="Data flow">
            <a:extLst xmlns:a="http://schemas.openxmlformats.org/drawingml/2006/main">
              <a:ext uri="{FF2B5EF4-FFF2-40B4-BE49-F238E27FC236}">
                <a16:creationId xmlns:a16="http://schemas.microsoft.com/office/drawing/2014/main" id="{9C6F2F9A-1DD5-4941-8CF2-1999167F463C}"/>
              </a:ext>
            </a:extLst>
          </p:cNvPr>
          <p:cNvCxnSpPr/>
          <p:nvPr/>
        </p:nvCxnSpPr>
        <p:spPr>
          <a:xfrm xmlns:a="http://schemas.openxmlformats.org/drawingml/2006/main">
            <a:off x="6638925" y="3724275"/>
            <a:ext cx="2047875"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43" name="Data flow">
            <a:extLst xmlns:a="http://schemas.openxmlformats.org/drawingml/2006/main">
              <a:ext uri="{FF2B5EF4-FFF2-40B4-BE49-F238E27FC236}">
                <a16:creationId xmlns:a16="http://schemas.microsoft.com/office/drawing/2014/main" id="{993310BE-E3F8-4818-9FB3-83AFF02713B5}"/>
              </a:ext>
            </a:extLst>
          </p:cNvPr>
          <p:cNvCxnSpPr/>
          <p:nvPr/>
        </p:nvCxnSpPr>
        <p:spPr>
          <a:xfrm xmlns:a="http://schemas.openxmlformats.org/drawingml/2006/main">
            <a:off x="6638925" y="3724275"/>
            <a:ext cx="0" cy="371475"/>
          </a:xfrm>
          <a:prstGeom xmlns:a="http://schemas.openxmlformats.org/drawingml/2006/main" prst="straightConnector1">
            <a:avLst/>
          </a:prstGeom>
          <a:ln xmlns:a="http://schemas.openxmlformats.org/drawingml/2006/main" w="17145">
            <a:solidFill>
              <a:srgbClr val="555555"/>
            </a:solidFill>
            <a:prstDash val="solid"/>
            <a:tailEnd type="arrow" w="sm" len="sm"/>
          </a:ln>
        </p:spPr>
      </p:cxnSp>
      <p:sp>
        <p:nvSpPr>
          <p:cNvPr id="44" name="Price history">
            <a:extLst xmlns:a="http://schemas.openxmlformats.org/drawingml/2006/main">
              <a:ext uri="{FF2B5EF4-FFF2-40B4-BE49-F238E27FC236}">
                <a16:creationId xmlns:a16="http://schemas.microsoft.com/office/drawing/2014/main" id="{30D9595F-4CA9-45D5-AAF4-6D1C02A10998}"/>
              </a:ext>
            </a:extLst>
          </p:cNvPr>
          <p:cNvSpPr>
            <a:spLocks xmlns:a="http://schemas.openxmlformats.org/drawingml/2006/main" noGrp="1"/>
          </p:cNvSpPr>
          <p:nvPr/>
        </p:nvSpPr>
        <p:spPr>
          <a:xfrm xmlns:a="http://schemas.openxmlformats.org/drawingml/2006/main">
            <a:off x="6953250" y="3400425"/>
            <a:ext cx="1657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5555"/>
                </a:solidFill>
                <a:latin typeface="Geist"/>
                <a:ea typeface="Geist"/>
                <a:cs typeface="Geist"/>
              </a:defRPr>
            </a:defPPr>
          </a:lstStyle>
          <a:p xmlns:a="http://schemas.openxmlformats.org/drawingml/2006/main">
            <a:pPr algn="l">
              <a:defRPr sz="1575" b="0">
                <a:solidFill>
                  <a:srgbClr val="555555"/>
                </a:solidFill>
                <a:latin typeface="Geist"/>
                <a:ea typeface="Geist"/>
                <a:cs typeface="Geist"/>
              </a:defRPr>
            </a:pPr>
            <a:r>
              <a:rPr sz="1575" b="0">
                <a:solidFill>
                  <a:srgbClr val="555555"/>
                </a:solidFill>
                <a:latin typeface="Geist"/>
                <a:ea typeface="Geist"/>
                <a:cs typeface="Geist"/>
              </a:rPr>
              <a:t>Price history</a:t>
            </a:r>
          </a:p>
        </p:txBody>
      </p:sp>
      <p:cxnSp>
        <p:nvCxnSpPr>
          <p:cNvPr id="45" name="Data flow">
            <a:extLst xmlns:a="http://schemas.openxmlformats.org/drawingml/2006/main">
              <a:ext uri="{FF2B5EF4-FFF2-40B4-BE49-F238E27FC236}">
                <a16:creationId xmlns:a16="http://schemas.microsoft.com/office/drawing/2014/main" id="{7AEBF023-1712-4FCA-95F6-C5359D54D532}"/>
              </a:ext>
            </a:extLst>
          </p:cNvPr>
          <p:cNvCxnSpPr/>
          <p:nvPr/>
        </p:nvCxnSpPr>
        <p:spPr>
          <a:xfrm xmlns:a="http://schemas.openxmlformats.org/drawingml/2006/main">
            <a:off x="7334250" y="4562475"/>
            <a:ext cx="33337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46" name="Data flow">
            <a:extLst xmlns:a="http://schemas.openxmlformats.org/drawingml/2006/main">
              <a:ext uri="{FF2B5EF4-FFF2-40B4-BE49-F238E27FC236}">
                <a16:creationId xmlns:a16="http://schemas.microsoft.com/office/drawing/2014/main" id="{94C8635C-6080-4EC4-9055-6B03993D4584}"/>
              </a:ext>
            </a:extLst>
          </p:cNvPr>
          <p:cNvCxnSpPr/>
          <p:nvPr/>
        </p:nvCxnSpPr>
        <p:spPr>
          <a:xfrm xmlns:a="http://schemas.openxmlformats.org/drawingml/2006/main">
            <a:off x="9191625" y="4552950"/>
            <a:ext cx="561975" cy="0"/>
          </a:xfrm>
          <a:prstGeom xmlns:a="http://schemas.openxmlformats.org/drawingml/2006/main" prst="straightConnector1">
            <a:avLst/>
          </a:prstGeom>
          <a:ln xmlns:a="http://schemas.openxmlformats.org/drawingml/2006/main" w="20955">
            <a:solidFill>
              <a:srgbClr val="A61955"/>
            </a:solidFill>
            <a:prstDash val="solid"/>
          </a:ln>
        </p:spPr>
      </p:cxnSp>
      <p:cxnSp>
        <p:nvCxnSpPr>
          <p:cNvPr id="47" name="Data flow">
            <a:extLst xmlns:a="http://schemas.openxmlformats.org/drawingml/2006/main">
              <a:ext uri="{FF2B5EF4-FFF2-40B4-BE49-F238E27FC236}">
                <a16:creationId xmlns:a16="http://schemas.microsoft.com/office/drawing/2014/main" id="{99E4E35B-FCAE-4009-87EB-00CBC3875F9B}"/>
              </a:ext>
            </a:extLst>
          </p:cNvPr>
          <p:cNvCxnSpPr/>
          <p:nvPr/>
        </p:nvCxnSpPr>
        <p:spPr>
          <a:xfrm xmlns:a="http://schemas.openxmlformats.org/drawingml/2006/main">
            <a:off x="9753600" y="3590925"/>
            <a:ext cx="0" cy="962025"/>
          </a:xfrm>
          <a:prstGeom xmlns:a="http://schemas.openxmlformats.org/drawingml/2006/main" prst="straightConnector1">
            <a:avLst/>
          </a:prstGeom>
          <a:ln xmlns:a="http://schemas.openxmlformats.org/drawingml/2006/main" w="20955">
            <a:solidFill>
              <a:srgbClr val="A61955"/>
            </a:solidFill>
            <a:prstDash val="solid"/>
            <a:headEnd type="arrow" w="sm" len="sm"/>
          </a:ln>
        </p:spPr>
      </p:cxnSp>
      <p:sp>
        <p:nvSpPr>
          <p:cNvPr id="48" name="Result">
            <a:extLst xmlns:a="http://schemas.openxmlformats.org/drawingml/2006/main">
              <a:ext uri="{FF2B5EF4-FFF2-40B4-BE49-F238E27FC236}">
                <a16:creationId xmlns:a16="http://schemas.microsoft.com/office/drawing/2014/main" id="{EFC53601-6B22-48A5-8206-7E0AC4CDF323}"/>
              </a:ext>
            </a:extLst>
          </p:cNvPr>
          <p:cNvSpPr>
            <a:spLocks xmlns:a="http://schemas.openxmlformats.org/drawingml/2006/main" noGrp="1"/>
          </p:cNvSpPr>
          <p:nvPr/>
        </p:nvSpPr>
        <p:spPr>
          <a:xfrm xmlns:a="http://schemas.openxmlformats.org/drawingml/2006/main">
            <a:off x="9906000" y="4162425"/>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61955"/>
                </a:solidFill>
                <a:latin typeface="Geist"/>
                <a:ea typeface="Geist"/>
                <a:cs typeface="Geist"/>
              </a:defRPr>
            </a:defPPr>
          </a:lstStyle>
          <a:p xmlns:a="http://schemas.openxmlformats.org/drawingml/2006/main">
            <a:pPr algn="l">
              <a:defRPr sz="1500" b="0">
                <a:solidFill>
                  <a:srgbClr val="A61955"/>
                </a:solidFill>
                <a:latin typeface="Geist"/>
                <a:ea typeface="Geist"/>
                <a:cs typeface="Geist"/>
              </a:defRPr>
            </a:pPr>
            <a:r>
              <a:rPr sz="1500" b="0">
                <a:solidFill>
                  <a:srgbClr val="A61955"/>
                </a:solidFill>
                <a:latin typeface="Geist"/>
                <a:ea typeface="Geist"/>
                <a:cs typeface="Geist"/>
              </a:rPr>
              <a:t>Result</a:t>
            </a:r>
          </a:p>
        </p:txBody>
      </p:sp>
      <p:cxnSp>
        <p:nvCxnSpPr>
          <p:cNvPr id="49" name="Data flow">
            <a:extLst xmlns:a="http://schemas.openxmlformats.org/drawingml/2006/main">
              <a:ext uri="{FF2B5EF4-FFF2-40B4-BE49-F238E27FC236}">
                <a16:creationId xmlns:a16="http://schemas.microsoft.com/office/drawing/2014/main" id="{4ADACF4D-CF70-406A-96F8-62DACDFCE94B}"/>
              </a:ext>
            </a:extLst>
          </p:cNvPr>
          <p:cNvCxnSpPr/>
          <p:nvPr/>
        </p:nvCxnSpPr>
        <p:spPr>
          <a:xfrm xmlns:a="http://schemas.openxmlformats.org/drawingml/2006/main">
            <a:off x="10525125" y="2695575"/>
            <a:ext cx="31432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sp>
        <p:nvSpPr>
          <p:cNvPr id="50" name="Outcome comparison">
            <a:extLst xmlns:a="http://schemas.openxmlformats.org/drawingml/2006/main">
              <a:ext uri="{FF2B5EF4-FFF2-40B4-BE49-F238E27FC236}">
                <a16:creationId xmlns:a16="http://schemas.microsoft.com/office/drawing/2014/main" id="{546EAA49-BD64-44F9-B5A1-0EDEFCF2350D}"/>
              </a:ext>
            </a:extLst>
          </p:cNvPr>
          <p:cNvSpPr>
            <a:spLocks xmlns:a="http://schemas.openxmlformats.org/drawingml/2006/main" noGrp="1"/>
          </p:cNvSpPr>
          <p:nvPr/>
        </p:nvSpPr>
        <p:spPr>
          <a:xfrm xmlns:a="http://schemas.openxmlformats.org/drawingml/2006/main">
            <a:off x="7915275" y="5686425"/>
            <a:ext cx="2076450" cy="466725"/>
          </a:xfrm>
          <a:prstGeom xmlns:a="http://schemas.openxmlformats.org/drawingml/2006/main" prst="roundRect">
            <a:avLst>
              <a:gd name="adj" fmla="val 12245"/>
            </a:avLst>
          </a:prstGeom>
          <a:noFill xmlns:a="http://schemas.openxmlformats.org/drawingml/2006/main"/>
          <a:ln xmlns:a="http://schemas.openxmlformats.org/drawingml/2006/main" w="12859">
            <a:solidFill>
              <a:srgbClr val="D5D5D5"/>
            </a:solidFill>
          </a:ln>
        </p:spPr>
      </p:sp>
      <p:sp>
        <p:nvSpPr>
          <p:cNvPr id="51" name="Score outcomes">
            <a:extLst xmlns:a="http://schemas.openxmlformats.org/drawingml/2006/main">
              <a:ext uri="{FF2B5EF4-FFF2-40B4-BE49-F238E27FC236}">
                <a16:creationId xmlns:a16="http://schemas.microsoft.com/office/drawing/2014/main" id="{FF9F6014-317F-46FE-80FD-E5232A898F8E}"/>
              </a:ext>
            </a:extLst>
          </p:cNvPr>
          <p:cNvSpPr>
            <a:spLocks xmlns:a="http://schemas.openxmlformats.org/drawingml/2006/main" noGrp="1"/>
          </p:cNvSpPr>
          <p:nvPr/>
        </p:nvSpPr>
        <p:spPr>
          <a:xfrm xmlns:a="http://schemas.openxmlformats.org/drawingml/2006/main">
            <a:off x="8010525" y="581025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11111"/>
                </a:solidFill>
                <a:latin typeface="Geist"/>
                <a:ea typeface="Geist"/>
                <a:cs typeface="Geist"/>
              </a:defRPr>
            </a:defPPr>
          </a:lstStyle>
          <a:p xmlns:a="http://schemas.openxmlformats.org/drawingml/2006/main">
            <a:pPr algn="ctr">
              <a:defRPr sz="1500" b="1">
                <a:solidFill>
                  <a:srgbClr val="111111"/>
                </a:solidFill>
                <a:latin typeface="Geist"/>
                <a:ea typeface="Geist"/>
                <a:cs typeface="Geist"/>
              </a:defRPr>
            </a:pPr>
            <a:r>
              <a:rPr sz="1500" b="1">
                <a:solidFill>
                  <a:srgbClr val="111111"/>
                </a:solidFill>
                <a:latin typeface="Geist"/>
                <a:ea typeface="Geist"/>
                <a:cs typeface="Geist"/>
              </a:rPr>
              <a:t>Score outcomes</a:t>
            </a:r>
          </a:p>
        </p:txBody>
      </p:sp>
      <p:cxnSp>
        <p:nvCxnSpPr>
          <p:cNvPr id="52" name="Data flow">
            <a:extLst xmlns:a="http://schemas.openxmlformats.org/drawingml/2006/main">
              <a:ext uri="{FF2B5EF4-FFF2-40B4-BE49-F238E27FC236}">
                <a16:creationId xmlns:a16="http://schemas.microsoft.com/office/drawing/2014/main" id="{F9708843-CB18-4AEE-BC8E-5BC8BA93CC3D}"/>
              </a:ext>
            </a:extLst>
          </p:cNvPr>
          <p:cNvCxnSpPr/>
          <p:nvPr/>
        </p:nvCxnSpPr>
        <p:spPr>
          <a:xfrm xmlns:a="http://schemas.openxmlformats.org/drawingml/2006/main">
            <a:off x="10525125" y="3333750"/>
            <a:ext cx="13335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53" name="Data flow">
            <a:extLst xmlns:a="http://schemas.openxmlformats.org/drawingml/2006/main">
              <a:ext uri="{FF2B5EF4-FFF2-40B4-BE49-F238E27FC236}">
                <a16:creationId xmlns:a16="http://schemas.microsoft.com/office/drawing/2014/main" id="{0BD3CD21-BB45-4BDB-BB6C-E65B38BC13D2}"/>
              </a:ext>
            </a:extLst>
          </p:cNvPr>
          <p:cNvCxnSpPr/>
          <p:nvPr/>
        </p:nvCxnSpPr>
        <p:spPr>
          <a:xfrm xmlns:a="http://schemas.openxmlformats.org/drawingml/2006/main">
            <a:off x="10658475" y="3333750"/>
            <a:ext cx="0" cy="2581275"/>
          </a:xfrm>
          <a:prstGeom xmlns:a="http://schemas.openxmlformats.org/drawingml/2006/main" prst="straightConnector1">
            <a:avLst/>
          </a:prstGeom>
          <a:ln xmlns:a="http://schemas.openxmlformats.org/drawingml/2006/main" w="17145">
            <a:solidFill>
              <a:srgbClr val="555555"/>
            </a:solidFill>
            <a:prstDash val="solid"/>
          </a:ln>
        </p:spPr>
      </p:cxnSp>
      <p:cxnSp>
        <p:nvCxnSpPr>
          <p:cNvPr id="54" name="Data flow">
            <a:extLst xmlns:a="http://schemas.openxmlformats.org/drawingml/2006/main">
              <a:ext uri="{FF2B5EF4-FFF2-40B4-BE49-F238E27FC236}">
                <a16:creationId xmlns:a16="http://schemas.microsoft.com/office/drawing/2014/main" id="{F15010B2-399F-4BE8-88DB-FF5D8D8AF40C}"/>
              </a:ext>
            </a:extLst>
          </p:cNvPr>
          <p:cNvCxnSpPr/>
          <p:nvPr/>
        </p:nvCxnSpPr>
        <p:spPr>
          <a:xfrm xmlns:a="http://schemas.openxmlformats.org/drawingml/2006/main">
            <a:off x="9991725" y="5915025"/>
            <a:ext cx="666750" cy="0"/>
          </a:xfrm>
          <a:prstGeom xmlns:a="http://schemas.openxmlformats.org/drawingml/2006/main" prst="straightConnector1">
            <a:avLst/>
          </a:prstGeom>
          <a:ln xmlns:a="http://schemas.openxmlformats.org/drawingml/2006/main" w="17145">
            <a:solidFill>
              <a:srgbClr val="555555"/>
            </a:solidFill>
            <a:prstDash val="solid"/>
            <a:headEnd type="arrow" w="sm" len="sm"/>
          </a:ln>
        </p:spPr>
      </p:cxnSp>
      <p:sp>
        <p:nvSpPr>
          <p:cNvPr id="55" name="Next close">
            <a:extLst xmlns:a="http://schemas.openxmlformats.org/drawingml/2006/main">
              <a:ext uri="{FF2B5EF4-FFF2-40B4-BE49-F238E27FC236}">
                <a16:creationId xmlns:a16="http://schemas.microsoft.com/office/drawing/2014/main" id="{3F4079A5-9734-45F3-8A63-3904BE6EB6BB}"/>
              </a:ext>
            </a:extLst>
          </p:cNvPr>
          <p:cNvSpPr>
            <a:spLocks xmlns:a="http://schemas.openxmlformats.org/drawingml/2006/main" noGrp="1"/>
          </p:cNvSpPr>
          <p:nvPr/>
        </p:nvSpPr>
        <p:spPr>
          <a:xfrm xmlns:a="http://schemas.openxmlformats.org/drawingml/2006/main">
            <a:off x="10763250" y="5267325"/>
            <a:ext cx="1181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55555"/>
                </a:solidFill>
                <a:latin typeface="Geist"/>
                <a:ea typeface="Geist"/>
                <a:cs typeface="Geist"/>
              </a:defRPr>
            </a:defPPr>
          </a:lstStyle>
          <a:p xmlns:a="http://schemas.openxmlformats.org/drawingml/2006/main">
            <a:pPr algn="l">
              <a:defRPr sz="1350" b="0">
                <a:solidFill>
                  <a:srgbClr val="555555"/>
                </a:solidFill>
                <a:latin typeface="Geist"/>
                <a:ea typeface="Geist"/>
                <a:cs typeface="Geist"/>
              </a:defRPr>
            </a:pPr>
            <a:r>
              <a:rPr sz="1350" b="0">
                <a:solidFill>
                  <a:srgbClr val="555555"/>
                </a:solidFill>
                <a:latin typeface="Geist"/>
                <a:ea typeface="Geist"/>
                <a:cs typeface="Geist"/>
              </a:rPr>
              <a:t>Next close</a:t>
            </a:r>
          </a:p>
        </p:txBody>
      </p:sp>
      <p:cxnSp>
        <p:nvCxnSpPr>
          <p:cNvPr id="56" name="Review feedback">
            <a:extLst xmlns:a="http://schemas.openxmlformats.org/drawingml/2006/main">
              <a:ext uri="{FF2B5EF4-FFF2-40B4-BE49-F238E27FC236}">
                <a16:creationId xmlns:a16="http://schemas.microsoft.com/office/drawing/2014/main" id="{6FD2411B-AA5F-44AC-AA12-854A080870F5}"/>
              </a:ext>
            </a:extLst>
          </p:cNvPr>
          <p:cNvCxnSpPr/>
          <p:nvPr/>
        </p:nvCxnSpPr>
        <p:spPr>
          <a:xfrm xmlns:a="http://schemas.openxmlformats.org/drawingml/2006/main">
            <a:off x="6638925" y="5915025"/>
            <a:ext cx="1276350" cy="0"/>
          </a:xfrm>
          <a:prstGeom xmlns:a="http://schemas.openxmlformats.org/drawingml/2006/main" prst="straightConnector1">
            <a:avLst/>
          </a:prstGeom>
          <a:ln xmlns:a="http://schemas.openxmlformats.org/drawingml/2006/main" w="16193">
            <a:solidFill>
              <a:srgbClr val="A61955"/>
            </a:solidFill>
            <a:prstDash val="dash"/>
          </a:ln>
        </p:spPr>
      </p:cxnSp>
      <p:cxnSp>
        <p:nvCxnSpPr>
          <p:cNvPr id="57" name="Review feedback">
            <a:extLst xmlns:a="http://schemas.openxmlformats.org/drawingml/2006/main">
              <a:ext uri="{FF2B5EF4-FFF2-40B4-BE49-F238E27FC236}">
                <a16:creationId xmlns:a16="http://schemas.microsoft.com/office/drawing/2014/main" id="{0B92AB7C-CFDD-44C1-B37B-B482399FD8E3}"/>
              </a:ext>
            </a:extLst>
          </p:cNvPr>
          <p:cNvCxnSpPr/>
          <p:nvPr/>
        </p:nvCxnSpPr>
        <p:spPr>
          <a:xfrm xmlns:a="http://schemas.openxmlformats.org/drawingml/2006/main">
            <a:off x="6638925" y="5048250"/>
            <a:ext cx="0" cy="866775"/>
          </a:xfrm>
          <a:prstGeom xmlns:a="http://schemas.openxmlformats.org/drawingml/2006/main" prst="straightConnector1">
            <a:avLst/>
          </a:prstGeom>
          <a:ln xmlns:a="http://schemas.openxmlformats.org/drawingml/2006/main" w="16193">
            <a:solidFill>
              <a:srgbClr val="A61955"/>
            </a:solidFill>
            <a:prstDash val="dash"/>
            <a:headEnd type="arrow" w="sm" len="sm"/>
          </a:ln>
        </p:spPr>
      </p:cxnSp>
      <p:sp>
        <p:nvSpPr>
          <p:cNvPr id="58" name="Review inputs&#10;and prompt">
            <a:extLst xmlns:a="http://schemas.openxmlformats.org/drawingml/2006/main">
              <a:ext uri="{FF2B5EF4-FFF2-40B4-BE49-F238E27FC236}">
                <a16:creationId xmlns:a16="http://schemas.microsoft.com/office/drawing/2014/main" id="{5D4432A9-B3F3-48B0-99B9-4F62FF8E6530}"/>
              </a:ext>
            </a:extLst>
          </p:cNvPr>
          <p:cNvSpPr>
            <a:spLocks xmlns:a="http://schemas.openxmlformats.org/drawingml/2006/main" noGrp="1"/>
          </p:cNvSpPr>
          <p:nvPr/>
        </p:nvSpPr>
        <p:spPr>
          <a:xfrm xmlns:a="http://schemas.openxmlformats.org/drawingml/2006/main">
            <a:off x="4714875" y="5429250"/>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61955"/>
                </a:solidFill>
                <a:latin typeface="Geist"/>
                <a:ea typeface="Geist"/>
                <a:cs typeface="Geist"/>
              </a:defRPr>
            </a:defPPr>
          </a:lstStyle>
          <a:p xmlns:a="http://schemas.openxmlformats.org/drawingml/2006/main">
            <a:pPr algn="l">
              <a:defRPr sz="1500" b="0">
                <a:solidFill>
                  <a:srgbClr val="A61955"/>
                </a:solidFill>
                <a:latin typeface="Geist"/>
                <a:ea typeface="Geist"/>
                <a:cs typeface="Geist"/>
              </a:defRPr>
            </a:pPr>
            <a:r>
              <a:rPr sz="1500" b="0">
                <a:solidFill>
                  <a:srgbClr val="A61955"/>
                </a:solidFill>
                <a:latin typeface="Geist"/>
                <a:ea typeface="Geist"/>
                <a:cs typeface="Geist"/>
              </a:rPr>
              <a:t>Review inputs</a:t>
            </a:r>
          </a:p>
          <a:p xmlns:a="http://schemas.openxmlformats.org/drawingml/2006/main">
            <a:pPr algn="l">
              <a:defRPr sz="1500" b="0">
                <a:solidFill>
                  <a:srgbClr val="A61955"/>
                </a:solidFill>
                <a:latin typeface="Geist"/>
                <a:ea typeface="Geist"/>
                <a:cs typeface="Geist"/>
              </a:defRPr>
            </a:pPr>
            <a:r>
              <a:rPr sz="1500" b="0">
                <a:solidFill>
                  <a:srgbClr val="A61955"/>
                </a:solidFill>
                <a:latin typeface="Geist"/>
                <a:ea typeface="Geist"/>
                <a:cs typeface="Geist"/>
              </a:rPr>
              <a:t>and prompt</a:t>
            </a:r>
          </a:p>
        </p:txBody>
      </p:sp>
      <p:sp>
        <p:nvSpPr>
          <p:cNvPr id="59" name="Original CSV / JSON retained for replay.">
            <a:extLst xmlns:a="http://schemas.openxmlformats.org/drawingml/2006/main">
              <a:ext uri="{FF2B5EF4-FFF2-40B4-BE49-F238E27FC236}">
                <a16:creationId xmlns:a16="http://schemas.microsoft.com/office/drawing/2014/main" id="{E57A1E78-E5B6-43B9-9488-8A03D17E0CC1}"/>
              </a:ext>
            </a:extLst>
          </p:cNvPr>
          <p:cNvSpPr>
            <a:spLocks xmlns:a="http://schemas.openxmlformats.org/drawingml/2006/main" noGrp="1"/>
          </p:cNvSpPr>
          <p:nvPr/>
        </p:nvSpPr>
        <p:spPr>
          <a:xfrm xmlns:a="http://schemas.openxmlformats.org/drawingml/2006/main">
            <a:off x="685800" y="5734050"/>
            <a:ext cx="466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55555"/>
                </a:solidFill>
                <a:latin typeface="Geist"/>
                <a:ea typeface="Geist"/>
                <a:cs typeface="Geist"/>
              </a:defRPr>
            </a:defPPr>
          </a:lstStyle>
          <a:p xmlns:a="http://schemas.openxmlformats.org/drawingml/2006/main">
            <a:pPr algn="l">
              <a:defRPr sz="1350" b="0">
                <a:solidFill>
                  <a:srgbClr val="555555"/>
                </a:solidFill>
                <a:latin typeface="Geist"/>
                <a:ea typeface="Geist"/>
                <a:cs typeface="Geist"/>
              </a:defRPr>
            </a:pPr>
            <a:r>
              <a:rPr sz="1350" b="0">
                <a:solidFill>
                  <a:srgbClr val="555555"/>
                </a:solidFill>
                <a:latin typeface="Geist"/>
                <a:ea typeface="Geist"/>
                <a:cs typeface="Geist"/>
              </a:rPr>
              <a:t>Original CSV / JSON retained for replay.</a:t>
            </a:r>
          </a:p>
        </p:txBody>
      </p:sp>
      <p:sp>
        <p:nvSpPr>
          <p:cNvPr id="60" name="Dashed: team review for future versions. Post details read MongoDB. * ">
            <a:extLst xmlns:a="http://schemas.openxmlformats.org/drawingml/2006/main">
              <a:ext uri="{FF2B5EF4-FFF2-40B4-BE49-F238E27FC236}">
                <a16:creationId xmlns:a16="http://schemas.microsoft.com/office/drawing/2014/main" id="{C818117A-A506-44C5-929D-2BAD081C91E3}"/>
              </a:ext>
            </a:extLst>
          </p:cNvPr>
          <p:cNvSpPr>
            <a:spLocks xmlns:a="http://schemas.openxmlformats.org/drawingml/2006/main" noGrp="1"/>
          </p:cNvSpPr>
          <p:nvPr/>
        </p:nvSpPr>
        <p:spPr>
          <a:xfrm xmlns:a="http://schemas.openxmlformats.org/drawingml/2006/main">
            <a:off x="685800" y="6372225"/>
            <a:ext cx="10296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555555"/>
                </a:solidFill>
                <a:latin typeface="Geist"/>
                <a:ea typeface="Geist"/>
                <a:cs typeface="Geist"/>
              </a:defRPr>
            </a:defPPr>
          </a:lstStyle>
          <a:p xmlns:a="http://schemas.openxmlformats.org/drawingml/2006/main">
            <a:pPr algn="l">
              <a:defRPr sz="1088" b="0">
                <a:solidFill>
                  <a:srgbClr val="555555"/>
                </a:solidFill>
                <a:latin typeface="Geist"/>
                <a:ea typeface="Geist"/>
                <a:cs typeface="Geist"/>
              </a:defRPr>
            </a:pPr>
            <a:r>
              <a:rPr sz="1088" b="0">
                <a:solidFill>
                  <a:srgbClr val="555555"/>
                </a:solidFill>
                <a:latin typeface="Geist"/>
                <a:ea typeface="Geist"/>
                <a:cs typeface="Geist"/>
              </a:rPr>
              <a:t>Dashed: team review for future versions. Post details read MongoDB. * Reddit: conditional access.</a:t>
            </a:r>
          </a:p>
        </p:txBody>
      </p:sp>
    </p:spTree>
    <p:extLst>
      <p:ext uri="{BB962C8B-B14F-4D97-AF65-F5344CB8AC3E}">
        <p14:creationId xmlns:p14="http://schemas.microsoft.com/office/powerpoint/2010/main" val="2479460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Data preprocessing">
            <a:extLst xmlns:a="http://schemas.openxmlformats.org/drawingml/2006/main">
              <a:ext uri="{FF2B5EF4-FFF2-40B4-BE49-F238E27FC236}">
                <a16:creationId xmlns:a16="http://schemas.microsoft.com/office/drawing/2014/main" id="{C3E8E1DA-AD8B-48D4-809C-A665365B54E1}"/>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Data preprocessing</a:t>
            </a:r>
          </a:p>
        </p:txBody>
      </p:sp>
      <p:sp>
        <p:nvSpPr>
          <p:cNvPr id="2" name="06">
            <a:extLst xmlns:a="http://schemas.openxmlformats.org/drawingml/2006/main">
              <a:ext uri="{FF2B5EF4-FFF2-40B4-BE49-F238E27FC236}">
                <a16:creationId xmlns:a16="http://schemas.microsoft.com/office/drawing/2014/main" id="{D312FC47-2723-40C1-9467-F4DB659C7ADD}"/>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06</a:t>
            </a:r>
          </a:p>
        </p:txBody>
      </p:sp>
      <p:sp>
        <p:nvSpPr>
          <p:cNvPr id="3" name="Only information available when the forecast is issued">
            <a:extLst xmlns:a="http://schemas.openxmlformats.org/drawingml/2006/main">
              <a:ext uri="{FF2B5EF4-FFF2-40B4-BE49-F238E27FC236}">
                <a16:creationId xmlns:a16="http://schemas.microsoft.com/office/drawing/2014/main" id="{007D07AD-ADEB-4B06-BE43-23AF6FCEBBD5}"/>
              </a:ext>
            </a:extLst>
          </p:cNvPr>
          <p:cNvSpPr>
            <a:spLocks xmlns:a="http://schemas.openxmlformats.org/drawingml/2006/main" noGrp="1"/>
          </p:cNvSpPr>
          <p:nvPr/>
        </p:nvSpPr>
        <p:spPr>
          <a:xfrm xmlns:a="http://schemas.openxmlformats.org/drawingml/2006/main">
            <a:off x="695325" y="12382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55555"/>
                </a:solidFill>
                <a:latin typeface="Geist"/>
                <a:ea typeface="Geist"/>
                <a:cs typeface="Geist"/>
              </a:defRPr>
            </a:defPPr>
          </a:lstStyle>
          <a:p xmlns:a="http://schemas.openxmlformats.org/drawingml/2006/main">
            <a:pPr algn="l">
              <a:defRPr sz="2175" b="0">
                <a:solidFill>
                  <a:srgbClr val="555555"/>
                </a:solidFill>
                <a:latin typeface="Geist"/>
                <a:ea typeface="Geist"/>
                <a:cs typeface="Geist"/>
              </a:defRPr>
            </a:pPr>
            <a:r>
              <a:rPr sz="2175" b="0">
                <a:solidFill>
                  <a:srgbClr val="555555"/>
                </a:solidFill>
                <a:latin typeface="Geist"/>
                <a:ea typeface="Geist"/>
                <a:cs typeface="Geist"/>
              </a:rPr>
              <a:t>Only information available when the forecast is issued</a:t>
            </a:r>
          </a:p>
        </p:txBody>
      </p:sp>
      <p:cxnSp>
        <p:nvCxnSpPr>
          <p:cNvPr id="4" name="Data flow">
            <a:extLst xmlns:a="http://schemas.openxmlformats.org/drawingml/2006/main">
              <a:ext uri="{FF2B5EF4-FFF2-40B4-BE49-F238E27FC236}">
                <a16:creationId xmlns:a16="http://schemas.microsoft.com/office/drawing/2014/main" id="{BE30A4A8-032D-416F-95B0-B561DC0AEFAB}"/>
              </a:ext>
            </a:extLst>
          </p:cNvPr>
          <p:cNvCxnSpPr/>
          <p:nvPr/>
        </p:nvCxnSpPr>
        <p:spPr>
          <a:xfrm xmlns:a="http://schemas.openxmlformats.org/drawingml/2006/main">
            <a:off x="685800" y="2266950"/>
            <a:ext cx="3209925" cy="0"/>
          </a:xfrm>
          <a:prstGeom xmlns:a="http://schemas.openxmlformats.org/drawingml/2006/main" prst="straightConnector1">
            <a:avLst/>
          </a:prstGeom>
          <a:ln xmlns:a="http://schemas.openxmlformats.org/drawingml/2006/main" w="9525">
            <a:solidFill>
              <a:srgbClr val="D5D5D5"/>
            </a:solidFill>
            <a:prstDash val="solid"/>
          </a:ln>
        </p:spPr>
      </p:cxnSp>
      <p:sp>
        <p:nvSpPr>
          <p:cNvPr id="5" name="Price features">
            <a:extLst xmlns:a="http://schemas.openxmlformats.org/drawingml/2006/main">
              <a:ext uri="{FF2B5EF4-FFF2-40B4-BE49-F238E27FC236}">
                <a16:creationId xmlns:a16="http://schemas.microsoft.com/office/drawing/2014/main" id="{E0A3CB64-80DE-45C4-9C8F-C285419681A6}"/>
              </a:ext>
            </a:extLst>
          </p:cNvPr>
          <p:cNvSpPr>
            <a:spLocks xmlns:a="http://schemas.openxmlformats.org/drawingml/2006/main" noGrp="1"/>
          </p:cNvSpPr>
          <p:nvPr/>
        </p:nvSpPr>
        <p:spPr>
          <a:xfrm xmlns:a="http://schemas.openxmlformats.org/drawingml/2006/main">
            <a:off x="685800" y="2505075"/>
            <a:ext cx="3209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Price features</a:t>
            </a:r>
          </a:p>
        </p:txBody>
      </p:sp>
      <p:sp>
        <p:nvSpPr>
          <p:cNvPr id="6" name="31 daily closes&#10;Returns and volatility&#10;Volume changes">
            <a:extLst xmlns:a="http://schemas.openxmlformats.org/drawingml/2006/main">
              <a:ext uri="{FF2B5EF4-FFF2-40B4-BE49-F238E27FC236}">
                <a16:creationId xmlns:a16="http://schemas.microsoft.com/office/drawing/2014/main" id="{553F99BD-94C6-48DC-B5B5-CE58E7758AAE}"/>
              </a:ext>
            </a:extLst>
          </p:cNvPr>
          <p:cNvSpPr>
            <a:spLocks xmlns:a="http://schemas.openxmlformats.org/drawingml/2006/main" noGrp="1"/>
          </p:cNvSpPr>
          <p:nvPr/>
        </p:nvSpPr>
        <p:spPr>
          <a:xfrm xmlns:a="http://schemas.openxmlformats.org/drawingml/2006/main">
            <a:off x="685800" y="3105150"/>
            <a:ext cx="32099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a:ea typeface="Geist"/>
                <a:cs typeface="Geist"/>
              </a:defRPr>
            </a:defPPr>
          </a:lstStyle>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31 daily closes</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Returns and volatility</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Volume changes</a:t>
            </a:r>
          </a:p>
        </p:txBody>
      </p:sp>
      <p:cxnSp>
        <p:nvCxnSpPr>
          <p:cNvPr id="7" name="Data flow">
            <a:extLst xmlns:a="http://schemas.openxmlformats.org/drawingml/2006/main">
              <a:ext uri="{FF2B5EF4-FFF2-40B4-BE49-F238E27FC236}">
                <a16:creationId xmlns:a16="http://schemas.microsoft.com/office/drawing/2014/main" id="{166B95DB-38CB-41EC-9B44-4AB309E1FAD2}"/>
              </a:ext>
            </a:extLst>
          </p:cNvPr>
          <p:cNvCxnSpPr/>
          <p:nvPr/>
        </p:nvCxnSpPr>
        <p:spPr>
          <a:xfrm xmlns:a="http://schemas.openxmlformats.org/drawingml/2006/main">
            <a:off x="4486275" y="2266950"/>
            <a:ext cx="3209925" cy="0"/>
          </a:xfrm>
          <a:prstGeom xmlns:a="http://schemas.openxmlformats.org/drawingml/2006/main" prst="straightConnector1">
            <a:avLst/>
          </a:prstGeom>
          <a:ln xmlns:a="http://schemas.openxmlformats.org/drawingml/2006/main" w="9525">
            <a:solidFill>
              <a:srgbClr val="D5D5D5"/>
            </a:solidFill>
            <a:prstDash val="solid"/>
          </a:ln>
        </p:spPr>
      </p:cxnSp>
      <p:sp>
        <p:nvSpPr>
          <p:cNvPr id="8" name="Social features">
            <a:extLst xmlns:a="http://schemas.openxmlformats.org/drawingml/2006/main">
              <a:ext uri="{FF2B5EF4-FFF2-40B4-BE49-F238E27FC236}">
                <a16:creationId xmlns:a16="http://schemas.microsoft.com/office/drawing/2014/main" id="{9712CDC4-4B72-4AF2-860B-7CFD5E0F85C0}"/>
              </a:ext>
            </a:extLst>
          </p:cNvPr>
          <p:cNvSpPr>
            <a:spLocks xmlns:a="http://schemas.openxmlformats.org/drawingml/2006/main" noGrp="1"/>
          </p:cNvSpPr>
          <p:nvPr/>
        </p:nvSpPr>
        <p:spPr>
          <a:xfrm xmlns:a="http://schemas.openxmlformats.org/drawingml/2006/main">
            <a:off x="4486275" y="2505075"/>
            <a:ext cx="3209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Social features</a:t>
            </a:r>
          </a:p>
        </p:txBody>
      </p:sp>
      <p:sp>
        <p:nvSpPr>
          <p:cNvPr id="9" name="Activity by source&#10;Sentiment + coverage&#10;Selected post excerpts">
            <a:extLst xmlns:a="http://schemas.openxmlformats.org/drawingml/2006/main">
              <a:ext uri="{FF2B5EF4-FFF2-40B4-BE49-F238E27FC236}">
                <a16:creationId xmlns:a16="http://schemas.microsoft.com/office/drawing/2014/main" id="{10FC8BAA-5512-458A-8D1E-CB32562E723D}"/>
              </a:ext>
            </a:extLst>
          </p:cNvPr>
          <p:cNvSpPr>
            <a:spLocks xmlns:a="http://schemas.openxmlformats.org/drawingml/2006/main" noGrp="1"/>
          </p:cNvSpPr>
          <p:nvPr/>
        </p:nvSpPr>
        <p:spPr>
          <a:xfrm xmlns:a="http://schemas.openxmlformats.org/drawingml/2006/main">
            <a:off x="4486275" y="3105150"/>
            <a:ext cx="32099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a:ea typeface="Geist"/>
                <a:cs typeface="Geist"/>
              </a:defRPr>
            </a:defPPr>
          </a:lstStyle>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Activity by source</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Sentiment + coverage</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Selected post excerpts</a:t>
            </a:r>
          </a:p>
        </p:txBody>
      </p:sp>
      <p:cxnSp>
        <p:nvCxnSpPr>
          <p:cNvPr id="10" name="Data flow">
            <a:extLst xmlns:a="http://schemas.openxmlformats.org/drawingml/2006/main">
              <a:ext uri="{FF2B5EF4-FFF2-40B4-BE49-F238E27FC236}">
                <a16:creationId xmlns:a16="http://schemas.microsoft.com/office/drawing/2014/main" id="{46F9C29A-4EA7-44CD-B61E-55D16FAEBE86}"/>
              </a:ext>
            </a:extLst>
          </p:cNvPr>
          <p:cNvCxnSpPr/>
          <p:nvPr/>
        </p:nvCxnSpPr>
        <p:spPr>
          <a:xfrm xmlns:a="http://schemas.openxmlformats.org/drawingml/2006/main">
            <a:off x="8286750" y="2266950"/>
            <a:ext cx="3209925" cy="0"/>
          </a:xfrm>
          <a:prstGeom xmlns:a="http://schemas.openxmlformats.org/drawingml/2006/main" prst="straightConnector1">
            <a:avLst/>
          </a:prstGeom>
          <a:ln xmlns:a="http://schemas.openxmlformats.org/drawingml/2006/main" w="9525">
            <a:solidFill>
              <a:srgbClr val="D5D5D5"/>
            </a:solidFill>
            <a:prstDash val="solid"/>
          </a:ln>
        </p:spPr>
      </p:cxnSp>
      <p:sp>
        <p:nvSpPr>
          <p:cNvPr id="11" name="Frozen snapshot">
            <a:extLst xmlns:a="http://schemas.openxmlformats.org/drawingml/2006/main">
              <a:ext uri="{FF2B5EF4-FFF2-40B4-BE49-F238E27FC236}">
                <a16:creationId xmlns:a16="http://schemas.microsoft.com/office/drawing/2014/main" id="{3BD8B1CF-AEF4-4CE0-867A-0A62B150EE95}"/>
              </a:ext>
            </a:extLst>
          </p:cNvPr>
          <p:cNvSpPr>
            <a:spLocks xmlns:a="http://schemas.openxmlformats.org/drawingml/2006/main" noGrp="1"/>
          </p:cNvSpPr>
          <p:nvPr/>
        </p:nvSpPr>
        <p:spPr>
          <a:xfrm xmlns:a="http://schemas.openxmlformats.org/drawingml/2006/main">
            <a:off x="8286750" y="2505075"/>
            <a:ext cx="3209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Frozen snapshot</a:t>
            </a:r>
          </a:p>
        </p:txBody>
      </p:sp>
      <p:sp>
        <p:nvSpPr>
          <p:cNvPr id="12" name="Known before cutoff&#10;Stable IDs and hashes&#10;Model + prompt version">
            <a:extLst xmlns:a="http://schemas.openxmlformats.org/drawingml/2006/main">
              <a:ext uri="{FF2B5EF4-FFF2-40B4-BE49-F238E27FC236}">
                <a16:creationId xmlns:a16="http://schemas.microsoft.com/office/drawing/2014/main" id="{3CC57982-BDAE-4640-8791-DC32C4B6EB8D}"/>
              </a:ext>
            </a:extLst>
          </p:cNvPr>
          <p:cNvSpPr>
            <a:spLocks xmlns:a="http://schemas.openxmlformats.org/drawingml/2006/main" noGrp="1"/>
          </p:cNvSpPr>
          <p:nvPr/>
        </p:nvSpPr>
        <p:spPr>
          <a:xfrm xmlns:a="http://schemas.openxmlformats.org/drawingml/2006/main">
            <a:off x="8286750" y="3105150"/>
            <a:ext cx="32099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a:ea typeface="Geist"/>
                <a:cs typeface="Geist"/>
              </a:defRPr>
            </a:defPPr>
          </a:lstStyle>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Known before cutoff</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Stable IDs and hashes</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Model + prompt version</a:t>
            </a:r>
          </a:p>
        </p:txBody>
      </p:sp>
      <p:sp>
        <p:nvSpPr>
          <p:cNvPr id="13" name="UTC normalization · ID deduplication · verified coin matching">
            <a:extLst xmlns:a="http://schemas.openxmlformats.org/drawingml/2006/main">
              <a:ext uri="{FF2B5EF4-FFF2-40B4-BE49-F238E27FC236}">
                <a16:creationId xmlns:a16="http://schemas.microsoft.com/office/drawing/2014/main" id="{9844C37A-910F-478E-9790-33106AC21CAA}"/>
              </a:ext>
            </a:extLst>
          </p:cNvPr>
          <p:cNvSpPr>
            <a:spLocks xmlns:a="http://schemas.openxmlformats.org/drawingml/2006/main" noGrp="1"/>
          </p:cNvSpPr>
          <p:nvPr/>
        </p:nvSpPr>
        <p:spPr>
          <a:xfrm xmlns:a="http://schemas.openxmlformats.org/drawingml/2006/main">
            <a:off x="695325" y="4476750"/>
            <a:ext cx="10810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UTC normalization · ID deduplication · verified coin matching</a:t>
            </a:r>
          </a:p>
        </p:txBody>
      </p:sp>
      <p:sp>
        <p:nvSpPr>
          <p:cNvPr id="14" name="No future information">
            <a:extLst xmlns:a="http://schemas.openxmlformats.org/drawingml/2006/main">
              <a:ext uri="{FF2B5EF4-FFF2-40B4-BE49-F238E27FC236}">
                <a16:creationId xmlns:a16="http://schemas.microsoft.com/office/drawing/2014/main" id="{53F63235-2230-4F19-83FA-62E06ACF7F25}"/>
              </a:ext>
            </a:extLst>
          </p:cNvPr>
          <p:cNvSpPr>
            <a:spLocks xmlns:a="http://schemas.openxmlformats.org/drawingml/2006/main" noGrp="1"/>
          </p:cNvSpPr>
          <p:nvPr/>
        </p:nvSpPr>
        <p:spPr>
          <a:xfrm xmlns:a="http://schemas.openxmlformats.org/drawingml/2006/main">
            <a:off x="695325" y="509587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A61955"/>
                </a:solidFill>
                <a:latin typeface="Geist"/>
                <a:ea typeface="Geist"/>
                <a:cs typeface="Geist"/>
              </a:defRPr>
            </a:defPPr>
          </a:lstStyle>
          <a:p xmlns:a="http://schemas.openxmlformats.org/drawingml/2006/main">
            <a:pPr algn="l">
              <a:defRPr sz="2550" b="1">
                <a:solidFill>
                  <a:srgbClr val="A61955"/>
                </a:solidFill>
                <a:latin typeface="Geist"/>
                <a:ea typeface="Geist"/>
                <a:cs typeface="Geist"/>
              </a:defRPr>
            </a:pPr>
            <a:r>
              <a:rPr sz="2550" b="1">
                <a:solidFill>
                  <a:srgbClr val="A61955"/>
                </a:solidFill>
                <a:latin typeface="Geist"/>
                <a:ea typeface="Geist"/>
                <a:cs typeface="Geist"/>
              </a:rPr>
              <a:t>No future information</a:t>
            </a:r>
          </a:p>
        </p:txBody>
      </p:sp>
      <p:sp>
        <p:nvSpPr>
          <p:cNvPr id="15" name="Later posts and updated reactions stay out of earlier inputs.">
            <a:extLst xmlns:a="http://schemas.openxmlformats.org/drawingml/2006/main">
              <a:ext uri="{FF2B5EF4-FFF2-40B4-BE49-F238E27FC236}">
                <a16:creationId xmlns:a16="http://schemas.microsoft.com/office/drawing/2014/main" id="{30F04F5E-B631-4D6C-A2F6-0DC565AAA516}"/>
              </a:ext>
            </a:extLst>
          </p:cNvPr>
          <p:cNvSpPr>
            <a:spLocks xmlns:a="http://schemas.openxmlformats.org/drawingml/2006/main" noGrp="1"/>
          </p:cNvSpPr>
          <p:nvPr/>
        </p:nvSpPr>
        <p:spPr>
          <a:xfrm xmlns:a="http://schemas.openxmlformats.org/drawingml/2006/main">
            <a:off x="695325" y="56197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11111"/>
                </a:solidFill>
                <a:latin typeface="Geist"/>
                <a:ea typeface="Geist"/>
                <a:cs typeface="Geist"/>
              </a:defRPr>
            </a:defPPr>
          </a:lstStyle>
          <a:p xmlns:a="http://schemas.openxmlformats.org/drawingml/2006/main">
            <a:pPr algn="l">
              <a:defRPr sz="2025" b="0">
                <a:solidFill>
                  <a:srgbClr val="111111"/>
                </a:solidFill>
                <a:latin typeface="Geist"/>
                <a:ea typeface="Geist"/>
                <a:cs typeface="Geist"/>
              </a:defRPr>
            </a:pPr>
            <a:r>
              <a:rPr sz="2025" b="0">
                <a:solidFill>
                  <a:srgbClr val="111111"/>
                </a:solidFill>
                <a:latin typeface="Geist"/>
                <a:ea typeface="Geist"/>
                <a:cs typeface="Geist"/>
              </a:rPr>
              <a:t>Later posts and updated reactions stay out of earlier inputs.</a:t>
            </a:r>
          </a:p>
        </p:txBody>
      </p:sp>
      <p:sp>
        <p:nvSpPr>
          <p:cNvPr id="16" name="Freeze at 03:00 UTC. Publish by 03:15. Missing data or failed inferenc">
            <a:extLst xmlns:a="http://schemas.openxmlformats.org/drawingml/2006/main">
              <a:ext uri="{FF2B5EF4-FFF2-40B4-BE49-F238E27FC236}">
                <a16:creationId xmlns:a16="http://schemas.microsoft.com/office/drawing/2014/main" id="{8F1DCC5F-462C-4B6F-91B4-422482D114FA}"/>
              </a:ext>
            </a:extLst>
          </p:cNvPr>
          <p:cNvSpPr>
            <a:spLocks xmlns:a="http://schemas.openxmlformats.org/drawingml/2006/main" noGrp="1"/>
          </p:cNvSpPr>
          <p:nvPr/>
        </p:nvSpPr>
        <p:spPr>
          <a:xfrm xmlns:a="http://schemas.openxmlformats.org/drawingml/2006/main">
            <a:off x="685800" y="6372225"/>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55555"/>
                </a:solidFill>
                <a:latin typeface="Geist"/>
                <a:ea typeface="Geist"/>
                <a:cs typeface="Geist"/>
              </a:defRPr>
            </a:defPPr>
          </a:lstStyle>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Freeze at 03:00 UTC. Publish by 03:15. Missing data or failed inference remains unavailable.</a:t>
            </a:r>
          </a:p>
        </p:txBody>
      </p:sp>
    </p:spTree>
    <p:extLst>
      <p:ext uri="{BB962C8B-B14F-4D97-AF65-F5344CB8AC3E}">
        <p14:creationId xmlns:p14="http://schemas.microsoft.com/office/powerpoint/2010/main" val="11026350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Why two databases?">
            <a:extLst xmlns:a="http://schemas.openxmlformats.org/drawingml/2006/main">
              <a:ext uri="{FF2B5EF4-FFF2-40B4-BE49-F238E27FC236}">
                <a16:creationId xmlns:a16="http://schemas.microsoft.com/office/drawing/2014/main" id="{D5631E69-9B70-4919-878A-5C1E67251D0B}"/>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Why two databases?</a:t>
            </a:r>
          </a:p>
        </p:txBody>
      </p:sp>
      <p:sp>
        <p:nvSpPr>
          <p:cNvPr id="2" name="07">
            <a:extLst xmlns:a="http://schemas.openxmlformats.org/drawingml/2006/main">
              <a:ext uri="{FF2B5EF4-FFF2-40B4-BE49-F238E27FC236}">
                <a16:creationId xmlns:a16="http://schemas.microsoft.com/office/drawing/2014/main" id="{A072B582-2814-4848-8E71-D636BFAA19C7}"/>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buNone/>
              <a:defRPr sz="1200" b="0">
                <a:solidFill>
                  <a:srgbClr val="555555"/>
                </a:solidFill>
                <a:latin typeface="Geist"/>
                <a:ea typeface="Geist"/>
                <a:cs typeface="Geist"/>
              </a:defRPr>
            </a:pPr>
            <a:r>
              <a:rPr sz="1200" b="0">
                <a:solidFill>
                  <a:srgbClr val="555555"/>
                </a:solidFill>
                <a:latin typeface="Geist"/>
                <a:ea typeface="Geist"/>
                <a:cs typeface="Geist"/>
              </a:rPr>
              <a:t>07</a:t>
            </a:r>
          </a:p>
        </p:txBody>
      </p:sp>
      <p:sp>
        <p:nvSpPr>
          <p:cNvPr id="3" name="PostgreSQL can also store JSON.">
            <a:extLst xmlns:a="http://schemas.openxmlformats.org/drawingml/2006/main">
              <a:ext uri="{FF2B5EF4-FFF2-40B4-BE49-F238E27FC236}">
                <a16:creationId xmlns:a16="http://schemas.microsoft.com/office/drawing/2014/main" id="{186D33AC-F770-46E0-BDF0-51505890002F}"/>
              </a:ext>
            </a:extLst>
          </p:cNvPr>
          <p:cNvSpPr>
            <a:spLocks xmlns:a="http://schemas.openxmlformats.org/drawingml/2006/main" noGrp="1"/>
          </p:cNvSpPr>
          <p:nvPr/>
        </p:nvSpPr>
        <p:spPr>
          <a:xfrm xmlns:a="http://schemas.openxmlformats.org/drawingml/2006/main">
            <a:off x="695325" y="1238250"/>
            <a:ext cx="1081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555555"/>
                </a:solidFill>
                <a:latin typeface="Geist"/>
                <a:ea typeface="Geist"/>
                <a:cs typeface="Geist"/>
              </a:defRPr>
            </a:defPPr>
          </a:lstStyle>
          <a:p xmlns:a="http://schemas.openxmlformats.org/drawingml/2006/main">
            <a:pPr algn="l">
              <a:buNone/>
              <a:defRPr sz="2325" b="0">
                <a:solidFill>
                  <a:srgbClr val="555555"/>
                </a:solidFill>
                <a:latin typeface="Geist"/>
                <a:ea typeface="Geist"/>
                <a:cs typeface="Geist"/>
              </a:defRPr>
            </a:pPr>
            <a:r>
              <a:rPr sz="2325" b="0">
                <a:solidFill>
                  <a:srgbClr val="555555"/>
                </a:solidFill>
                <a:latin typeface="Geist"/>
                <a:ea typeface="Geist"/>
                <a:cs typeface="Geist"/>
              </a:rPr>
              <a:t>PostgreSQL can also store JSON.</a:t>
            </a:r>
          </a:p>
        </p:txBody>
      </p:sp>
      <p:pic>
        <p:nvPicPr>
          <p:cNvPr id="4" name="">
            <a:extLst xmlns:a="http://schemas.openxmlformats.org/drawingml/2006/main">
              <a:ext uri="{FF2B5EF4-FFF2-40B4-BE49-F238E27FC236}">
                <a16:creationId xmlns:a16="http://schemas.microsoft.com/office/drawing/2014/main" id="{F6E6AD94-713C-498D-A32C-A4444EDFF623}"/>
              </a:ext>
            </a:extLst>
          </p:cNvPr>
          <p:cNvPicPr>
            <a:picLocks xmlns:a="http://schemas.openxmlformats.org/drawingml/2006/main" noChangeAspect="1"/>
          </p:cNvPicPr>
          <p:nvPr/>
        </p:nvPicPr>
        <p:blipFill>
          <a:blip xmlns:r="http://schemas.openxmlformats.org/officeDocument/2006/relationships" xmlns:a="http://schemas.openxmlformats.org/drawingml/2006/main" r:embed="R7cc8bf7625704691">
            <a:extLst>
              <a:ext uri="{96DAC541-7B7A-43D3-8B79-37D633B846F1}">
                <asvg:svgBlip xmlns:asvg="http://schemas.microsoft.com/office/drawing/2016/SVG/main" r:embed="Rfd8b02e9d4804c71"/>
              </a:ext>
            </a:extLst>
          </a:blip>
          <a:stretch xmlns:a="http://schemas.openxmlformats.org/drawingml/2006/main"/>
        </p:blipFill>
        <p:spPr>
          <a:xfrm xmlns:a="http://schemas.openxmlformats.org/drawingml/2006/main">
            <a:off x="704850" y="2181225"/>
            <a:ext cx="447675" cy="447675"/>
          </a:xfrm>
          <a:prstGeom xmlns:a="http://schemas.openxmlformats.org/drawingml/2006/main" prst="rect">
            <a:avLst/>
          </a:prstGeom>
        </p:spPr>
      </p:pic>
      <p:sp>
        <p:nvSpPr>
          <p:cNvPr id="5" name="MongoDB">
            <a:extLst xmlns:a="http://schemas.openxmlformats.org/drawingml/2006/main">
              <a:ext uri="{FF2B5EF4-FFF2-40B4-BE49-F238E27FC236}">
                <a16:creationId xmlns:a16="http://schemas.microsoft.com/office/drawing/2014/main" id="{FFAC798C-78A0-4F61-A8AE-1B98FED3FECA}"/>
              </a:ext>
            </a:extLst>
          </p:cNvPr>
          <p:cNvSpPr>
            <a:spLocks xmlns:a="http://schemas.openxmlformats.org/drawingml/2006/main" noGrp="1"/>
          </p:cNvSpPr>
          <p:nvPr/>
        </p:nvSpPr>
        <p:spPr>
          <a:xfrm xmlns:a="http://schemas.openxmlformats.org/drawingml/2006/main">
            <a:off x="1371600" y="2200275"/>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11111"/>
                </a:solidFill>
                <a:latin typeface="Geist"/>
                <a:ea typeface="Geist"/>
                <a:cs typeface="Geist"/>
              </a:defRPr>
            </a:defPPr>
          </a:lstStyle>
          <a:p xmlns:a="http://schemas.openxmlformats.org/drawingml/2006/main">
            <a:pPr algn="l">
              <a:buNone/>
              <a:defRPr sz="2700" b="1">
                <a:solidFill>
                  <a:srgbClr val="111111"/>
                </a:solidFill>
                <a:latin typeface="Geist"/>
                <a:ea typeface="Geist"/>
                <a:cs typeface="Geist"/>
              </a:defRPr>
            </a:pPr>
            <a:r>
              <a:rPr sz="2700" b="1">
                <a:solidFill>
                  <a:srgbClr val="111111"/>
                </a:solidFill>
                <a:latin typeface="Geist"/>
                <a:ea typeface="Geist"/>
                <a:cs typeface="Geist"/>
              </a:rPr>
              <a:t>MongoDB</a:t>
            </a:r>
          </a:p>
        </p:txBody>
      </p:sp>
      <p:pic>
        <p:nvPicPr>
          <p:cNvPr id="6" name="">
            <a:extLst xmlns:a="http://schemas.openxmlformats.org/drawingml/2006/main">
              <a:ext uri="{FF2B5EF4-FFF2-40B4-BE49-F238E27FC236}">
                <a16:creationId xmlns:a16="http://schemas.microsoft.com/office/drawing/2014/main" id="{A1692114-00B8-47E0-BD40-09960510C717}"/>
              </a:ext>
            </a:extLst>
          </p:cNvPr>
          <p:cNvPicPr>
            <a:picLocks xmlns:a="http://schemas.openxmlformats.org/drawingml/2006/main" noChangeAspect="1"/>
          </p:cNvPicPr>
          <p:nvPr/>
        </p:nvPicPr>
        <p:blipFill>
          <a:blip xmlns:r="http://schemas.openxmlformats.org/officeDocument/2006/relationships" xmlns:a="http://schemas.openxmlformats.org/drawingml/2006/main" r:embed="R1a584c57f8cd44cf">
            <a:extLst>
              <a:ext uri="{96DAC541-7B7A-43D3-8B79-37D633B846F1}">
                <asvg:svgBlip xmlns:asvg="http://schemas.microsoft.com/office/drawing/2016/SVG/main" r:embed="R3b127ec14dae4313"/>
              </a:ext>
            </a:extLst>
          </a:blip>
          <a:stretch xmlns:a="http://schemas.openxmlformats.org/drawingml/2006/main"/>
        </p:blipFill>
        <p:spPr>
          <a:xfrm xmlns:a="http://schemas.openxmlformats.org/drawingml/2006/main">
            <a:off x="6867525" y="2181225"/>
            <a:ext cx="447675" cy="447675"/>
          </a:xfrm>
          <a:prstGeom xmlns:a="http://schemas.openxmlformats.org/drawingml/2006/main" prst="rect">
            <a:avLst/>
          </a:prstGeom>
        </p:spPr>
      </p:pic>
      <p:sp>
        <p:nvSpPr>
          <p:cNvPr id="7" name="PostgreSQL">
            <a:extLst xmlns:a="http://schemas.openxmlformats.org/drawingml/2006/main">
              <a:ext uri="{FF2B5EF4-FFF2-40B4-BE49-F238E27FC236}">
                <a16:creationId xmlns:a16="http://schemas.microsoft.com/office/drawing/2014/main" id="{2637E0B1-99F1-488B-B592-8B65D7326B53}"/>
              </a:ext>
            </a:extLst>
          </p:cNvPr>
          <p:cNvSpPr>
            <a:spLocks xmlns:a="http://schemas.openxmlformats.org/drawingml/2006/main" noGrp="1"/>
          </p:cNvSpPr>
          <p:nvPr/>
        </p:nvSpPr>
        <p:spPr>
          <a:xfrm xmlns:a="http://schemas.openxmlformats.org/drawingml/2006/main">
            <a:off x="7534275" y="2200275"/>
            <a:ext cx="3981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11111"/>
                </a:solidFill>
                <a:latin typeface="Geist"/>
                <a:ea typeface="Geist"/>
                <a:cs typeface="Geist"/>
              </a:defRPr>
            </a:defPPr>
          </a:lstStyle>
          <a:p xmlns:a="http://schemas.openxmlformats.org/drawingml/2006/main">
            <a:pPr algn="l">
              <a:buNone/>
              <a:defRPr sz="2700" b="1">
                <a:solidFill>
                  <a:srgbClr val="111111"/>
                </a:solidFill>
                <a:latin typeface="Geist"/>
                <a:ea typeface="Geist"/>
                <a:cs typeface="Geist"/>
              </a:defRPr>
            </a:pPr>
            <a:r>
              <a:rPr sz="2700" b="1">
                <a:solidFill>
                  <a:srgbClr val="111111"/>
                </a:solidFill>
                <a:latin typeface="Geist"/>
                <a:ea typeface="Geist"/>
                <a:cs typeface="Geist"/>
              </a:rPr>
              <a:t>PostgreSQL</a:t>
            </a:r>
          </a:p>
        </p:txBody>
      </p:sp>
      <p:sp>
        <p:nvSpPr>
          <p:cNvPr id="8" name="Social documents">
            <a:extLst xmlns:a="http://schemas.openxmlformats.org/drawingml/2006/main">
              <a:ext uri="{FF2B5EF4-FFF2-40B4-BE49-F238E27FC236}">
                <a16:creationId xmlns:a16="http://schemas.microsoft.com/office/drawing/2014/main" id="{45CE1DE8-D420-4349-AE04-3CFD6C3BCCB7}"/>
              </a:ext>
            </a:extLst>
          </p:cNvPr>
          <p:cNvSpPr>
            <a:spLocks xmlns:a="http://schemas.openxmlformats.org/drawingml/2006/main" noGrp="1"/>
          </p:cNvSpPr>
          <p:nvPr/>
        </p:nvSpPr>
        <p:spPr>
          <a:xfrm xmlns:a="http://schemas.openxmlformats.org/drawingml/2006/main">
            <a:off x="704850" y="29622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buNone/>
              <a:defRPr sz="2175" b="1">
                <a:solidFill>
                  <a:srgbClr val="111111"/>
                </a:solidFill>
                <a:latin typeface="Geist"/>
                <a:ea typeface="Geist"/>
                <a:cs typeface="Geist"/>
              </a:defRPr>
            </a:pPr>
            <a:r>
              <a:rPr sz="2175" b="1">
                <a:solidFill>
                  <a:srgbClr val="111111"/>
                </a:solidFill>
                <a:latin typeface="Geist"/>
                <a:ea typeface="Geist"/>
                <a:cs typeface="Geist"/>
              </a:rPr>
              <a:t>Social documents</a:t>
            </a:r>
          </a:p>
        </p:txBody>
      </p:sp>
      <p:sp>
        <p:nvSpPr>
          <p:cNvPr id="9" name="Relational analytics">
            <a:extLst xmlns:a="http://schemas.openxmlformats.org/drawingml/2006/main">
              <a:ext uri="{FF2B5EF4-FFF2-40B4-BE49-F238E27FC236}">
                <a16:creationId xmlns:a16="http://schemas.microsoft.com/office/drawing/2014/main" id="{3A393742-4E34-46E3-A85B-A086448FEE3C}"/>
              </a:ext>
            </a:extLst>
          </p:cNvPr>
          <p:cNvSpPr>
            <a:spLocks xmlns:a="http://schemas.openxmlformats.org/drawingml/2006/main" noGrp="1"/>
          </p:cNvSpPr>
          <p:nvPr/>
        </p:nvSpPr>
        <p:spPr>
          <a:xfrm xmlns:a="http://schemas.openxmlformats.org/drawingml/2006/main">
            <a:off x="6877050" y="2962275"/>
            <a:ext cx="4629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buNone/>
              <a:defRPr sz="2175" b="1">
                <a:solidFill>
                  <a:srgbClr val="111111"/>
                </a:solidFill>
                <a:latin typeface="Geist"/>
                <a:ea typeface="Geist"/>
                <a:cs typeface="Geist"/>
              </a:defRPr>
            </a:pPr>
            <a:r>
              <a:rPr sz="2175" b="1">
                <a:solidFill>
                  <a:srgbClr val="111111"/>
                </a:solidFill>
                <a:latin typeface="Geist"/>
                <a:ea typeface="Geist"/>
                <a:cs typeface="Geist"/>
              </a:rPr>
              <a:t>Relational analytics</a:t>
            </a:r>
          </a:p>
        </p:txBody>
      </p:sp>
      <p:sp>
        <p:nvSpPr>
          <p:cNvPr id="10" name="Platform-specific fields&#10;Post and comment details&#10;Reaction observation">
            <a:extLst xmlns:a="http://schemas.openxmlformats.org/drawingml/2006/main">
              <a:ext uri="{FF2B5EF4-FFF2-40B4-BE49-F238E27FC236}">
                <a16:creationId xmlns:a16="http://schemas.microsoft.com/office/drawing/2014/main" id="{C7A39177-B8EA-4EDF-8DC1-2AC7A023D40C}"/>
              </a:ext>
            </a:extLst>
          </p:cNvPr>
          <p:cNvSpPr>
            <a:spLocks xmlns:a="http://schemas.openxmlformats.org/drawingml/2006/main" noGrp="1"/>
          </p:cNvSpPr>
          <p:nvPr/>
        </p:nvSpPr>
        <p:spPr>
          <a:xfrm xmlns:a="http://schemas.openxmlformats.org/drawingml/2006/main">
            <a:off x="704850" y="3543300"/>
            <a:ext cx="4953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55555"/>
                </a:solidFill>
                <a:latin typeface="Geist"/>
                <a:ea typeface="Geist"/>
                <a:cs typeface="Geist"/>
              </a:defRPr>
            </a:defPPr>
          </a:lstStyle>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Posts and observations</a:t>
            </a:r>
          </a:p>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Platform-specific fields</a:t>
            </a:r>
          </a:p>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Model input / output</a:t>
            </a:r>
          </a:p>
        </p:txBody>
      </p:sp>
      <p:sp>
        <p:nvSpPr>
          <p:cNvPr id="11" name="Keys and constraints&#10;Prices and daily features&#10;SQL joins and aggregati">
            <a:extLst xmlns:a="http://schemas.openxmlformats.org/drawingml/2006/main">
              <a:ext uri="{FF2B5EF4-FFF2-40B4-BE49-F238E27FC236}">
                <a16:creationId xmlns:a16="http://schemas.microsoft.com/office/drawing/2014/main" id="{2958691D-66AA-4DC9-82FF-AD99BB54F343}"/>
              </a:ext>
            </a:extLst>
          </p:cNvPr>
          <p:cNvSpPr>
            <a:spLocks xmlns:a="http://schemas.openxmlformats.org/drawingml/2006/main" noGrp="1"/>
          </p:cNvSpPr>
          <p:nvPr/>
        </p:nvSpPr>
        <p:spPr>
          <a:xfrm xmlns:a="http://schemas.openxmlformats.org/drawingml/2006/main">
            <a:off x="6877050" y="3543300"/>
            <a:ext cx="46291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55555"/>
                </a:solidFill>
                <a:latin typeface="Geist"/>
                <a:ea typeface="Geist"/>
                <a:cs typeface="Geist"/>
              </a:defRPr>
            </a:defPPr>
          </a:lstStyle>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Prices and daily features</a:t>
            </a:r>
          </a:p>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Predictions and outcomes</a:t>
            </a:r>
          </a:p>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Keys, constraints and joins</a:t>
            </a:r>
          </a:p>
        </p:txBody>
      </p:sp>
      <p:cxnSp>
        <p:nvCxnSpPr>
          <p:cNvPr id="12" name="Batch data flow">
            <a:extLst xmlns:a="http://schemas.openxmlformats.org/drawingml/2006/main">
              <a:ext uri="{FF2B5EF4-FFF2-40B4-BE49-F238E27FC236}">
                <a16:creationId xmlns:a16="http://schemas.microsoft.com/office/drawing/2014/main" id="{C9ED7F8E-C486-4BC0-8808-A80E1547A6D2}"/>
              </a:ext>
            </a:extLst>
          </p:cNvPr>
          <p:cNvCxnSpPr/>
          <p:nvPr/>
        </p:nvCxnSpPr>
        <p:spPr>
          <a:xfrm xmlns:a="http://schemas.openxmlformats.org/drawingml/2006/main">
            <a:off x="685800" y="5143500"/>
            <a:ext cx="10820400" cy="0"/>
          </a:xfrm>
          <a:prstGeom xmlns:a="http://schemas.openxmlformats.org/drawingml/2006/main" prst="straightConnector1">
            <a:avLst/>
          </a:prstGeom>
          <a:ln xmlns:a="http://schemas.openxmlformats.org/drawingml/2006/main" w="9525">
            <a:solidFill>
              <a:srgbClr val="D5D5D5"/>
            </a:solidFill>
            <a:prstDash val="solid"/>
          </a:ln>
        </p:spPr>
      </p:cxnSp>
      <p:sp>
        <p:nvSpPr>
          <p:cNvPr id="13" name="Document model → ETL → relational model">
            <a:extLst xmlns:a="http://schemas.openxmlformats.org/drawingml/2006/main">
              <a:ext uri="{FF2B5EF4-FFF2-40B4-BE49-F238E27FC236}">
                <a16:creationId xmlns:a16="http://schemas.microsoft.com/office/drawing/2014/main" id="{1D3558F7-D127-47EF-9B06-5BE1CFD1CE2A}"/>
              </a:ext>
            </a:extLst>
          </p:cNvPr>
          <p:cNvSpPr>
            <a:spLocks xmlns:a="http://schemas.openxmlformats.org/drawingml/2006/main" noGrp="1"/>
          </p:cNvSpPr>
          <p:nvPr/>
        </p:nvSpPr>
        <p:spPr>
          <a:xfrm xmlns:a="http://schemas.openxmlformats.org/drawingml/2006/main">
            <a:off x="704850" y="5372100"/>
            <a:ext cx="108013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A61955"/>
                </a:solidFill>
                <a:latin typeface="Geist"/>
                <a:ea typeface="Geist"/>
                <a:cs typeface="Geist"/>
              </a:defRPr>
            </a:defPPr>
          </a:lstStyle>
          <a:p xmlns:a="http://schemas.openxmlformats.org/drawingml/2006/main">
            <a:pPr algn="l">
              <a:buNone/>
              <a:defRPr sz="2400" b="1">
                <a:solidFill>
                  <a:srgbClr val="A61955"/>
                </a:solidFill>
                <a:latin typeface="Geist"/>
                <a:ea typeface="Geist"/>
                <a:cs typeface="Geist"/>
              </a:defRPr>
            </a:pPr>
            <a:r>
              <a:rPr sz="2400" b="1">
                <a:solidFill>
                  <a:srgbClr val="A61955"/>
                </a:solidFill>
                <a:latin typeface="Geist"/>
                <a:ea typeface="Geist"/>
                <a:cs typeface="Geist"/>
              </a:rPr>
              <a:t>Document model → ETL → relational model</a:t>
            </a:r>
          </a:p>
        </p:txBody>
      </p:sp>
      <p:sp>
        <p:nvSpPr>
          <p:cNvPr id="14" name="Model both SQL and NoSQL; keep social documents separate from analytic">
            <a:extLst xmlns:a="http://schemas.openxmlformats.org/drawingml/2006/main">
              <a:ext uri="{FF2B5EF4-FFF2-40B4-BE49-F238E27FC236}">
                <a16:creationId xmlns:a16="http://schemas.microsoft.com/office/drawing/2014/main" id="{E6F4A8BA-978B-4522-AB24-548E48E4D014}"/>
              </a:ext>
            </a:extLst>
          </p:cNvPr>
          <p:cNvSpPr>
            <a:spLocks xmlns:a="http://schemas.openxmlformats.org/drawingml/2006/main" noGrp="1"/>
          </p:cNvSpPr>
          <p:nvPr/>
        </p:nvSpPr>
        <p:spPr>
          <a:xfrm xmlns:a="http://schemas.openxmlformats.org/drawingml/2006/main">
            <a:off x="704850" y="58864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1111"/>
                </a:solidFill>
                <a:latin typeface="Geist"/>
                <a:ea typeface="Geist"/>
                <a:cs typeface="Geist"/>
              </a:defRPr>
            </a:defPPr>
          </a:lstStyle>
          <a:p xmlns:a="http://schemas.openxmlformats.org/drawingml/2006/main">
            <a:pPr algn="l">
              <a:buNone/>
              <a:defRPr sz="1725" b="0">
                <a:solidFill>
                  <a:srgbClr val="111111"/>
                </a:solidFill>
                <a:latin typeface="Geist"/>
                <a:ea typeface="Geist"/>
                <a:cs typeface="Geist"/>
              </a:defRPr>
            </a:pPr>
            <a:r>
              <a:rPr sz="1725" b="0">
                <a:solidFill>
                  <a:srgbClr val="111111"/>
                </a:solidFill>
                <a:latin typeface="Geist"/>
                <a:ea typeface="Geist"/>
                <a:cs typeface="Geist"/>
              </a:rPr>
              <a:t>Document storage and relational analysis, connected by a traceable ETL.</a:t>
            </a:r>
          </a:p>
        </p:txBody>
      </p:sp>
      <p:sp>
        <p:nvSpPr>
          <p:cNvPr id="15" name="Trade-off: two databases, indexes, backups and consistency checks.">
            <a:extLst xmlns:a="http://schemas.openxmlformats.org/drawingml/2006/main">
              <a:ext uri="{FF2B5EF4-FFF2-40B4-BE49-F238E27FC236}">
                <a16:creationId xmlns:a16="http://schemas.microsoft.com/office/drawing/2014/main" id="{43825BC2-D214-44B6-87BF-87FBCA011C5C}"/>
              </a:ext>
            </a:extLst>
          </p:cNvPr>
          <p:cNvSpPr>
            <a:spLocks xmlns:a="http://schemas.openxmlformats.org/drawingml/2006/main" noGrp="1"/>
          </p:cNvSpPr>
          <p:nvPr/>
        </p:nvSpPr>
        <p:spPr>
          <a:xfrm xmlns:a="http://schemas.openxmlformats.org/drawingml/2006/main">
            <a:off x="685800" y="63341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Trade-off: two databases, indexes, backups and consistency checks.</a:t>
            </a:r>
          </a:p>
        </p:txBody>
      </p:sp>
    </p:spTree>
    <p:extLst>
      <p:ext uri="{BB962C8B-B14F-4D97-AF65-F5344CB8AC3E}">
        <p14:creationId xmlns:p14="http://schemas.microsoft.com/office/powerpoint/2010/main" val="19325503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18" name="Chart">
            <a:extLst xmlns:a="http://schemas.openxmlformats.org/drawingml/2006/main">
              <a:ext uri="{FF2B5EF4-FFF2-40B4-BE49-F238E27FC236}">
                <a16:creationId xmlns:a16="http://schemas.microsoft.com/office/drawing/2014/main" id="{6B7E4FD8-D54B-47F2-94B8-5FB3C1E8EDA0}"/>
              </a:ext>
            </a:extLst>
          </p:cNvPr>
          <p:cNvGraphicFramePr/>
          <p:nvPr/>
        </p:nvGraphicFramePr>
        <p:xfrm>
          <a:off xmlns:a="http://schemas.openxmlformats.org/drawingml/2006/main" x="2276475" y="2857500"/>
          <a:ext xmlns:a="http://schemas.openxmlformats.org/drawingml/2006/main" cx="5743575" cy="2238375"/>
        </p:xfrm>
        <a:graphic xmlns:a="http://schemas.openxmlformats.org/drawingml/2006/main">
          <a:graphicData uri="http://schemas.openxmlformats.org/drawingml/2006/chart">
            <c:chart xmlns:r="http://schemas.openxmlformats.org/officeDocument/2006/relationships" xmlns:c="http://schemas.openxmlformats.org/drawingml/2006/chart" r:id="R55cb470145ce45f8"/>
          </a:graphicData>
        </a:graphic>
      </p:graphicFrame>
      <p:sp>
        <p:nvSpPr>
          <p:cNvPr id="19" name="Prediction dashboard">
            <a:extLst xmlns:a="http://schemas.openxmlformats.org/drawingml/2006/main">
              <a:ext uri="{FF2B5EF4-FFF2-40B4-BE49-F238E27FC236}">
                <a16:creationId xmlns:a16="http://schemas.microsoft.com/office/drawing/2014/main" id="{42E2ED3B-F0B8-4DE9-A67B-69CEE8E62EB8}"/>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Prediction dashboard</a:t>
            </a:r>
          </a:p>
        </p:txBody>
      </p:sp>
      <p:sp>
        <p:nvSpPr>
          <p:cNvPr id="20" name="08">
            <a:extLst xmlns:a="http://schemas.openxmlformats.org/drawingml/2006/main">
              <a:ext uri="{FF2B5EF4-FFF2-40B4-BE49-F238E27FC236}">
                <a16:creationId xmlns:a16="http://schemas.microsoft.com/office/drawing/2014/main" id="{251E86B4-C6E0-451B-BED1-050C95609B27}"/>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08</a:t>
            </a:r>
          </a:p>
        </p:txBody>
      </p:sp>
      <p:sp>
        <p:nvSpPr>
          <p:cNvPr id="21" name="Application window">
            <a:extLst xmlns:a="http://schemas.openxmlformats.org/drawingml/2006/main">
              <a:ext uri="{FF2B5EF4-FFF2-40B4-BE49-F238E27FC236}">
                <a16:creationId xmlns:a16="http://schemas.microsoft.com/office/drawing/2014/main" id="{F1BB3AB9-746D-4273-89FF-F2EB2DE86324}"/>
              </a:ext>
            </a:extLst>
          </p:cNvPr>
          <p:cNvSpPr>
            <a:spLocks xmlns:a="http://schemas.openxmlformats.org/drawingml/2006/main" noGrp="1"/>
          </p:cNvSpPr>
          <p:nvPr/>
        </p:nvSpPr>
        <p:spPr>
          <a:xfrm xmlns:a="http://schemas.openxmlformats.org/drawingml/2006/main">
            <a:off x="533400" y="1381125"/>
            <a:ext cx="11125200" cy="4800600"/>
          </a:xfrm>
          <a:prstGeom xmlns:a="http://schemas.openxmlformats.org/drawingml/2006/main" prst="roundRect">
            <a:avLst>
              <a:gd name="adj" fmla="val 1190"/>
            </a:avLst>
          </a:prstGeom>
          <a:noFill xmlns:a="http://schemas.openxmlformats.org/drawingml/2006/main"/>
          <a:ln xmlns:a="http://schemas.openxmlformats.org/drawingml/2006/main" w="12859">
            <a:solidFill>
              <a:srgbClr val="D5D5D5"/>
            </a:solidFill>
          </a:ln>
        </p:spPr>
      </p:sp>
      <p:cxnSp>
        <p:nvCxnSpPr>
          <p:cNvPr id="22" name="Data flow">
            <a:extLst xmlns:a="http://schemas.openxmlformats.org/drawingml/2006/main">
              <a:ext uri="{FF2B5EF4-FFF2-40B4-BE49-F238E27FC236}">
                <a16:creationId xmlns:a16="http://schemas.microsoft.com/office/drawing/2014/main" id="{05E58C0C-AEB4-40FA-9A57-913A9687778E}"/>
              </a:ext>
            </a:extLst>
          </p:cNvPr>
          <p:cNvCxnSpPr/>
          <p:nvPr/>
        </p:nvCxnSpPr>
        <p:spPr>
          <a:xfrm xmlns:a="http://schemas.openxmlformats.org/drawingml/2006/main">
            <a:off x="533400" y="1952625"/>
            <a:ext cx="11125200" cy="0"/>
          </a:xfrm>
          <a:prstGeom xmlns:a="http://schemas.openxmlformats.org/drawingml/2006/main" prst="straightConnector1">
            <a:avLst/>
          </a:prstGeom>
          <a:ln xmlns:a="http://schemas.openxmlformats.org/drawingml/2006/main" w="9525">
            <a:solidFill>
              <a:srgbClr val="D5D5D5"/>
            </a:solidFill>
            <a:prstDash val="solid"/>
          </a:ln>
        </p:spPr>
      </p:cxnSp>
      <p:cxnSp>
        <p:nvCxnSpPr>
          <p:cNvPr id="23" name="Data flow">
            <a:extLst xmlns:a="http://schemas.openxmlformats.org/drawingml/2006/main">
              <a:ext uri="{FF2B5EF4-FFF2-40B4-BE49-F238E27FC236}">
                <a16:creationId xmlns:a16="http://schemas.microsoft.com/office/drawing/2014/main" id="{97A65B93-04D5-4A4C-8D5C-B7E7DB128FF4}"/>
              </a:ext>
            </a:extLst>
          </p:cNvPr>
          <p:cNvCxnSpPr/>
          <p:nvPr/>
        </p:nvCxnSpPr>
        <p:spPr>
          <a:xfrm xmlns:a="http://schemas.openxmlformats.org/drawingml/2006/main">
            <a:off x="2057400" y="1952625"/>
            <a:ext cx="0" cy="4229100"/>
          </a:xfrm>
          <a:prstGeom xmlns:a="http://schemas.openxmlformats.org/drawingml/2006/main" prst="straightConnector1">
            <a:avLst/>
          </a:prstGeom>
          <a:ln xmlns:a="http://schemas.openxmlformats.org/drawingml/2006/main" w="9525">
            <a:solidFill>
              <a:srgbClr val="D5D5D5"/>
            </a:solidFill>
            <a:prstDash val="solid"/>
          </a:ln>
        </p:spPr>
      </p:cxnSp>
      <p:sp>
        <p:nvSpPr>
          <p:cNvPr id="24" name="MemeScope">
            <a:extLst xmlns:a="http://schemas.openxmlformats.org/drawingml/2006/main">
              <a:ext uri="{FF2B5EF4-FFF2-40B4-BE49-F238E27FC236}">
                <a16:creationId xmlns:a16="http://schemas.microsoft.com/office/drawing/2014/main" id="{BA2CBB88-0C5C-4D4A-8ABA-9E6D7DB90646}"/>
              </a:ext>
            </a:extLst>
          </p:cNvPr>
          <p:cNvSpPr>
            <a:spLocks xmlns:a="http://schemas.openxmlformats.org/drawingml/2006/main" noGrp="1"/>
          </p:cNvSpPr>
          <p:nvPr/>
        </p:nvSpPr>
        <p:spPr>
          <a:xfrm xmlns:a="http://schemas.openxmlformats.org/drawingml/2006/main">
            <a:off x="742950" y="155257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MemeScope</a:t>
            </a:r>
          </a:p>
        </p:txBody>
      </p:sp>
      <p:sp>
        <p:nvSpPr>
          <p:cNvPr id="25" name="Price + social direction">
            <a:extLst xmlns:a="http://schemas.openxmlformats.org/drawingml/2006/main">
              <a:ext uri="{FF2B5EF4-FFF2-40B4-BE49-F238E27FC236}">
                <a16:creationId xmlns:a16="http://schemas.microsoft.com/office/drawing/2014/main" id="{66F48AFC-1852-4A0C-BE41-69D2857EA7E9}"/>
              </a:ext>
            </a:extLst>
          </p:cNvPr>
          <p:cNvSpPr>
            <a:spLocks xmlns:a="http://schemas.openxmlformats.org/drawingml/2006/main" noGrp="1"/>
          </p:cNvSpPr>
          <p:nvPr/>
        </p:nvSpPr>
        <p:spPr>
          <a:xfrm xmlns:a="http://schemas.openxmlformats.org/drawingml/2006/main">
            <a:off x="2667000" y="16097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55555"/>
                </a:solidFill>
                <a:latin typeface="Geist"/>
                <a:ea typeface="Geist"/>
                <a:cs typeface="Geist"/>
              </a:defRPr>
            </a:defPPr>
          </a:lstStyle>
          <a:p xmlns:a="http://schemas.openxmlformats.org/drawingml/2006/main">
            <a:pPr algn="l">
              <a:defRPr sz="1275" b="0">
                <a:solidFill>
                  <a:srgbClr val="555555"/>
                </a:solidFill>
                <a:latin typeface="Geist"/>
                <a:ea typeface="Geist"/>
                <a:cs typeface="Geist"/>
              </a:defRPr>
            </a:pPr>
            <a:r>
              <a:rPr sz="1275" b="0">
                <a:solidFill>
                  <a:srgbClr val="555555"/>
                </a:solidFill>
                <a:latin typeface="Geist"/>
                <a:ea typeface="Geist"/>
                <a:cs typeface="Geist"/>
              </a:rPr>
              <a:t>Price + social direction</a:t>
            </a:r>
          </a:p>
        </p:txBody>
      </p:sp>
      <p:sp>
        <p:nvSpPr>
          <p:cNvPr id="26" name="ILLUSTRATIVE UI">
            <a:extLst xmlns:a="http://schemas.openxmlformats.org/drawingml/2006/main">
              <a:ext uri="{FF2B5EF4-FFF2-40B4-BE49-F238E27FC236}">
                <a16:creationId xmlns:a16="http://schemas.microsoft.com/office/drawing/2014/main" id="{DAF3F23C-5135-4A29-87B2-860CE4A2B8B8}"/>
              </a:ext>
            </a:extLst>
          </p:cNvPr>
          <p:cNvSpPr>
            <a:spLocks xmlns:a="http://schemas.openxmlformats.org/drawingml/2006/main" noGrp="1"/>
          </p:cNvSpPr>
          <p:nvPr/>
        </p:nvSpPr>
        <p:spPr>
          <a:xfrm xmlns:a="http://schemas.openxmlformats.org/drawingml/2006/main">
            <a:off x="9696450" y="1609725"/>
            <a:ext cx="1771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1">
                <a:solidFill>
                  <a:srgbClr val="A61955"/>
                </a:solidFill>
                <a:latin typeface="Geist Mono"/>
                <a:ea typeface="Geist Mono"/>
                <a:cs typeface="Geist Mono"/>
              </a:defRPr>
            </a:defPPr>
          </a:lstStyle>
          <a:p xmlns:a="http://schemas.openxmlformats.org/drawingml/2006/main">
            <a:pPr algn="r">
              <a:defRPr sz="1125" b="1">
                <a:solidFill>
                  <a:srgbClr val="A61955"/>
                </a:solidFill>
                <a:latin typeface="Geist Mono"/>
                <a:ea typeface="Geist Mono"/>
                <a:cs typeface="Geist Mono"/>
              </a:defRPr>
            </a:pPr>
            <a:r>
              <a:rPr sz="1125" b="1">
                <a:solidFill>
                  <a:srgbClr val="A61955"/>
                </a:solidFill>
                <a:latin typeface="Geist Mono"/>
                <a:ea typeface="Geist Mono"/>
                <a:cs typeface="Geist Mono"/>
              </a:rPr>
              <a:t>ILLUSTRATIVE UI</a:t>
            </a:r>
          </a:p>
        </p:txBody>
      </p:sp>
      <p:sp>
        <p:nvSpPr>
          <p:cNvPr id="27" name="WATCHLIST">
            <a:extLst xmlns:a="http://schemas.openxmlformats.org/drawingml/2006/main">
              <a:ext uri="{FF2B5EF4-FFF2-40B4-BE49-F238E27FC236}">
                <a16:creationId xmlns:a16="http://schemas.microsoft.com/office/drawing/2014/main" id="{9D6E3557-4FF3-410A-BE43-1E7622AA177E}"/>
              </a:ext>
            </a:extLst>
          </p:cNvPr>
          <p:cNvSpPr>
            <a:spLocks xmlns:a="http://schemas.openxmlformats.org/drawingml/2006/main" noGrp="1"/>
          </p:cNvSpPr>
          <p:nvPr/>
        </p:nvSpPr>
        <p:spPr>
          <a:xfrm xmlns:a="http://schemas.openxmlformats.org/drawingml/2006/main">
            <a:off x="742950" y="215265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5555"/>
                </a:solidFill>
                <a:latin typeface="Geist Mono"/>
                <a:ea typeface="Geist Mono"/>
                <a:cs typeface="Geist Mono"/>
              </a:defRPr>
            </a:defPPr>
          </a:lstStyle>
          <a:p xmlns:a="http://schemas.openxmlformats.org/drawingml/2006/main">
            <a:pPr algn="l">
              <a:defRPr sz="1050" b="0">
                <a:solidFill>
                  <a:srgbClr val="555555"/>
                </a:solidFill>
                <a:latin typeface="Geist Mono"/>
                <a:ea typeface="Geist Mono"/>
                <a:cs typeface="Geist Mono"/>
              </a:defRPr>
            </a:pPr>
            <a:r>
              <a:rPr sz="1050" b="0">
                <a:solidFill>
                  <a:srgbClr val="555555"/>
                </a:solidFill>
                <a:latin typeface="Geist Mono"/>
                <a:ea typeface="Geist Mono"/>
                <a:cs typeface="Geist Mono"/>
              </a:rPr>
              <a:t>WATCHLIST</a:t>
            </a:r>
          </a:p>
        </p:txBody>
      </p:sp>
      <p:sp>
        <p:nvSpPr>
          <p:cNvPr id="28" name="Selected coin">
            <a:extLst xmlns:a="http://schemas.openxmlformats.org/drawingml/2006/main">
              <a:ext uri="{FF2B5EF4-FFF2-40B4-BE49-F238E27FC236}">
                <a16:creationId xmlns:a16="http://schemas.microsoft.com/office/drawing/2014/main" id="{9CF34A5D-7B86-4536-872D-19B4440D66F1}"/>
              </a:ext>
            </a:extLst>
          </p:cNvPr>
          <p:cNvSpPr>
            <a:spLocks xmlns:a="http://schemas.openxmlformats.org/drawingml/2006/main" noGrp="1"/>
          </p:cNvSpPr>
          <p:nvPr/>
        </p:nvSpPr>
        <p:spPr>
          <a:xfrm xmlns:a="http://schemas.openxmlformats.org/drawingml/2006/main">
            <a:off x="666750" y="2514600"/>
            <a:ext cx="1238250" cy="381000"/>
          </a:xfrm>
          <a:prstGeom xmlns:a="http://schemas.openxmlformats.org/drawingml/2006/main" prst="roundRect">
            <a:avLst>
              <a:gd name="adj" fmla="val 15000"/>
            </a:avLst>
          </a:prstGeom>
          <a:noFill xmlns:a="http://schemas.openxmlformats.org/drawingml/2006/main"/>
          <a:ln xmlns:a="http://schemas.openxmlformats.org/drawingml/2006/main" w="12859">
            <a:solidFill>
              <a:srgbClr val="A61955"/>
            </a:solidFill>
          </a:ln>
        </p:spPr>
      </p:sp>
      <p:sp>
        <p:nvSpPr>
          <p:cNvPr id="29" name="DOGE">
            <a:extLst xmlns:a="http://schemas.openxmlformats.org/drawingml/2006/main">
              <a:ext uri="{FF2B5EF4-FFF2-40B4-BE49-F238E27FC236}">
                <a16:creationId xmlns:a16="http://schemas.microsoft.com/office/drawing/2014/main" id="{1565C1DF-3F8C-4088-925D-C5DC5B0DFFEE}"/>
              </a:ext>
            </a:extLst>
          </p:cNvPr>
          <p:cNvSpPr>
            <a:spLocks xmlns:a="http://schemas.openxmlformats.org/drawingml/2006/main" noGrp="1"/>
          </p:cNvSpPr>
          <p:nvPr/>
        </p:nvSpPr>
        <p:spPr>
          <a:xfrm xmlns:a="http://schemas.openxmlformats.org/drawingml/2006/main">
            <a:off x="819150" y="260032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61955"/>
                </a:solidFill>
                <a:latin typeface="Geist"/>
                <a:ea typeface="Geist"/>
                <a:cs typeface="Geist"/>
              </a:defRPr>
            </a:defPPr>
          </a:lstStyle>
          <a:p xmlns:a="http://schemas.openxmlformats.org/drawingml/2006/main">
            <a:pPr algn="l">
              <a:defRPr sz="1500" b="1">
                <a:solidFill>
                  <a:srgbClr val="A61955"/>
                </a:solidFill>
                <a:latin typeface="Geist"/>
                <a:ea typeface="Geist"/>
                <a:cs typeface="Geist"/>
              </a:defRPr>
            </a:pPr>
            <a:r>
              <a:rPr sz="1500" b="1">
                <a:solidFill>
                  <a:srgbClr val="A61955"/>
                </a:solidFill>
                <a:latin typeface="Geist"/>
                <a:ea typeface="Geist"/>
                <a:cs typeface="Geist"/>
              </a:rPr>
              <a:t>DOGE</a:t>
            </a:r>
          </a:p>
        </p:txBody>
      </p:sp>
      <p:sp>
        <p:nvSpPr>
          <p:cNvPr id="30" name="SHIB">
            <a:extLst xmlns:a="http://schemas.openxmlformats.org/drawingml/2006/main">
              <a:ext uri="{FF2B5EF4-FFF2-40B4-BE49-F238E27FC236}">
                <a16:creationId xmlns:a16="http://schemas.microsoft.com/office/drawing/2014/main" id="{BDF7A130-275A-4A54-841E-60EF1E4DA924}"/>
              </a:ext>
            </a:extLst>
          </p:cNvPr>
          <p:cNvSpPr>
            <a:spLocks xmlns:a="http://schemas.openxmlformats.org/drawingml/2006/main" noGrp="1"/>
          </p:cNvSpPr>
          <p:nvPr/>
        </p:nvSpPr>
        <p:spPr>
          <a:xfrm xmlns:a="http://schemas.openxmlformats.org/drawingml/2006/main">
            <a:off x="819150" y="3105150"/>
            <a:ext cx="104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Geist"/>
                <a:ea typeface="Geist"/>
                <a:cs typeface="Geist"/>
              </a:defRPr>
            </a:defPPr>
          </a:lstStyle>
          <a:p xmlns:a="http://schemas.openxmlformats.org/drawingml/2006/main">
            <a:pPr algn="l">
              <a:defRPr sz="1500" b="0">
                <a:solidFill>
                  <a:srgbClr val="555555"/>
                </a:solidFill>
                <a:latin typeface="Geist"/>
                <a:ea typeface="Geist"/>
                <a:cs typeface="Geist"/>
              </a:defRPr>
            </a:pPr>
            <a:r>
              <a:rPr sz="1500" b="0">
                <a:solidFill>
                  <a:srgbClr val="555555"/>
                </a:solidFill>
                <a:latin typeface="Geist"/>
                <a:ea typeface="Geist"/>
                <a:cs typeface="Geist"/>
              </a:rPr>
              <a:t>SHIB</a:t>
            </a:r>
          </a:p>
        </p:txBody>
      </p:sp>
      <p:sp>
        <p:nvSpPr>
          <p:cNvPr id="31" name="PEPE">
            <a:extLst xmlns:a="http://schemas.openxmlformats.org/drawingml/2006/main">
              <a:ext uri="{FF2B5EF4-FFF2-40B4-BE49-F238E27FC236}">
                <a16:creationId xmlns:a16="http://schemas.microsoft.com/office/drawing/2014/main" id="{DC948950-FDCA-47B5-99B7-38EF011FB644}"/>
              </a:ext>
            </a:extLst>
          </p:cNvPr>
          <p:cNvSpPr>
            <a:spLocks xmlns:a="http://schemas.openxmlformats.org/drawingml/2006/main" noGrp="1"/>
          </p:cNvSpPr>
          <p:nvPr/>
        </p:nvSpPr>
        <p:spPr>
          <a:xfrm xmlns:a="http://schemas.openxmlformats.org/drawingml/2006/main">
            <a:off x="819150" y="3514725"/>
            <a:ext cx="104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Geist"/>
                <a:ea typeface="Geist"/>
                <a:cs typeface="Geist"/>
              </a:defRPr>
            </a:defPPr>
          </a:lstStyle>
          <a:p xmlns:a="http://schemas.openxmlformats.org/drawingml/2006/main">
            <a:pPr algn="l">
              <a:defRPr sz="1500" b="0">
                <a:solidFill>
                  <a:srgbClr val="555555"/>
                </a:solidFill>
                <a:latin typeface="Geist"/>
                <a:ea typeface="Geist"/>
                <a:cs typeface="Geist"/>
              </a:defRPr>
            </a:pPr>
            <a:r>
              <a:rPr sz="1500" b="0">
                <a:solidFill>
                  <a:srgbClr val="555555"/>
                </a:solidFill>
                <a:latin typeface="Geist"/>
                <a:ea typeface="Geist"/>
                <a:cs typeface="Geist"/>
              </a:rPr>
              <a:t>PEPE</a:t>
            </a:r>
          </a:p>
        </p:txBody>
      </p:sp>
      <p:sp>
        <p:nvSpPr>
          <p:cNvPr id="32" name="BONK">
            <a:extLst xmlns:a="http://schemas.openxmlformats.org/drawingml/2006/main">
              <a:ext uri="{FF2B5EF4-FFF2-40B4-BE49-F238E27FC236}">
                <a16:creationId xmlns:a16="http://schemas.microsoft.com/office/drawing/2014/main" id="{F19E0718-4ADB-459E-B173-6FB888490980}"/>
              </a:ext>
            </a:extLst>
          </p:cNvPr>
          <p:cNvSpPr>
            <a:spLocks xmlns:a="http://schemas.openxmlformats.org/drawingml/2006/main" noGrp="1"/>
          </p:cNvSpPr>
          <p:nvPr/>
        </p:nvSpPr>
        <p:spPr>
          <a:xfrm xmlns:a="http://schemas.openxmlformats.org/drawingml/2006/main">
            <a:off x="819150" y="3924300"/>
            <a:ext cx="104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Geist"/>
                <a:ea typeface="Geist"/>
                <a:cs typeface="Geist"/>
              </a:defRPr>
            </a:defPPr>
          </a:lstStyle>
          <a:p xmlns:a="http://schemas.openxmlformats.org/drawingml/2006/main">
            <a:pPr algn="l">
              <a:defRPr sz="1500" b="0">
                <a:solidFill>
                  <a:srgbClr val="555555"/>
                </a:solidFill>
                <a:latin typeface="Geist"/>
                <a:ea typeface="Geist"/>
                <a:cs typeface="Geist"/>
              </a:defRPr>
            </a:pPr>
            <a:r>
              <a:rPr sz="1500" b="0">
                <a:solidFill>
                  <a:srgbClr val="555555"/>
                </a:solidFill>
                <a:latin typeface="Geist"/>
                <a:ea typeface="Geist"/>
                <a:cs typeface="Geist"/>
              </a:rPr>
              <a:t>BONK</a:t>
            </a:r>
          </a:p>
        </p:txBody>
      </p:sp>
      <p:sp>
        <p:nvSpPr>
          <p:cNvPr id="33" name="SPX">
            <a:extLst xmlns:a="http://schemas.openxmlformats.org/drawingml/2006/main">
              <a:ext uri="{FF2B5EF4-FFF2-40B4-BE49-F238E27FC236}">
                <a16:creationId xmlns:a16="http://schemas.microsoft.com/office/drawing/2014/main" id="{A9A7CB90-7BF8-4473-AF81-06EB233E009C}"/>
              </a:ext>
            </a:extLst>
          </p:cNvPr>
          <p:cNvSpPr>
            <a:spLocks xmlns:a="http://schemas.openxmlformats.org/drawingml/2006/main" noGrp="1"/>
          </p:cNvSpPr>
          <p:nvPr/>
        </p:nvSpPr>
        <p:spPr>
          <a:xfrm xmlns:a="http://schemas.openxmlformats.org/drawingml/2006/main">
            <a:off x="819150" y="4333875"/>
            <a:ext cx="104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Geist"/>
                <a:ea typeface="Geist"/>
                <a:cs typeface="Geist"/>
              </a:defRPr>
            </a:defPPr>
          </a:lstStyle>
          <a:p xmlns:a="http://schemas.openxmlformats.org/drawingml/2006/main">
            <a:pPr algn="l">
              <a:defRPr sz="1500" b="0">
                <a:solidFill>
                  <a:srgbClr val="555555"/>
                </a:solidFill>
                <a:latin typeface="Geist"/>
                <a:ea typeface="Geist"/>
                <a:cs typeface="Geist"/>
              </a:defRPr>
            </a:pPr>
            <a:r>
              <a:rPr sz="1500" b="0">
                <a:solidFill>
                  <a:srgbClr val="555555"/>
                </a:solidFill>
                <a:latin typeface="Geist"/>
                <a:ea typeface="Geist"/>
                <a:cs typeface="Geist"/>
              </a:rPr>
              <a:t>SPX</a:t>
            </a:r>
          </a:p>
        </p:txBody>
      </p:sp>
      <p:sp>
        <p:nvSpPr>
          <p:cNvPr id="34" name="10 price assets&#10;5 forecast assets">
            <a:extLst xmlns:a="http://schemas.openxmlformats.org/drawingml/2006/main">
              <a:ext uri="{FF2B5EF4-FFF2-40B4-BE49-F238E27FC236}">
                <a16:creationId xmlns:a16="http://schemas.microsoft.com/office/drawing/2014/main" id="{DA0EDBFA-D4B1-409B-9FDD-45C20A704BC2}"/>
              </a:ext>
            </a:extLst>
          </p:cNvPr>
          <p:cNvSpPr>
            <a:spLocks xmlns:a="http://schemas.openxmlformats.org/drawingml/2006/main" noGrp="1"/>
          </p:cNvSpPr>
          <p:nvPr/>
        </p:nvSpPr>
        <p:spPr>
          <a:xfrm xmlns:a="http://schemas.openxmlformats.org/drawingml/2006/main">
            <a:off x="742950" y="5257800"/>
            <a:ext cx="118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55555"/>
                </a:solidFill>
                <a:latin typeface="Geist"/>
                <a:ea typeface="Geist"/>
                <a:cs typeface="Geist"/>
              </a:defRPr>
            </a:defPPr>
          </a:lstStyle>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10 price assets</a:t>
            </a:r>
          </a:p>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5 forecast assets</a:t>
            </a:r>
          </a:p>
        </p:txBody>
      </p:sp>
      <p:sp>
        <p:nvSpPr>
          <p:cNvPr id="35" name="Daily batch">
            <a:extLst xmlns:a="http://schemas.openxmlformats.org/drawingml/2006/main">
              <a:ext uri="{FF2B5EF4-FFF2-40B4-BE49-F238E27FC236}">
                <a16:creationId xmlns:a16="http://schemas.microsoft.com/office/drawing/2014/main" id="{CDF1BFEE-EBEA-4656-BAA4-C4F3767D5CF0}"/>
              </a:ext>
            </a:extLst>
          </p:cNvPr>
          <p:cNvSpPr>
            <a:spLocks xmlns:a="http://schemas.openxmlformats.org/drawingml/2006/main" noGrp="1"/>
          </p:cNvSpPr>
          <p:nvPr/>
        </p:nvSpPr>
        <p:spPr>
          <a:xfrm xmlns:a="http://schemas.openxmlformats.org/drawingml/2006/main">
            <a:off x="742950" y="5857875"/>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55555"/>
                </a:solidFill>
                <a:latin typeface="Geist"/>
                <a:ea typeface="Geist"/>
                <a:cs typeface="Geist"/>
              </a:defRPr>
            </a:defPPr>
          </a:lstStyle>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Daily batch</a:t>
            </a:r>
          </a:p>
        </p:txBody>
      </p:sp>
      <p:sp>
        <p:nvSpPr>
          <p:cNvPr id="36" name="DOGE">
            <a:extLst xmlns:a="http://schemas.openxmlformats.org/drawingml/2006/main">
              <a:ext uri="{FF2B5EF4-FFF2-40B4-BE49-F238E27FC236}">
                <a16:creationId xmlns:a16="http://schemas.microsoft.com/office/drawing/2014/main" id="{BCA00378-1C8A-4ACD-AE0E-490F7436B494}"/>
              </a:ext>
            </a:extLst>
          </p:cNvPr>
          <p:cNvSpPr>
            <a:spLocks xmlns:a="http://schemas.openxmlformats.org/drawingml/2006/main" noGrp="1"/>
          </p:cNvSpPr>
          <p:nvPr/>
        </p:nvSpPr>
        <p:spPr>
          <a:xfrm xmlns:a="http://schemas.openxmlformats.org/drawingml/2006/main">
            <a:off x="2286000" y="2114550"/>
            <a:ext cx="95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DOGE</a:t>
            </a:r>
          </a:p>
        </p:txBody>
      </p:sp>
      <p:sp>
        <p:nvSpPr>
          <p:cNvPr id="37" name="$0.0945">
            <a:extLst xmlns:a="http://schemas.openxmlformats.org/drawingml/2006/main">
              <a:ext uri="{FF2B5EF4-FFF2-40B4-BE49-F238E27FC236}">
                <a16:creationId xmlns:a16="http://schemas.microsoft.com/office/drawing/2014/main" id="{F3E773A0-F9D1-4999-BFC9-ADB48ED82E12}"/>
              </a:ext>
            </a:extLst>
          </p:cNvPr>
          <p:cNvSpPr>
            <a:spLocks xmlns:a="http://schemas.openxmlformats.org/drawingml/2006/main" noGrp="1"/>
          </p:cNvSpPr>
          <p:nvPr/>
        </p:nvSpPr>
        <p:spPr>
          <a:xfrm xmlns:a="http://schemas.openxmlformats.org/drawingml/2006/main">
            <a:off x="3419475" y="2114550"/>
            <a:ext cx="128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$0.0945</a:t>
            </a:r>
          </a:p>
        </p:txBody>
      </p:sp>
      <p:sp>
        <p:nvSpPr>
          <p:cNvPr id="38" name="+0.66%  1D">
            <a:extLst xmlns:a="http://schemas.openxmlformats.org/drawingml/2006/main">
              <a:ext uri="{FF2B5EF4-FFF2-40B4-BE49-F238E27FC236}">
                <a16:creationId xmlns:a16="http://schemas.microsoft.com/office/drawing/2014/main" id="{14D16F45-AD88-4AD4-8A9B-F39EC402F4C4}"/>
              </a:ext>
            </a:extLst>
          </p:cNvPr>
          <p:cNvSpPr>
            <a:spLocks xmlns:a="http://schemas.openxmlformats.org/drawingml/2006/main" noGrp="1"/>
          </p:cNvSpPr>
          <p:nvPr/>
        </p:nvSpPr>
        <p:spPr>
          <a:xfrm xmlns:a="http://schemas.openxmlformats.org/drawingml/2006/main">
            <a:off x="4857750" y="218122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A61955"/>
                </a:solidFill>
                <a:latin typeface="Geist"/>
                <a:ea typeface="Geist"/>
                <a:cs typeface="Geist"/>
              </a:defRPr>
            </a:defPPr>
          </a:lstStyle>
          <a:p xmlns:a="http://schemas.openxmlformats.org/drawingml/2006/main">
            <a:pPr algn="l">
              <a:defRPr sz="1350" b="0">
                <a:solidFill>
                  <a:srgbClr val="A61955"/>
                </a:solidFill>
                <a:latin typeface="Geist"/>
                <a:ea typeface="Geist"/>
                <a:cs typeface="Geist"/>
              </a:defRPr>
            </a:pPr>
            <a:r>
              <a:rPr sz="1350" b="0">
                <a:solidFill>
                  <a:srgbClr val="A61955"/>
                </a:solidFill>
                <a:latin typeface="Geist"/>
                <a:ea typeface="Geist"/>
                <a:cs typeface="Geist"/>
              </a:rPr>
              <a:t>+0.66%  1D</a:t>
            </a:r>
          </a:p>
        </p:txBody>
      </p:sp>
      <p:sp>
        <p:nvSpPr>
          <p:cNvPr id="39" name="Close: 30 Sep 2026">
            <a:extLst xmlns:a="http://schemas.openxmlformats.org/drawingml/2006/main">
              <a:ext uri="{FF2B5EF4-FFF2-40B4-BE49-F238E27FC236}">
                <a16:creationId xmlns:a16="http://schemas.microsoft.com/office/drawing/2014/main" id="{0DAE594F-BAD0-4CA3-92A4-AE3B80DD98F8}"/>
              </a:ext>
            </a:extLst>
          </p:cNvPr>
          <p:cNvSpPr>
            <a:spLocks xmlns:a="http://schemas.openxmlformats.org/drawingml/2006/main" noGrp="1"/>
          </p:cNvSpPr>
          <p:nvPr/>
        </p:nvSpPr>
        <p:spPr>
          <a:xfrm xmlns:a="http://schemas.openxmlformats.org/drawingml/2006/main">
            <a:off x="2286000" y="2514600"/>
            <a:ext cx="2714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55555"/>
                </a:solidFill>
                <a:latin typeface="Geist"/>
                <a:ea typeface="Geist"/>
                <a:cs typeface="Geist"/>
              </a:defRPr>
            </a:defPPr>
          </a:lstStyle>
          <a:p xmlns:a="http://schemas.openxmlformats.org/drawingml/2006/main">
            <a:pPr algn="l">
              <a:defRPr sz="1275" b="0">
                <a:solidFill>
                  <a:srgbClr val="555555"/>
                </a:solidFill>
                <a:latin typeface="Geist"/>
                <a:ea typeface="Geist"/>
                <a:cs typeface="Geist"/>
              </a:defRPr>
            </a:pPr>
            <a:r>
              <a:rPr sz="1275" b="0">
                <a:solidFill>
                  <a:srgbClr val="555555"/>
                </a:solidFill>
                <a:latin typeface="Geist"/>
                <a:ea typeface="Geist"/>
                <a:cs typeface="Geist"/>
              </a:rPr>
              <a:t>Close: 30 Sep 2026</a:t>
            </a:r>
          </a:p>
        </p:txBody>
      </p:sp>
      <p:sp>
        <p:nvSpPr>
          <p:cNvPr id="40" name="Q3 2026">
            <a:extLst xmlns:a="http://schemas.openxmlformats.org/drawingml/2006/main">
              <a:ext uri="{FF2B5EF4-FFF2-40B4-BE49-F238E27FC236}">
                <a16:creationId xmlns:a16="http://schemas.microsoft.com/office/drawing/2014/main" id="{85497FBE-4A79-4357-BA28-705CAFE10915}"/>
              </a:ext>
            </a:extLst>
          </p:cNvPr>
          <p:cNvSpPr>
            <a:spLocks xmlns:a="http://schemas.openxmlformats.org/drawingml/2006/main" noGrp="1"/>
          </p:cNvSpPr>
          <p:nvPr/>
        </p:nvSpPr>
        <p:spPr>
          <a:xfrm xmlns:a="http://schemas.openxmlformats.org/drawingml/2006/main">
            <a:off x="6705600" y="25050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55555"/>
                </a:solidFill>
                <a:latin typeface="Geist Mono"/>
                <a:ea typeface="Geist Mono"/>
                <a:cs typeface="Geist Mono"/>
              </a:defRPr>
            </a:defPPr>
          </a:lstStyle>
          <a:p xmlns:a="http://schemas.openxmlformats.org/drawingml/2006/main">
            <a:pPr algn="r">
              <a:defRPr sz="1275" b="0">
                <a:solidFill>
                  <a:srgbClr val="555555"/>
                </a:solidFill>
                <a:latin typeface="Geist Mono"/>
                <a:ea typeface="Geist Mono"/>
                <a:cs typeface="Geist Mono"/>
              </a:defRPr>
            </a:pPr>
            <a:r>
              <a:rPr sz="1275" b="0">
                <a:solidFill>
                  <a:srgbClr val="555555"/>
                </a:solidFill>
                <a:latin typeface="Geist Mono"/>
                <a:ea typeface="Geist Mono"/>
                <a:cs typeface="Geist Mono"/>
              </a:rPr>
              <a:t>Q3 2026</a:t>
            </a:r>
          </a:p>
        </p:txBody>
      </p:sp>
      <p:cxnSp>
        <p:nvCxnSpPr>
          <p:cNvPr id="41" name="Data flow">
            <a:extLst xmlns:a="http://schemas.openxmlformats.org/drawingml/2006/main">
              <a:ext uri="{FF2B5EF4-FFF2-40B4-BE49-F238E27FC236}">
                <a16:creationId xmlns:a16="http://schemas.microsoft.com/office/drawing/2014/main" id="{429FEA2E-63CC-491C-85BB-59ECA316E274}"/>
              </a:ext>
            </a:extLst>
          </p:cNvPr>
          <p:cNvCxnSpPr/>
          <p:nvPr/>
        </p:nvCxnSpPr>
        <p:spPr>
          <a:xfrm xmlns:a="http://schemas.openxmlformats.org/drawingml/2006/main">
            <a:off x="2286000" y="5248275"/>
            <a:ext cx="5734050" cy="0"/>
          </a:xfrm>
          <a:prstGeom xmlns:a="http://schemas.openxmlformats.org/drawingml/2006/main" prst="straightConnector1">
            <a:avLst/>
          </a:prstGeom>
          <a:ln xmlns:a="http://schemas.openxmlformats.org/drawingml/2006/main" w="9525">
            <a:solidFill>
              <a:srgbClr val="D5D5D5"/>
            </a:solidFill>
            <a:prstDash val="solid"/>
          </a:ln>
        </p:spPr>
      </p:cxnSp>
      <p:sp>
        <p:nvSpPr>
          <p:cNvPr id="42" name="Past predictions">
            <a:extLst xmlns:a="http://schemas.openxmlformats.org/drawingml/2006/main">
              <a:ext uri="{FF2B5EF4-FFF2-40B4-BE49-F238E27FC236}">
                <a16:creationId xmlns:a16="http://schemas.microsoft.com/office/drawing/2014/main" id="{3F37995D-6B5D-4B0E-AAF5-73FE21027E8C}"/>
              </a:ext>
            </a:extLst>
          </p:cNvPr>
          <p:cNvSpPr>
            <a:spLocks xmlns:a="http://schemas.openxmlformats.org/drawingml/2006/main" noGrp="1"/>
          </p:cNvSpPr>
          <p:nvPr/>
        </p:nvSpPr>
        <p:spPr>
          <a:xfrm xmlns:a="http://schemas.openxmlformats.org/drawingml/2006/main">
            <a:off x="2286000" y="5381625"/>
            <a:ext cx="266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11111"/>
                </a:solidFill>
                <a:latin typeface="Geist"/>
                <a:ea typeface="Geist"/>
                <a:cs typeface="Geist"/>
              </a:defRPr>
            </a:defPPr>
          </a:lstStyle>
          <a:p xmlns:a="http://schemas.openxmlformats.org/drawingml/2006/main">
            <a:pPr algn="l">
              <a:defRPr sz="1500" b="1">
                <a:solidFill>
                  <a:srgbClr val="111111"/>
                </a:solidFill>
                <a:latin typeface="Geist"/>
                <a:ea typeface="Geist"/>
                <a:cs typeface="Geist"/>
              </a:defRPr>
            </a:pPr>
            <a:r>
              <a:rPr sz="1500" b="1">
                <a:solidFill>
                  <a:srgbClr val="111111"/>
                </a:solidFill>
                <a:latin typeface="Geist"/>
                <a:ea typeface="Geist"/>
                <a:cs typeface="Geist"/>
              </a:rPr>
              <a:t>Past predictions</a:t>
            </a:r>
          </a:p>
        </p:txBody>
      </p:sp>
      <p:sp>
        <p:nvSpPr>
          <p:cNvPr id="43" name="Awaiting prospective results">
            <a:extLst xmlns:a="http://schemas.openxmlformats.org/drawingml/2006/main">
              <a:ext uri="{FF2B5EF4-FFF2-40B4-BE49-F238E27FC236}">
                <a16:creationId xmlns:a16="http://schemas.microsoft.com/office/drawing/2014/main" id="{BFA998DF-7F66-4509-AD2D-65AAA5070FC2}"/>
              </a:ext>
            </a:extLst>
          </p:cNvPr>
          <p:cNvSpPr>
            <a:spLocks xmlns:a="http://schemas.openxmlformats.org/drawingml/2006/main" noGrp="1"/>
          </p:cNvSpPr>
          <p:nvPr/>
        </p:nvSpPr>
        <p:spPr>
          <a:xfrm xmlns:a="http://schemas.openxmlformats.org/drawingml/2006/main">
            <a:off x="2286000" y="57435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55555"/>
                </a:solidFill>
                <a:latin typeface="Geist"/>
                <a:ea typeface="Geist"/>
                <a:cs typeface="Geist"/>
              </a:defRPr>
            </a:defPPr>
          </a:lstStyle>
          <a:p xmlns:a="http://schemas.openxmlformats.org/drawingml/2006/main">
            <a:pPr algn="l">
              <a:defRPr sz="1275" b="0">
                <a:solidFill>
                  <a:srgbClr val="555555"/>
                </a:solidFill>
                <a:latin typeface="Geist"/>
                <a:ea typeface="Geist"/>
                <a:cs typeface="Geist"/>
              </a:defRPr>
            </a:pPr>
            <a:r>
              <a:rPr sz="1275" b="0">
                <a:solidFill>
                  <a:srgbClr val="555555"/>
                </a:solidFill>
                <a:latin typeface="Geist"/>
                <a:ea typeface="Geist"/>
                <a:cs typeface="Geist"/>
              </a:rPr>
              <a:t>Awaiting prospective results</a:t>
            </a:r>
          </a:p>
        </p:txBody>
      </p:sp>
      <p:sp>
        <p:nvSpPr>
          <p:cNvPr id="44" name="No accuracy measured">
            <a:extLst xmlns:a="http://schemas.openxmlformats.org/drawingml/2006/main">
              <a:ext uri="{FF2B5EF4-FFF2-40B4-BE49-F238E27FC236}">
                <a16:creationId xmlns:a16="http://schemas.microsoft.com/office/drawing/2014/main" id="{83643B6D-8861-4D25-9087-0C2479D7EE3F}"/>
              </a:ext>
            </a:extLst>
          </p:cNvPr>
          <p:cNvSpPr>
            <a:spLocks xmlns:a="http://schemas.openxmlformats.org/drawingml/2006/main" noGrp="1"/>
          </p:cNvSpPr>
          <p:nvPr/>
        </p:nvSpPr>
        <p:spPr>
          <a:xfrm xmlns:a="http://schemas.openxmlformats.org/drawingml/2006/main">
            <a:off x="6048375" y="5410200"/>
            <a:ext cx="1971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55555"/>
                </a:solidFill>
                <a:latin typeface="Geist"/>
                <a:ea typeface="Geist"/>
                <a:cs typeface="Geist"/>
              </a:defRPr>
            </a:defPPr>
          </a:lstStyle>
          <a:p xmlns:a="http://schemas.openxmlformats.org/drawingml/2006/main">
            <a:pPr algn="r">
              <a:defRPr sz="1125" b="0">
                <a:solidFill>
                  <a:srgbClr val="555555"/>
                </a:solidFill>
                <a:latin typeface="Geist"/>
                <a:ea typeface="Geist"/>
                <a:cs typeface="Geist"/>
              </a:defRPr>
            </a:pPr>
            <a:r>
              <a:rPr sz="1125" b="0">
                <a:solidFill>
                  <a:srgbClr val="555555"/>
                </a:solidFill>
                <a:latin typeface="Geist"/>
                <a:ea typeface="Geist"/>
                <a:cs typeface="Geist"/>
              </a:rPr>
              <a:t>No accuracy measured</a:t>
            </a:r>
          </a:p>
        </p:txBody>
      </p:sp>
      <p:sp>
        <p:nvSpPr>
          <p:cNvPr id="45" name="Demo next-close prediction">
            <a:extLst xmlns:a="http://schemas.openxmlformats.org/drawingml/2006/main">
              <a:ext uri="{FF2B5EF4-FFF2-40B4-BE49-F238E27FC236}">
                <a16:creationId xmlns:a16="http://schemas.microsoft.com/office/drawing/2014/main" id="{B4D4D033-F417-4720-98E2-BECFF3EEC2C8}"/>
              </a:ext>
            </a:extLst>
          </p:cNvPr>
          <p:cNvSpPr>
            <a:spLocks xmlns:a="http://schemas.openxmlformats.org/drawingml/2006/main" noGrp="1"/>
          </p:cNvSpPr>
          <p:nvPr/>
        </p:nvSpPr>
        <p:spPr>
          <a:xfrm xmlns:a="http://schemas.openxmlformats.org/drawingml/2006/main">
            <a:off x="8239125" y="2095500"/>
            <a:ext cx="3190875" cy="1866900"/>
          </a:xfrm>
          <a:prstGeom xmlns:a="http://schemas.openxmlformats.org/drawingml/2006/main" prst="roundRect">
            <a:avLst>
              <a:gd name="adj" fmla="val 3061"/>
            </a:avLst>
          </a:prstGeom>
          <a:noFill xmlns:a="http://schemas.openxmlformats.org/drawingml/2006/main"/>
          <a:ln xmlns:a="http://schemas.openxmlformats.org/drawingml/2006/main" w="12859">
            <a:solidFill>
              <a:srgbClr val="A61955"/>
            </a:solidFill>
          </a:ln>
        </p:spPr>
      </p:sp>
      <p:sp>
        <p:nvSpPr>
          <p:cNvPr id="46" name="NEXT CLOSE">
            <a:extLst xmlns:a="http://schemas.openxmlformats.org/drawingml/2006/main">
              <a:ext uri="{FF2B5EF4-FFF2-40B4-BE49-F238E27FC236}">
                <a16:creationId xmlns:a16="http://schemas.microsoft.com/office/drawing/2014/main" id="{6A264DF0-1624-4530-8F1F-12B3DBB7065B}"/>
              </a:ext>
            </a:extLst>
          </p:cNvPr>
          <p:cNvSpPr>
            <a:spLocks xmlns:a="http://schemas.openxmlformats.org/drawingml/2006/main" noGrp="1"/>
          </p:cNvSpPr>
          <p:nvPr/>
        </p:nvSpPr>
        <p:spPr>
          <a:xfrm xmlns:a="http://schemas.openxmlformats.org/drawingml/2006/main">
            <a:off x="8410575" y="2257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5555"/>
                </a:solidFill>
                <a:latin typeface="Geist Mono"/>
                <a:ea typeface="Geist Mono"/>
                <a:cs typeface="Geist Mono"/>
              </a:defRPr>
            </a:defPPr>
          </a:lstStyle>
          <a:p xmlns:a="http://schemas.openxmlformats.org/drawingml/2006/main">
            <a:pPr algn="l">
              <a:defRPr sz="1050" b="0">
                <a:solidFill>
                  <a:srgbClr val="555555"/>
                </a:solidFill>
                <a:latin typeface="Geist Mono"/>
                <a:ea typeface="Geist Mono"/>
                <a:cs typeface="Geist Mono"/>
              </a:defRPr>
            </a:pPr>
            <a:r>
              <a:rPr sz="1050" b="0">
                <a:solidFill>
                  <a:srgbClr val="555555"/>
                </a:solidFill>
                <a:latin typeface="Geist Mono"/>
                <a:ea typeface="Geist Mono"/>
                <a:cs typeface="Geist Mono"/>
              </a:rPr>
              <a:t>NEXT CLOSE</a:t>
            </a:r>
          </a:p>
        </p:txBody>
      </p:sp>
      <p:sp>
        <p:nvSpPr>
          <p:cNvPr id="47" name="EXAMPLE">
            <a:extLst xmlns:a="http://schemas.openxmlformats.org/drawingml/2006/main">
              <a:ext uri="{FF2B5EF4-FFF2-40B4-BE49-F238E27FC236}">
                <a16:creationId xmlns:a16="http://schemas.microsoft.com/office/drawing/2014/main" id="{066FDFE0-BBFF-4D65-8412-863E88512D6D}"/>
              </a:ext>
            </a:extLst>
          </p:cNvPr>
          <p:cNvSpPr>
            <a:spLocks xmlns:a="http://schemas.openxmlformats.org/drawingml/2006/main" noGrp="1"/>
          </p:cNvSpPr>
          <p:nvPr/>
        </p:nvSpPr>
        <p:spPr>
          <a:xfrm xmlns:a="http://schemas.openxmlformats.org/drawingml/2006/main">
            <a:off x="10363200" y="2257425"/>
            <a:ext cx="895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1">
                <a:solidFill>
                  <a:srgbClr val="A61955"/>
                </a:solidFill>
                <a:latin typeface="Geist Mono"/>
                <a:ea typeface="Geist Mono"/>
                <a:cs typeface="Geist Mono"/>
              </a:defRPr>
            </a:defPPr>
          </a:lstStyle>
          <a:p xmlns:a="http://schemas.openxmlformats.org/drawingml/2006/main">
            <a:pPr algn="r">
              <a:defRPr sz="1050" b="1">
                <a:solidFill>
                  <a:srgbClr val="A61955"/>
                </a:solidFill>
                <a:latin typeface="Geist Mono"/>
                <a:ea typeface="Geist Mono"/>
                <a:cs typeface="Geist Mono"/>
              </a:defRPr>
            </a:pPr>
            <a:r>
              <a:rPr sz="1050" b="1">
                <a:solidFill>
                  <a:srgbClr val="A61955"/>
                </a:solidFill>
                <a:latin typeface="Geist Mono"/>
                <a:ea typeface="Geist Mono"/>
                <a:cs typeface="Geist Mono"/>
              </a:rPr>
              <a:t>EXAMPLE</a:t>
            </a:r>
          </a:p>
        </p:txBody>
      </p:sp>
      <p:sp>
        <p:nvSpPr>
          <p:cNvPr id="48" name="↑ UP">
            <a:extLst xmlns:a="http://schemas.openxmlformats.org/drawingml/2006/main">
              <a:ext uri="{FF2B5EF4-FFF2-40B4-BE49-F238E27FC236}">
                <a16:creationId xmlns:a16="http://schemas.microsoft.com/office/drawing/2014/main" id="{56C0C8E2-209C-4D59-BDF9-9CE78DFD4702}"/>
              </a:ext>
            </a:extLst>
          </p:cNvPr>
          <p:cNvSpPr>
            <a:spLocks xmlns:a="http://schemas.openxmlformats.org/drawingml/2006/main" noGrp="1"/>
          </p:cNvSpPr>
          <p:nvPr/>
        </p:nvSpPr>
        <p:spPr>
          <a:xfrm xmlns:a="http://schemas.openxmlformats.org/drawingml/2006/main">
            <a:off x="8401050" y="2543175"/>
            <a:ext cx="142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A61955"/>
                </a:solidFill>
                <a:latin typeface="Geist"/>
                <a:ea typeface="Geist"/>
                <a:cs typeface="Geist"/>
              </a:defRPr>
            </a:defPPr>
          </a:lstStyle>
          <a:p xmlns:a="http://schemas.openxmlformats.org/drawingml/2006/main">
            <a:pPr algn="l">
              <a:defRPr sz="3525" b="1">
                <a:solidFill>
                  <a:srgbClr val="A61955"/>
                </a:solidFill>
                <a:latin typeface="Geist"/>
                <a:ea typeface="Geist"/>
                <a:cs typeface="Geist"/>
              </a:defRPr>
            </a:pPr>
            <a:r>
              <a:rPr sz="3525" b="1">
                <a:solidFill>
                  <a:srgbClr val="A61955"/>
                </a:solidFill>
                <a:latin typeface="Geist"/>
                <a:ea typeface="Geist"/>
                <a:cs typeface="Geist"/>
              </a:rPr>
              <a:t>↑ UP</a:t>
            </a:r>
          </a:p>
        </p:txBody>
      </p:sp>
      <p:sp>
        <p:nvSpPr>
          <p:cNvPr id="49" name="Target&#10;01 Oct 2026">
            <a:extLst xmlns:a="http://schemas.openxmlformats.org/drawingml/2006/main">
              <a:ext uri="{FF2B5EF4-FFF2-40B4-BE49-F238E27FC236}">
                <a16:creationId xmlns:a16="http://schemas.microsoft.com/office/drawing/2014/main" id="{000D98EE-5C7F-461E-B4D0-B7A50DCA8EFB}"/>
              </a:ext>
            </a:extLst>
          </p:cNvPr>
          <p:cNvSpPr>
            <a:spLocks xmlns:a="http://schemas.openxmlformats.org/drawingml/2006/main" noGrp="1"/>
          </p:cNvSpPr>
          <p:nvPr/>
        </p:nvSpPr>
        <p:spPr>
          <a:xfrm xmlns:a="http://schemas.openxmlformats.org/drawingml/2006/main">
            <a:off x="9877425" y="2628900"/>
            <a:ext cx="1381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1111"/>
                </a:solidFill>
                <a:latin typeface="Geist"/>
                <a:ea typeface="Geist"/>
                <a:cs typeface="Geist"/>
              </a:defRPr>
            </a:defPPr>
          </a:lstStyle>
          <a:p xmlns:a="http://schemas.openxmlformats.org/drawingml/2006/main">
            <a:pPr algn="r">
              <a:defRPr sz="1350" b="0">
                <a:solidFill>
                  <a:srgbClr val="111111"/>
                </a:solidFill>
                <a:latin typeface="Geist"/>
                <a:ea typeface="Geist"/>
                <a:cs typeface="Geist"/>
              </a:defRPr>
            </a:pPr>
            <a:r>
              <a:rPr sz="1350" b="0">
                <a:solidFill>
                  <a:srgbClr val="111111"/>
                </a:solidFill>
                <a:latin typeface="Geist"/>
                <a:ea typeface="Geist"/>
                <a:cs typeface="Geist"/>
              </a:rPr>
              <a:t>Target</a:t>
            </a:r>
          </a:p>
          <a:p xmlns:a="http://schemas.openxmlformats.org/drawingml/2006/main">
            <a:pPr algn="r">
              <a:defRPr sz="1350" b="0">
                <a:solidFill>
                  <a:srgbClr val="111111"/>
                </a:solidFill>
                <a:latin typeface="Geist"/>
                <a:ea typeface="Geist"/>
                <a:cs typeface="Geist"/>
              </a:defRPr>
            </a:pPr>
            <a:r>
              <a:rPr sz="1350" b="0">
                <a:solidFill>
                  <a:srgbClr val="111111"/>
                </a:solidFill>
                <a:latin typeface="Geist"/>
                <a:ea typeface="Geist"/>
                <a:cs typeface="Geist"/>
              </a:rPr>
              <a:t>01 Oct 2026</a:t>
            </a:r>
          </a:p>
        </p:txBody>
      </p:sp>
      <p:sp>
        <p:nvSpPr>
          <p:cNvPr id="50" name="Example rationale">
            <a:extLst xmlns:a="http://schemas.openxmlformats.org/drawingml/2006/main">
              <a:ext uri="{FF2B5EF4-FFF2-40B4-BE49-F238E27FC236}">
                <a16:creationId xmlns:a16="http://schemas.microsoft.com/office/drawing/2014/main" id="{8640DC3B-F6C2-4B59-B6B9-8030D9F30BF1}"/>
              </a:ext>
            </a:extLst>
          </p:cNvPr>
          <p:cNvSpPr>
            <a:spLocks xmlns:a="http://schemas.openxmlformats.org/drawingml/2006/main" noGrp="1"/>
          </p:cNvSpPr>
          <p:nvPr/>
        </p:nvSpPr>
        <p:spPr>
          <a:xfrm xmlns:a="http://schemas.openxmlformats.org/drawingml/2006/main">
            <a:off x="8410575" y="3209925"/>
            <a:ext cx="276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11111"/>
                </a:solidFill>
                <a:latin typeface="Geist"/>
                <a:ea typeface="Geist"/>
                <a:cs typeface="Geist"/>
              </a:defRPr>
            </a:defPPr>
          </a:lstStyle>
          <a:p xmlns:a="http://schemas.openxmlformats.org/drawingml/2006/main">
            <a:pPr algn="l">
              <a:defRPr sz="1200" b="1">
                <a:solidFill>
                  <a:srgbClr val="111111"/>
                </a:solidFill>
                <a:latin typeface="Geist"/>
                <a:ea typeface="Geist"/>
                <a:cs typeface="Geist"/>
              </a:defRPr>
            </a:pPr>
            <a:r>
              <a:rPr sz="1200" b="1">
                <a:solidFill>
                  <a:srgbClr val="111111"/>
                </a:solidFill>
                <a:latin typeface="Geist"/>
                <a:ea typeface="Geist"/>
                <a:cs typeface="Geist"/>
              </a:rPr>
              <a:t>Example rationale</a:t>
            </a:r>
          </a:p>
        </p:txBody>
      </p:sp>
      <p:sp>
        <p:nvSpPr>
          <p:cNvPr id="51" name="Momentum + positive discussion">
            <a:extLst xmlns:a="http://schemas.openxmlformats.org/drawingml/2006/main">
              <a:ext uri="{FF2B5EF4-FFF2-40B4-BE49-F238E27FC236}">
                <a16:creationId xmlns:a16="http://schemas.microsoft.com/office/drawing/2014/main" id="{7ED4605C-DAA0-4297-B7E3-76BAB7492F43}"/>
              </a:ext>
            </a:extLst>
          </p:cNvPr>
          <p:cNvSpPr>
            <a:spLocks xmlns:a="http://schemas.openxmlformats.org/drawingml/2006/main" noGrp="1"/>
          </p:cNvSpPr>
          <p:nvPr/>
        </p:nvSpPr>
        <p:spPr>
          <a:xfrm xmlns:a="http://schemas.openxmlformats.org/drawingml/2006/main">
            <a:off x="8410575" y="3476625"/>
            <a:ext cx="28289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5555"/>
                </a:solidFill>
                <a:latin typeface="Geist"/>
                <a:ea typeface="Geist"/>
                <a:cs typeface="Geist"/>
              </a:defRPr>
            </a:defPPr>
          </a:lstStyle>
          <a:p xmlns:a="http://schemas.openxmlformats.org/drawingml/2006/main">
            <a:pPr algn="l">
              <a:defRPr sz="1200" b="0">
                <a:solidFill>
                  <a:srgbClr val="555555"/>
                </a:solidFill>
                <a:latin typeface="Geist"/>
                <a:ea typeface="Geist"/>
                <a:cs typeface="Geist"/>
              </a:defRPr>
            </a:pPr>
            <a:r>
              <a:rPr sz="1200" b="0">
                <a:solidFill>
                  <a:srgbClr val="555555"/>
                </a:solidFill>
                <a:latin typeface="Geist"/>
                <a:ea typeface="Geist"/>
                <a:cs typeface="Geist"/>
              </a:rPr>
              <a:t>Momentum + positive discussion</a:t>
            </a:r>
          </a:p>
        </p:txBody>
      </p:sp>
      <p:sp>
        <p:nvSpPr>
          <p:cNvPr id="52" name="View supporting posts">
            <a:extLst xmlns:a="http://schemas.openxmlformats.org/drawingml/2006/main">
              <a:ext uri="{FF2B5EF4-FFF2-40B4-BE49-F238E27FC236}">
                <a16:creationId xmlns:a16="http://schemas.microsoft.com/office/drawing/2014/main" id="{726C2631-6C3F-444A-91EA-D9AFBEE2BAFC}"/>
              </a:ext>
            </a:extLst>
          </p:cNvPr>
          <p:cNvSpPr>
            <a:spLocks xmlns:a="http://schemas.openxmlformats.org/drawingml/2006/main" noGrp="1"/>
          </p:cNvSpPr>
          <p:nvPr/>
        </p:nvSpPr>
        <p:spPr>
          <a:xfrm xmlns:a="http://schemas.openxmlformats.org/drawingml/2006/main">
            <a:off x="8410575" y="3752850"/>
            <a:ext cx="2828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A61955"/>
                </a:solidFill>
                <a:latin typeface="Geist"/>
                <a:ea typeface="Geist"/>
                <a:cs typeface="Geist"/>
              </a:defRPr>
            </a:defPPr>
          </a:lstStyle>
          <a:p xmlns:a="http://schemas.openxmlformats.org/drawingml/2006/main">
            <a:pPr algn="l">
              <a:defRPr sz="1050" b="0">
                <a:solidFill>
                  <a:srgbClr val="A61955"/>
                </a:solidFill>
                <a:latin typeface="Geist"/>
                <a:ea typeface="Geist"/>
                <a:cs typeface="Geist"/>
              </a:defRPr>
            </a:pPr>
            <a:r>
              <a:rPr sz="1050" b="0">
                <a:solidFill>
                  <a:srgbClr val="A61955"/>
                </a:solidFill>
                <a:latin typeface="Geist"/>
                <a:ea typeface="Geist"/>
                <a:cs typeface="Geist"/>
              </a:rPr>
              <a:t>View supporting posts</a:t>
            </a:r>
          </a:p>
        </p:txBody>
      </p:sp>
      <p:cxnSp>
        <p:nvCxnSpPr>
          <p:cNvPr id="53" name="Data flow">
            <a:extLst xmlns:a="http://schemas.openxmlformats.org/drawingml/2006/main">
              <a:ext uri="{FF2B5EF4-FFF2-40B4-BE49-F238E27FC236}">
                <a16:creationId xmlns:a16="http://schemas.microsoft.com/office/drawing/2014/main" id="{EEC86681-6B41-44E6-A439-5D485CD56263}"/>
              </a:ext>
            </a:extLst>
          </p:cNvPr>
          <p:cNvCxnSpPr/>
          <p:nvPr/>
        </p:nvCxnSpPr>
        <p:spPr>
          <a:xfrm xmlns:a="http://schemas.openxmlformats.org/drawingml/2006/main">
            <a:off x="8239125" y="4143375"/>
            <a:ext cx="3190875" cy="0"/>
          </a:xfrm>
          <a:prstGeom xmlns:a="http://schemas.openxmlformats.org/drawingml/2006/main" prst="straightConnector1">
            <a:avLst/>
          </a:prstGeom>
          <a:ln xmlns:a="http://schemas.openxmlformats.org/drawingml/2006/main" w="9525">
            <a:solidFill>
              <a:srgbClr val="D5D5D5"/>
            </a:solidFill>
            <a:prstDash val="solid"/>
          </a:ln>
        </p:spPr>
      </p:cxnSp>
      <p:sp>
        <p:nvSpPr>
          <p:cNvPr id="54" name="Tracked topics">
            <a:extLst xmlns:a="http://schemas.openxmlformats.org/drawingml/2006/main">
              <a:ext uri="{FF2B5EF4-FFF2-40B4-BE49-F238E27FC236}">
                <a16:creationId xmlns:a16="http://schemas.microsoft.com/office/drawing/2014/main" id="{1DD82D4F-C591-44CB-9119-D3C68FF7AE17}"/>
              </a:ext>
            </a:extLst>
          </p:cNvPr>
          <p:cNvSpPr>
            <a:spLocks xmlns:a="http://schemas.openxmlformats.org/drawingml/2006/main" noGrp="1"/>
          </p:cNvSpPr>
          <p:nvPr/>
        </p:nvSpPr>
        <p:spPr>
          <a:xfrm xmlns:a="http://schemas.openxmlformats.org/drawingml/2006/main">
            <a:off x="8239125" y="425767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11111"/>
                </a:solidFill>
                <a:latin typeface="Geist"/>
                <a:ea typeface="Geist"/>
                <a:cs typeface="Geist"/>
              </a:defRPr>
            </a:defPPr>
          </a:lstStyle>
          <a:p xmlns:a="http://schemas.openxmlformats.org/drawingml/2006/main">
            <a:pPr algn="l">
              <a:defRPr sz="1575" b="1">
                <a:solidFill>
                  <a:srgbClr val="111111"/>
                </a:solidFill>
                <a:latin typeface="Geist"/>
                <a:ea typeface="Geist"/>
                <a:cs typeface="Geist"/>
              </a:defRPr>
            </a:pPr>
            <a:r>
              <a:rPr sz="1575" b="1">
                <a:solidFill>
                  <a:srgbClr val="111111"/>
                </a:solidFill>
                <a:latin typeface="Geist"/>
                <a:ea typeface="Geist"/>
                <a:cs typeface="Geist"/>
              </a:rPr>
              <a:t>Tracked topics</a:t>
            </a:r>
          </a:p>
        </p:txBody>
      </p:sp>
      <p:sp>
        <p:nvSpPr>
          <p:cNvPr id="55" name="EXAMPLE">
            <a:extLst xmlns:a="http://schemas.openxmlformats.org/drawingml/2006/main">
              <a:ext uri="{FF2B5EF4-FFF2-40B4-BE49-F238E27FC236}">
                <a16:creationId xmlns:a16="http://schemas.microsoft.com/office/drawing/2014/main" id="{B8A25461-8063-405C-BE43-D330A3AF25A8}"/>
              </a:ext>
            </a:extLst>
          </p:cNvPr>
          <p:cNvSpPr>
            <a:spLocks xmlns:a="http://schemas.openxmlformats.org/drawingml/2006/main" noGrp="1"/>
          </p:cNvSpPr>
          <p:nvPr/>
        </p:nvSpPr>
        <p:spPr>
          <a:xfrm xmlns:a="http://schemas.openxmlformats.org/drawingml/2006/main">
            <a:off x="10477500" y="43053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A61955"/>
                </a:solidFill>
                <a:latin typeface="Geist Mono"/>
                <a:ea typeface="Geist Mono"/>
                <a:cs typeface="Geist Mono"/>
              </a:defRPr>
            </a:defPPr>
          </a:lstStyle>
          <a:p xmlns:a="http://schemas.openxmlformats.org/drawingml/2006/main">
            <a:pPr algn="r">
              <a:defRPr sz="975" b="0">
                <a:solidFill>
                  <a:srgbClr val="A61955"/>
                </a:solidFill>
                <a:latin typeface="Geist Mono"/>
                <a:ea typeface="Geist Mono"/>
                <a:cs typeface="Geist Mono"/>
              </a:defRPr>
            </a:pPr>
            <a:r>
              <a:rPr sz="975" b="0">
                <a:solidFill>
                  <a:srgbClr val="A61955"/>
                </a:solidFill>
                <a:latin typeface="Geist Mono"/>
                <a:ea typeface="Geist Mono"/>
                <a:cs typeface="Geist Mono"/>
              </a:rPr>
              <a:t>EXAMPLE</a:t>
            </a:r>
          </a:p>
        </p:txBody>
      </p:sp>
      <p:sp>
        <p:nvSpPr>
          <p:cNvPr id="56" name="Community growth&#10;Exchange chatter">
            <a:extLst xmlns:a="http://schemas.openxmlformats.org/drawingml/2006/main">
              <a:ext uri="{FF2B5EF4-FFF2-40B4-BE49-F238E27FC236}">
                <a16:creationId xmlns:a16="http://schemas.microsoft.com/office/drawing/2014/main" id="{53A0E9EB-7983-4757-80E0-28AD612623EF}"/>
              </a:ext>
            </a:extLst>
          </p:cNvPr>
          <p:cNvSpPr>
            <a:spLocks xmlns:a="http://schemas.openxmlformats.org/drawingml/2006/main" noGrp="1"/>
          </p:cNvSpPr>
          <p:nvPr/>
        </p:nvSpPr>
        <p:spPr>
          <a:xfrm xmlns:a="http://schemas.openxmlformats.org/drawingml/2006/main">
            <a:off x="8239125" y="46005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55555"/>
                </a:solidFill>
                <a:latin typeface="Geist"/>
                <a:ea typeface="Geist"/>
                <a:cs typeface="Geist"/>
              </a:defRPr>
            </a:defPPr>
          </a:lstStyle>
          <a:p xmlns:a="http://schemas.openxmlformats.org/drawingml/2006/main">
            <a:pPr algn="l">
              <a:defRPr sz="1425" b="0">
                <a:solidFill>
                  <a:srgbClr val="555555"/>
                </a:solidFill>
                <a:latin typeface="Geist"/>
                <a:ea typeface="Geist"/>
                <a:cs typeface="Geist"/>
              </a:defRPr>
            </a:pPr>
            <a:r>
              <a:rPr sz="1425" b="0">
                <a:solidFill>
                  <a:srgbClr val="555555"/>
                </a:solidFill>
                <a:latin typeface="Geist"/>
                <a:ea typeface="Geist"/>
                <a:cs typeface="Geist"/>
              </a:rPr>
              <a:t>Community growth</a:t>
            </a:r>
          </a:p>
          <a:p xmlns:a="http://schemas.openxmlformats.org/drawingml/2006/main">
            <a:pPr algn="l">
              <a:defRPr sz="1425" b="0">
                <a:solidFill>
                  <a:srgbClr val="555555"/>
                </a:solidFill>
                <a:latin typeface="Geist"/>
                <a:ea typeface="Geist"/>
                <a:cs typeface="Geist"/>
              </a:defRPr>
            </a:pPr>
            <a:r>
              <a:rPr sz="1425" b="0">
                <a:solidFill>
                  <a:srgbClr val="555555"/>
                </a:solidFill>
                <a:latin typeface="Geist"/>
                <a:ea typeface="Geist"/>
                <a:cs typeface="Geist"/>
              </a:rPr>
              <a:t>Exchange chatter</a:t>
            </a:r>
          </a:p>
        </p:txBody>
      </p:sp>
      <p:cxnSp>
        <p:nvCxnSpPr>
          <p:cNvPr id="57" name="Data flow">
            <a:extLst xmlns:a="http://schemas.openxmlformats.org/drawingml/2006/main">
              <a:ext uri="{FF2B5EF4-FFF2-40B4-BE49-F238E27FC236}">
                <a16:creationId xmlns:a16="http://schemas.microsoft.com/office/drawing/2014/main" id="{2ADEEEC5-BF73-4EB2-A41F-1F0C4ACA946C}"/>
              </a:ext>
            </a:extLst>
          </p:cNvPr>
          <p:cNvCxnSpPr/>
          <p:nvPr/>
        </p:nvCxnSpPr>
        <p:spPr>
          <a:xfrm xmlns:a="http://schemas.openxmlformats.org/drawingml/2006/main">
            <a:off x="8239125" y="5200650"/>
            <a:ext cx="3190875" cy="0"/>
          </a:xfrm>
          <a:prstGeom xmlns:a="http://schemas.openxmlformats.org/drawingml/2006/main" prst="straightConnector1">
            <a:avLst/>
          </a:prstGeom>
          <a:ln xmlns:a="http://schemas.openxmlformats.org/drawingml/2006/main" w="9525">
            <a:solidFill>
              <a:srgbClr val="D5D5D5"/>
            </a:solidFill>
            <a:prstDash val="solid"/>
          </a:ln>
        </p:spPr>
      </p:cxnSp>
      <p:sp>
        <p:nvSpPr>
          <p:cNvPr id="58" name="Meme gallery">
            <a:extLst xmlns:a="http://schemas.openxmlformats.org/drawingml/2006/main">
              <a:ext uri="{FF2B5EF4-FFF2-40B4-BE49-F238E27FC236}">
                <a16:creationId xmlns:a16="http://schemas.microsoft.com/office/drawing/2014/main" id="{1CD019F3-74D6-4830-B2F6-7CA1C035369A}"/>
              </a:ext>
            </a:extLst>
          </p:cNvPr>
          <p:cNvSpPr>
            <a:spLocks xmlns:a="http://schemas.openxmlformats.org/drawingml/2006/main" noGrp="1"/>
          </p:cNvSpPr>
          <p:nvPr/>
        </p:nvSpPr>
        <p:spPr>
          <a:xfrm xmlns:a="http://schemas.openxmlformats.org/drawingml/2006/main">
            <a:off x="8239125" y="5334000"/>
            <a:ext cx="1857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11111"/>
                </a:solidFill>
                <a:latin typeface="Geist"/>
                <a:ea typeface="Geist"/>
                <a:cs typeface="Geist"/>
              </a:defRPr>
            </a:defPPr>
          </a:lstStyle>
          <a:p xmlns:a="http://schemas.openxmlformats.org/drawingml/2006/main">
            <a:pPr algn="l">
              <a:defRPr sz="1575" b="1">
                <a:solidFill>
                  <a:srgbClr val="111111"/>
                </a:solidFill>
                <a:latin typeface="Geist"/>
                <a:ea typeface="Geist"/>
                <a:cs typeface="Geist"/>
              </a:defRPr>
            </a:pPr>
            <a:r>
              <a:rPr sz="1575" b="1">
                <a:solidFill>
                  <a:srgbClr val="111111"/>
                </a:solidFill>
                <a:latin typeface="Geist"/>
                <a:ea typeface="Geist"/>
                <a:cs typeface="Geist"/>
              </a:rPr>
              <a:t>Meme gallery</a:t>
            </a:r>
          </a:p>
        </p:txBody>
      </p:sp>
      <p:sp>
        <p:nvSpPr>
          <p:cNvPr id="59" name="Layout sample&#10;Icons8 illustration">
            <a:extLst xmlns:a="http://schemas.openxmlformats.org/drawingml/2006/main">
              <a:ext uri="{FF2B5EF4-FFF2-40B4-BE49-F238E27FC236}">
                <a16:creationId xmlns:a16="http://schemas.microsoft.com/office/drawing/2014/main" id="{C1E00E22-404A-41DA-A67D-0BBE595AA1BD}"/>
              </a:ext>
            </a:extLst>
          </p:cNvPr>
          <p:cNvSpPr>
            <a:spLocks xmlns:a="http://schemas.openxmlformats.org/drawingml/2006/main" noGrp="1"/>
          </p:cNvSpPr>
          <p:nvPr/>
        </p:nvSpPr>
        <p:spPr>
          <a:xfrm xmlns:a="http://schemas.openxmlformats.org/drawingml/2006/main">
            <a:off x="8239125" y="5610225"/>
            <a:ext cx="1924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55555"/>
                </a:solidFill>
                <a:latin typeface="Geist"/>
                <a:ea typeface="Geist"/>
                <a:cs typeface="Geist"/>
              </a:defRPr>
            </a:defPPr>
          </a:lstStyle>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Layout sample</a:t>
            </a:r>
          </a:p>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Icons8 illustration</a:t>
            </a:r>
          </a:p>
        </p:txBody>
      </p:sp>
      <p:pic>
        <p:nvPicPr>
          <p:cNvPr id="60" name="">
            <a:extLst xmlns:a="http://schemas.openxmlformats.org/drawingml/2006/main">
              <a:ext uri="{FF2B5EF4-FFF2-40B4-BE49-F238E27FC236}">
                <a16:creationId xmlns:a16="http://schemas.microsoft.com/office/drawing/2014/main" id="{E09AA9AA-7F90-47F3-97E3-B5C7990A9E4E}"/>
              </a:ext>
            </a:extLst>
          </p:cNvPr>
          <p:cNvPicPr>
            <a:picLocks xmlns:a="http://schemas.openxmlformats.org/drawingml/2006/main" noChangeAspect="1"/>
          </p:cNvPicPr>
          <p:nvPr/>
        </p:nvPicPr>
        <p:blipFill>
          <a:blip xmlns:r="http://schemas.openxmlformats.org/officeDocument/2006/relationships" xmlns:a="http://schemas.openxmlformats.org/drawingml/2006/main" r:embed="Rcba9b6ea2e7d49c0"/>
          <a:stretch xmlns:a="http://schemas.openxmlformats.org/drawingml/2006/main"/>
        </p:blipFill>
        <p:spPr>
          <a:xfrm xmlns:a="http://schemas.openxmlformats.org/drawingml/2006/main">
            <a:off x="10448925" y="5305425"/>
            <a:ext cx="781050" cy="781050"/>
          </a:xfrm>
          <a:prstGeom xmlns:a="http://schemas.openxmlformats.org/drawingml/2006/main" prst="rect">
            <a:avLst/>
          </a:prstGeom>
        </p:spPr>
      </p:pic>
      <p:sp>
        <p:nvSpPr>
          <p:cNvPr id="61" name="Supplied DOGE prices. Prediction and social text are examples. Image: ">
            <a:extLst xmlns:a="http://schemas.openxmlformats.org/drawingml/2006/main">
              <a:ext uri="{FF2B5EF4-FFF2-40B4-BE49-F238E27FC236}">
                <a16:creationId xmlns:a16="http://schemas.microsoft.com/office/drawing/2014/main" id="{733DD14C-51EE-4126-A040-B28A1CB69F75}"/>
              </a:ext>
            </a:extLst>
          </p:cNvPr>
          <p:cNvSpPr>
            <a:spLocks xmlns:a="http://schemas.openxmlformats.org/drawingml/2006/main" noGrp="1"/>
          </p:cNvSpPr>
          <p:nvPr/>
        </p:nvSpPr>
        <p:spPr>
          <a:xfrm xmlns:a="http://schemas.openxmlformats.org/drawingml/2006/main">
            <a:off x="685800" y="6372225"/>
            <a:ext cx="10048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defRPr sz="1163" b="0">
                <a:solidFill>
                  <a:srgbClr val="555555"/>
                </a:solidFill>
                <a:latin typeface="Geist"/>
                <a:ea typeface="Geist"/>
                <a:cs typeface="Geist"/>
              </a:defRPr>
            </a:pPr>
            <a:r>
              <a:rPr sz="1163" b="0">
                <a:solidFill>
                  <a:srgbClr val="555555"/>
                </a:solidFill>
                <a:latin typeface="Geist"/>
                <a:ea typeface="Geist"/>
                <a:cs typeface="Geist"/>
              </a:rPr>
              <a:t>Supplied DOGE prices. Prediction and social text are examples. Image: Icons8.</a:t>
            </a:r>
          </a:p>
        </p:txBody>
      </p:sp>
    </p:spTree>
    <p:extLst>
      <p:ext uri="{BB962C8B-B14F-4D97-AF65-F5344CB8AC3E}">
        <p14:creationId xmlns:p14="http://schemas.microsoft.com/office/powerpoint/2010/main" val="945316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2026-10-15T07:07:22.0920000Z</dcterms:created>
  <dcterms:modified xsi:type="dcterms:W3CDTF">2026-10-15T07:07:22.0920000Z</dcterms:modified>
</coreProperties>
</file>