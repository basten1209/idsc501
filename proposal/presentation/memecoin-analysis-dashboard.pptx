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fa8a81e5544ee" /><Relationship Type="http://schemas.openxmlformats.org/officeDocument/2006/relationships/extended-properties" Target="/docProps/app.xml" Id="R1fb0db37fbac4e30" /><Relationship Type="http://schemas.openxmlformats.org/officeDocument/2006/relationships/officeDocument" Target="/ppt/presentation.xml" Id="R7883d8881806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9ac3fd95ad43b0"/>
  </p:sldMasterIdLst>
  <p:notesMasterIdLst>
    <p:notesMasterId xmlns:r="http://schemas.openxmlformats.org/officeDocument/2006/relationships" r:id="R425d8d9d78d94894"/>
  </p:notesMasterIdLst>
  <p:sldIdLst>
    <p:sldId xmlns:r="http://schemas.openxmlformats.org/officeDocument/2006/relationships" id="256" r:id="Rb23f529df9994e2e"/>
    <p:sldId xmlns:r="http://schemas.openxmlformats.org/officeDocument/2006/relationships" id="257" r:id="R4d487dc5a6634f26"/>
    <p:sldId xmlns:r="http://schemas.openxmlformats.org/officeDocument/2006/relationships" id="258" r:id="Rb076f5215e62428f"/>
    <p:sldId xmlns:r="http://schemas.openxmlformats.org/officeDocument/2006/relationships" id="259" r:id="R0f0182060a5b4875"/>
    <p:sldId xmlns:r="http://schemas.openxmlformats.org/officeDocument/2006/relationships" id="260" r:id="R86c09897dbc04ed3"/>
    <p:sldId xmlns:r="http://schemas.openxmlformats.org/officeDocument/2006/relationships" id="261" r:id="Rb2180420cbc543d6"/>
    <p:sldId xmlns:r="http://schemas.openxmlformats.org/officeDocument/2006/relationships" id="262" r:id="Rb2d69fe9ffa04152"/>
    <p:sldId xmlns:r="http://schemas.openxmlformats.org/officeDocument/2006/relationships" id="263" r:id="R458eba3ff9ac470f"/>
    <p:sldId xmlns:r="http://schemas.openxmlformats.org/officeDocument/2006/relationships" id="264" r:id="Raf4e82e8de1547cc"/>
    <p:sldId xmlns:r="http://schemas.openxmlformats.org/officeDocument/2006/relationships" id="265" r:id="R1a8f72b517474170"/>
    <p:sldId xmlns:r="http://schemas.openxmlformats.org/officeDocument/2006/relationships" id="266" r:id="R835a325a4f6e491b"/>
    <p:sldId xmlns:r="http://schemas.openxmlformats.org/officeDocument/2006/relationships" id="267" r:id="Rf330030a6bb549ec"/>
    <p:sldId xmlns:r="http://schemas.openxmlformats.org/officeDocument/2006/relationships" id="268" r:id="Rbc65ce22e8164e9d"/>
    <p:sldId xmlns:r="http://schemas.openxmlformats.org/officeDocument/2006/relationships" id="269" r:id="R2709961d13fa40ae"/>
    <p:sldId xmlns:r="http://schemas.openxmlformats.org/officeDocument/2006/relationships" id="270" r:id="Ra42c2bfd48ec49fb"/>
    <p:sldId xmlns:r="http://schemas.openxmlformats.org/officeDocument/2006/relationships" id="271" r:id="R3ba9e89ef6124788"/>
    <p:sldId xmlns:r="http://schemas.openxmlformats.org/officeDocument/2006/relationships" id="272" r:id="R6aa8af02073644fb"/>
    <p:sldId xmlns:r="http://schemas.openxmlformats.org/officeDocument/2006/relationships" id="273" r:id="R4f59d5ba0d764a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869258ea7d43d1" /><Relationship Type="http://schemas.openxmlformats.org/officeDocument/2006/relationships/slideMaster" Target="/ppt/slideMasters/slideMaster1.xml" Id="Rd29ac3fd95ad43b0" /><Relationship Type="http://schemas.openxmlformats.org/officeDocument/2006/relationships/notesMaster" Target="/ppt/notesMasters/notesMaster1.xml" Id="R425d8d9d78d94894" /><Relationship Type="http://schemas.openxmlformats.org/officeDocument/2006/relationships/presProps" Target="/ppt/presProps.xml" Id="R17dc69fbe4b54548" /><Relationship Type="http://schemas.openxmlformats.org/officeDocument/2006/relationships/tableStyles" Target="/ppt/tableStyles.xml" Id="Rbc87f56d4ba4439e" /><Relationship Type="http://schemas.openxmlformats.org/officeDocument/2006/relationships/slide" Target="/ppt/slides/slide1.xml" Id="Rb23f529df9994e2e" /><Relationship Type="http://schemas.openxmlformats.org/officeDocument/2006/relationships/slide" Target="/ppt/slides/slide2.xml" Id="R4d487dc5a6634f26" /><Relationship Type="http://schemas.openxmlformats.org/officeDocument/2006/relationships/slide" Target="/ppt/slides/slide3.xml" Id="Rb076f5215e62428f" /><Relationship Type="http://schemas.openxmlformats.org/officeDocument/2006/relationships/slide" Target="/ppt/slides/slide4.xml" Id="R0f0182060a5b4875" /><Relationship Type="http://schemas.openxmlformats.org/officeDocument/2006/relationships/slide" Target="/ppt/slides/slide5.xml" Id="R86c09897dbc04ed3" /><Relationship Type="http://schemas.openxmlformats.org/officeDocument/2006/relationships/slide" Target="/ppt/slides/slide6.xml" Id="Rb2180420cbc543d6" /><Relationship Type="http://schemas.openxmlformats.org/officeDocument/2006/relationships/slide" Target="/ppt/slides/slide7.xml" Id="Rb2d69fe9ffa04152" /><Relationship Type="http://schemas.openxmlformats.org/officeDocument/2006/relationships/slide" Target="/ppt/slides/slide8.xml" Id="R458eba3ff9ac470f" /><Relationship Type="http://schemas.openxmlformats.org/officeDocument/2006/relationships/slide" Target="/ppt/slides/slide9.xml" Id="Raf4e82e8de1547cc" /><Relationship Type="http://schemas.openxmlformats.org/officeDocument/2006/relationships/slide" Target="/ppt/slides/slide10.xml" Id="R1a8f72b517474170" /><Relationship Type="http://schemas.openxmlformats.org/officeDocument/2006/relationships/slide" Target="/ppt/slides/slide11.xml" Id="R835a325a4f6e491b" /><Relationship Type="http://schemas.openxmlformats.org/officeDocument/2006/relationships/slide" Target="/ppt/slides/slide12.xml" Id="Rf330030a6bb549ec" /><Relationship Type="http://schemas.openxmlformats.org/officeDocument/2006/relationships/slide" Target="/ppt/slides/slide13.xml" Id="Rbc65ce22e8164e9d" /><Relationship Type="http://schemas.openxmlformats.org/officeDocument/2006/relationships/slide" Target="/ppt/slides/slide14.xml" Id="R2709961d13fa40ae" /><Relationship Type="http://schemas.openxmlformats.org/officeDocument/2006/relationships/slide" Target="/ppt/slides/slide15.xml" Id="Ra42c2bfd48ec49fb" /><Relationship Type="http://schemas.openxmlformats.org/officeDocument/2006/relationships/slide" Target="/ppt/slides/slide16.xml" Id="R3ba9e89ef6124788" /><Relationship Type="http://schemas.openxmlformats.org/officeDocument/2006/relationships/slide" Target="/ppt/slides/slide17.xml" Id="R6aa8af02073644fb" /><Relationship Type="http://schemas.openxmlformats.org/officeDocument/2006/relationships/slide" Target="/ppt/slides/slide18.xml" Id="R4f59d5ba0d764a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2466882abf4c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4dcccfcd1425e" /><Relationship Type="http://schemas.openxmlformats.org/officeDocument/2006/relationships/notesMaster" Target="/ppt/notesMasters/notesMaster1.xml" Id="R9ff31b285bde42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803888189450b" /><Relationship Type="http://schemas.openxmlformats.org/officeDocument/2006/relationships/notesMaster" Target="/ppt/notesMasters/notesMaster1.xml" Id="R73a47e213dbb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6f73908eee4bde" /><Relationship Type="http://schemas.openxmlformats.org/officeDocument/2006/relationships/notesMaster" Target="/ppt/notesMasters/notesMaster1.xml" Id="Rcf36809dfd4e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f5b59449804e8a" /><Relationship Type="http://schemas.openxmlformats.org/officeDocument/2006/relationships/notesMaster" Target="/ppt/notesMasters/notesMaster1.xml" Id="R5888841d44d3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c7732ce4c84386" /><Relationship Type="http://schemas.openxmlformats.org/officeDocument/2006/relationships/notesMaster" Target="/ppt/notesMasters/notesMaster1.xml" Id="R5878e07ba34845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20a86a09bd4fc4" /><Relationship Type="http://schemas.openxmlformats.org/officeDocument/2006/relationships/notesMaster" Target="/ppt/notesMasters/notesMaster1.xml" Id="R8e85faa704cc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06be8e34e043c3" /><Relationship Type="http://schemas.openxmlformats.org/officeDocument/2006/relationships/notesMaster" Target="/ppt/notesMasters/notesMaster1.xml" Id="Re413fe943ce24b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fa2cfbc38e4b55" /><Relationship Type="http://schemas.openxmlformats.org/officeDocument/2006/relationships/notesMaster" Target="/ppt/notesMasters/notesMaster1.xml" Id="R4aa7e859f60549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2987aa49c04b1a" /><Relationship Type="http://schemas.openxmlformats.org/officeDocument/2006/relationships/notesMaster" Target="/ppt/notesMasters/notesMaster1.xml" Id="R3c408d5cf5d649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46ab443f214a60" /><Relationship Type="http://schemas.openxmlformats.org/officeDocument/2006/relationships/notesMaster" Target="/ppt/notesMasters/notesMaster1.xml" Id="Rb810f938522b4a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bed0be33514c49" /><Relationship Type="http://schemas.openxmlformats.org/officeDocument/2006/relationships/notesMaster" Target="/ppt/notesMasters/notesMaster1.xml" Id="Rf2abbb181f7e4b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c39aeb0c4d4958" /><Relationship Type="http://schemas.openxmlformats.org/officeDocument/2006/relationships/notesMaster" Target="/ppt/notesMasters/notesMaster1.xml" Id="R9b5db5de56f64f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7d150dc9174ee9" /><Relationship Type="http://schemas.openxmlformats.org/officeDocument/2006/relationships/notesMaster" Target="/ppt/notesMasters/notesMaster1.xml" Id="Red52ebdd34e344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a78aa21bb849c9" /><Relationship Type="http://schemas.openxmlformats.org/officeDocument/2006/relationships/notesMaster" Target="/ppt/notesMasters/notesMaster1.xml" Id="Rcf4a683383334b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6f0fdec8b74e10" /><Relationship Type="http://schemas.openxmlformats.org/officeDocument/2006/relationships/notesMaster" Target="/ppt/notesMasters/notesMaster1.xml" Id="R27ea743fae1e49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3a1b5546684e02" /><Relationship Type="http://schemas.openxmlformats.org/officeDocument/2006/relationships/notesMaster" Target="/ppt/notesMasters/notesMaster1.xml" Id="Rde169206c23c4d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43fa4a31534cc8" /><Relationship Type="http://schemas.openxmlformats.org/officeDocument/2006/relationships/notesMaster" Target="/ppt/notesMasters/notesMaster1.xml" Id="R9bcb8d4f880a45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74f30e43eb4887" /><Relationship Type="http://schemas.openxmlformats.org/officeDocument/2006/relationships/notesMaster" Target="/ppt/notesMasters/notesMaster1.xml" Id="Rd1f529be28ff42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밈코인은 인터넷 문화가 가격 데이터와 만나는 사례입니다. 이 프로젝트는 가격과 관측 가능한 소셜 활동을 연결하는 Data Engineering 파이프라인을 제안합니다. 본문 15장, 부록 3장 구성입니다.</a:t>
            </a:r>
          </a:p>
          <a:p xmlns:a="http://schemas.openxmlformats.org/drawingml/2006/main">
            <a:r>
              <a:t>발표 시간 가정: 본문 약 10–12분. 팀원 이름과 공식 발표 시간은 아직 확정되지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proposal/project-proposal.md (commit 7aa8ba2)</a:t>
            </a:r>
          </a:p>
          <a:p xmlns:a="http://schemas.openxmlformats.org/drawingml/2006/main">
            <a:r>
              <a:t>https://vercel.com/geist/introduction</a:t>
            </a:r>
          </a:p>
          <a:p xmlns:a="http://schemas.openxmlformats.org/drawingml/2006/main">
            <a:r>
              <a:t>https://ui.shadcn.com/docs</a:t>
            </a:r>
          </a:p>
          <a:p xmlns:a="http://schemas.openxmlformats.org/drawingml/2006/main">
            <a:r>
              <a:t>Image: Kabosu photograph by Atsuko Sato, as reproduced at https://kai-you.net/article/89682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요청한 “what you want / after you buy” 밈을 실제 TRUMP 데이터 위에 배치했습니다. 전체 제공 기간 628개 일별 종가를 사용합니다. 최고 일별 종가는 2025-01-19의 $45.5030010328, 마지막 제공 종가는 2026-10-07의 $1.8772949946입니다. 장중 최고가 $75.3518198764와 일별 종가의 최고점을 구분해야 합니다.</a:t>
            </a:r>
          </a:p>
          <a:p xmlns:a="http://schemas.openxmlformats.org/drawingml/2006/main">
            <a:r>
              <a:t>현재 가격 또는 실제 매수 수익률이 아닙니다. 2026-10-15의 실시간 종가를 확보했다고 말하지 않습니다. 녹색 구간은 처음 두 일별 종가 사이이고, 실제 축척상 매우 짧습니다. 이후 급등락을 설명하는 소셜 맥락을 관측할 수 있는지 질문으로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Input: .context/attachments/ogAuZF/memecoin_price.zip / memecoin_price/OFFICIAL TRUMP.csv</a:t>
            </a:r>
          </a:p>
          <a:p xmlns:a="http://schemas.openxmlformats.org/drawingml/2006/main">
            <a:r>
              <a:t>https://coinmarketcap.com/currencies/official-trump/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프로젝트의 홍보 이미지는 커뮤니티가 어떤 메시지와 이미지를 중심으로 형성되는지 보여 주는 예시입니다. 그 자체를 소셜 활동량 데이터로 사용하지 않습니다. 가격 표와 게시글은 형식과 수집 시점, 관측 범위가 다르므로 결합 과정의 설계가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proposal/project-proposal.md (commit 7aa8ba2)</a:t>
            </a:r>
          </a:p>
          <a:p xmlns:a="http://schemas.openxmlformats.org/drawingml/2006/main">
            <a:r>
              <a:t>Image: https://gettrumpmemes.com/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첫째, 관측한 활동과 시장 지표의 기술적 관계를 살펴봅니다. 둘째, 수집 범위와 지연이 해석을 어떻게 바꾸는지 평가합니다. 이를 가능하게 하는 핵심은 재현 가능한 수집·전처리·저장 과정입니다. 인과관계나 검증된 가격 예측을 주장하지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proposal/project-proposal.md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ZIP의 10개 CSV와 14,773개 행을 점검했습니다. 입력은 세미콜론 구분, UTF-8 BOM입니다. 공통 기간은 2025-10-04부터 2026-10-07입니다. M은 MemeCore, BIAN은 币安人生의 표시용 약칭입니다. 이 표본을 역사적 상위 10개 코인이라고 설명하지 않습니다.</a:t>
            </a:r>
          </a:p>
          <a:p xmlns:a="http://schemas.openxmlformats.org/drawingml/2006/main">
            <a:r>
              <a:t>0 거래량 54행, 0 시가총액 1,096행, 일중 시각이 구간 밖인 8행을 품질 플래그로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Coin image: https://coinmarketcap.com/currencies/dogecoin/</a:t>
            </a:r>
          </a:p>
          <a:p xmlns:a="http://schemas.openxmlformats.org/drawingml/2006/main">
            <a:r>
              <a:t>Coin image: https://coinmarketcap.com/currencies/shiba-inu/</a:t>
            </a:r>
          </a:p>
          <a:p xmlns:a="http://schemas.openxmlformats.org/drawingml/2006/main">
            <a:r>
              <a:t>Coin image: https://coinmarketcap.com/currencies/pepe/</a:t>
            </a:r>
          </a:p>
          <a:p xmlns:a="http://schemas.openxmlformats.org/drawingml/2006/main">
            <a:r>
              <a:t>Coin image: https://coinmarketcap.com/currencies/memecore/</a:t>
            </a:r>
          </a:p>
          <a:p xmlns:a="http://schemas.openxmlformats.org/drawingml/2006/main">
            <a:r>
              <a:t>Coin image: https://coinmarketcap.com/currencies/pudgy-penguins/</a:t>
            </a:r>
          </a:p>
          <a:p xmlns:a="http://schemas.openxmlformats.org/drawingml/2006/main">
            <a:r>
              <a:t>Coin image: https://coinmarketcap.com/currencies/official-trump/</a:t>
            </a:r>
          </a:p>
          <a:p xmlns:a="http://schemas.openxmlformats.org/drawingml/2006/main">
            <a:r>
              <a:t>Coin image: https://coinmarketcap.com/currencies/spx6900/</a:t>
            </a:r>
          </a:p>
          <a:p xmlns:a="http://schemas.openxmlformats.org/drawingml/2006/main">
            <a:r>
              <a:t>Coin image: https://coinmarketcap.com/currencies/bonk1/</a:t>
            </a:r>
          </a:p>
          <a:p xmlns:a="http://schemas.openxmlformats.org/drawingml/2006/main">
            <a:r>
              <a:t>Coin image: https://coinmarketcap.com/currencies/floki-inu/</a:t>
            </a:r>
          </a:p>
          <a:p xmlns:a="http://schemas.openxmlformats.org/drawingml/2006/main">
            <a:r>
              <a:t>Coin image: https://coinmarketcap.com/currencies/bianrensheng/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X는 DOGE·SHIB·PEPE·BONK·SPX의 선정 계정부터 시작합니다. 초기 확인에서 timeline과 개별 게시물 조회는 동작했지만 검색과 전체 이력의 완전성은 확인하지 못했습니다.</a:t>
            </a:r>
          </a:p>
          <a:p xmlns:a="http://schemas.openxmlformats.org/drawingml/2006/main">
            <a:r>
              <a:t>Reddit은 dogecoin, SHIBArmy, Pepecryptocurrency가 후보입니다. 현재 Reddit 연구 정책의 조건이 해결되기 전에는 Arctic Shift 수집과 분석을 비활성으로 둡니다. 기술적으로 접근 가능하다는 사실은 사용 승인을 뜻하지 않습니다. 가격과 허용된 X 자료만으로도 핵심 시연이 가능합니다.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https://docs.fxembed.com/api/introduction/</a:t>
            </a:r>
          </a:p>
          <a:p xmlns:a="http://schemas.openxmlformats.org/drawingml/2006/main">
            <a:r>
              <a:t>https://github.com/ArthurHeitmann/arctic_shift</a:t>
            </a:r>
          </a:p>
          <a:p xmlns:a="http://schemas.openxmlformats.org/drawingml/2006/main">
            <a:r>
              <a:t>https://support.reddithelp.com/hc/en-us/articles/42728983564564-Responsible-Builder-Policy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MemeChain의 social table에서 31,811행을 확인했습니다. 이 파일은 게시글의 본문 데이터가 아니라 링크 metadata입니다. twitter 열에도 Telegram 링크가 있을 수 있으므로 실제 host와 path를 기준으로 분류합니다.</a:t>
            </a:r>
          </a:p>
          <a:p xmlns:a="http://schemas.openxmlformats.org/drawingml/2006/main">
            <a:r>
              <a:t>가격 자산과의 연결은 symbol만으로 결정하지 않고 chain과 contract로 확인합니다. 네이티브 DOGE의 누락, canonical SHIB의 빈 소셜 필드 같은 예외를 별도로 검증합니다. 데이터의 2026년 공개일을 웹사이트의 관측 시점으로 오해하지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https://zenodo.org/records/18246856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https://arxiv.org/html/2601.22185v1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수집 응답은 원본 보존을 먼저 수행하고 MongoDB의 문서·관측 이력으로 정규화합니다. 그 문서에서 텍스트 지표와 코인 연결을 계산해 PostgreSQL의 분석 테이블로 적재합니다. 가격 CSV는 원본 보존과 검증 후 PostgreSQL로 직접 들어갑니다.</a:t>
            </a:r>
          </a:p>
          <a:p xmlns:a="http://schemas.openxmlformats.org/drawingml/2006/main">
            <a:r>
              <a:t>파이프라인을 단순하게 보여 주기 위해 이 도표는 핵심 흐름을 표시합니다. 게시물 상세의 실제 조회는 PostgreSQL이 찾은 item ID를 사용해 MongoDB에 접근합니다. 별도 REST 서버와 실시간 스트리밍은 초기 범위에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PostgreSQL도 JSON과 JSONB를 처리할 수 있습니다. 단일 DB가 운영 면에서 더 단순하다는 대안을 인정합니다. MongoDB의 선택 이유는 플랫폼별 문서 구조와 상세 조회를 분리하고 SQL·NoSQL 사이의 ETL을 수업에서 직접 구현하기 위해서입니다.</a:t>
            </a:r>
          </a:p>
          <a:p xmlns:a="http://schemas.openxmlformats.org/drawingml/2006/main">
            <a:r>
              <a:t>텍스트 때문에 NoSQL이 필수이거나 MongoDB가 항상 빠르다고 주장하지 않습니다. MongoDB 내부 저장은 BSON이며 교환 형식 JSON과 구분합니다. DB 두 개의 운영·백업·일관성 비용도 평가합니다.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https://www.mongodb.com/docs/manual/data-modeling/</a:t>
            </a:r>
          </a:p>
          <a:p xmlns:a="http://schemas.openxmlformats.org/drawingml/2006/main">
            <a:r>
              <a:t>https://www.mongodb.com/resources/basics/json-and-bson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  <a:p xmlns:a="http://schemas.openxmlformats.org/drawingml/2006/main">
            <a:r>
              <a:t>PostgreSQL image: https://www.postgresql.org/about/press/</a:t>
            </a:r>
          </a:p>
          <a:p xmlns:a="http://schemas.openxmlformats.org/drawingml/2006/main">
            <a:r>
              <a:t>MongoDB logo image: https://www.globant.com/about/partners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티커만으로 서로 다른 코인을 병합하지 않습니다. EVM 주소는 비교용 소문자 키와 원본을 보존하고 Solana 주소는 대소문자를 유지합니다. X의 긴 숫자 ID는 문자열로 저장합니다.</a:t>
            </a:r>
          </a:p>
          <a:p xmlns:a="http://schemas.openxmlformats.org/drawingml/2006/main">
            <a:r>
              <a:t>created_at과 fetched_at, 반응 수 관측 시각을 나눕니다. 재게시를 원작성자의 새 게시물로 세지 않습니다. 영어 텍스트 감성은 별도 전처리 경로로 부정어·emoji·강조를 보존하고 지원되지 않는 언어에는 null을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  <a:p xmlns:a="http://schemas.openxmlformats.org/drawingml/2006/main">
            <a:r>
              <a:t>proposal/evidence-and-references.md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일정은 매일 02:00 UTC입니다. 최근 7일을 중복 조회하고 ID로 dedup하여 지연 도착과 수정에 대응합니다. 월별로 최근 두 달과 링크·삭제 상태를 재검증합니다.</a:t>
            </a:r>
          </a:p>
          <a:p xmlns:a="http://schemas.openxmlformats.org/drawingml/2006/main">
            <a:r>
              <a:t>원본 저장과 MongoDB 적재를 확인한 뒤 체크포인트를 확정합니다. PostgreSQL에서 새 build를 검증한 뒤 공개 포인터를 원자적으로 바꿉니다. 실패하면 이전 성공 결과와 해당 결과의 갱신 시각을 유지합니다. 호스트가 꺼져 놓친 구간은 다음 시작 때 backfill합니다.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화면은 실제 앱이 아니라 계획된 화면 구성입니다. DOGE의 2026년 3분기 가격은 첨부 CSV의 실제 자료입니다. 소셜 데이터를 이미 확보한 것처럼 보이지 않도록 빈 상태를 명시합니다.</a:t>
            </a:r>
          </a:p>
          <a:p xmlns:a="http://schemas.openxmlformats.org/drawingml/2006/main">
            <a:r>
              <a:t>시장은 PostgreSQL의 공개 mart를 조회합니다. 게시물 탐색에서는 코인·기간·플랫폼으로 ID를 찾고 MongoDB의 본문을 조회합니다. 모든 화면에 수집 범위와 마지막 관측 시각을 함께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https://ui.shadcn.com/docs</a:t>
            </a:r>
          </a:p>
          <a:p xmlns:a="http://schemas.openxmlformats.org/drawingml/2006/main">
            <a:r>
              <a:t>https://vercel.com/geist/introduction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API가 실패했다고 게시물 수를 0으로 채우면 거짓된 관심도 하락을 만들어 냅니다. scope를 정상 확인한 날에만 0을 허용하고, 미확인·실패·부분 수집은 null과 coverage 상태를 함께 기록합니다.</a:t>
            </a:r>
          </a:p>
          <a:p xmlns:a="http://schemas.openxmlformats.org/drawingml/2006/main">
            <a:r>
              <a:t>관측 게시물 수는 partial에서도 하한으로 표시할 수 있지만 상관 분석용 eligible_count는 null로 제외합니다. 확인된 삭제는 본문과 파생 데이터, 영향받은 build에 전파합니다.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검증 목표입니다. 같은 raw를 재처리해 중복 없이 같은 결과가 나오는지, MongoDB 성공 후 SQL 실패에서 복구 가능한지 확인합니다. 최대 200개 표본의 코인 매칭과 감성을 수작업 검토합니다.</a:t>
            </a:r>
          </a:p>
          <a:p xmlns:a="http://schemas.openxmlformats.org/drawingml/2006/main">
            <a:r>
              <a:t>차트 SQL의 warm-cache p95 2초를 목표로 주요 쿼리를 30회 측정합니다. end-to-end 화면 시간과 구분합니다. 지연 상관은 -7일부터 +7일까지 사전 지정하고 30개 이상 유효한 날짜쌍에서만 계산합니다. VADER는 영어 언어 감성의 baseline이며 금융적 강세 예측으로 해석하지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  <a:p xmlns:a="http://schemas.openxmlformats.org/drawingml/2006/main">
            <a:r>
              <a:t>proposal/project-proposal.md (commit 7aa8ba2)</a:t>
            </a:r>
          </a:p>
          <a:p xmlns:a="http://schemas.openxmlformats.org/drawingml/2006/main">
            <a:r>
              <a:t>https://github.com/cjhutto/vaderSentiment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6주 계획이며 공식 마감일은 아직 확인되지 않았습니다. 1주차에 소스 조건과 모델을 확정하고, 2–3주차에 파이프라인, 4주차에 화면, 5주차에 검증, 6주차에 재현 가능한 시연과 발표를 준비합니다.</a:t>
            </a:r>
          </a:p>
          <a:p xmlns:a="http://schemas.openxmlformats.org/drawingml/2006/main">
            <a:r>
              <a:t>핵심 산출물은 가격과 소셜 관측의 출처를 확인할 수 있는 대시보드와 그 데이터 파이프라인입니다. 이미지 분석·OCR·임베딩·LLM 요약은 핵심 검증 이후의 확장입니다. 여기서 본문 발표를 마치고 질문에 따라 부록을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proposal/project-proposal.md (commit 7aa8ba2)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도표는 전체 12개 관계형 테이블 중 핵심 연결만 보여 줍니다. PostgreSQL의 assets와 price_daily, 게시물–코인 연결을 분리합니다. MongoDB의 social_items에는 현재 본문을, observations에는 수집별 payload와 반응 수를 둡니다.</a:t>
            </a:r>
          </a:p>
          <a:p xmlns:a="http://schemas.openxmlformats.org/drawingml/2006/main">
            <a:r>
              <a:t>item_key는 두 DB를 잇는 안정적인 ID이며 snapshot_id가 관측 버전을 식별합니다. DB 간 FK를 직접 강제할 수 없으므로 ETL에서 원본 URI와 해시까지 검증합니다. 화살표는 논리적 참조·데이터 이동이며 모든 화살표가 SQL FK인 것은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가격 acquisition 코드는 미제공 상태입니다. FxTwitter 접근성과 역사 커버리지는 보장되지 않습니다. Reddit은 현재 조건이 해결되기 전까지 활성화하지 않습니다.</a:t>
            </a:r>
          </a:p>
          <a:p xmlns:a="http://schemas.openxmlformats.org/drawingml/2006/main">
            <a:r>
              <a:t>소셜 표본과 10개 코인에 선택 편향이 있습니다. 풍자·스팸·영어 외 언어는 감성 결과를 제한합니다. 실제 데이터 규모와 합성 부하 시험을 분리하고 현재 가격 행 수만으로 대규모 성능을 입증하지 않습니다. source가 실패하면 마지막 성공 결과와 오류 상태를 함께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https://docs.fxembed.com/api/introduction/</a:t>
            </a:r>
          </a:p>
          <a:p xmlns:a="http://schemas.openxmlformats.org/drawingml/2006/main">
            <a:r>
              <a:t>https://github.com/ArthurHeitmann/arctic_shift</a:t>
            </a:r>
          </a:p>
          <a:p xmlns:a="http://schemas.openxmlformats.org/drawingml/2006/main">
            <a:r>
              <a:t>https://support.reddithelp.com/hc/en-us/articles/42728983564564-Responsible-Builder-Policy</a:t>
            </a:r>
          </a:p>
          <a:p xmlns:a="http://schemas.openxmlformats.org/drawingml/2006/main">
            <a:r>
              <a:t>https://github.com/cjhutto/vaderSentiment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출처는 관련 슬라이드의 노트와 함께 제공되는 sources.md에 정리했습니다. 외부 이미지와 상표는 각 권리자에게 속하며 프로젝트의 공식 제휴나 보증을 의미하지 않습니다. 디자인은 shadcn/ui와 Geist에서 영감을 받은 발표용 구성입니다. 실제 shadcn 앱을 구현한 결과라고 표현하지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proposal/project-proposal.md (commit 7aa8ba2)</a:t>
            </a:r>
          </a:p>
          <a:p xmlns:a="http://schemas.openxmlformats.org/drawingml/2006/main">
            <a:r>
              <a:t>proposal/evidence-and-references.md (commit 7aa8ba2)</a:t>
            </a:r>
          </a:p>
          <a:p xmlns:a="http://schemas.openxmlformats.org/drawingml/2006/main">
            <a:r>
              <a:t>architecture/system-design.md; architecture/data-model.md; architecture/ingestion-and-archiving.md; architecture/operations-and-validation.md (commit 7aa8ba2)</a:t>
            </a:r>
          </a:p>
          <a:p xmlns:a="http://schemas.openxmlformats.org/drawingml/2006/main">
            <a:r>
              <a:t>https://docs.fxembed.com/api/introduction/</a:t>
            </a:r>
          </a:p>
          <a:p xmlns:a="http://schemas.openxmlformats.org/drawingml/2006/main">
            <a:r>
              <a:t>https://github.com/ArthurHeitmann/arctic_shift</a:t>
            </a:r>
          </a:p>
          <a:p xmlns:a="http://schemas.openxmlformats.org/drawingml/2006/main">
            <a:r>
              <a:t>https://support.reddithelp.com/hc/en-us/articles/42728983564564-Responsible-Builder-Policy</a:t>
            </a:r>
          </a:p>
          <a:p xmlns:a="http://schemas.openxmlformats.org/drawingml/2006/main">
            <a:r>
              <a:t>https://zenodo.org/records/18246856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https://www.mongodb.com/docs/manual/data-modeling/</a:t>
            </a:r>
          </a:p>
          <a:p xmlns:a="http://schemas.openxmlformats.org/drawingml/2006/main">
            <a:r>
              <a:t>https://vercel.com/geist/introduction</a:t>
            </a:r>
          </a:p>
          <a:p xmlns:a="http://schemas.openxmlformats.org/drawingml/2006/main">
            <a:r>
              <a:t>https://ui.shadcn.com/docs</a:t>
            </a:r>
          </a:p>
          <a:p xmlns:a="http://schemas.openxmlformats.org/drawingml/2006/main">
            <a:r>
              <a:t>https://github.com/cjhutto/vaderSentiment</a:t>
            </a:r>
          </a:p>
          <a:p xmlns:a="http://schemas.openxmlformats.org/drawingml/2006/main">
            <a:r>
              <a:t>https://kai-you.net/article/89682</a:t>
            </a:r>
          </a:p>
          <a:p xmlns:a="http://schemas.openxmlformats.org/drawingml/2006/main">
            <a:r>
              <a:t>https://gettrumpmemes.com/</a:t>
            </a:r>
          </a:p>
          <a:p xmlns:a="http://schemas.openxmlformats.org/drawingml/2006/main">
            <a:r>
              <a:t>https://www.postgresql.org/about/press/</a:t>
            </a:r>
          </a:p>
          <a:p xmlns:a="http://schemas.openxmlformats.org/drawingml/2006/main">
            <a:r>
              <a:t>https://www.globant.com/about/partners</a:t>
            </a:r>
          </a:p>
          <a:p xmlns:a="http://schemas.openxmlformats.org/drawingml/2006/main">
            <a:r>
              <a:t>https://coinmarketcap.com/currencies/dogecoin/</a:t>
            </a:r>
          </a:p>
          <a:p xmlns:a="http://schemas.openxmlformats.org/drawingml/2006/main">
            <a:r>
              <a:t>https://coinmarketcap.com/currencies/shiba-inu/</a:t>
            </a:r>
          </a:p>
          <a:p xmlns:a="http://schemas.openxmlformats.org/drawingml/2006/main">
            <a:r>
              <a:t>https://coinmarketcap.com/currencies/pepe/</a:t>
            </a:r>
          </a:p>
          <a:p xmlns:a="http://schemas.openxmlformats.org/drawingml/2006/main">
            <a:r>
              <a:t>https://coinmarketcap.com/currencies/memecore/</a:t>
            </a:r>
          </a:p>
          <a:p xmlns:a="http://schemas.openxmlformats.org/drawingml/2006/main">
            <a:r>
              <a:t>https://coinmarketcap.com/currencies/pudgy-penguins/</a:t>
            </a:r>
          </a:p>
          <a:p xmlns:a="http://schemas.openxmlformats.org/drawingml/2006/main">
            <a:r>
              <a:t>https://coinmarketcap.com/currencies/official-trump/</a:t>
            </a:r>
          </a:p>
          <a:p xmlns:a="http://schemas.openxmlformats.org/drawingml/2006/main">
            <a:r>
              <a:t>https://coinmarketcap.com/currencies/spx6900/</a:t>
            </a:r>
          </a:p>
          <a:p xmlns:a="http://schemas.openxmlformats.org/drawingml/2006/main">
            <a:r>
              <a:t>https://coinmarketcap.com/currencies/bonk1/</a:t>
            </a:r>
          </a:p>
          <a:p xmlns:a="http://schemas.openxmlformats.org/drawingml/2006/main">
            <a:r>
              <a:t>https://coinmarketcap.com/currencies/floki-inu/</a:t>
            </a:r>
          </a:p>
          <a:p xmlns:a="http://schemas.openxmlformats.org/drawingml/2006/main">
            <a:r>
              <a:t>https://coinmarketcap.com/currencies/bianrensheng/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d4155ea1b45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d0c676d3943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139bdd867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3615f61ca47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6badbbc7649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bb939f4e8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B23BE-97D1-423A-9CBD-0887C0D373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4496DF-5A4D-43AE-9F9A-FB191FD7CD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309A93-F653-4E00-BFFF-732FDDEA9B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0D1952-DB1A-46F2-9C27-74A02B60B0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2589D1-8CC6-4D70-8379-18729F1DA8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D09937-5267-42C0-9405-F5FB7DB02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EF2494-4386-4F6E-8FAF-36B22F64A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AD66CA-1B42-4E88-A3F5-056496CD35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2B64B0-EBA4-4B09-BF6B-0F04FB32A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0795C7-EB70-4CBB-8A16-978C010202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b51eb1a0644b0a" /><Relationship Type="http://schemas.openxmlformats.org/officeDocument/2006/relationships/slideLayout" Target="/ppt/slideLayouts/slideLayout1.xml" Id="Rad1557f96325463e" /><Relationship Type="http://schemas.openxmlformats.org/officeDocument/2006/relationships/slideLayout" Target="/ppt/slideLayouts/slideLayout2.xml" Id="Rcc50a88ea2694955" /><Relationship Type="http://schemas.openxmlformats.org/officeDocument/2006/relationships/slideLayout" Target="/ppt/slideLayouts/slideLayout3.xml" Id="R92f72620a696415a" /><Relationship Type="http://schemas.openxmlformats.org/officeDocument/2006/relationships/slideLayout" Target="/ppt/slideLayouts/slideLayout4.xml" Id="Rdb133c82a4ce4db4" /><Relationship Type="http://schemas.openxmlformats.org/officeDocument/2006/relationships/slideLayout" Target="/ppt/slideLayouts/slideLayout5.xml" Id="Ra399e5325d5547eb" /><Relationship Type="http://schemas.openxmlformats.org/officeDocument/2006/relationships/slideLayout" Target="/ppt/slideLayouts/slideLayout6.xml" Id="Re47cc3044299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1557f96325463e"/>
    <p:sldLayoutId xmlns:r="http://schemas.openxmlformats.org/officeDocument/2006/relationships" id="2147483650" r:id="Rcc50a88ea2694955"/>
    <p:sldLayoutId xmlns:r="http://schemas.openxmlformats.org/officeDocument/2006/relationships" id="2147483651" r:id="R92f72620a696415a"/>
    <p:sldLayoutId xmlns:r="http://schemas.openxmlformats.org/officeDocument/2006/relationships" id="2147483652" r:id="Rdb133c82a4ce4db4"/>
    <p:sldLayoutId xmlns:r="http://schemas.openxmlformats.org/officeDocument/2006/relationships" id="2147483653" r:id="Ra399e5325d5547eb"/>
    <p:sldLayoutId xmlns:r="http://schemas.openxmlformats.org/officeDocument/2006/relationships" id="2147483654" r:id="Re47cc3044299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96dd8a2284dd1" /><Relationship Type="http://schemas.openxmlformats.org/officeDocument/2006/relationships/image" Target="/ppt/media/image.jpeg" Id="Rba77b4323a424fec" /><Relationship Type="http://schemas.openxmlformats.org/officeDocument/2006/relationships/notesSlide" Target="/ppt/notesSlides/notesSlide1.xml" Id="R88d80c1f126d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fe7851cdf407a" /><Relationship Type="http://schemas.openxmlformats.org/officeDocument/2006/relationships/chart" Target="/ppt/slides/charts/chart1.xml" Id="R536ba49fac8a49fe" /><Relationship Type="http://schemas.openxmlformats.org/officeDocument/2006/relationships/notesSlide" Target="/ppt/notesSlides/notesSlide2.xml" Id="R3c50fcef4f8e4a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bd85775e34907" /><Relationship Type="http://schemas.openxmlformats.org/officeDocument/2006/relationships/image" Target="/ppt/media/image.bin" Id="R27bd9f2bf0fe4588" /><Relationship Type="http://schemas.openxmlformats.org/officeDocument/2006/relationships/notesSlide" Target="/ppt/notesSlides/notesSlide3.xml" Id="R4a268b92466e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fa9cd6d074175" /><Relationship Type="http://schemas.openxmlformats.org/officeDocument/2006/relationships/notesSlide" Target="/ppt/notesSlides/notesSlide4.xml" Id="Rf9c59bb07902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98a68d2c94057" /><Relationship Type="http://schemas.openxmlformats.org/officeDocument/2006/relationships/image" Target="/ppt/media/image.png" Id="Rab5bbf9e3ddf488e" /><Relationship Type="http://schemas.openxmlformats.org/officeDocument/2006/relationships/image" Target="/ppt/media/image2.png" Id="Ra120e35ce2b34da1" /><Relationship Type="http://schemas.openxmlformats.org/officeDocument/2006/relationships/image" Target="/ppt/media/image3.png" Id="Rb5a07ce7c3a04e7d" /><Relationship Type="http://schemas.openxmlformats.org/officeDocument/2006/relationships/image" Target="/ppt/media/image4.png" Id="R3476e6b5dbb448a7" /><Relationship Type="http://schemas.openxmlformats.org/officeDocument/2006/relationships/image" Target="/ppt/media/image5.png" Id="Race5e6c6c09e4996" /><Relationship Type="http://schemas.openxmlformats.org/officeDocument/2006/relationships/image" Target="/ppt/media/image6.png" Id="R4832819785e04ddc" /><Relationship Type="http://schemas.openxmlformats.org/officeDocument/2006/relationships/image" Target="/ppt/media/image7.png" Id="R686c8a330b494d84" /><Relationship Type="http://schemas.openxmlformats.org/officeDocument/2006/relationships/image" Target="/ppt/media/image8.png" Id="Rcc77f584653a47aa" /><Relationship Type="http://schemas.openxmlformats.org/officeDocument/2006/relationships/image" Target="/ppt/media/image9.png" Id="R3d7cf3100cab4842" /><Relationship Type="http://schemas.openxmlformats.org/officeDocument/2006/relationships/image" Target="/ppt/media/image10.png" Id="R1983aae8842b4930" /><Relationship Type="http://schemas.openxmlformats.org/officeDocument/2006/relationships/notesSlide" Target="/ppt/notesSlides/notesSlide5.xml" Id="R3d5022a5a9f5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ee4b4f89245fc" /><Relationship Type="http://schemas.openxmlformats.org/officeDocument/2006/relationships/notesSlide" Target="/ppt/notesSlides/notesSlide6.xml" Id="R61056d235a31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3cfbe87364858" /><Relationship Type="http://schemas.openxmlformats.org/officeDocument/2006/relationships/notesSlide" Target="/ppt/notesSlides/notesSlide7.xml" Id="Ra4f815433c6d47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69919d95d4755" /><Relationship Type="http://schemas.openxmlformats.org/officeDocument/2006/relationships/notesSlide" Target="/ppt/notesSlides/notesSlide8.xml" Id="R3e19c8e3732d4f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c7cab7fca429f" /><Relationship Type="http://schemas.openxmlformats.org/officeDocument/2006/relationships/image" Target="/ppt/media/image11.png" Id="Rbd1e128f830f49ed" /><Relationship Type="http://schemas.openxmlformats.org/officeDocument/2006/relationships/image" Target="/ppt/media/image12.png" Id="Rbf0c17eaded24546" /><Relationship Type="http://schemas.openxmlformats.org/officeDocument/2006/relationships/notesSlide" Target="/ppt/notesSlides/notesSlide9.xml" Id="Rd68a446249d646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c447f5fc14369" /><Relationship Type="http://schemas.openxmlformats.org/officeDocument/2006/relationships/notesSlide" Target="/ppt/notesSlides/notesSlide10.xml" Id="R3950f591af3543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c74150e894f9f" /><Relationship Type="http://schemas.openxmlformats.org/officeDocument/2006/relationships/notesSlide" Target="/ppt/notesSlides/notesSlide11.xml" Id="Rbbd9910826eb4b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91121569b4e6b" /><Relationship Type="http://schemas.openxmlformats.org/officeDocument/2006/relationships/chart" Target="/ppt/slides/charts/chart2.xml" Id="R33c11c4e99a94cda" /><Relationship Type="http://schemas.openxmlformats.org/officeDocument/2006/relationships/notesSlide" Target="/ppt/notesSlides/notesSlide12.xml" Id="Reac257dac69044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cc9b439364d43" /><Relationship Type="http://schemas.openxmlformats.org/officeDocument/2006/relationships/notesSlide" Target="/ppt/notesSlides/notesSlide13.xml" Id="R0f0e3435cb134c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fdba2be5043c6" /><Relationship Type="http://schemas.openxmlformats.org/officeDocument/2006/relationships/notesSlide" Target="/ppt/notesSlides/notesSlide14.xml" Id="R2deb8ca0354746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f040823e143f0" /><Relationship Type="http://schemas.openxmlformats.org/officeDocument/2006/relationships/notesSlide" Target="/ppt/notesSlides/notesSlide15.xml" Id="Rabd191e849fd4e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773e2f15149d2" /><Relationship Type="http://schemas.openxmlformats.org/officeDocument/2006/relationships/notesSlide" Target="/ppt/notesSlides/notesSlide16.xml" Id="R95a723be852547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01a51196d403d" /><Relationship Type="http://schemas.openxmlformats.org/officeDocument/2006/relationships/notesSlide" Target="/ppt/notesSlides/notesSlide17.xml" Id="R98a77b21f67c45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0d846c3bd4064" /><Relationship Type="http://schemas.openxmlformats.org/officeDocument/2006/relationships/notesSlide" Target="/ppt/notesSlides/notesSlide18.xml" Id="R4be3388fc84c4c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First daily closes</c:v>
          </c:tx>
          <c:spPr>
            <a:ln xmlns:a="http://schemas.openxmlformats.org/drawingml/2006/main" w="38100">
              <a:solidFill>
                <a:srgbClr val="4ADE80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45675</c:v>
                </c:pt>
                <c:pt idx="1">
                  <c:v>45676</c:v>
                </c:pt>
              </c:numCache>
            </c:numRef>
          </c:xVal>
          <c:yVal>
            <c:numRef>
              <c:f>'Chart Data'!$B$2:$B$3</c:f>
              <c:numCache>
                <c:formatCode>$0.00</c:formatCode>
                <c:ptCount val="2"/>
                <c:pt idx="0">
                  <c:v>28.7279147134</c:v>
                </c:pt>
                <c:pt idx="1">
                  <c:v>45.5030010328</c:v>
                </c:pt>
              </c:numCache>
            </c:numRef>
          </c:yVal>
          <c:smooth val="0"/>
        </c:ser>
        <c:ser>
          <c:idx val="1"/>
          <c:order val="1"/>
          <c:tx>
            <c:v>After the closing peak</c:v>
          </c:tx>
          <c:spPr>
            <a:ln xmlns:a="http://schemas.openxmlformats.org/drawingml/2006/main" w="28575">
              <a:solidFill>
                <a:srgbClr val="F87171"/>
              </a:solidFill>
            </a:ln>
          </c:spPr>
          <c:marker>
            <c:symbol val="none"/>
          </c:marker>
          <c:xVal>
            <c:numRef>
              <c:f>'Chart Data'!$C$2:$C$628</c:f>
              <c:numCache>
                <c:formatCode>General</c:formatCode>
                <c:ptCount val="627"/>
                <c:pt idx="0">
                  <c:v>45676</c:v>
                </c:pt>
                <c:pt idx="1">
                  <c:v>45677</c:v>
                </c:pt>
                <c:pt idx="2">
                  <c:v>45678</c:v>
                </c:pt>
                <c:pt idx="3">
                  <c:v>45679</c:v>
                </c:pt>
                <c:pt idx="4">
                  <c:v>45680</c:v>
                </c:pt>
                <c:pt idx="5">
                  <c:v>45681</c:v>
                </c:pt>
                <c:pt idx="6">
                  <c:v>45682</c:v>
                </c:pt>
                <c:pt idx="7">
                  <c:v>45683</c:v>
                </c:pt>
                <c:pt idx="8">
                  <c:v>45684</c:v>
                </c:pt>
                <c:pt idx="9">
                  <c:v>45685</c:v>
                </c:pt>
                <c:pt idx="10">
                  <c:v>45686</c:v>
                </c:pt>
                <c:pt idx="11">
                  <c:v>45687</c:v>
                </c:pt>
                <c:pt idx="12">
                  <c:v>45688</c:v>
                </c:pt>
                <c:pt idx="13">
                  <c:v>45689</c:v>
                </c:pt>
                <c:pt idx="14">
                  <c:v>45690</c:v>
                </c:pt>
                <c:pt idx="15">
                  <c:v>45691</c:v>
                </c:pt>
                <c:pt idx="16">
                  <c:v>45692</c:v>
                </c:pt>
                <c:pt idx="17">
                  <c:v>45693</c:v>
                </c:pt>
                <c:pt idx="18">
                  <c:v>45694</c:v>
                </c:pt>
                <c:pt idx="19">
                  <c:v>45695</c:v>
                </c:pt>
                <c:pt idx="20">
                  <c:v>45696</c:v>
                </c:pt>
                <c:pt idx="21">
                  <c:v>45697</c:v>
                </c:pt>
                <c:pt idx="22">
                  <c:v>45698</c:v>
                </c:pt>
                <c:pt idx="23">
                  <c:v>45699</c:v>
                </c:pt>
                <c:pt idx="24">
                  <c:v>45700</c:v>
                </c:pt>
                <c:pt idx="25">
                  <c:v>45701</c:v>
                </c:pt>
                <c:pt idx="26">
                  <c:v>45702</c:v>
                </c:pt>
                <c:pt idx="27">
                  <c:v>45703</c:v>
                </c:pt>
                <c:pt idx="28">
                  <c:v>45704</c:v>
                </c:pt>
                <c:pt idx="29">
                  <c:v>45705</c:v>
                </c:pt>
                <c:pt idx="30">
                  <c:v>45706</c:v>
                </c:pt>
                <c:pt idx="31">
                  <c:v>45707</c:v>
                </c:pt>
                <c:pt idx="32">
                  <c:v>45708</c:v>
                </c:pt>
                <c:pt idx="33">
                  <c:v>45709</c:v>
                </c:pt>
                <c:pt idx="34">
                  <c:v>45710</c:v>
                </c:pt>
                <c:pt idx="35">
                  <c:v>45711</c:v>
                </c:pt>
                <c:pt idx="36">
                  <c:v>45712</c:v>
                </c:pt>
                <c:pt idx="37">
                  <c:v>45713</c:v>
                </c:pt>
                <c:pt idx="38">
                  <c:v>45714</c:v>
                </c:pt>
                <c:pt idx="39">
                  <c:v>45715</c:v>
                </c:pt>
                <c:pt idx="40">
                  <c:v>45716</c:v>
                </c:pt>
                <c:pt idx="41">
                  <c:v>45717</c:v>
                </c:pt>
                <c:pt idx="42">
                  <c:v>45718</c:v>
                </c:pt>
                <c:pt idx="43">
                  <c:v>45719</c:v>
                </c:pt>
                <c:pt idx="44">
                  <c:v>45720</c:v>
                </c:pt>
                <c:pt idx="45">
                  <c:v>45721</c:v>
                </c:pt>
                <c:pt idx="46">
                  <c:v>45722</c:v>
                </c:pt>
                <c:pt idx="47">
                  <c:v>45723</c:v>
                </c:pt>
                <c:pt idx="48">
                  <c:v>45724</c:v>
                </c:pt>
                <c:pt idx="49">
                  <c:v>45725</c:v>
                </c:pt>
                <c:pt idx="50">
                  <c:v>45726</c:v>
                </c:pt>
                <c:pt idx="51">
                  <c:v>45727</c:v>
                </c:pt>
                <c:pt idx="52">
                  <c:v>45728</c:v>
                </c:pt>
                <c:pt idx="53">
                  <c:v>45729</c:v>
                </c:pt>
                <c:pt idx="54">
                  <c:v>45730</c:v>
                </c:pt>
                <c:pt idx="55">
                  <c:v>45731</c:v>
                </c:pt>
                <c:pt idx="56">
                  <c:v>45732</c:v>
                </c:pt>
                <c:pt idx="57">
                  <c:v>45733</c:v>
                </c:pt>
                <c:pt idx="58">
                  <c:v>45734</c:v>
                </c:pt>
                <c:pt idx="59">
                  <c:v>45735</c:v>
                </c:pt>
                <c:pt idx="60">
                  <c:v>45736</c:v>
                </c:pt>
                <c:pt idx="61">
                  <c:v>45737</c:v>
                </c:pt>
                <c:pt idx="62">
                  <c:v>45738</c:v>
                </c:pt>
                <c:pt idx="63">
                  <c:v>45739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45745</c:v>
                </c:pt>
                <c:pt idx="70">
                  <c:v>45746</c:v>
                </c:pt>
                <c:pt idx="71">
                  <c:v>45747</c:v>
                </c:pt>
                <c:pt idx="72">
                  <c:v>45748</c:v>
                </c:pt>
                <c:pt idx="73">
                  <c:v>45749</c:v>
                </c:pt>
                <c:pt idx="74">
                  <c:v>45750</c:v>
                </c:pt>
                <c:pt idx="75">
                  <c:v>45751</c:v>
                </c:pt>
                <c:pt idx="76">
                  <c:v>45752</c:v>
                </c:pt>
                <c:pt idx="77">
                  <c:v>45753</c:v>
                </c:pt>
                <c:pt idx="78">
                  <c:v>45754</c:v>
                </c:pt>
                <c:pt idx="79">
                  <c:v>45755</c:v>
                </c:pt>
                <c:pt idx="80">
                  <c:v>45756</c:v>
                </c:pt>
                <c:pt idx="81">
                  <c:v>45757</c:v>
                </c:pt>
                <c:pt idx="82">
                  <c:v>45758</c:v>
                </c:pt>
                <c:pt idx="83">
                  <c:v>45759</c:v>
                </c:pt>
                <c:pt idx="84">
                  <c:v>45760</c:v>
                </c:pt>
                <c:pt idx="85">
                  <c:v>45761</c:v>
                </c:pt>
                <c:pt idx="86">
                  <c:v>45762</c:v>
                </c:pt>
                <c:pt idx="87">
                  <c:v>45763</c:v>
                </c:pt>
                <c:pt idx="88">
                  <c:v>45764</c:v>
                </c:pt>
                <c:pt idx="89">
                  <c:v>45765</c:v>
                </c:pt>
                <c:pt idx="90">
                  <c:v>45766</c:v>
                </c:pt>
                <c:pt idx="91">
                  <c:v>45767</c:v>
                </c:pt>
                <c:pt idx="92">
                  <c:v>45768</c:v>
                </c:pt>
                <c:pt idx="93">
                  <c:v>45769</c:v>
                </c:pt>
                <c:pt idx="94">
                  <c:v>45770</c:v>
                </c:pt>
                <c:pt idx="95">
                  <c:v>45771</c:v>
                </c:pt>
                <c:pt idx="96">
                  <c:v>45772</c:v>
                </c:pt>
                <c:pt idx="97">
                  <c:v>45773</c:v>
                </c:pt>
                <c:pt idx="98">
                  <c:v>45774</c:v>
                </c:pt>
                <c:pt idx="99">
                  <c:v>45775</c:v>
                </c:pt>
                <c:pt idx="100">
                  <c:v>45776</c:v>
                </c:pt>
                <c:pt idx="101">
                  <c:v>45777</c:v>
                </c:pt>
                <c:pt idx="102">
                  <c:v>45778</c:v>
                </c:pt>
                <c:pt idx="103">
                  <c:v>45779</c:v>
                </c:pt>
                <c:pt idx="104">
                  <c:v>45780</c:v>
                </c:pt>
                <c:pt idx="105">
                  <c:v>45781</c:v>
                </c:pt>
                <c:pt idx="106">
                  <c:v>45782</c:v>
                </c:pt>
                <c:pt idx="107">
                  <c:v>45783</c:v>
                </c:pt>
                <c:pt idx="108">
                  <c:v>45784</c:v>
                </c:pt>
                <c:pt idx="109">
                  <c:v>45785</c:v>
                </c:pt>
                <c:pt idx="110">
                  <c:v>45786</c:v>
                </c:pt>
                <c:pt idx="111">
                  <c:v>45787</c:v>
                </c:pt>
                <c:pt idx="112">
                  <c:v>45788</c:v>
                </c:pt>
                <c:pt idx="113">
                  <c:v>45789</c:v>
                </c:pt>
                <c:pt idx="114">
                  <c:v>45790</c:v>
                </c:pt>
                <c:pt idx="115">
                  <c:v>45791</c:v>
                </c:pt>
                <c:pt idx="116">
                  <c:v>45792</c:v>
                </c:pt>
                <c:pt idx="117">
                  <c:v>45793</c:v>
                </c:pt>
                <c:pt idx="118">
                  <c:v>45794</c:v>
                </c:pt>
                <c:pt idx="119">
                  <c:v>45795</c:v>
                </c:pt>
                <c:pt idx="120">
                  <c:v>45796</c:v>
                </c:pt>
                <c:pt idx="121">
                  <c:v>45797</c:v>
                </c:pt>
                <c:pt idx="122">
                  <c:v>45798</c:v>
                </c:pt>
                <c:pt idx="123">
                  <c:v>45799</c:v>
                </c:pt>
                <c:pt idx="124">
                  <c:v>45800</c:v>
                </c:pt>
                <c:pt idx="125">
                  <c:v>45801</c:v>
                </c:pt>
                <c:pt idx="126">
                  <c:v>45802</c:v>
                </c:pt>
                <c:pt idx="127">
                  <c:v>45803</c:v>
                </c:pt>
                <c:pt idx="128">
                  <c:v>45804</c:v>
                </c:pt>
                <c:pt idx="129">
                  <c:v>45805</c:v>
                </c:pt>
                <c:pt idx="130">
                  <c:v>45806</c:v>
                </c:pt>
                <c:pt idx="131">
                  <c:v>45807</c:v>
                </c:pt>
                <c:pt idx="132">
                  <c:v>45808</c:v>
                </c:pt>
                <c:pt idx="133">
                  <c:v>45809</c:v>
                </c:pt>
                <c:pt idx="134">
                  <c:v>45810</c:v>
                </c:pt>
                <c:pt idx="135">
                  <c:v>45811</c:v>
                </c:pt>
                <c:pt idx="136">
                  <c:v>45812</c:v>
                </c:pt>
                <c:pt idx="137">
                  <c:v>45813</c:v>
                </c:pt>
                <c:pt idx="138">
                  <c:v>45814</c:v>
                </c:pt>
                <c:pt idx="139">
                  <c:v>45815</c:v>
                </c:pt>
                <c:pt idx="140">
                  <c:v>45816</c:v>
                </c:pt>
                <c:pt idx="141">
                  <c:v>45817</c:v>
                </c:pt>
                <c:pt idx="142">
                  <c:v>45818</c:v>
                </c:pt>
                <c:pt idx="143">
                  <c:v>45819</c:v>
                </c:pt>
                <c:pt idx="144">
                  <c:v>45820</c:v>
                </c:pt>
                <c:pt idx="145">
                  <c:v>45821</c:v>
                </c:pt>
                <c:pt idx="146">
                  <c:v>45822</c:v>
                </c:pt>
                <c:pt idx="147">
                  <c:v>45823</c:v>
                </c:pt>
                <c:pt idx="148">
                  <c:v>45824</c:v>
                </c:pt>
                <c:pt idx="149">
                  <c:v>45825</c:v>
                </c:pt>
                <c:pt idx="150">
                  <c:v>45826</c:v>
                </c:pt>
                <c:pt idx="151">
                  <c:v>45827</c:v>
                </c:pt>
                <c:pt idx="152">
                  <c:v>45828</c:v>
                </c:pt>
                <c:pt idx="153">
                  <c:v>45829</c:v>
                </c:pt>
                <c:pt idx="154">
                  <c:v>45830</c:v>
                </c:pt>
                <c:pt idx="155">
                  <c:v>45831</c:v>
                </c:pt>
                <c:pt idx="156">
                  <c:v>45832</c:v>
                </c:pt>
                <c:pt idx="157">
                  <c:v>45833</c:v>
                </c:pt>
                <c:pt idx="158">
                  <c:v>45834</c:v>
                </c:pt>
                <c:pt idx="159">
                  <c:v>45835</c:v>
                </c:pt>
                <c:pt idx="160">
                  <c:v>45836</c:v>
                </c:pt>
                <c:pt idx="161">
                  <c:v>45837</c:v>
                </c:pt>
                <c:pt idx="162">
                  <c:v>45838</c:v>
                </c:pt>
                <c:pt idx="163">
                  <c:v>45839</c:v>
                </c:pt>
                <c:pt idx="164">
                  <c:v>45840</c:v>
                </c:pt>
                <c:pt idx="165">
                  <c:v>45841</c:v>
                </c:pt>
                <c:pt idx="166">
                  <c:v>45842</c:v>
                </c:pt>
                <c:pt idx="167">
                  <c:v>45843</c:v>
                </c:pt>
                <c:pt idx="168">
                  <c:v>45844</c:v>
                </c:pt>
                <c:pt idx="169">
                  <c:v>45845</c:v>
                </c:pt>
                <c:pt idx="170">
                  <c:v>45846</c:v>
                </c:pt>
                <c:pt idx="171">
                  <c:v>45847</c:v>
                </c:pt>
                <c:pt idx="172">
                  <c:v>45848</c:v>
                </c:pt>
                <c:pt idx="173">
                  <c:v>45849</c:v>
                </c:pt>
                <c:pt idx="174">
                  <c:v>45850</c:v>
                </c:pt>
                <c:pt idx="175">
                  <c:v>45851</c:v>
                </c:pt>
                <c:pt idx="176">
                  <c:v>45852</c:v>
                </c:pt>
                <c:pt idx="177">
                  <c:v>45853</c:v>
                </c:pt>
                <c:pt idx="178">
                  <c:v>45854</c:v>
                </c:pt>
                <c:pt idx="179">
                  <c:v>45855</c:v>
                </c:pt>
                <c:pt idx="180">
                  <c:v>45856</c:v>
                </c:pt>
                <c:pt idx="181">
                  <c:v>45857</c:v>
                </c:pt>
                <c:pt idx="182">
                  <c:v>45858</c:v>
                </c:pt>
                <c:pt idx="183">
                  <c:v>45859</c:v>
                </c:pt>
                <c:pt idx="184">
                  <c:v>45860</c:v>
                </c:pt>
                <c:pt idx="185">
                  <c:v>45861</c:v>
                </c:pt>
                <c:pt idx="186">
                  <c:v>45862</c:v>
                </c:pt>
                <c:pt idx="187">
                  <c:v>45863</c:v>
                </c:pt>
                <c:pt idx="188">
                  <c:v>45864</c:v>
                </c:pt>
                <c:pt idx="189">
                  <c:v>45865</c:v>
                </c:pt>
                <c:pt idx="190">
                  <c:v>45866</c:v>
                </c:pt>
                <c:pt idx="191">
                  <c:v>45867</c:v>
                </c:pt>
                <c:pt idx="192">
                  <c:v>45868</c:v>
                </c:pt>
                <c:pt idx="193">
                  <c:v>45869</c:v>
                </c:pt>
                <c:pt idx="194">
                  <c:v>45870</c:v>
                </c:pt>
                <c:pt idx="195">
                  <c:v>45871</c:v>
                </c:pt>
                <c:pt idx="196">
                  <c:v>45872</c:v>
                </c:pt>
                <c:pt idx="197">
                  <c:v>45873</c:v>
                </c:pt>
                <c:pt idx="198">
                  <c:v>45874</c:v>
                </c:pt>
                <c:pt idx="199">
                  <c:v>45875</c:v>
                </c:pt>
                <c:pt idx="200">
                  <c:v>45876</c:v>
                </c:pt>
                <c:pt idx="201">
                  <c:v>45877</c:v>
                </c:pt>
                <c:pt idx="202">
                  <c:v>45878</c:v>
                </c:pt>
                <c:pt idx="203">
                  <c:v>45879</c:v>
                </c:pt>
                <c:pt idx="204">
                  <c:v>45880</c:v>
                </c:pt>
                <c:pt idx="205">
                  <c:v>45881</c:v>
                </c:pt>
                <c:pt idx="206">
                  <c:v>45882</c:v>
                </c:pt>
                <c:pt idx="207">
                  <c:v>45883</c:v>
                </c:pt>
                <c:pt idx="208">
                  <c:v>45884</c:v>
                </c:pt>
                <c:pt idx="209">
                  <c:v>45885</c:v>
                </c:pt>
                <c:pt idx="210">
                  <c:v>45886</c:v>
                </c:pt>
                <c:pt idx="211">
                  <c:v>45887</c:v>
                </c:pt>
                <c:pt idx="212">
                  <c:v>45888</c:v>
                </c:pt>
                <c:pt idx="213">
                  <c:v>45889</c:v>
                </c:pt>
                <c:pt idx="214">
                  <c:v>45890</c:v>
                </c:pt>
                <c:pt idx="215">
                  <c:v>45891</c:v>
                </c:pt>
                <c:pt idx="216">
                  <c:v>45892</c:v>
                </c:pt>
                <c:pt idx="217">
                  <c:v>45893</c:v>
                </c:pt>
                <c:pt idx="218">
                  <c:v>45894</c:v>
                </c:pt>
                <c:pt idx="219">
                  <c:v>45895</c:v>
                </c:pt>
                <c:pt idx="220">
                  <c:v>45896</c:v>
                </c:pt>
                <c:pt idx="221">
                  <c:v>45897</c:v>
                </c:pt>
                <c:pt idx="222">
                  <c:v>45898</c:v>
                </c:pt>
                <c:pt idx="223">
                  <c:v>45899</c:v>
                </c:pt>
                <c:pt idx="224">
                  <c:v>45900</c:v>
                </c:pt>
                <c:pt idx="225">
                  <c:v>45901</c:v>
                </c:pt>
                <c:pt idx="226">
                  <c:v>45902</c:v>
                </c:pt>
                <c:pt idx="227">
                  <c:v>45903</c:v>
                </c:pt>
                <c:pt idx="228">
                  <c:v>45904</c:v>
                </c:pt>
                <c:pt idx="229">
                  <c:v>45905</c:v>
                </c:pt>
                <c:pt idx="230">
                  <c:v>45906</c:v>
                </c:pt>
                <c:pt idx="231">
                  <c:v>45907</c:v>
                </c:pt>
                <c:pt idx="232">
                  <c:v>45908</c:v>
                </c:pt>
                <c:pt idx="233">
                  <c:v>45909</c:v>
                </c:pt>
                <c:pt idx="234">
                  <c:v>45910</c:v>
                </c:pt>
                <c:pt idx="235">
                  <c:v>45911</c:v>
                </c:pt>
                <c:pt idx="236">
                  <c:v>45912</c:v>
                </c:pt>
                <c:pt idx="237">
                  <c:v>45913</c:v>
                </c:pt>
                <c:pt idx="238">
                  <c:v>45914</c:v>
                </c:pt>
                <c:pt idx="239">
                  <c:v>45915</c:v>
                </c:pt>
                <c:pt idx="240">
                  <c:v>45916</c:v>
                </c:pt>
                <c:pt idx="241">
                  <c:v>45917</c:v>
                </c:pt>
                <c:pt idx="242">
                  <c:v>45918</c:v>
                </c:pt>
                <c:pt idx="243">
                  <c:v>45919</c:v>
                </c:pt>
                <c:pt idx="244">
                  <c:v>45920</c:v>
                </c:pt>
                <c:pt idx="245">
                  <c:v>45921</c:v>
                </c:pt>
                <c:pt idx="246">
                  <c:v>45922</c:v>
                </c:pt>
                <c:pt idx="247">
                  <c:v>45923</c:v>
                </c:pt>
                <c:pt idx="248">
                  <c:v>45924</c:v>
                </c:pt>
                <c:pt idx="249">
                  <c:v>45925</c:v>
                </c:pt>
                <c:pt idx="250">
                  <c:v>45926</c:v>
                </c:pt>
                <c:pt idx="251">
                  <c:v>45927</c:v>
                </c:pt>
                <c:pt idx="252">
                  <c:v>45928</c:v>
                </c:pt>
                <c:pt idx="253">
                  <c:v>45929</c:v>
                </c:pt>
                <c:pt idx="254">
                  <c:v>45930</c:v>
                </c:pt>
                <c:pt idx="255">
                  <c:v>45931</c:v>
                </c:pt>
                <c:pt idx="256">
                  <c:v>45932</c:v>
                </c:pt>
                <c:pt idx="257">
                  <c:v>45933</c:v>
                </c:pt>
                <c:pt idx="258">
                  <c:v>45934</c:v>
                </c:pt>
                <c:pt idx="259">
                  <c:v>45935</c:v>
                </c:pt>
                <c:pt idx="260">
                  <c:v>45936</c:v>
                </c:pt>
                <c:pt idx="261">
                  <c:v>45937</c:v>
                </c:pt>
                <c:pt idx="262">
                  <c:v>45938</c:v>
                </c:pt>
                <c:pt idx="263">
                  <c:v>45939</c:v>
                </c:pt>
                <c:pt idx="264">
                  <c:v>45940</c:v>
                </c:pt>
                <c:pt idx="265">
                  <c:v>45941</c:v>
                </c:pt>
                <c:pt idx="266">
                  <c:v>45942</c:v>
                </c:pt>
                <c:pt idx="267">
                  <c:v>45943</c:v>
                </c:pt>
                <c:pt idx="268">
                  <c:v>45944</c:v>
                </c:pt>
                <c:pt idx="269">
                  <c:v>45945</c:v>
                </c:pt>
                <c:pt idx="270">
                  <c:v>45946</c:v>
                </c:pt>
                <c:pt idx="271">
                  <c:v>45947</c:v>
                </c:pt>
                <c:pt idx="272">
                  <c:v>45948</c:v>
                </c:pt>
                <c:pt idx="273">
                  <c:v>45949</c:v>
                </c:pt>
                <c:pt idx="274">
                  <c:v>45950</c:v>
                </c:pt>
                <c:pt idx="275">
                  <c:v>45951</c:v>
                </c:pt>
                <c:pt idx="276">
                  <c:v>45952</c:v>
                </c:pt>
                <c:pt idx="277">
                  <c:v>45953</c:v>
                </c:pt>
                <c:pt idx="278">
                  <c:v>45954</c:v>
                </c:pt>
                <c:pt idx="279">
                  <c:v>45955</c:v>
                </c:pt>
                <c:pt idx="280">
                  <c:v>45956</c:v>
                </c:pt>
                <c:pt idx="281">
                  <c:v>45957</c:v>
                </c:pt>
                <c:pt idx="282">
                  <c:v>45958</c:v>
                </c:pt>
                <c:pt idx="283">
                  <c:v>45959</c:v>
                </c:pt>
                <c:pt idx="284">
                  <c:v>45960</c:v>
                </c:pt>
                <c:pt idx="285">
                  <c:v>45961</c:v>
                </c:pt>
                <c:pt idx="286">
                  <c:v>45962</c:v>
                </c:pt>
                <c:pt idx="287">
                  <c:v>45963</c:v>
                </c:pt>
                <c:pt idx="288">
                  <c:v>45964</c:v>
                </c:pt>
                <c:pt idx="289">
                  <c:v>45965</c:v>
                </c:pt>
                <c:pt idx="290">
                  <c:v>45966</c:v>
                </c:pt>
                <c:pt idx="291">
                  <c:v>45967</c:v>
                </c:pt>
                <c:pt idx="292">
                  <c:v>45968</c:v>
                </c:pt>
                <c:pt idx="293">
                  <c:v>45969</c:v>
                </c:pt>
                <c:pt idx="294">
                  <c:v>45970</c:v>
                </c:pt>
                <c:pt idx="295">
                  <c:v>45971</c:v>
                </c:pt>
                <c:pt idx="296">
                  <c:v>45972</c:v>
                </c:pt>
                <c:pt idx="297">
                  <c:v>45973</c:v>
                </c:pt>
                <c:pt idx="298">
                  <c:v>45974</c:v>
                </c:pt>
                <c:pt idx="299">
                  <c:v>45975</c:v>
                </c:pt>
                <c:pt idx="300">
                  <c:v>45976</c:v>
                </c:pt>
                <c:pt idx="301">
                  <c:v>45977</c:v>
                </c:pt>
                <c:pt idx="302">
                  <c:v>45978</c:v>
                </c:pt>
                <c:pt idx="303">
                  <c:v>45979</c:v>
                </c:pt>
                <c:pt idx="304">
                  <c:v>45980</c:v>
                </c:pt>
                <c:pt idx="305">
                  <c:v>45981</c:v>
                </c:pt>
                <c:pt idx="306">
                  <c:v>45982</c:v>
                </c:pt>
                <c:pt idx="307">
                  <c:v>45983</c:v>
                </c:pt>
                <c:pt idx="308">
                  <c:v>45984</c:v>
                </c:pt>
                <c:pt idx="309">
                  <c:v>45985</c:v>
                </c:pt>
                <c:pt idx="310">
                  <c:v>45986</c:v>
                </c:pt>
                <c:pt idx="311">
                  <c:v>45987</c:v>
                </c:pt>
                <c:pt idx="312">
                  <c:v>45988</c:v>
                </c:pt>
                <c:pt idx="313">
                  <c:v>45989</c:v>
                </c:pt>
                <c:pt idx="314">
                  <c:v>45990</c:v>
                </c:pt>
                <c:pt idx="315">
                  <c:v>45991</c:v>
                </c:pt>
                <c:pt idx="316">
                  <c:v>45992</c:v>
                </c:pt>
                <c:pt idx="317">
                  <c:v>45993</c:v>
                </c:pt>
                <c:pt idx="318">
                  <c:v>45994</c:v>
                </c:pt>
                <c:pt idx="319">
                  <c:v>45995</c:v>
                </c:pt>
                <c:pt idx="320">
                  <c:v>45996</c:v>
                </c:pt>
                <c:pt idx="321">
                  <c:v>45997</c:v>
                </c:pt>
                <c:pt idx="322">
                  <c:v>45998</c:v>
                </c:pt>
                <c:pt idx="323">
                  <c:v>45999</c:v>
                </c:pt>
                <c:pt idx="324">
                  <c:v>46000</c:v>
                </c:pt>
                <c:pt idx="325">
                  <c:v>46001</c:v>
                </c:pt>
                <c:pt idx="326">
                  <c:v>46002</c:v>
                </c:pt>
                <c:pt idx="327">
                  <c:v>46003</c:v>
                </c:pt>
                <c:pt idx="328">
                  <c:v>46004</c:v>
                </c:pt>
                <c:pt idx="329">
                  <c:v>46005</c:v>
                </c:pt>
                <c:pt idx="330">
                  <c:v>46006</c:v>
                </c:pt>
                <c:pt idx="331">
                  <c:v>46007</c:v>
                </c:pt>
                <c:pt idx="332">
                  <c:v>46008</c:v>
                </c:pt>
                <c:pt idx="333">
                  <c:v>46009</c:v>
                </c:pt>
                <c:pt idx="334">
                  <c:v>46010</c:v>
                </c:pt>
                <c:pt idx="335">
                  <c:v>46011</c:v>
                </c:pt>
                <c:pt idx="336">
                  <c:v>46012</c:v>
                </c:pt>
                <c:pt idx="337">
                  <c:v>46013</c:v>
                </c:pt>
                <c:pt idx="338">
                  <c:v>46014</c:v>
                </c:pt>
                <c:pt idx="339">
                  <c:v>46015</c:v>
                </c:pt>
                <c:pt idx="340">
                  <c:v>46016</c:v>
                </c:pt>
                <c:pt idx="341">
                  <c:v>46017</c:v>
                </c:pt>
                <c:pt idx="342">
                  <c:v>46018</c:v>
                </c:pt>
                <c:pt idx="343">
                  <c:v>46019</c:v>
                </c:pt>
                <c:pt idx="344">
                  <c:v>46020</c:v>
                </c:pt>
                <c:pt idx="345">
                  <c:v>46021</c:v>
                </c:pt>
                <c:pt idx="346">
                  <c:v>46022</c:v>
                </c:pt>
                <c:pt idx="347">
                  <c:v>46023</c:v>
                </c:pt>
                <c:pt idx="348">
                  <c:v>46024</c:v>
                </c:pt>
                <c:pt idx="349">
                  <c:v>46025</c:v>
                </c:pt>
                <c:pt idx="350">
                  <c:v>46026</c:v>
                </c:pt>
                <c:pt idx="351">
                  <c:v>46027</c:v>
                </c:pt>
                <c:pt idx="352">
                  <c:v>46028</c:v>
                </c:pt>
                <c:pt idx="353">
                  <c:v>46029</c:v>
                </c:pt>
                <c:pt idx="354">
                  <c:v>46030</c:v>
                </c:pt>
                <c:pt idx="355">
                  <c:v>46031</c:v>
                </c:pt>
                <c:pt idx="356">
                  <c:v>46032</c:v>
                </c:pt>
                <c:pt idx="357">
                  <c:v>46033</c:v>
                </c:pt>
                <c:pt idx="358">
                  <c:v>46034</c:v>
                </c:pt>
                <c:pt idx="359">
                  <c:v>46035</c:v>
                </c:pt>
                <c:pt idx="360">
                  <c:v>46036</c:v>
                </c:pt>
                <c:pt idx="361">
                  <c:v>46037</c:v>
                </c:pt>
                <c:pt idx="362">
                  <c:v>46038</c:v>
                </c:pt>
                <c:pt idx="363">
                  <c:v>46039</c:v>
                </c:pt>
                <c:pt idx="364">
                  <c:v>46040</c:v>
                </c:pt>
                <c:pt idx="365">
                  <c:v>46041</c:v>
                </c:pt>
                <c:pt idx="366">
                  <c:v>46042</c:v>
                </c:pt>
                <c:pt idx="367">
                  <c:v>46043</c:v>
                </c:pt>
                <c:pt idx="368">
                  <c:v>46044</c:v>
                </c:pt>
                <c:pt idx="369">
                  <c:v>46045</c:v>
                </c:pt>
                <c:pt idx="370">
                  <c:v>46046</c:v>
                </c:pt>
                <c:pt idx="371">
                  <c:v>46047</c:v>
                </c:pt>
                <c:pt idx="372">
                  <c:v>46048</c:v>
                </c:pt>
                <c:pt idx="373">
                  <c:v>46049</c:v>
                </c:pt>
                <c:pt idx="374">
                  <c:v>46050</c:v>
                </c:pt>
                <c:pt idx="375">
                  <c:v>46051</c:v>
                </c:pt>
                <c:pt idx="376">
                  <c:v>46052</c:v>
                </c:pt>
                <c:pt idx="377">
                  <c:v>46053</c:v>
                </c:pt>
                <c:pt idx="378">
                  <c:v>46054</c:v>
                </c:pt>
                <c:pt idx="379">
                  <c:v>46055</c:v>
                </c:pt>
                <c:pt idx="380">
                  <c:v>46056</c:v>
                </c:pt>
                <c:pt idx="381">
                  <c:v>46057</c:v>
                </c:pt>
                <c:pt idx="382">
                  <c:v>46058</c:v>
                </c:pt>
                <c:pt idx="383">
                  <c:v>46059</c:v>
                </c:pt>
                <c:pt idx="384">
                  <c:v>46060</c:v>
                </c:pt>
                <c:pt idx="385">
                  <c:v>46061</c:v>
                </c:pt>
                <c:pt idx="386">
                  <c:v>46062</c:v>
                </c:pt>
                <c:pt idx="387">
                  <c:v>46063</c:v>
                </c:pt>
                <c:pt idx="388">
                  <c:v>46064</c:v>
                </c:pt>
                <c:pt idx="389">
                  <c:v>46065</c:v>
                </c:pt>
                <c:pt idx="390">
                  <c:v>46066</c:v>
                </c:pt>
                <c:pt idx="391">
                  <c:v>46067</c:v>
                </c:pt>
                <c:pt idx="392">
                  <c:v>46068</c:v>
                </c:pt>
                <c:pt idx="393">
                  <c:v>46069</c:v>
                </c:pt>
                <c:pt idx="394">
                  <c:v>46070</c:v>
                </c:pt>
                <c:pt idx="395">
                  <c:v>46071</c:v>
                </c:pt>
                <c:pt idx="396">
                  <c:v>46072</c:v>
                </c:pt>
                <c:pt idx="397">
                  <c:v>46073</c:v>
                </c:pt>
                <c:pt idx="398">
                  <c:v>46074</c:v>
                </c:pt>
                <c:pt idx="399">
                  <c:v>46075</c:v>
                </c:pt>
                <c:pt idx="400">
                  <c:v>46076</c:v>
                </c:pt>
                <c:pt idx="401">
                  <c:v>46077</c:v>
                </c:pt>
                <c:pt idx="402">
                  <c:v>46078</c:v>
                </c:pt>
                <c:pt idx="403">
                  <c:v>46079</c:v>
                </c:pt>
                <c:pt idx="404">
                  <c:v>46080</c:v>
                </c:pt>
                <c:pt idx="405">
                  <c:v>46081</c:v>
                </c:pt>
                <c:pt idx="406">
                  <c:v>46082</c:v>
                </c:pt>
                <c:pt idx="407">
                  <c:v>46083</c:v>
                </c:pt>
                <c:pt idx="408">
                  <c:v>46084</c:v>
                </c:pt>
                <c:pt idx="409">
                  <c:v>46085</c:v>
                </c:pt>
                <c:pt idx="410">
                  <c:v>46086</c:v>
                </c:pt>
                <c:pt idx="411">
                  <c:v>46087</c:v>
                </c:pt>
                <c:pt idx="412">
                  <c:v>46088</c:v>
                </c:pt>
                <c:pt idx="413">
                  <c:v>46089</c:v>
                </c:pt>
                <c:pt idx="414">
                  <c:v>46090</c:v>
                </c:pt>
                <c:pt idx="415">
                  <c:v>46091</c:v>
                </c:pt>
                <c:pt idx="416">
                  <c:v>46092</c:v>
                </c:pt>
                <c:pt idx="417">
                  <c:v>46093</c:v>
                </c:pt>
                <c:pt idx="418">
                  <c:v>46094</c:v>
                </c:pt>
                <c:pt idx="419">
                  <c:v>46095</c:v>
                </c:pt>
                <c:pt idx="420">
                  <c:v>46096</c:v>
                </c:pt>
                <c:pt idx="421">
                  <c:v>46097</c:v>
                </c:pt>
                <c:pt idx="422">
                  <c:v>46098</c:v>
                </c:pt>
                <c:pt idx="423">
                  <c:v>46099</c:v>
                </c:pt>
                <c:pt idx="424">
                  <c:v>46100</c:v>
                </c:pt>
                <c:pt idx="425">
                  <c:v>46101</c:v>
                </c:pt>
                <c:pt idx="426">
                  <c:v>46102</c:v>
                </c:pt>
                <c:pt idx="427">
                  <c:v>46103</c:v>
                </c:pt>
                <c:pt idx="428">
                  <c:v>46104</c:v>
                </c:pt>
                <c:pt idx="429">
                  <c:v>46105</c:v>
                </c:pt>
                <c:pt idx="430">
                  <c:v>46106</c:v>
                </c:pt>
                <c:pt idx="431">
                  <c:v>46107</c:v>
                </c:pt>
                <c:pt idx="432">
                  <c:v>46108</c:v>
                </c:pt>
                <c:pt idx="433">
                  <c:v>46109</c:v>
                </c:pt>
                <c:pt idx="434">
                  <c:v>46110</c:v>
                </c:pt>
                <c:pt idx="435">
                  <c:v>46111</c:v>
                </c:pt>
                <c:pt idx="436">
                  <c:v>46112</c:v>
                </c:pt>
                <c:pt idx="437">
                  <c:v>46113</c:v>
                </c:pt>
                <c:pt idx="438">
                  <c:v>46114</c:v>
                </c:pt>
                <c:pt idx="439">
                  <c:v>46115</c:v>
                </c:pt>
                <c:pt idx="440">
                  <c:v>46116</c:v>
                </c:pt>
                <c:pt idx="441">
                  <c:v>46117</c:v>
                </c:pt>
                <c:pt idx="442">
                  <c:v>46118</c:v>
                </c:pt>
                <c:pt idx="443">
                  <c:v>46119</c:v>
                </c:pt>
                <c:pt idx="444">
                  <c:v>46120</c:v>
                </c:pt>
                <c:pt idx="445">
                  <c:v>46121</c:v>
                </c:pt>
                <c:pt idx="446">
                  <c:v>46122</c:v>
                </c:pt>
                <c:pt idx="447">
                  <c:v>46123</c:v>
                </c:pt>
                <c:pt idx="448">
                  <c:v>46124</c:v>
                </c:pt>
                <c:pt idx="449">
                  <c:v>46125</c:v>
                </c:pt>
                <c:pt idx="450">
                  <c:v>46126</c:v>
                </c:pt>
                <c:pt idx="451">
                  <c:v>46127</c:v>
                </c:pt>
                <c:pt idx="452">
                  <c:v>46128</c:v>
                </c:pt>
                <c:pt idx="453">
                  <c:v>46129</c:v>
                </c:pt>
                <c:pt idx="454">
                  <c:v>46130</c:v>
                </c:pt>
                <c:pt idx="455">
                  <c:v>46131</c:v>
                </c:pt>
                <c:pt idx="456">
                  <c:v>46132</c:v>
                </c:pt>
                <c:pt idx="457">
                  <c:v>46133</c:v>
                </c:pt>
                <c:pt idx="458">
                  <c:v>46134</c:v>
                </c:pt>
                <c:pt idx="459">
                  <c:v>46135</c:v>
                </c:pt>
                <c:pt idx="460">
                  <c:v>46136</c:v>
                </c:pt>
                <c:pt idx="461">
                  <c:v>46137</c:v>
                </c:pt>
                <c:pt idx="462">
                  <c:v>46138</c:v>
                </c:pt>
                <c:pt idx="463">
                  <c:v>46139</c:v>
                </c:pt>
                <c:pt idx="464">
                  <c:v>46140</c:v>
                </c:pt>
                <c:pt idx="465">
                  <c:v>46141</c:v>
                </c:pt>
                <c:pt idx="466">
                  <c:v>46142</c:v>
                </c:pt>
                <c:pt idx="467">
                  <c:v>46143</c:v>
                </c:pt>
                <c:pt idx="468">
                  <c:v>46144</c:v>
                </c:pt>
                <c:pt idx="469">
                  <c:v>46145</c:v>
                </c:pt>
                <c:pt idx="470">
                  <c:v>46146</c:v>
                </c:pt>
                <c:pt idx="471">
                  <c:v>46147</c:v>
                </c:pt>
                <c:pt idx="472">
                  <c:v>46148</c:v>
                </c:pt>
                <c:pt idx="473">
                  <c:v>46149</c:v>
                </c:pt>
                <c:pt idx="474">
                  <c:v>46150</c:v>
                </c:pt>
                <c:pt idx="475">
                  <c:v>46151</c:v>
                </c:pt>
                <c:pt idx="476">
                  <c:v>46152</c:v>
                </c:pt>
                <c:pt idx="477">
                  <c:v>46153</c:v>
                </c:pt>
                <c:pt idx="478">
                  <c:v>46154</c:v>
                </c:pt>
                <c:pt idx="479">
                  <c:v>46155</c:v>
                </c:pt>
                <c:pt idx="480">
                  <c:v>46156</c:v>
                </c:pt>
                <c:pt idx="481">
                  <c:v>46157</c:v>
                </c:pt>
                <c:pt idx="482">
                  <c:v>46158</c:v>
                </c:pt>
                <c:pt idx="483">
                  <c:v>46159</c:v>
                </c:pt>
                <c:pt idx="484">
                  <c:v>46160</c:v>
                </c:pt>
                <c:pt idx="485">
                  <c:v>46161</c:v>
                </c:pt>
                <c:pt idx="486">
                  <c:v>46162</c:v>
                </c:pt>
                <c:pt idx="487">
                  <c:v>46163</c:v>
                </c:pt>
                <c:pt idx="488">
                  <c:v>46164</c:v>
                </c:pt>
                <c:pt idx="489">
                  <c:v>46165</c:v>
                </c:pt>
                <c:pt idx="490">
                  <c:v>46166</c:v>
                </c:pt>
                <c:pt idx="491">
                  <c:v>46167</c:v>
                </c:pt>
                <c:pt idx="492">
                  <c:v>46168</c:v>
                </c:pt>
                <c:pt idx="493">
                  <c:v>46169</c:v>
                </c:pt>
                <c:pt idx="494">
                  <c:v>46170</c:v>
                </c:pt>
                <c:pt idx="495">
                  <c:v>46171</c:v>
                </c:pt>
                <c:pt idx="496">
                  <c:v>46172</c:v>
                </c:pt>
                <c:pt idx="497">
                  <c:v>46173</c:v>
                </c:pt>
                <c:pt idx="498">
                  <c:v>46174</c:v>
                </c:pt>
                <c:pt idx="499">
                  <c:v>46175</c:v>
                </c:pt>
                <c:pt idx="500">
                  <c:v>46176</c:v>
                </c:pt>
                <c:pt idx="501">
                  <c:v>46177</c:v>
                </c:pt>
                <c:pt idx="502">
                  <c:v>46178</c:v>
                </c:pt>
                <c:pt idx="503">
                  <c:v>46179</c:v>
                </c:pt>
                <c:pt idx="504">
                  <c:v>46180</c:v>
                </c:pt>
                <c:pt idx="505">
                  <c:v>46181</c:v>
                </c:pt>
                <c:pt idx="506">
                  <c:v>46182</c:v>
                </c:pt>
                <c:pt idx="507">
                  <c:v>46183</c:v>
                </c:pt>
                <c:pt idx="508">
                  <c:v>46184</c:v>
                </c:pt>
                <c:pt idx="509">
                  <c:v>46185</c:v>
                </c:pt>
                <c:pt idx="510">
                  <c:v>46186</c:v>
                </c:pt>
                <c:pt idx="511">
                  <c:v>46187</c:v>
                </c:pt>
                <c:pt idx="512">
                  <c:v>46188</c:v>
                </c:pt>
                <c:pt idx="513">
                  <c:v>46189</c:v>
                </c:pt>
                <c:pt idx="514">
                  <c:v>46190</c:v>
                </c:pt>
                <c:pt idx="515">
                  <c:v>46191</c:v>
                </c:pt>
                <c:pt idx="516">
                  <c:v>46192</c:v>
                </c:pt>
                <c:pt idx="517">
                  <c:v>46193</c:v>
                </c:pt>
                <c:pt idx="518">
                  <c:v>46194</c:v>
                </c:pt>
                <c:pt idx="519">
                  <c:v>46195</c:v>
                </c:pt>
                <c:pt idx="520">
                  <c:v>46196</c:v>
                </c:pt>
                <c:pt idx="521">
                  <c:v>46197</c:v>
                </c:pt>
                <c:pt idx="522">
                  <c:v>46198</c:v>
                </c:pt>
                <c:pt idx="523">
                  <c:v>46199</c:v>
                </c:pt>
                <c:pt idx="524">
                  <c:v>46200</c:v>
                </c:pt>
                <c:pt idx="525">
                  <c:v>46201</c:v>
                </c:pt>
                <c:pt idx="526">
                  <c:v>46202</c:v>
                </c:pt>
                <c:pt idx="527">
                  <c:v>46203</c:v>
                </c:pt>
                <c:pt idx="528">
                  <c:v>46204</c:v>
                </c:pt>
                <c:pt idx="529">
                  <c:v>46205</c:v>
                </c:pt>
                <c:pt idx="530">
                  <c:v>46206</c:v>
                </c:pt>
                <c:pt idx="531">
                  <c:v>46207</c:v>
                </c:pt>
                <c:pt idx="532">
                  <c:v>46208</c:v>
                </c:pt>
                <c:pt idx="533">
                  <c:v>46209</c:v>
                </c:pt>
                <c:pt idx="534">
                  <c:v>46210</c:v>
                </c:pt>
                <c:pt idx="535">
                  <c:v>46211</c:v>
                </c:pt>
                <c:pt idx="536">
                  <c:v>46212</c:v>
                </c:pt>
                <c:pt idx="537">
                  <c:v>46213</c:v>
                </c:pt>
                <c:pt idx="538">
                  <c:v>46214</c:v>
                </c:pt>
                <c:pt idx="539">
                  <c:v>46215</c:v>
                </c:pt>
                <c:pt idx="540">
                  <c:v>46216</c:v>
                </c:pt>
                <c:pt idx="541">
                  <c:v>46217</c:v>
                </c:pt>
                <c:pt idx="542">
                  <c:v>46218</c:v>
                </c:pt>
                <c:pt idx="543">
                  <c:v>46219</c:v>
                </c:pt>
                <c:pt idx="544">
                  <c:v>46220</c:v>
                </c:pt>
                <c:pt idx="545">
                  <c:v>46221</c:v>
                </c:pt>
                <c:pt idx="546">
                  <c:v>46222</c:v>
                </c:pt>
                <c:pt idx="547">
                  <c:v>46223</c:v>
                </c:pt>
                <c:pt idx="548">
                  <c:v>46224</c:v>
                </c:pt>
                <c:pt idx="549">
                  <c:v>46225</c:v>
                </c:pt>
                <c:pt idx="550">
                  <c:v>46226</c:v>
                </c:pt>
                <c:pt idx="551">
                  <c:v>46227</c:v>
                </c:pt>
                <c:pt idx="552">
                  <c:v>46228</c:v>
                </c:pt>
                <c:pt idx="553">
                  <c:v>46229</c:v>
                </c:pt>
                <c:pt idx="554">
                  <c:v>46230</c:v>
                </c:pt>
                <c:pt idx="555">
                  <c:v>46231</c:v>
                </c:pt>
                <c:pt idx="556">
                  <c:v>46232</c:v>
                </c:pt>
                <c:pt idx="557">
                  <c:v>46233</c:v>
                </c:pt>
                <c:pt idx="558">
                  <c:v>46234</c:v>
                </c:pt>
                <c:pt idx="559">
                  <c:v>46235</c:v>
                </c:pt>
                <c:pt idx="560">
                  <c:v>46236</c:v>
                </c:pt>
                <c:pt idx="561">
                  <c:v>46237</c:v>
                </c:pt>
                <c:pt idx="562">
                  <c:v>46238</c:v>
                </c:pt>
                <c:pt idx="563">
                  <c:v>46239</c:v>
                </c:pt>
                <c:pt idx="564">
                  <c:v>46240</c:v>
                </c:pt>
                <c:pt idx="565">
                  <c:v>46241</c:v>
                </c:pt>
                <c:pt idx="566">
                  <c:v>46242</c:v>
                </c:pt>
                <c:pt idx="567">
                  <c:v>46243</c:v>
                </c:pt>
                <c:pt idx="568">
                  <c:v>46244</c:v>
                </c:pt>
                <c:pt idx="569">
                  <c:v>46245</c:v>
                </c:pt>
                <c:pt idx="570">
                  <c:v>46246</c:v>
                </c:pt>
                <c:pt idx="571">
                  <c:v>46247</c:v>
                </c:pt>
                <c:pt idx="572">
                  <c:v>46248</c:v>
                </c:pt>
                <c:pt idx="573">
                  <c:v>46249</c:v>
                </c:pt>
                <c:pt idx="574">
                  <c:v>46250</c:v>
                </c:pt>
                <c:pt idx="575">
                  <c:v>46251</c:v>
                </c:pt>
                <c:pt idx="576">
                  <c:v>46252</c:v>
                </c:pt>
                <c:pt idx="577">
                  <c:v>46253</c:v>
                </c:pt>
                <c:pt idx="578">
                  <c:v>46254</c:v>
                </c:pt>
                <c:pt idx="579">
                  <c:v>46255</c:v>
                </c:pt>
                <c:pt idx="580">
                  <c:v>46256</c:v>
                </c:pt>
                <c:pt idx="581">
                  <c:v>46257</c:v>
                </c:pt>
                <c:pt idx="582">
                  <c:v>46258</c:v>
                </c:pt>
                <c:pt idx="583">
                  <c:v>46259</c:v>
                </c:pt>
                <c:pt idx="584">
                  <c:v>46260</c:v>
                </c:pt>
                <c:pt idx="585">
                  <c:v>46261</c:v>
                </c:pt>
                <c:pt idx="586">
                  <c:v>46262</c:v>
                </c:pt>
                <c:pt idx="587">
                  <c:v>46263</c:v>
                </c:pt>
                <c:pt idx="588">
                  <c:v>46264</c:v>
                </c:pt>
                <c:pt idx="589">
                  <c:v>46265</c:v>
                </c:pt>
                <c:pt idx="590">
                  <c:v>46266</c:v>
                </c:pt>
                <c:pt idx="591">
                  <c:v>46267</c:v>
                </c:pt>
                <c:pt idx="592">
                  <c:v>46268</c:v>
                </c:pt>
                <c:pt idx="593">
                  <c:v>46269</c:v>
                </c:pt>
                <c:pt idx="594">
                  <c:v>46270</c:v>
                </c:pt>
                <c:pt idx="595">
                  <c:v>46271</c:v>
                </c:pt>
                <c:pt idx="596">
                  <c:v>46272</c:v>
                </c:pt>
                <c:pt idx="597">
                  <c:v>46273</c:v>
                </c:pt>
                <c:pt idx="598">
                  <c:v>46274</c:v>
                </c:pt>
                <c:pt idx="599">
                  <c:v>46275</c:v>
                </c:pt>
                <c:pt idx="600">
                  <c:v>46276</c:v>
                </c:pt>
                <c:pt idx="601">
                  <c:v>46277</c:v>
                </c:pt>
                <c:pt idx="602">
                  <c:v>46278</c:v>
                </c:pt>
                <c:pt idx="603">
                  <c:v>46279</c:v>
                </c:pt>
                <c:pt idx="604">
                  <c:v>46280</c:v>
                </c:pt>
                <c:pt idx="605">
                  <c:v>46281</c:v>
                </c:pt>
                <c:pt idx="606">
                  <c:v>46282</c:v>
                </c:pt>
                <c:pt idx="607">
                  <c:v>46283</c:v>
                </c:pt>
                <c:pt idx="608">
                  <c:v>46284</c:v>
                </c:pt>
                <c:pt idx="609">
                  <c:v>46285</c:v>
                </c:pt>
                <c:pt idx="610">
                  <c:v>46286</c:v>
                </c:pt>
                <c:pt idx="611">
                  <c:v>46287</c:v>
                </c:pt>
                <c:pt idx="612">
                  <c:v>46288</c:v>
                </c:pt>
                <c:pt idx="613">
                  <c:v>46289</c:v>
                </c:pt>
                <c:pt idx="614">
                  <c:v>46290</c:v>
                </c:pt>
                <c:pt idx="615">
                  <c:v>46291</c:v>
                </c:pt>
                <c:pt idx="616">
                  <c:v>46292</c:v>
                </c:pt>
                <c:pt idx="617">
                  <c:v>46293</c:v>
                </c:pt>
                <c:pt idx="618">
                  <c:v>46294</c:v>
                </c:pt>
                <c:pt idx="619">
                  <c:v>46295</c:v>
                </c:pt>
                <c:pt idx="620">
                  <c:v>46296</c:v>
                </c:pt>
                <c:pt idx="621">
                  <c:v>46297</c:v>
                </c:pt>
                <c:pt idx="622">
                  <c:v>46298</c:v>
                </c:pt>
                <c:pt idx="623">
                  <c:v>46299</c:v>
                </c:pt>
                <c:pt idx="624">
                  <c:v>46300</c:v>
                </c:pt>
                <c:pt idx="625">
                  <c:v>46301</c:v>
                </c:pt>
                <c:pt idx="626">
                  <c:v>46302</c:v>
                </c:pt>
              </c:numCache>
            </c:numRef>
          </c:xVal>
          <c:yVal>
            <c:numRef>
              <c:f>'Chart Data'!$D$2:$D$628</c:f>
              <c:numCache>
                <c:formatCode>$0.00</c:formatCode>
                <c:ptCount val="627"/>
                <c:pt idx="0">
                  <c:v>45.5030010328</c:v>
                </c:pt>
                <c:pt idx="1">
                  <c:v>36.9606590793</c:v>
                </c:pt>
                <c:pt idx="2">
                  <c:v>44.0049969891</c:v>
                </c:pt>
                <c:pt idx="3">
                  <c:v>36.9057571143</c:v>
                </c:pt>
                <c:pt idx="4">
                  <c:v>34.7083060806</c:v>
                </c:pt>
                <c:pt idx="5">
                  <c:v>30.0813004249</c:v>
                </c:pt>
                <c:pt idx="6">
                  <c:v>28.8858209191</c:v>
                </c:pt>
                <c:pt idx="7">
                  <c:v>27.3513932482</c:v>
                </c:pt>
                <c:pt idx="8">
                  <c:v>28.0485638761</c:v>
                </c:pt>
                <c:pt idx="9">
                  <c:v>27.3368789836</c:v>
                </c:pt>
                <c:pt idx="10">
                  <c:v>27.2055763914</c:v>
                </c:pt>
                <c:pt idx="11">
                  <c:v>26.0775761673</c:v>
                </c:pt>
                <c:pt idx="12">
                  <c:v>24.1116164683</c:v>
                </c:pt>
                <c:pt idx="13">
                  <c:v>19.7367385755</c:v>
                </c:pt>
                <c:pt idx="14">
                  <c:v>20.8576512905</c:v>
                </c:pt>
                <c:pt idx="15">
                  <c:v>19.6657196635</c:v>
                </c:pt>
                <c:pt idx="16">
                  <c:v>17.2070144873</c:v>
                </c:pt>
                <c:pt idx="17">
                  <c:v>18.1397337977</c:v>
                </c:pt>
                <c:pt idx="18">
                  <c:v>17.1183966881</c:v>
                </c:pt>
                <c:pt idx="19">
                  <c:v>16.5950975909</c:v>
                </c:pt>
                <c:pt idx="20">
                  <c:v>17.2727350246</c:v>
                </c:pt>
                <c:pt idx="21">
                  <c:v>15.910079347</c:v>
                </c:pt>
                <c:pt idx="22">
                  <c:v>15.8942137211</c:v>
                </c:pt>
                <c:pt idx="23">
                  <c:v>15.3399339415</c:v>
                </c:pt>
                <c:pt idx="24">
                  <c:v>15.4407200126</c:v>
                </c:pt>
                <c:pt idx="25">
                  <c:v>16.2842720747</c:v>
                </c:pt>
                <c:pt idx="26">
                  <c:v>21.4867029471</c:v>
                </c:pt>
                <c:pt idx="27">
                  <c:v>18.669437314</c:v>
                </c:pt>
                <c:pt idx="28">
                  <c:v>18.7658325851</c:v>
                </c:pt>
                <c:pt idx="29">
                  <c:v>17.1886947564</c:v>
                </c:pt>
                <c:pt idx="30">
                  <c:v>16.3430468723</c:v>
                </c:pt>
                <c:pt idx="31">
                  <c:v>17.0392405627</c:v>
                </c:pt>
                <c:pt idx="32">
                  <c:v>17.0634190484</c:v>
                </c:pt>
                <c:pt idx="33">
                  <c:v>15.8694430792</c:v>
                </c:pt>
                <c:pt idx="34">
                  <c:v>16.5103934136</c:v>
                </c:pt>
                <c:pt idx="35">
                  <c:v>16.1268282476</c:v>
                </c:pt>
                <c:pt idx="36">
                  <c:v>12.905040985</c:v>
                </c:pt>
                <c:pt idx="37">
                  <c:v>13.2392005889</c:v>
                </c:pt>
                <c:pt idx="38">
                  <c:v>13.2886748063</c:v>
                </c:pt>
                <c:pt idx="39">
                  <c:v>12.5942666016</c:v>
                </c:pt>
                <c:pt idx="40">
                  <c:v>12.9659160369</c:v>
                </c:pt>
                <c:pt idx="41">
                  <c:v>13.190515052</c:v>
                </c:pt>
                <c:pt idx="42">
                  <c:v>16.8663992594</c:v>
                </c:pt>
                <c:pt idx="43">
                  <c:v>12.8092273565</c:v>
                </c:pt>
                <c:pt idx="44">
                  <c:v>13.0010469342</c:v>
                </c:pt>
                <c:pt idx="45">
                  <c:v>13.2203445312</c:v>
                </c:pt>
                <c:pt idx="46">
                  <c:v>13.0967656329</c:v>
                </c:pt>
                <c:pt idx="47">
                  <c:v>12.3515324972</c:v>
                </c:pt>
                <c:pt idx="48">
                  <c:v>12.0239942186</c:v>
                </c:pt>
                <c:pt idx="49">
                  <c:v>10.6988621621</c:v>
                </c:pt>
                <c:pt idx="50">
                  <c:v>10.3040149848</c:v>
                </c:pt>
                <c:pt idx="51">
                  <c:v>10.4871653751</c:v>
                </c:pt>
                <c:pt idx="52">
                  <c:v>10.5768959561</c:v>
                </c:pt>
                <c:pt idx="53">
                  <c:v>10.7117578697</c:v>
                </c:pt>
                <c:pt idx="54">
                  <c:v>11.8928710098</c:v>
                </c:pt>
                <c:pt idx="55">
                  <c:v>12.1829904899</c:v>
                </c:pt>
                <c:pt idx="56">
                  <c:v>11.209065435</c:v>
                </c:pt>
                <c:pt idx="57">
                  <c:v>11.4183753505</c:v>
                </c:pt>
                <c:pt idx="58">
                  <c:v>11.0248332965</c:v>
                </c:pt>
                <c:pt idx="59">
                  <c:v>11.6666825712</c:v>
                </c:pt>
                <c:pt idx="60">
                  <c:v>11.0488226092</c:v>
                </c:pt>
                <c:pt idx="61">
                  <c:v>10.8472096439</c:v>
                </c:pt>
                <c:pt idx="62">
                  <c:v>10.7412243508</c:v>
                </c:pt>
                <c:pt idx="63">
                  <c:v>11.4865255907</c:v>
                </c:pt>
                <c:pt idx="64">
                  <c:v>11.8734825374</c:v>
                </c:pt>
                <c:pt idx="65">
                  <c:v>11.6064347121</c:v>
                </c:pt>
                <c:pt idx="66">
                  <c:v>11.3954071477</c:v>
                </c:pt>
                <c:pt idx="67">
                  <c:v>11.1039255785</c:v>
                </c:pt>
                <c:pt idx="68">
                  <c:v>10.3327658203</c:v>
                </c:pt>
                <c:pt idx="69">
                  <c:v>10.0744625708</c:v>
                </c:pt>
                <c:pt idx="70">
                  <c:v>10.2008588136</c:v>
                </c:pt>
                <c:pt idx="71">
                  <c:v>10.0219331612</c:v>
                </c:pt>
                <c:pt idx="72">
                  <c:v>10.3973526153</c:v>
                </c:pt>
                <c:pt idx="73">
                  <c:v>9.1801502717</c:v>
                </c:pt>
                <c:pt idx="74">
                  <c:v>9.4675278672</c:v>
                </c:pt>
                <c:pt idx="75">
                  <c:v>9.3488217976</c:v>
                </c:pt>
                <c:pt idx="76">
                  <c:v>9.2195024107</c:v>
                </c:pt>
                <c:pt idx="77">
                  <c:v>7.9113468315</c:v>
                </c:pt>
                <c:pt idx="78">
                  <c:v>7.8302417918</c:v>
                </c:pt>
                <c:pt idx="79">
                  <c:v>7.5733076389</c:v>
                </c:pt>
                <c:pt idx="80">
                  <c:v>8.1649371996</c:v>
                </c:pt>
                <c:pt idx="81">
                  <c:v>7.9122059106</c:v>
                </c:pt>
                <c:pt idx="82">
                  <c:v>8.0519767643</c:v>
                </c:pt>
                <c:pt idx="83">
                  <c:v>8.6717934512</c:v>
                </c:pt>
                <c:pt idx="84">
                  <c:v>8.2846966936</c:v>
                </c:pt>
                <c:pt idx="85">
                  <c:v>7.8734876902</c:v>
                </c:pt>
                <c:pt idx="86">
                  <c:v>7.8115266525</c:v>
                </c:pt>
                <c:pt idx="87">
                  <c:v>7.721686774</c:v>
                </c:pt>
                <c:pt idx="88">
                  <c:v>7.5435181798</c:v>
                </c:pt>
                <c:pt idx="89">
                  <c:v>7.7935272395</c:v>
                </c:pt>
                <c:pt idx="90">
                  <c:v>8.4229021762</c:v>
                </c:pt>
                <c:pt idx="91">
                  <c:v>8.1724731685</c:v>
                </c:pt>
                <c:pt idx="92">
                  <c:v>8.3308639783</c:v>
                </c:pt>
                <c:pt idx="93">
                  <c:v>9.2236496384</c:v>
                </c:pt>
                <c:pt idx="94">
                  <c:v>13.3528765106</c:v>
                </c:pt>
                <c:pt idx="95">
                  <c:v>12.2324752451</c:v>
                </c:pt>
                <c:pt idx="96">
                  <c:v>13.3668856956</c:v>
                </c:pt>
                <c:pt idx="97">
                  <c:v>15.6106189385</c:v>
                </c:pt>
                <c:pt idx="98">
                  <c:v>14.8774681039</c:v>
                </c:pt>
                <c:pt idx="99">
                  <c:v>14.6580481303</c:v>
                </c:pt>
                <c:pt idx="100">
                  <c:v>13.0100662524</c:v>
                </c:pt>
                <c:pt idx="101">
                  <c:v>13.1675123063</c:v>
                </c:pt>
                <c:pt idx="102">
                  <c:v>12.72071342</c:v>
                </c:pt>
                <c:pt idx="103">
                  <c:v>13.2298815004</c:v>
                </c:pt>
                <c:pt idx="104">
                  <c:v>11.3286718964</c:v>
                </c:pt>
                <c:pt idx="105">
                  <c:v>10.9857996572</c:v>
                </c:pt>
                <c:pt idx="106">
                  <c:v>11.1771404757</c:v>
                </c:pt>
                <c:pt idx="107">
                  <c:v>11.029093901</c:v>
                </c:pt>
                <c:pt idx="108">
                  <c:v>10.9902290205</c:v>
                </c:pt>
                <c:pt idx="109">
                  <c:v>12.5687440886</c:v>
                </c:pt>
                <c:pt idx="110">
                  <c:v>14.2724386235</c:v>
                </c:pt>
                <c:pt idx="111">
                  <c:v>14.9206765674</c:v>
                </c:pt>
                <c:pt idx="112">
                  <c:v>13.7263091152</c:v>
                </c:pt>
                <c:pt idx="113">
                  <c:v>13.0954450002</c:v>
                </c:pt>
                <c:pt idx="114">
                  <c:v>13.8089157015</c:v>
                </c:pt>
                <c:pt idx="115">
                  <c:v>13.3933211656</c:v>
                </c:pt>
                <c:pt idx="116">
                  <c:v>12.7694593332</c:v>
                </c:pt>
                <c:pt idx="117">
                  <c:v>12.6234727556</c:v>
                </c:pt>
                <c:pt idx="118">
                  <c:v>12.6380853459</c:v>
                </c:pt>
                <c:pt idx="119">
                  <c:v>13.3034963644</c:v>
                </c:pt>
                <c:pt idx="120">
                  <c:v>12.8709161663</c:v>
                </c:pt>
                <c:pt idx="121">
                  <c:v>14.4357236412</c:v>
                </c:pt>
                <c:pt idx="122">
                  <c:v>14.4327305349</c:v>
                </c:pt>
                <c:pt idx="123">
                  <c:v>14.7067908021</c:v>
                </c:pt>
                <c:pt idx="124">
                  <c:v>12.5163711726</c:v>
                </c:pt>
                <c:pt idx="125">
                  <c:v>12.9310432332</c:v>
                </c:pt>
                <c:pt idx="126">
                  <c:v>12.8254262938</c:v>
                </c:pt>
                <c:pt idx="127">
                  <c:v>12.7261910075</c:v>
                </c:pt>
                <c:pt idx="128">
                  <c:v>12.7827330829</c:v>
                </c:pt>
                <c:pt idx="129">
                  <c:v>12.4699609439</c:v>
                </c:pt>
                <c:pt idx="130">
                  <c:v>11.9285511784</c:v>
                </c:pt>
                <c:pt idx="131">
                  <c:v>10.8372824588</c:v>
                </c:pt>
                <c:pt idx="132">
                  <c:v>11.2454618498</c:v>
                </c:pt>
                <c:pt idx="133">
                  <c:v>11.3742062791</c:v>
                </c:pt>
                <c:pt idx="134">
                  <c:v>11.333423406</c:v>
                </c:pt>
                <c:pt idx="135">
                  <c:v>11.1814481411</c:v>
                </c:pt>
                <c:pt idx="136">
                  <c:v>10.8126963839</c:v>
                </c:pt>
                <c:pt idx="137">
                  <c:v>9.752081115</c:v>
                </c:pt>
                <c:pt idx="138">
                  <c:v>10.1111642575</c:v>
                </c:pt>
                <c:pt idx="139">
                  <c:v>10.390046975</c:v>
                </c:pt>
                <c:pt idx="140">
                  <c:v>10.4091622749</c:v>
                </c:pt>
                <c:pt idx="141">
                  <c:v>10.8609600368</c:v>
                </c:pt>
                <c:pt idx="142">
                  <c:v>10.9594057982</c:v>
                </c:pt>
                <c:pt idx="143">
                  <c:v>10.7129794413</c:v>
                </c:pt>
                <c:pt idx="144">
                  <c:v>10.155886118</c:v>
                </c:pt>
                <c:pt idx="145">
                  <c:v>10.2184782294</c:v>
                </c:pt>
                <c:pt idx="146">
                  <c:v>10.0357047275</c:v>
                </c:pt>
                <c:pt idx="147">
                  <c:v>9.9729994196</c:v>
                </c:pt>
                <c:pt idx="148">
                  <c:v>9.6521509289</c:v>
                </c:pt>
                <c:pt idx="149">
                  <c:v>9.5260363474</c:v>
                </c:pt>
                <c:pt idx="150">
                  <c:v>9.3756409143</c:v>
                </c:pt>
                <c:pt idx="151">
                  <c:v>9.3544699247</c:v>
                </c:pt>
                <c:pt idx="152">
                  <c:v>9.1926935588</c:v>
                </c:pt>
                <c:pt idx="153">
                  <c:v>8.9468455218</c:v>
                </c:pt>
                <c:pt idx="154">
                  <c:v>8.7261784039</c:v>
                </c:pt>
                <c:pt idx="155">
                  <c:v>9.3057754944</c:v>
                </c:pt>
                <c:pt idx="156">
                  <c:v>9.2931045497</c:v>
                </c:pt>
                <c:pt idx="157">
                  <c:v>8.9416034991</c:v>
                </c:pt>
                <c:pt idx="158">
                  <c:v>8.9646517715</c:v>
                </c:pt>
                <c:pt idx="159">
                  <c:v>9.0085125279</c:v>
                </c:pt>
                <c:pt idx="160">
                  <c:v>9.1151600114</c:v>
                </c:pt>
                <c:pt idx="161">
                  <c:v>9.2445950181</c:v>
                </c:pt>
                <c:pt idx="162">
                  <c:v>8.8877093731</c:v>
                </c:pt>
                <c:pt idx="163">
                  <c:v>8.5798056034</c:v>
                </c:pt>
                <c:pt idx="164">
                  <c:v>8.830587016</c:v>
                </c:pt>
                <c:pt idx="165">
                  <c:v>8.9172473222</c:v>
                </c:pt>
                <c:pt idx="166">
                  <c:v>8.5063230106</c:v>
                </c:pt>
                <c:pt idx="167">
                  <c:v>8.5342837311</c:v>
                </c:pt>
                <c:pt idx="168">
                  <c:v>8.6324204799</c:v>
                </c:pt>
                <c:pt idx="169">
                  <c:v>8.5825589435</c:v>
                </c:pt>
                <c:pt idx="170">
                  <c:v>8.6211500443</c:v>
                </c:pt>
                <c:pt idx="171">
                  <c:v>9.050284135</c:v>
                </c:pt>
                <c:pt idx="172">
                  <c:v>9.7970722922</c:v>
                </c:pt>
                <c:pt idx="173">
                  <c:v>9.9278587984</c:v>
                </c:pt>
                <c:pt idx="174">
                  <c:v>9.5970186507</c:v>
                </c:pt>
                <c:pt idx="175">
                  <c:v>9.5451795071</c:v>
                </c:pt>
                <c:pt idx="176">
                  <c:v>9.4242766005</c:v>
                </c:pt>
                <c:pt idx="177">
                  <c:v>9.4827861494</c:v>
                </c:pt>
                <c:pt idx="178">
                  <c:v>9.8631261503</c:v>
                </c:pt>
                <c:pt idx="179">
                  <c:v>9.993601576</c:v>
                </c:pt>
                <c:pt idx="180">
                  <c:v>10.0003363877</c:v>
                </c:pt>
                <c:pt idx="181">
                  <c:v>10.1635359294</c:v>
                </c:pt>
                <c:pt idx="182">
                  <c:v>10.7540358841</c:v>
                </c:pt>
                <c:pt idx="183">
                  <c:v>11.2335345452</c:v>
                </c:pt>
                <c:pt idx="184">
                  <c:v>11.1497970318</c:v>
                </c:pt>
                <c:pt idx="185">
                  <c:v>10.1280578175</c:v>
                </c:pt>
                <c:pt idx="186">
                  <c:v>9.9841682239</c:v>
                </c:pt>
                <c:pt idx="187">
                  <c:v>10.1207752581</c:v>
                </c:pt>
                <c:pt idx="188">
                  <c:v>10.145427136</c:v>
                </c:pt>
                <c:pt idx="189">
                  <c:v>10.3200384859</c:v>
                </c:pt>
                <c:pt idx="190">
                  <c:v>9.6972290522</c:v>
                </c:pt>
                <c:pt idx="191">
                  <c:v>9.4859382347</c:v>
                </c:pt>
                <c:pt idx="192">
                  <c:v>9.3036198555</c:v>
                </c:pt>
                <c:pt idx="193">
                  <c:v>8.9544253199</c:v>
                </c:pt>
                <c:pt idx="194">
                  <c:v>8.7262870257</c:v>
                </c:pt>
                <c:pt idx="195">
                  <c:v>8.6158789429</c:v>
                </c:pt>
                <c:pt idx="196">
                  <c:v>8.820397096</c:v>
                </c:pt>
                <c:pt idx="197">
                  <c:v>9.0412409665</c:v>
                </c:pt>
                <c:pt idx="198">
                  <c:v>8.6817367433</c:v>
                </c:pt>
                <c:pt idx="199">
                  <c:v>8.8569134191</c:v>
                </c:pt>
                <c:pt idx="200">
                  <c:v>9.2416277647</c:v>
                </c:pt>
                <c:pt idx="201">
                  <c:v>9.3971883488</c:v>
                </c:pt>
                <c:pt idx="202">
                  <c:v>9.5364207574</c:v>
                </c:pt>
                <c:pt idx="203">
                  <c:v>9.2799888981</c:v>
                </c:pt>
                <c:pt idx="204">
                  <c:v>8.8070146877</c:v>
                </c:pt>
                <c:pt idx="205">
                  <c:v>9.2166084331</c:v>
                </c:pt>
                <c:pt idx="206">
                  <c:v>9.6375427759</c:v>
                </c:pt>
                <c:pt idx="207">
                  <c:v>9.0974909837</c:v>
                </c:pt>
                <c:pt idx="208">
                  <c:v>9.2551437796</c:v>
                </c:pt>
                <c:pt idx="209">
                  <c:v>9.1185553438</c:v>
                </c:pt>
                <c:pt idx="210">
                  <c:v>9.2431688315</c:v>
                </c:pt>
                <c:pt idx="211">
                  <c:v>9.0779013553</c:v>
                </c:pt>
                <c:pt idx="212">
                  <c:v>8.6082022306</c:v>
                </c:pt>
                <c:pt idx="213">
                  <c:v>8.8993115625</c:v>
                </c:pt>
                <c:pt idx="214">
                  <c:v>8.3992514153</c:v>
                </c:pt>
                <c:pt idx="215">
                  <c:v>8.9982363298</c:v>
                </c:pt>
                <c:pt idx="216">
                  <c:v>8.9008522032</c:v>
                </c:pt>
                <c:pt idx="217">
                  <c:v>8.6726033743</c:v>
                </c:pt>
                <c:pt idx="218">
                  <c:v>8.1840401539</c:v>
                </c:pt>
                <c:pt idx="219">
                  <c:v>8.4466241445</c:v>
                </c:pt>
                <c:pt idx="220">
                  <c:v>8.4072829975</c:v>
                </c:pt>
                <c:pt idx="221">
                  <c:v>8.5639225705</c:v>
                </c:pt>
                <c:pt idx="222">
                  <c:v>8.3651598862</c:v>
                </c:pt>
                <c:pt idx="223">
                  <c:v>8.366002437</c:v>
                </c:pt>
                <c:pt idx="224">
                  <c:v>8.6256268941</c:v>
                </c:pt>
                <c:pt idx="225">
                  <c:v>8.3427236344</c:v>
                </c:pt>
                <c:pt idx="226">
                  <c:v>8.3913465477</c:v>
                </c:pt>
                <c:pt idx="227">
                  <c:v>8.4375174942</c:v>
                </c:pt>
                <c:pt idx="228">
                  <c:v>8.2880042833</c:v>
                </c:pt>
                <c:pt idx="229">
                  <c:v>8.3595397536</c:v>
                </c:pt>
                <c:pt idx="230">
                  <c:v>8.3574305946</c:v>
                </c:pt>
                <c:pt idx="231">
                  <c:v>8.4851294146</c:v>
                </c:pt>
                <c:pt idx="232">
                  <c:v>8.6127646619</c:v>
                </c:pt>
                <c:pt idx="233">
                  <c:v>8.6757595788</c:v>
                </c:pt>
                <c:pt idx="234">
                  <c:v>8.8144477124</c:v>
                </c:pt>
                <c:pt idx="235">
                  <c:v>8.8251689788</c:v>
                </c:pt>
                <c:pt idx="236">
                  <c:v>8.9922571933</c:v>
                </c:pt>
                <c:pt idx="237">
                  <c:v>9.2432033259</c:v>
                </c:pt>
                <c:pt idx="238">
                  <c:v>8.7453730944</c:v>
                </c:pt>
                <c:pt idx="239">
                  <c:v>8.5320916331</c:v>
                </c:pt>
                <c:pt idx="240">
                  <c:v>8.603266655</c:v>
                </c:pt>
                <c:pt idx="241">
                  <c:v>8.6975594129</c:v>
                </c:pt>
                <c:pt idx="242">
                  <c:v>8.6668075032</c:v>
                </c:pt>
                <c:pt idx="243">
                  <c:v>8.416173719</c:v>
                </c:pt>
                <c:pt idx="244">
                  <c:v>8.4463292876</c:v>
                </c:pt>
                <c:pt idx="245">
                  <c:v>8.3758349461</c:v>
                </c:pt>
                <c:pt idx="246">
                  <c:v>7.6873105597</c:v>
                </c:pt>
                <c:pt idx="247">
                  <c:v>7.6346946793</c:v>
                </c:pt>
                <c:pt idx="248">
                  <c:v>7.7052032109</c:v>
                </c:pt>
                <c:pt idx="249">
                  <c:v>7.3984929725</c:v>
                </c:pt>
                <c:pt idx="250">
                  <c:v>7.5877188204</c:v>
                </c:pt>
                <c:pt idx="251">
                  <c:v>7.572781012</c:v>
                </c:pt>
                <c:pt idx="252">
                  <c:v>7.6565316489</c:v>
                </c:pt>
                <c:pt idx="253">
                  <c:v>7.579413391</c:v>
                </c:pt>
                <c:pt idx="254">
                  <c:v>7.3758042718</c:v>
                </c:pt>
                <c:pt idx="255">
                  <c:v>7.5820220903</c:v>
                </c:pt>
                <c:pt idx="256">
                  <c:v>7.8290565104</c:v>
                </c:pt>
                <c:pt idx="257">
                  <c:v>7.8566055601</c:v>
                </c:pt>
                <c:pt idx="258">
                  <c:v>7.7585036291</c:v>
                </c:pt>
                <c:pt idx="259">
                  <c:v>7.78960915</c:v>
                </c:pt>
                <c:pt idx="260">
                  <c:v>7.9575108559</c:v>
                </c:pt>
                <c:pt idx="261">
                  <c:v>7.529919853</c:v>
                </c:pt>
                <c:pt idx="262">
                  <c:v>7.7294512516</c:v>
                </c:pt>
                <c:pt idx="263">
                  <c:v>7.5376504527</c:v>
                </c:pt>
                <c:pt idx="264">
                  <c:v>5.405416528</c:v>
                </c:pt>
                <c:pt idx="265">
                  <c:v>5.8625161781</c:v>
                </c:pt>
                <c:pt idx="266">
                  <c:v>6.2117435783</c:v>
                </c:pt>
                <c:pt idx="267">
                  <c:v>6.549190108</c:v>
                </c:pt>
                <c:pt idx="268">
                  <c:v>6.2961059724</c:v>
                </c:pt>
                <c:pt idx="269">
                  <c:v>6.0620150101</c:v>
                </c:pt>
                <c:pt idx="270">
                  <c:v>5.9419080692</c:v>
                </c:pt>
                <c:pt idx="271">
                  <c:v>5.7560667156</c:v>
                </c:pt>
                <c:pt idx="272">
                  <c:v>5.8796643376</c:v>
                </c:pt>
                <c:pt idx="273">
                  <c:v>5.9534068929</c:v>
                </c:pt>
                <c:pt idx="274">
                  <c:v>5.9790441896</c:v>
                </c:pt>
                <c:pt idx="275">
                  <c:v>5.8711633827</c:v>
                </c:pt>
                <c:pt idx="276">
                  <c:v>5.7159099563</c:v>
                </c:pt>
                <c:pt idx="277">
                  <c:v>5.8616574342</c:v>
                </c:pt>
                <c:pt idx="278">
                  <c:v>5.9612485218</c:v>
                </c:pt>
                <c:pt idx="279">
                  <c:v>5.9920305888</c:v>
                </c:pt>
                <c:pt idx="280">
                  <c:v>6.2799459067</c:v>
                </c:pt>
                <c:pt idx="281">
                  <c:v>7.1516408953</c:v>
                </c:pt>
                <c:pt idx="282">
                  <c:v>7.2060873729</c:v>
                </c:pt>
                <c:pt idx="283">
                  <c:v>8.2539278109</c:v>
                </c:pt>
                <c:pt idx="284">
                  <c:v>7.5164731203</c:v>
                </c:pt>
                <c:pt idx="285">
                  <c:v>7.9908159843</c:v>
                </c:pt>
                <c:pt idx="286">
                  <c:v>7.7559391036</c:v>
                </c:pt>
                <c:pt idx="287">
                  <c:v>7.5379215888</c:v>
                </c:pt>
                <c:pt idx="288">
                  <c:v>7.2735763101</c:v>
                </c:pt>
                <c:pt idx="289">
                  <c:v>6.9671007438</c:v>
                </c:pt>
                <c:pt idx="290">
                  <c:v>8.104238351</c:v>
                </c:pt>
                <c:pt idx="291">
                  <c:v>7.6019784999</c:v>
                </c:pt>
                <c:pt idx="292">
                  <c:v>7.6988817381</c:v>
                </c:pt>
                <c:pt idx="293">
                  <c:v>7.5029808708</c:v>
                </c:pt>
                <c:pt idx="294">
                  <c:v>7.6999909274</c:v>
                </c:pt>
                <c:pt idx="295">
                  <c:v>8.8436575842</c:v>
                </c:pt>
                <c:pt idx="296">
                  <c:v>7.884328247</c:v>
                </c:pt>
                <c:pt idx="297">
                  <c:v>7.4723226785</c:v>
                </c:pt>
                <c:pt idx="298">
                  <c:v>7.2706987163</c:v>
                </c:pt>
                <c:pt idx="299">
                  <c:v>7.184756073</c:v>
                </c:pt>
                <c:pt idx="300">
                  <c:v>7.2089727966</c:v>
                </c:pt>
                <c:pt idx="301">
                  <c:v>7.0601106073</c:v>
                </c:pt>
                <c:pt idx="302">
                  <c:v>6.9058096642</c:v>
                </c:pt>
                <c:pt idx="303">
                  <c:v>7.1347431774</c:v>
                </c:pt>
                <c:pt idx="304">
                  <c:v>6.8611618479</c:v>
                </c:pt>
                <c:pt idx="305">
                  <c:v>6.6544885364</c:v>
                </c:pt>
                <c:pt idx="306">
                  <c:v>6.2682374794</c:v>
                </c:pt>
                <c:pt idx="307">
                  <c:v>6.294130999</c:v>
                </c:pt>
                <c:pt idx="308">
                  <c:v>6.2595061531</c:v>
                </c:pt>
                <c:pt idx="309">
                  <c:v>6.3678349588</c:v>
                </c:pt>
                <c:pt idx="310">
                  <c:v>6.2293246506</c:v>
                </c:pt>
                <c:pt idx="311">
                  <c:v>6.2859019218</c:v>
                </c:pt>
                <c:pt idx="312">
                  <c:v>6.143455016</c:v>
                </c:pt>
                <c:pt idx="313">
                  <c:v>6.0448126676</c:v>
                </c:pt>
                <c:pt idx="314">
                  <c:v>6.034412146</c:v>
                </c:pt>
                <c:pt idx="315">
                  <c:v>6.0099349805</c:v>
                </c:pt>
                <c:pt idx="316">
                  <c:v>5.7306394101</c:v>
                </c:pt>
                <c:pt idx="317">
                  <c:v>5.9920173522</c:v>
                </c:pt>
                <c:pt idx="318">
                  <c:v>6.0741422635</c:v>
                </c:pt>
                <c:pt idx="319">
                  <c:v>5.9255719715</c:v>
                </c:pt>
                <c:pt idx="320">
                  <c:v>5.7436341685</c:v>
                </c:pt>
                <c:pt idx="321">
                  <c:v>5.7218679187</c:v>
                </c:pt>
                <c:pt idx="322">
                  <c:v>5.6553055459</c:v>
                </c:pt>
                <c:pt idx="323">
                  <c:v>5.6901063762</c:v>
                </c:pt>
                <c:pt idx="324">
                  <c:v>5.9358860376</c:v>
                </c:pt>
                <c:pt idx="325">
                  <c:v>5.7472454495</c:v>
                </c:pt>
                <c:pt idx="326">
                  <c:v>5.6875596606</c:v>
                </c:pt>
                <c:pt idx="327">
                  <c:v>5.6124054695</c:v>
                </c:pt>
                <c:pt idx="328">
                  <c:v>5.5565571154</c:v>
                </c:pt>
                <c:pt idx="329">
                  <c:v>5.4198556742</c:v>
                </c:pt>
                <c:pt idx="330">
                  <c:v>5.3290635056</c:v>
                </c:pt>
                <c:pt idx="331">
                  <c:v>5.2947571275</c:v>
                </c:pt>
                <c:pt idx="332">
                  <c:v>5.1359796569</c:v>
                </c:pt>
                <c:pt idx="333">
                  <c:v>5.0119846973</c:v>
                </c:pt>
                <c:pt idx="334">
                  <c:v>5.1583906735</c:v>
                </c:pt>
                <c:pt idx="335">
                  <c:v>5.090307434</c:v>
                </c:pt>
                <c:pt idx="336">
                  <c:v>5.0679691383</c:v>
                </c:pt>
                <c:pt idx="337">
                  <c:v>4.9749956275</c:v>
                </c:pt>
                <c:pt idx="338">
                  <c:v>4.9471518714</c:v>
                </c:pt>
                <c:pt idx="339">
                  <c:v>4.9145201318</c:v>
                </c:pt>
                <c:pt idx="340">
                  <c:v>4.8682377457</c:v>
                </c:pt>
                <c:pt idx="341">
                  <c:v>4.892803095</c:v>
                </c:pt>
                <c:pt idx="342">
                  <c:v>4.9613064721</c:v>
                </c:pt>
                <c:pt idx="343">
                  <c:v>4.919580798</c:v>
                </c:pt>
                <c:pt idx="344">
                  <c:v>4.9057067948</c:v>
                </c:pt>
                <c:pt idx="345">
                  <c:v>4.9021312244</c:v>
                </c:pt>
                <c:pt idx="346">
                  <c:v>4.8017246226</c:v>
                </c:pt>
                <c:pt idx="347">
                  <c:v>4.8831244609</c:v>
                </c:pt>
                <c:pt idx="348">
                  <c:v>5.0469639692</c:v>
                </c:pt>
                <c:pt idx="349">
                  <c:v>5.2606239417</c:v>
                </c:pt>
                <c:pt idx="350">
                  <c:v>5.4023466224</c:v>
                </c:pt>
                <c:pt idx="351">
                  <c:v>5.6257338531</c:v>
                </c:pt>
                <c:pt idx="352">
                  <c:v>5.4798217237</c:v>
                </c:pt>
                <c:pt idx="353">
                  <c:v>5.3611889511</c:v>
                </c:pt>
                <c:pt idx="354">
                  <c:v>5.359479996</c:v>
                </c:pt>
                <c:pt idx="355">
                  <c:v>5.430355617</c:v>
                </c:pt>
                <c:pt idx="356">
                  <c:v>5.3970002708</c:v>
                </c:pt>
                <c:pt idx="357">
                  <c:v>5.4350158227</c:v>
                </c:pt>
                <c:pt idx="358">
                  <c:v>5.3427133777</c:v>
                </c:pt>
                <c:pt idx="359">
                  <c:v>5.6600279404</c:v>
                </c:pt>
                <c:pt idx="360">
                  <c:v>5.5627827307</c:v>
                </c:pt>
                <c:pt idx="361">
                  <c:v>5.3622754028</c:v>
                </c:pt>
                <c:pt idx="362">
                  <c:v>5.3843932437</c:v>
                </c:pt>
                <c:pt idx="363">
                  <c:v>5.3154452694</c:v>
                </c:pt>
                <c:pt idx="364">
                  <c:v>5.0888965191</c:v>
                </c:pt>
                <c:pt idx="365">
                  <c:v>5.0085851745</c:v>
                </c:pt>
                <c:pt idx="366">
                  <c:v>4.8297591459</c:v>
                </c:pt>
                <c:pt idx="367">
                  <c:v>4.9354738682</c:v>
                </c:pt>
                <c:pt idx="368">
                  <c:v>4.8404004852</c:v>
                </c:pt>
                <c:pt idx="369">
                  <c:v>4.8481192325</c:v>
                </c:pt>
                <c:pt idx="370">
                  <c:v>4.9324376786</c:v>
                </c:pt>
                <c:pt idx="371">
                  <c:v>4.754316358</c:v>
                </c:pt>
                <c:pt idx="372">
                  <c:v>4.8043915672</c:v>
                </c:pt>
                <c:pt idx="373">
                  <c:v>4.796563156</c:v>
                </c:pt>
                <c:pt idx="374">
                  <c:v>4.7549936912</c:v>
                </c:pt>
                <c:pt idx="375">
                  <c:v>4.5701364539</c:v>
                </c:pt>
                <c:pt idx="376">
                  <c:v>4.4548776362</c:v>
                </c:pt>
                <c:pt idx="377">
                  <c:v>4.2411810791</c:v>
                </c:pt>
                <c:pt idx="378">
                  <c:v>4.1355793055</c:v>
                </c:pt>
                <c:pt idx="379">
                  <c:v>4.2637219957</c:v>
                </c:pt>
                <c:pt idx="380">
                  <c:v>4.2059073517</c:v>
                </c:pt>
                <c:pt idx="381">
                  <c:v>4.1399929144</c:v>
                </c:pt>
                <c:pt idx="382">
                  <c:v>3.4251425622</c:v>
                </c:pt>
                <c:pt idx="383">
                  <c:v>3.5116592367</c:v>
                </c:pt>
                <c:pt idx="384">
                  <c:v>3.4358628849</c:v>
                </c:pt>
                <c:pt idx="385">
                  <c:v>3.3619236522</c:v>
                </c:pt>
                <c:pt idx="386">
                  <c:v>3.3576647271</c:v>
                </c:pt>
                <c:pt idx="387">
                  <c:v>3.2377339206</c:v>
                </c:pt>
                <c:pt idx="388">
                  <c:v>3.2156284582</c:v>
                </c:pt>
                <c:pt idx="389">
                  <c:v>3.2887960563</c:v>
                </c:pt>
                <c:pt idx="390">
                  <c:v>3.419107101</c:v>
                </c:pt>
                <c:pt idx="391">
                  <c:v>3.5847847611</c:v>
                </c:pt>
                <c:pt idx="392">
                  <c:v>3.4062454105</c:v>
                </c:pt>
                <c:pt idx="393">
                  <c:v>3.3812403022</c:v>
                </c:pt>
                <c:pt idx="394">
                  <c:v>3.4503649111</c:v>
                </c:pt>
                <c:pt idx="395">
                  <c:v>3.3763278372</c:v>
                </c:pt>
                <c:pt idx="396">
                  <c:v>3.4184752969</c:v>
                </c:pt>
                <c:pt idx="397">
                  <c:v>3.5707244553</c:v>
                </c:pt>
                <c:pt idx="398">
                  <c:v>3.4712654127</c:v>
                </c:pt>
                <c:pt idx="399">
                  <c:v>3.3868399312</c:v>
                </c:pt>
                <c:pt idx="400">
                  <c:v>3.3059579857</c:v>
                </c:pt>
                <c:pt idx="401">
                  <c:v>3.366458195</c:v>
                </c:pt>
                <c:pt idx="402">
                  <c:v>3.519945427</c:v>
                </c:pt>
                <c:pt idx="403">
                  <c:v>3.4677111738</c:v>
                </c:pt>
                <c:pt idx="404">
                  <c:v>3.4012377612</c:v>
                </c:pt>
                <c:pt idx="405">
                  <c:v>3.4658219023</c:v>
                </c:pt>
                <c:pt idx="406">
                  <c:v>3.4209759897</c:v>
                </c:pt>
                <c:pt idx="407">
                  <c:v>3.4771168416</c:v>
                </c:pt>
                <c:pt idx="408">
                  <c:v>3.3932989081</c:v>
                </c:pt>
                <c:pt idx="409">
                  <c:v>3.4302993942</c:v>
                </c:pt>
                <c:pt idx="410">
                  <c:v>3.2279527862</c:v>
                </c:pt>
                <c:pt idx="411">
                  <c:v>3.1311657716</c:v>
                </c:pt>
                <c:pt idx="412">
                  <c:v>2.9990657364</c:v>
                </c:pt>
                <c:pt idx="413">
                  <c:v>2.9681935601</c:v>
                </c:pt>
                <c:pt idx="414">
                  <c:v>2.8821926306</c:v>
                </c:pt>
                <c:pt idx="415">
                  <c:v>2.9035010878</c:v>
                </c:pt>
                <c:pt idx="416">
                  <c:v>2.9008449138</c:v>
                </c:pt>
                <c:pt idx="417">
                  <c:v>2.935727337</c:v>
                </c:pt>
                <c:pt idx="418">
                  <c:v>3.8505826533</c:v>
                </c:pt>
                <c:pt idx="419">
                  <c:v>4.0147745002</c:v>
                </c:pt>
                <c:pt idx="420">
                  <c:v>4.0521750144</c:v>
                </c:pt>
                <c:pt idx="421">
                  <c:v>3.8999025921</c:v>
                </c:pt>
                <c:pt idx="422">
                  <c:v>3.6558414698</c:v>
                </c:pt>
                <c:pt idx="423">
                  <c:v>3.4893735097</c:v>
                </c:pt>
                <c:pt idx="424">
                  <c:v>3.3446038655</c:v>
                </c:pt>
                <c:pt idx="425">
                  <c:v>3.3527933106</c:v>
                </c:pt>
                <c:pt idx="426">
                  <c:v>3.2468705174</c:v>
                </c:pt>
                <c:pt idx="427">
                  <c:v>3.195800045</c:v>
                </c:pt>
                <c:pt idx="428">
                  <c:v>3.2858991565</c:v>
                </c:pt>
                <c:pt idx="429">
                  <c:v>3.2709206486</c:v>
                </c:pt>
                <c:pt idx="430">
                  <c:v>3.2821705295</c:v>
                </c:pt>
                <c:pt idx="431">
                  <c:v>3.1307161051</c:v>
                </c:pt>
                <c:pt idx="432">
                  <c:v>2.9908726935</c:v>
                </c:pt>
                <c:pt idx="433">
                  <c:v>2.9376434067</c:v>
                </c:pt>
                <c:pt idx="434">
                  <c:v>2.8614931545</c:v>
                </c:pt>
                <c:pt idx="435">
                  <c:v>2.9324246896</c:v>
                </c:pt>
                <c:pt idx="436">
                  <c:v>3.0097055048</c:v>
                </c:pt>
                <c:pt idx="437">
                  <c:v>2.9480806711</c:v>
                </c:pt>
                <c:pt idx="438">
                  <c:v>2.8149435638</c:v>
                </c:pt>
                <c:pt idx="439">
                  <c:v>2.7946728636</c:v>
                </c:pt>
                <c:pt idx="440">
                  <c:v>2.903923421</c:v>
                </c:pt>
                <c:pt idx="441">
                  <c:v>2.8765511957</c:v>
                </c:pt>
                <c:pt idx="442">
                  <c:v>2.8408457045</c:v>
                </c:pt>
                <c:pt idx="443">
                  <c:v>3.0011770247</c:v>
                </c:pt>
                <c:pt idx="444">
                  <c:v>2.9202938897</c:v>
                </c:pt>
                <c:pt idx="445">
                  <c:v>2.9284429281</c:v>
                </c:pt>
                <c:pt idx="446">
                  <c:v>2.8538000932</c:v>
                </c:pt>
                <c:pt idx="447">
                  <c:v>2.8283936505</c:v>
                </c:pt>
                <c:pt idx="448">
                  <c:v>2.7959558174</c:v>
                </c:pt>
                <c:pt idx="449">
                  <c:v>2.874881387</c:v>
                </c:pt>
                <c:pt idx="450">
                  <c:v>2.8067318551</c:v>
                </c:pt>
                <c:pt idx="451">
                  <c:v>2.9343865478</c:v>
                </c:pt>
                <c:pt idx="452">
                  <c:v>3.0725188375</c:v>
                </c:pt>
                <c:pt idx="453">
                  <c:v>3.0473959791</c:v>
                </c:pt>
                <c:pt idx="454">
                  <c:v>2.8784383887</c:v>
                </c:pt>
                <c:pt idx="455">
                  <c:v>2.7926246444</c:v>
                </c:pt>
                <c:pt idx="456">
                  <c:v>2.8730005022</c:v>
                </c:pt>
                <c:pt idx="457">
                  <c:v>2.8543702171</c:v>
                </c:pt>
                <c:pt idx="458">
                  <c:v>2.9120200277</c:v>
                </c:pt>
                <c:pt idx="459">
                  <c:v>2.8703548879</c:v>
                </c:pt>
                <c:pt idx="460">
                  <c:v>2.8797730219</c:v>
                </c:pt>
                <c:pt idx="461">
                  <c:v>2.570249926</c:v>
                </c:pt>
                <c:pt idx="462">
                  <c:v>2.6158528948</c:v>
                </c:pt>
                <c:pt idx="463">
                  <c:v>2.528798839</c:v>
                </c:pt>
                <c:pt idx="464">
                  <c:v>2.4853940377</c:v>
                </c:pt>
                <c:pt idx="465">
                  <c:v>2.392278287</c:v>
                </c:pt>
                <c:pt idx="466">
                  <c:v>2.3836226797</c:v>
                </c:pt>
                <c:pt idx="467">
                  <c:v>2.3131752711</c:v>
                </c:pt>
                <c:pt idx="468">
                  <c:v>2.358367443</c:v>
                </c:pt>
                <c:pt idx="469">
                  <c:v>2.3325662668</c:v>
                </c:pt>
                <c:pt idx="470">
                  <c:v>2.3159473152</c:v>
                </c:pt>
                <c:pt idx="471">
                  <c:v>2.3764709532</c:v>
                </c:pt>
                <c:pt idx="472">
                  <c:v>2.371238376</c:v>
                </c:pt>
                <c:pt idx="473">
                  <c:v>2.3786843075</c:v>
                </c:pt>
                <c:pt idx="474">
                  <c:v>2.4722023342</c:v>
                </c:pt>
                <c:pt idx="475">
                  <c:v>2.4598254383</c:v>
                </c:pt>
                <c:pt idx="476">
                  <c:v>2.4892356868</c:v>
                </c:pt>
                <c:pt idx="477">
                  <c:v>2.4313534003</c:v>
                </c:pt>
                <c:pt idx="478">
                  <c:v>2.4434101204</c:v>
                </c:pt>
                <c:pt idx="479">
                  <c:v>2.3595022731</c:v>
                </c:pt>
                <c:pt idx="480">
                  <c:v>2.3749591822</c:v>
                </c:pt>
                <c:pt idx="481">
                  <c:v>2.2484899584</c:v>
                </c:pt>
                <c:pt idx="482">
                  <c:v>2.1749102555</c:v>
                </c:pt>
                <c:pt idx="483">
                  <c:v>2.0830475731</c:v>
                </c:pt>
                <c:pt idx="484">
                  <c:v>2.072545137</c:v>
                </c:pt>
                <c:pt idx="485">
                  <c:v>2.0159901849</c:v>
                </c:pt>
                <c:pt idx="486">
                  <c:v>2.0299976511</c:v>
                </c:pt>
                <c:pt idx="487">
                  <c:v>2.0776072612</c:v>
                </c:pt>
                <c:pt idx="488">
                  <c:v>2.0171215966</c:v>
                </c:pt>
                <c:pt idx="489">
                  <c:v>2.0965620082</c:v>
                </c:pt>
                <c:pt idx="490">
                  <c:v>2.0594829488</c:v>
                </c:pt>
                <c:pt idx="491">
                  <c:v>2.0820640356</c:v>
                </c:pt>
                <c:pt idx="492">
                  <c:v>2.0125288251</c:v>
                </c:pt>
                <c:pt idx="493">
                  <c:v>1.9519058978</c:v>
                </c:pt>
                <c:pt idx="494">
                  <c:v>1.9036864474</c:v>
                </c:pt>
                <c:pt idx="495">
                  <c:v>1.9738819654</c:v>
                </c:pt>
                <c:pt idx="496">
                  <c:v>1.9915664957</c:v>
                </c:pt>
                <c:pt idx="497">
                  <c:v>2.0122230765</c:v>
                </c:pt>
                <c:pt idx="498">
                  <c:v>2.0393556359</c:v>
                </c:pt>
                <c:pt idx="499">
                  <c:v>1.9446443794</c:v>
                </c:pt>
                <c:pt idx="500">
                  <c:v>1.9810185244</c:v>
                </c:pt>
                <c:pt idx="501">
                  <c:v>1.8000979359</c:v>
                </c:pt>
                <c:pt idx="502">
                  <c:v>1.5913818066</c:v>
                </c:pt>
                <c:pt idx="503">
                  <c:v>1.5794913174</c:v>
                </c:pt>
                <c:pt idx="504">
                  <c:v>1.6639153681</c:v>
                </c:pt>
                <c:pt idx="505">
                  <c:v>1.6807944929</c:v>
                </c:pt>
                <c:pt idx="506">
                  <c:v>1.6578692104</c:v>
                </c:pt>
                <c:pt idx="507">
                  <c:v>1.639563048</c:v>
                </c:pt>
                <c:pt idx="508">
                  <c:v>1.7385260194</c:v>
                </c:pt>
                <c:pt idx="509">
                  <c:v>2.163354858</c:v>
                </c:pt>
                <c:pt idx="510">
                  <c:v>2.1882650363</c:v>
                </c:pt>
                <c:pt idx="511">
                  <c:v>2.0733129661</c:v>
                </c:pt>
                <c:pt idx="512">
                  <c:v>1.9913795858</c:v>
                </c:pt>
                <c:pt idx="513">
                  <c:v>1.906559939</c:v>
                </c:pt>
                <c:pt idx="514">
                  <c:v>1.912631429</c:v>
                </c:pt>
                <c:pt idx="515">
                  <c:v>1.8878758168</c:v>
                </c:pt>
                <c:pt idx="516">
                  <c:v>1.85263781</c:v>
                </c:pt>
                <c:pt idx="517">
                  <c:v>1.8082699387</c:v>
                </c:pt>
                <c:pt idx="518">
                  <c:v>1.8806844837</c:v>
                </c:pt>
                <c:pt idx="519">
                  <c:v>1.8694589791</c:v>
                </c:pt>
                <c:pt idx="520">
                  <c:v>1.7660676681</c:v>
                </c:pt>
                <c:pt idx="521">
                  <c:v>1.6926834263</c:v>
                </c:pt>
                <c:pt idx="522">
                  <c:v>1.6405351618</c:v>
                </c:pt>
                <c:pt idx="523">
                  <c:v>1.7067041269</c:v>
                </c:pt>
                <c:pt idx="524">
                  <c:v>1.6512037281</c:v>
                </c:pt>
                <c:pt idx="525">
                  <c:v>1.6317465995</c:v>
                </c:pt>
                <c:pt idx="526">
                  <c:v>1.6755466331</c:v>
                </c:pt>
                <c:pt idx="527">
                  <c:v>1.6552456583</c:v>
                </c:pt>
                <c:pt idx="528">
                  <c:v>1.6827678168</c:v>
                </c:pt>
                <c:pt idx="529">
                  <c:v>1.7168797462</c:v>
                </c:pt>
                <c:pt idx="530">
                  <c:v>1.7860401007</c:v>
                </c:pt>
                <c:pt idx="531">
                  <c:v>1.818712379</c:v>
                </c:pt>
                <c:pt idx="532">
                  <c:v>1.7045436324</c:v>
                </c:pt>
                <c:pt idx="533">
                  <c:v>1.6924995803</c:v>
                </c:pt>
                <c:pt idx="534">
                  <c:v>1.6458999851</c:v>
                </c:pt>
                <c:pt idx="535">
                  <c:v>1.6025010804</c:v>
                </c:pt>
                <c:pt idx="536">
                  <c:v>1.6063044872</c:v>
                </c:pt>
                <c:pt idx="537">
                  <c:v>1.6138146707</c:v>
                </c:pt>
                <c:pt idx="538">
                  <c:v>1.5883814999</c:v>
                </c:pt>
                <c:pt idx="539">
                  <c:v>1.5571898973</c:v>
                </c:pt>
                <c:pt idx="540">
                  <c:v>1.5427124961</c:v>
                </c:pt>
                <c:pt idx="541">
                  <c:v>1.558537645</c:v>
                </c:pt>
                <c:pt idx="542">
                  <c:v>1.5787901578</c:v>
                </c:pt>
                <c:pt idx="543">
                  <c:v>1.5446650528</c:v>
                </c:pt>
                <c:pt idx="544">
                  <c:v>1.5528278598</c:v>
                </c:pt>
                <c:pt idx="545">
                  <c:v>1.6230855275</c:v>
                </c:pt>
                <c:pt idx="546">
                  <c:v>1.566922657</c:v>
                </c:pt>
                <c:pt idx="547">
                  <c:v>1.5888270103</c:v>
                </c:pt>
                <c:pt idx="548">
                  <c:v>1.5901193715</c:v>
                </c:pt>
                <c:pt idx="549">
                  <c:v>1.6083104493</c:v>
                </c:pt>
                <c:pt idx="550">
                  <c:v>1.5997571252</c:v>
                </c:pt>
                <c:pt idx="551">
                  <c:v>1.5603905155</c:v>
                </c:pt>
                <c:pt idx="552">
                  <c:v>1.5659442983</c:v>
                </c:pt>
                <c:pt idx="553">
                  <c:v>1.5962226262</c:v>
                </c:pt>
                <c:pt idx="554">
                  <c:v>1.5270480932</c:v>
                </c:pt>
                <c:pt idx="555">
                  <c:v>1.4665930976</c:v>
                </c:pt>
                <c:pt idx="556">
                  <c:v>1.4594962459</c:v>
                </c:pt>
                <c:pt idx="557">
                  <c:v>1.4568650927</c:v>
                </c:pt>
                <c:pt idx="558">
                  <c:v>1.4155763178</c:v>
                </c:pt>
                <c:pt idx="559">
                  <c:v>1.4348951842</c:v>
                </c:pt>
                <c:pt idx="560">
                  <c:v>1.4381821956</c:v>
                </c:pt>
                <c:pt idx="561">
                  <c:v>1.4700057333</c:v>
                </c:pt>
                <c:pt idx="562">
                  <c:v>1.4667953019</c:v>
                </c:pt>
                <c:pt idx="563">
                  <c:v>1.4652732519</c:v>
                </c:pt>
                <c:pt idx="564">
                  <c:v>1.476479686</c:v>
                </c:pt>
                <c:pt idx="565">
                  <c:v>1.4765626719</c:v>
                </c:pt>
                <c:pt idx="566">
                  <c:v>1.4882644149</c:v>
                </c:pt>
                <c:pt idx="567">
                  <c:v>1.4851985588</c:v>
                </c:pt>
                <c:pt idx="568">
                  <c:v>1.4808686906</c:v>
                </c:pt>
                <c:pt idx="569">
                  <c:v>1.4786957564</c:v>
                </c:pt>
                <c:pt idx="570">
                  <c:v>1.4084534578</c:v>
                </c:pt>
                <c:pt idx="571">
                  <c:v>1.3947192818</c:v>
                </c:pt>
                <c:pt idx="572">
                  <c:v>1.4312128411</c:v>
                </c:pt>
                <c:pt idx="573">
                  <c:v>1.4031303735</c:v>
                </c:pt>
                <c:pt idx="574">
                  <c:v>1.3988135391</c:v>
                </c:pt>
                <c:pt idx="575">
                  <c:v>1.3957428683</c:v>
                </c:pt>
                <c:pt idx="576">
                  <c:v>1.4072843714</c:v>
                </c:pt>
                <c:pt idx="577">
                  <c:v>1.7910941096</c:v>
                </c:pt>
                <c:pt idx="578">
                  <c:v>1.6486963754</c:v>
                </c:pt>
                <c:pt idx="579">
                  <c:v>1.8662551316</c:v>
                </c:pt>
                <c:pt idx="580">
                  <c:v>2.3942921589</c:v>
                </c:pt>
                <c:pt idx="581">
                  <c:v>2.6166410009</c:v>
                </c:pt>
                <c:pt idx="582">
                  <c:v>2.3923298743</c:v>
                </c:pt>
                <c:pt idx="583">
                  <c:v>2.172542331</c:v>
                </c:pt>
                <c:pt idx="584">
                  <c:v>2.3301637309</c:v>
                </c:pt>
                <c:pt idx="585">
                  <c:v>2.5538869671</c:v>
                </c:pt>
                <c:pt idx="586">
                  <c:v>2.7365880068</c:v>
                </c:pt>
                <c:pt idx="587">
                  <c:v>2.6798178447</c:v>
                </c:pt>
                <c:pt idx="588">
                  <c:v>2.3465576284</c:v>
                </c:pt>
                <c:pt idx="589">
                  <c:v>2.4234937392</c:v>
                </c:pt>
                <c:pt idx="590">
                  <c:v>2.271062003</c:v>
                </c:pt>
                <c:pt idx="591">
                  <c:v>2.2143501307</c:v>
                </c:pt>
                <c:pt idx="592">
                  <c:v>2.3886274392</c:v>
                </c:pt>
                <c:pt idx="593">
                  <c:v>2.3066569405</c:v>
                </c:pt>
                <c:pt idx="594">
                  <c:v>2.3735232124</c:v>
                </c:pt>
                <c:pt idx="595">
                  <c:v>2.3331438364</c:v>
                </c:pt>
                <c:pt idx="596">
                  <c:v>2.3078357213</c:v>
                </c:pt>
                <c:pt idx="597">
                  <c:v>2.2238702766</c:v>
                </c:pt>
                <c:pt idx="598">
                  <c:v>2.029882597</c:v>
                </c:pt>
                <c:pt idx="599">
                  <c:v>1.9439150385</c:v>
                </c:pt>
                <c:pt idx="600">
                  <c:v>1.9809577531</c:v>
                </c:pt>
                <c:pt idx="601">
                  <c:v>1.9893984581</c:v>
                </c:pt>
                <c:pt idx="602">
                  <c:v>1.9285938714</c:v>
                </c:pt>
                <c:pt idx="603">
                  <c:v>2.001785933</c:v>
                </c:pt>
                <c:pt idx="604">
                  <c:v>1.8814745295</c:v>
                </c:pt>
                <c:pt idx="605">
                  <c:v>1.9370269841</c:v>
                </c:pt>
                <c:pt idx="606">
                  <c:v>1.9539342183</c:v>
                </c:pt>
                <c:pt idx="607">
                  <c:v>2.0834677553</c:v>
                </c:pt>
                <c:pt idx="608">
                  <c:v>2.1034525424</c:v>
                </c:pt>
                <c:pt idx="609">
                  <c:v>2.0713364648</c:v>
                </c:pt>
                <c:pt idx="610">
                  <c:v>2.1864415128</c:v>
                </c:pt>
                <c:pt idx="611">
                  <c:v>2.2456171647</c:v>
                </c:pt>
                <c:pt idx="612">
                  <c:v>1.9642949855</c:v>
                </c:pt>
                <c:pt idx="613">
                  <c:v>2.0742844502</c:v>
                </c:pt>
                <c:pt idx="614">
                  <c:v>2.121981837</c:v>
                </c:pt>
                <c:pt idx="615">
                  <c:v>2.1156845643</c:v>
                </c:pt>
                <c:pt idx="616">
                  <c:v>2.1267630028</c:v>
                </c:pt>
                <c:pt idx="617">
                  <c:v>2.0085685323</c:v>
                </c:pt>
                <c:pt idx="618">
                  <c:v>2.0230051743</c:v>
                </c:pt>
                <c:pt idx="619">
                  <c:v>2.0504787828</c:v>
                </c:pt>
                <c:pt idx="620">
                  <c:v>2.0611996178</c:v>
                </c:pt>
                <c:pt idx="621">
                  <c:v>2.1149922691</c:v>
                </c:pt>
                <c:pt idx="622">
                  <c:v>2.0450565605</c:v>
                </c:pt>
                <c:pt idx="623">
                  <c:v>2.0647212877</c:v>
                </c:pt>
                <c:pt idx="624">
                  <c:v>2.0568460803</c:v>
                </c:pt>
                <c:pt idx="625">
                  <c:v>2.0112944747</c:v>
                </c:pt>
                <c:pt idx="626">
                  <c:v>1.8772949946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Geist"/>
                  <a:ea typeface="Geist"/>
                  <a:cs typeface="Geis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272A"/>
              </a:solidFill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</a:p>
        </c:txPr>
        <c:crossAx val="48650112"/>
      </c:valAx>
      <c:valAx>
        <c:axId val="48650112"/>
        <c:scaling>
          <c:orientation val="minMax"/>
          <c:max val="46302"/>
          <c:min val="45675"/>
        </c:scaling>
        <c:delete val="0"/>
        <c:axPos val="b"/>
        <c:numFmt formatCode="mmm yy"/>
        <c:majorTickMark val="none"/>
        <c:minorTickMark val="none"/>
        <c:spPr>
          <a:ln xmlns:a="http://schemas.openxmlformats.org/drawingml/2006/main" w="9525">
            <a:solidFill>
              <a:srgbClr val="27272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</a:p>
        </c:txPr>
        <c:crossAx val="48672768"/>
        <c:majorUnit val="180"/>
      </c:valAx>
      <c:spPr>
        <a:solidFill xmlns:a="http://schemas.openxmlformats.org/drawingml/2006/main">
          <a:srgbClr val="0A0A0A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0A0A0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Daily close (USD)</c:v>
          </c:tx>
          <c:spPr>
            <a:ln xmlns:a="http://schemas.openxmlformats.org/drawingml/2006/main" w="28575">
              <a:solidFill>
                <a:srgbClr val="2563EB"/>
              </a:solidFill>
            </a:ln>
          </c:spPr>
          <c:marker>
            <c:symbol val="none"/>
          </c:marker>
          <c:xVal>
            <c:numRef>
              <c:f>'Chart Data'!$A$2:$A$93</c:f>
              <c:numCache>
                <c:formatCode>General</c:formatCode>
                <c:ptCount val="92"/>
                <c:pt idx="0">
                  <c:v>46204</c:v>
                </c:pt>
                <c:pt idx="1">
                  <c:v>46205</c:v>
                </c:pt>
                <c:pt idx="2">
                  <c:v>46206</c:v>
                </c:pt>
                <c:pt idx="3">
                  <c:v>46207</c:v>
                </c:pt>
                <c:pt idx="4">
                  <c:v>46208</c:v>
                </c:pt>
                <c:pt idx="5">
                  <c:v>46209</c:v>
                </c:pt>
                <c:pt idx="6">
                  <c:v>46210</c:v>
                </c:pt>
                <c:pt idx="7">
                  <c:v>46211</c:v>
                </c:pt>
                <c:pt idx="8">
                  <c:v>46212</c:v>
                </c:pt>
                <c:pt idx="9">
                  <c:v>46213</c:v>
                </c:pt>
                <c:pt idx="10">
                  <c:v>46214</c:v>
                </c:pt>
                <c:pt idx="11">
                  <c:v>46215</c:v>
                </c:pt>
                <c:pt idx="12">
                  <c:v>46216</c:v>
                </c:pt>
                <c:pt idx="13">
                  <c:v>46217</c:v>
                </c:pt>
                <c:pt idx="14">
                  <c:v>46218</c:v>
                </c:pt>
                <c:pt idx="15">
                  <c:v>46219</c:v>
                </c:pt>
                <c:pt idx="16">
                  <c:v>46220</c:v>
                </c:pt>
                <c:pt idx="17">
                  <c:v>46221</c:v>
                </c:pt>
                <c:pt idx="18">
                  <c:v>46222</c:v>
                </c:pt>
                <c:pt idx="19">
                  <c:v>46223</c:v>
                </c:pt>
                <c:pt idx="20">
                  <c:v>46224</c:v>
                </c:pt>
                <c:pt idx="21">
                  <c:v>46225</c:v>
                </c:pt>
                <c:pt idx="22">
                  <c:v>46226</c:v>
                </c:pt>
                <c:pt idx="23">
                  <c:v>46227</c:v>
                </c:pt>
                <c:pt idx="24">
                  <c:v>46228</c:v>
                </c:pt>
                <c:pt idx="25">
                  <c:v>46229</c:v>
                </c:pt>
                <c:pt idx="26">
                  <c:v>46230</c:v>
                </c:pt>
                <c:pt idx="27">
                  <c:v>46231</c:v>
                </c:pt>
                <c:pt idx="28">
                  <c:v>46232</c:v>
                </c:pt>
                <c:pt idx="29">
                  <c:v>46233</c:v>
                </c:pt>
                <c:pt idx="30">
                  <c:v>46234</c:v>
                </c:pt>
                <c:pt idx="31">
                  <c:v>46235</c:v>
                </c:pt>
                <c:pt idx="32">
                  <c:v>46236</c:v>
                </c:pt>
                <c:pt idx="33">
                  <c:v>46237</c:v>
                </c:pt>
                <c:pt idx="34">
                  <c:v>46238</c:v>
                </c:pt>
                <c:pt idx="35">
                  <c:v>46239</c:v>
                </c:pt>
                <c:pt idx="36">
                  <c:v>46240</c:v>
                </c:pt>
                <c:pt idx="37">
                  <c:v>46241</c:v>
                </c:pt>
                <c:pt idx="38">
                  <c:v>46242</c:v>
                </c:pt>
                <c:pt idx="39">
                  <c:v>46243</c:v>
                </c:pt>
                <c:pt idx="40">
                  <c:v>46244</c:v>
                </c:pt>
                <c:pt idx="41">
                  <c:v>46245</c:v>
                </c:pt>
                <c:pt idx="42">
                  <c:v>46246</c:v>
                </c:pt>
                <c:pt idx="43">
                  <c:v>46247</c:v>
                </c:pt>
                <c:pt idx="44">
                  <c:v>46248</c:v>
                </c:pt>
                <c:pt idx="45">
                  <c:v>46249</c:v>
                </c:pt>
                <c:pt idx="46">
                  <c:v>46250</c:v>
                </c:pt>
                <c:pt idx="47">
                  <c:v>46251</c:v>
                </c:pt>
                <c:pt idx="48">
                  <c:v>46252</c:v>
                </c:pt>
                <c:pt idx="49">
                  <c:v>46253</c:v>
                </c:pt>
                <c:pt idx="50">
                  <c:v>46254</c:v>
                </c:pt>
                <c:pt idx="51">
                  <c:v>46255</c:v>
                </c:pt>
                <c:pt idx="52">
                  <c:v>46256</c:v>
                </c:pt>
                <c:pt idx="53">
                  <c:v>46257</c:v>
                </c:pt>
                <c:pt idx="54">
                  <c:v>46258</c:v>
                </c:pt>
                <c:pt idx="55">
                  <c:v>46259</c:v>
                </c:pt>
                <c:pt idx="56">
                  <c:v>46260</c:v>
                </c:pt>
                <c:pt idx="57">
                  <c:v>46261</c:v>
                </c:pt>
                <c:pt idx="58">
                  <c:v>46262</c:v>
                </c:pt>
                <c:pt idx="59">
                  <c:v>46263</c:v>
                </c:pt>
                <c:pt idx="60">
                  <c:v>46264</c:v>
                </c:pt>
                <c:pt idx="61">
                  <c:v>46265</c:v>
                </c:pt>
                <c:pt idx="62">
                  <c:v>46266</c:v>
                </c:pt>
                <c:pt idx="63">
                  <c:v>46267</c:v>
                </c:pt>
                <c:pt idx="64">
                  <c:v>46268</c:v>
                </c:pt>
                <c:pt idx="65">
                  <c:v>46269</c:v>
                </c:pt>
                <c:pt idx="66">
                  <c:v>46270</c:v>
                </c:pt>
                <c:pt idx="67">
                  <c:v>46271</c:v>
                </c:pt>
                <c:pt idx="68">
                  <c:v>46272</c:v>
                </c:pt>
                <c:pt idx="69">
                  <c:v>46273</c:v>
                </c:pt>
                <c:pt idx="70">
                  <c:v>46274</c:v>
                </c:pt>
                <c:pt idx="71">
                  <c:v>46275</c:v>
                </c:pt>
                <c:pt idx="72">
                  <c:v>46276</c:v>
                </c:pt>
                <c:pt idx="73">
                  <c:v>46277</c:v>
                </c:pt>
                <c:pt idx="74">
                  <c:v>46278</c:v>
                </c:pt>
                <c:pt idx="75">
                  <c:v>46279</c:v>
                </c:pt>
                <c:pt idx="76">
                  <c:v>46280</c:v>
                </c:pt>
                <c:pt idx="77">
                  <c:v>46281</c:v>
                </c:pt>
                <c:pt idx="78">
                  <c:v>46282</c:v>
                </c:pt>
                <c:pt idx="79">
                  <c:v>46283</c:v>
                </c:pt>
                <c:pt idx="80">
                  <c:v>46284</c:v>
                </c:pt>
                <c:pt idx="81">
                  <c:v>46285</c:v>
                </c:pt>
                <c:pt idx="82">
                  <c:v>46286</c:v>
                </c:pt>
                <c:pt idx="83">
                  <c:v>46287</c:v>
                </c:pt>
                <c:pt idx="84">
                  <c:v>46288</c:v>
                </c:pt>
                <c:pt idx="85">
                  <c:v>46289</c:v>
                </c:pt>
                <c:pt idx="86">
                  <c:v>46290</c:v>
                </c:pt>
                <c:pt idx="87">
                  <c:v>46291</c:v>
                </c:pt>
                <c:pt idx="88">
                  <c:v>46292</c:v>
                </c:pt>
                <c:pt idx="89">
                  <c:v>46293</c:v>
                </c:pt>
                <c:pt idx="90">
                  <c:v>46294</c:v>
                </c:pt>
                <c:pt idx="91">
                  <c:v>46295</c:v>
                </c:pt>
              </c:numCache>
            </c:numRef>
          </c:xVal>
          <c:yVal>
            <c:numRef>
              <c:f>'Chart Data'!$B$2:$B$93</c:f>
              <c:numCache>
                <c:formatCode>$0.00</c:formatCode>
                <c:ptCount val="92"/>
                <c:pt idx="0">
                  <c:v>0.0721772701</c:v>
                </c:pt>
                <c:pt idx="1">
                  <c:v>0.074080066</c:v>
                </c:pt>
                <c:pt idx="2">
                  <c:v>0.0774896737</c:v>
                </c:pt>
                <c:pt idx="3">
                  <c:v>0.0775885126</c:v>
                </c:pt>
                <c:pt idx="4">
                  <c:v>0.0777337855</c:v>
                </c:pt>
                <c:pt idx="5">
                  <c:v>0.0765829849</c:v>
                </c:pt>
                <c:pt idx="6">
                  <c:v>0.0741835303</c:v>
                </c:pt>
                <c:pt idx="7">
                  <c:v>0.0723113034</c:v>
                </c:pt>
                <c:pt idx="8">
                  <c:v>0.0728585654</c:v>
                </c:pt>
                <c:pt idx="9">
                  <c:v>0.0740469871</c:v>
                </c:pt>
                <c:pt idx="10">
                  <c:v>0.0732688774</c:v>
                </c:pt>
                <c:pt idx="11">
                  <c:v>0.0726828774</c:v>
                </c:pt>
                <c:pt idx="12">
                  <c:v>0.0718505528</c:v>
                </c:pt>
                <c:pt idx="13">
                  <c:v>0.0744406787</c:v>
                </c:pt>
                <c:pt idx="14">
                  <c:v>0.0740440875</c:v>
                </c:pt>
                <c:pt idx="15">
                  <c:v>0.0723413371</c:v>
                </c:pt>
                <c:pt idx="16">
                  <c:v>0.0725107007</c:v>
                </c:pt>
                <c:pt idx="17">
                  <c:v>0.0724690703</c:v>
                </c:pt>
                <c:pt idx="18">
                  <c:v>0.072310217</c:v>
                </c:pt>
                <c:pt idx="19">
                  <c:v>0.0721394954</c:v>
                </c:pt>
                <c:pt idx="20">
                  <c:v>0.0732823364</c:v>
                </c:pt>
                <c:pt idx="21">
                  <c:v>0.0729518563</c:v>
                </c:pt>
                <c:pt idx="22">
                  <c:v>0.0691331344</c:v>
                </c:pt>
                <c:pt idx="23">
                  <c:v>0.0695205228</c:v>
                </c:pt>
                <c:pt idx="24">
                  <c:v>0.0716754396</c:v>
                </c:pt>
                <c:pt idx="25">
                  <c:v>0.0732970842</c:v>
                </c:pt>
                <c:pt idx="26">
                  <c:v>0.0703339317</c:v>
                </c:pt>
                <c:pt idx="27">
                  <c:v>0.0707504566</c:v>
                </c:pt>
                <c:pt idx="28">
                  <c:v>0.0700737644</c:v>
                </c:pt>
                <c:pt idx="29">
                  <c:v>0.0705518696</c:v>
                </c:pt>
                <c:pt idx="30">
                  <c:v>0.0695199333</c:v>
                </c:pt>
                <c:pt idx="31">
                  <c:v>0.0690720206</c:v>
                </c:pt>
                <c:pt idx="32">
                  <c:v>0.0706793877</c:v>
                </c:pt>
                <c:pt idx="33">
                  <c:v>0.0701444524</c:v>
                </c:pt>
                <c:pt idx="34">
                  <c:v>0.0700433004</c:v>
                </c:pt>
                <c:pt idx="35">
                  <c:v>0.0699821715</c:v>
                </c:pt>
                <c:pt idx="36">
                  <c:v>0.0689875105</c:v>
                </c:pt>
                <c:pt idx="37">
                  <c:v>0.0696227662</c:v>
                </c:pt>
                <c:pt idx="38">
                  <c:v>0.070391145</c:v>
                </c:pt>
                <c:pt idx="39">
                  <c:v>0.0692552308</c:v>
                </c:pt>
                <c:pt idx="40">
                  <c:v>0.0696879429</c:v>
                </c:pt>
                <c:pt idx="41">
                  <c:v>0.0718310053</c:v>
                </c:pt>
                <c:pt idx="42">
                  <c:v>0.069592431</c:v>
                </c:pt>
                <c:pt idx="43">
                  <c:v>0.0700889072</c:v>
                </c:pt>
                <c:pt idx="44">
                  <c:v>0.0700015362</c:v>
                </c:pt>
                <c:pt idx="45">
                  <c:v>0.0695497812</c:v>
                </c:pt>
                <c:pt idx="46">
                  <c:v>0.0694824044</c:v>
                </c:pt>
                <c:pt idx="47">
                  <c:v>0.0703483335</c:v>
                </c:pt>
                <c:pt idx="48">
                  <c:v>0.0702131911</c:v>
                </c:pt>
                <c:pt idx="49">
                  <c:v>0.0749723157</c:v>
                </c:pt>
                <c:pt idx="50">
                  <c:v>0.080422414</c:v>
                </c:pt>
                <c:pt idx="51">
                  <c:v>0.0916272205</c:v>
                </c:pt>
                <c:pt idx="52">
                  <c:v>0.0919524251</c:v>
                </c:pt>
                <c:pt idx="53">
                  <c:v>0.0934181391</c:v>
                </c:pt>
                <c:pt idx="54">
                  <c:v>0.0899098827</c:v>
                </c:pt>
                <c:pt idx="55">
                  <c:v>0.0857161756</c:v>
                </c:pt>
                <c:pt idx="56">
                  <c:v>0.087741435</c:v>
                </c:pt>
                <c:pt idx="57">
                  <c:v>0.0891425217</c:v>
                </c:pt>
                <c:pt idx="58">
                  <c:v>0.0852185086</c:v>
                </c:pt>
                <c:pt idx="59">
                  <c:v>0.0852805557</c:v>
                </c:pt>
                <c:pt idx="60">
                  <c:v>0.0820965786</c:v>
                </c:pt>
                <c:pt idx="61">
                  <c:v>0.0828138227</c:v>
                </c:pt>
                <c:pt idx="62">
                  <c:v>0.0816449892</c:v>
                </c:pt>
                <c:pt idx="63">
                  <c:v>0.0816362387</c:v>
                </c:pt>
                <c:pt idx="64">
                  <c:v>0.0877814356</c:v>
                </c:pt>
                <c:pt idx="65">
                  <c:v>0.084815459</c:v>
                </c:pt>
                <c:pt idx="66">
                  <c:v>0.0896840504</c:v>
                </c:pt>
                <c:pt idx="67">
                  <c:v>0.0908191091</c:v>
                </c:pt>
                <c:pt idx="68">
                  <c:v>0.0906274284</c:v>
                </c:pt>
                <c:pt idx="69">
                  <c:v>0.0899940575</c:v>
                </c:pt>
                <c:pt idx="70">
                  <c:v>0.0861630055</c:v>
                </c:pt>
                <c:pt idx="71">
                  <c:v>0.0829143172</c:v>
                </c:pt>
                <c:pt idx="72">
                  <c:v>0.0842842615</c:v>
                </c:pt>
                <c:pt idx="73">
                  <c:v>0.0848533993</c:v>
                </c:pt>
                <c:pt idx="74">
                  <c:v>0.0824212989</c:v>
                </c:pt>
                <c:pt idx="75">
                  <c:v>0.0836318875</c:v>
                </c:pt>
                <c:pt idx="76">
                  <c:v>0.0800761653</c:v>
                </c:pt>
                <c:pt idx="77">
                  <c:v>0.0808664436</c:v>
                </c:pt>
                <c:pt idx="78">
                  <c:v>0.0817179865</c:v>
                </c:pt>
                <c:pt idx="79">
                  <c:v>0.0874111968</c:v>
                </c:pt>
                <c:pt idx="80">
                  <c:v>0.0877222377</c:v>
                </c:pt>
                <c:pt idx="81">
                  <c:v>0.0872825155</c:v>
                </c:pt>
                <c:pt idx="82">
                  <c:v>0.0996215775</c:v>
                </c:pt>
                <c:pt idx="83">
                  <c:v>0.1003674134</c:v>
                </c:pt>
                <c:pt idx="84">
                  <c:v>0.0926901322</c:v>
                </c:pt>
                <c:pt idx="85">
                  <c:v>0.0957495925</c:v>
                </c:pt>
                <c:pt idx="86">
                  <c:v>0.0989479685</c:v>
                </c:pt>
                <c:pt idx="87">
                  <c:v>0.0967662722</c:v>
                </c:pt>
                <c:pt idx="88">
                  <c:v>0.0970336787</c:v>
                </c:pt>
                <c:pt idx="89">
                  <c:v>0.093875308</c:v>
                </c:pt>
                <c:pt idx="90">
                  <c:v>0.0938561975</c:v>
                </c:pt>
                <c:pt idx="91">
                  <c:v>0.0944721408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Geist"/>
                  <a:ea typeface="Geist"/>
                  <a:cs typeface="Geis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4E7"/>
              </a:solidFill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</a:p>
        </c:txPr>
        <c:crossAx val="48650112"/>
      </c:valAx>
      <c:valAx>
        <c:axId val="48650112"/>
        <c:scaling>
          <c:orientation val="minMax"/>
          <c:max val="46295"/>
          <c:min val="46204"/>
        </c:scaling>
        <c:delete val="0"/>
        <c:axPos val="b"/>
        <c:numFmt formatCode="d mmm"/>
        <c:majorTickMark val="none"/>
        <c:minorTickMark val="none"/>
        <c:spPr>
          <a:ln xmlns:a="http://schemas.openxmlformats.org/drawingml/2006/main" w="9525">
            <a:solidFill>
              <a:srgbClr val="E4E4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</a:p>
        </c:txPr>
        <c:crossAx val="48672768"/>
        <c:majorUnit val="30"/>
      </c:valAx>
      <c:spPr>
        <a:solidFill xmlns:a="http://schemas.openxmlformats.org/drawingml/2006/main">
          <a:srgbClr val="FAFAFA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AFA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90E3505B-11F6-4D64-9575-EFD457B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5E27-FE6D-4481-9BEF-983EBC1DD6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7b4323a424fec"/>
          <a:srcRect xmlns:a="http://schemas.openxmlformats.org/drawingml/2006/main" l="25756" t="0" r="257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eme Coin&#10;Analysis&#10;Dashboard">
            <a:extLst xmlns:a="http://schemas.openxmlformats.org/drawingml/2006/main">
              <a:ext uri="{FF2B5EF4-FFF2-40B4-BE49-F238E27FC236}">
                <a16:creationId xmlns:a16="http://schemas.microsoft.com/office/drawing/2014/main" id="{00F1E8CA-6E79-4703-BE63-3881AD2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524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570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Meme Coin</a:t>
            </a:r>
          </a:p>
          <a:p xmlns:a="http://schemas.openxmlformats.org/drawingml/2006/main">
            <a:pPr algn="l">
              <a:defRPr sz="570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570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Analysis</a:t>
            </a:r>
          </a:p>
          <a:p xmlns:a="http://schemas.openxmlformats.org/drawingml/2006/main">
            <a:pPr algn="l">
              <a:defRPr sz="570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570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Dashboard</a:t>
            </a:r>
          </a:p>
        </p:txBody>
      </p:sp>
      <p:sp>
        <p:nvSpPr>
          <p:cNvPr id="4" name="Data Engineering Project Proposal">
            <a:extLst xmlns:a="http://schemas.openxmlformats.org/drawingml/2006/main">
              <a:ext uri="{FF2B5EF4-FFF2-40B4-BE49-F238E27FC236}">
                <a16:creationId xmlns:a16="http://schemas.microsoft.com/office/drawing/2014/main" id="{0D75A41C-2998-4B55-834C-D9783034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202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Data Engineering Project Proposal</a:t>
            </a:r>
          </a:p>
        </p:txBody>
      </p:sp>
      <p:sp>
        <p:nvSpPr>
          <p:cNvPr id="5" name="much data. such pipeline.">
            <a:extLst xmlns:a="http://schemas.openxmlformats.org/drawingml/2006/main">
              <a:ext uri="{FF2B5EF4-FFF2-40B4-BE49-F238E27FC236}">
                <a16:creationId xmlns:a16="http://schemas.microsoft.com/office/drawing/2014/main" id="{B0E42C96-768C-4F71-A099-58724DA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ADE80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ADE80"/>
                </a:solidFill>
                <a:latin typeface="Geist Mono"/>
                <a:ea typeface="Geist Mono"/>
                <a:cs typeface="Geist Mono"/>
              </a:defRPr>
            </a:pPr>
            <a:r>
              <a:rPr sz="1875" b="0">
                <a:solidFill>
                  <a:srgbClr val="4ADE80"/>
                </a:solidFill>
                <a:latin typeface="Geist Mono"/>
                <a:ea typeface="Geist Mono"/>
                <a:cs typeface="Geist Mono"/>
              </a:rPr>
              <a:t>much data. such pipeline.</a:t>
            </a:r>
          </a:p>
        </p:txBody>
      </p:sp>
      <p:sp>
        <p:nvSpPr>
          <p:cNvPr id="6" name="IDSC501  /  OCT 2026">
            <a:extLst xmlns:a="http://schemas.openxmlformats.org/drawingml/2006/main">
              <a:ext uri="{FF2B5EF4-FFF2-40B4-BE49-F238E27FC236}">
                <a16:creationId xmlns:a16="http://schemas.microsoft.com/office/drawing/2014/main" id="{A81B7A7E-2457-4A0C-9011-72CC187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769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75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IDSC501  /  OCT 2026</a:t>
            </a:r>
          </a:p>
        </p:txBody>
      </p:sp>
    </p:spTree>
    <p:extLst>
      <p:ext uri="{BB962C8B-B14F-4D97-AF65-F5344CB8AC3E}">
        <p14:creationId xmlns:p14="http://schemas.microsoft.com/office/powerpoint/2010/main" val="334153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RUMP, in two moods">
            <a:extLst xmlns:a="http://schemas.openxmlformats.org/drawingml/2006/main">
              <a:ext uri="{FF2B5EF4-FFF2-40B4-BE49-F238E27FC236}">
                <a16:creationId xmlns:a16="http://schemas.microsoft.com/office/drawing/2014/main" id="{2AD35344-080C-4E84-87DA-3B696ACC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TRUMP, in two moods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9F206A17-CB0C-4626-B14C-7F4AE389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3" name="what you want">
            <a:extLst xmlns:a="http://schemas.openxmlformats.org/drawingml/2006/main">
              <a:ext uri="{FF2B5EF4-FFF2-40B4-BE49-F238E27FC236}">
                <a16:creationId xmlns:a16="http://schemas.microsoft.com/office/drawing/2014/main" id="{ADD5309F-E0EA-4173-A329-4339C492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4ADE80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4ADE80"/>
                </a:solidFill>
                <a:latin typeface="Geist"/>
                <a:ea typeface="Geist"/>
                <a:cs typeface="Geist"/>
              </a:defRPr>
            </a:pPr>
            <a:r>
              <a:rPr sz="2550" b="1">
                <a:solidFill>
                  <a:srgbClr val="4ADE80"/>
                </a:solidFill>
                <a:latin typeface="Geist"/>
                <a:ea typeface="Geist"/>
                <a:cs typeface="Geist"/>
              </a:rPr>
              <a:t>what you want</a:t>
            </a:r>
          </a:p>
        </p:txBody>
      </p:sp>
      <p:sp>
        <p:nvSpPr>
          <p:cNvPr id="4" name="after you buy">
            <a:extLst xmlns:a="http://schemas.openxmlformats.org/drawingml/2006/main">
              <a:ext uri="{FF2B5EF4-FFF2-40B4-BE49-F238E27FC236}">
                <a16:creationId xmlns:a16="http://schemas.microsoft.com/office/drawing/2014/main" id="{78F52B13-4A66-4651-A037-D1A130AA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87171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87171"/>
                </a:solidFill>
                <a:latin typeface="Geist"/>
                <a:ea typeface="Geist"/>
                <a:cs typeface="Geist"/>
              </a:defRPr>
            </a:pPr>
            <a:r>
              <a:rPr sz="2550" b="1">
                <a:solidFill>
                  <a:srgbClr val="F87171"/>
                </a:solidFill>
                <a:latin typeface="Geist"/>
                <a:ea typeface="Geist"/>
                <a:cs typeface="Geist"/>
              </a:rPr>
              <a:t>after you buy</a:t>
            </a:r>
          </a:p>
        </p:txBody>
      </p:sp>
      <p:sp>
        <p:nvSpPr>
          <p:cNvPr id="5" name="Highest daily close  $45.50">
            <a:extLst xmlns:a="http://schemas.openxmlformats.org/drawingml/2006/main">
              <a:ext uri="{FF2B5EF4-FFF2-40B4-BE49-F238E27FC236}">
                <a16:creationId xmlns:a16="http://schemas.microsoft.com/office/drawing/2014/main" id="{EBA5CC2A-B52D-4FD1-8D05-EA0009FF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575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Highest daily close  $45.50</a:t>
            </a:r>
          </a:p>
        </p:txBody>
      </p:sp>
      <p:sp>
        <p:nvSpPr>
          <p:cNvPr id="6" name="Last supplied close  $1.88">
            <a:extLst xmlns:a="http://schemas.openxmlformats.org/drawingml/2006/main">
              <a:ext uri="{FF2B5EF4-FFF2-40B4-BE49-F238E27FC236}">
                <a16:creationId xmlns:a16="http://schemas.microsoft.com/office/drawing/2014/main" id="{414FD086-CD72-4EF2-869E-541A36F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954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575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Last supplied close  $1.88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0AF32B9-5A8C-4E0D-BD49-99B45D88D4B3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763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6ba49fac8a49fe"/>
          </a:graphicData>
        </a:graphic>
      </p:graphicFrame>
      <p:sp>
        <p:nvSpPr>
          <p:cNvPr id="8" name="Daily closes, 18 Jan 2025–7 Oct 2026. Humorous captions">
            <a:extLst xmlns:a="http://schemas.openxmlformats.org/drawingml/2006/main">
              <a:ext uri="{FF2B5EF4-FFF2-40B4-BE49-F238E27FC236}">
                <a16:creationId xmlns:a16="http://schemas.microsoft.com/office/drawing/2014/main" id="{0589D420-38E9-4B73-9F7C-3AC66F4C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Daily closes, 18 Jan 2025–7 Oct 2026. Humorous captions describe no actual trade.</a:t>
            </a:r>
          </a:p>
        </p:txBody>
      </p:sp>
    </p:spTree>
    <p:extLst>
      <p:ext uri="{BB962C8B-B14F-4D97-AF65-F5344CB8AC3E}">
        <p14:creationId xmlns:p14="http://schemas.microsoft.com/office/powerpoint/2010/main" val="729852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rket data and community activity">
            <a:extLst xmlns:a="http://schemas.openxmlformats.org/drawingml/2006/main">
              <a:ext uri="{FF2B5EF4-FFF2-40B4-BE49-F238E27FC236}">
                <a16:creationId xmlns:a16="http://schemas.microsoft.com/office/drawing/2014/main" id="{918C1EEF-D739-4528-A40D-473D3169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Market data and community activity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0099F22E-2DF8-4DEB-ABDA-9C3830D3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9E7CF-A5C7-4E43-9E7B-665B68F23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d9f2bf0fe4588"/>
          <a:stretch xmlns:a="http://schemas.openxmlformats.org/drawingml/2006/main"/>
        </p:blipFill>
        <p:spPr>
          <a:xfrm xmlns:a="http://schemas.openxmlformats.org/drawingml/2006/main">
            <a:off x="609600" y="1571625"/>
            <a:ext cx="6096000" cy="3200400"/>
          </a:xfrm>
          <a:prstGeom xmlns:a="http://schemas.openxmlformats.org/drawingml/2006/main" prst="rect">
            <a:avLst/>
          </a:prstGeom>
        </p:spPr>
      </p:pic>
      <p:sp>
        <p:nvSpPr>
          <p:cNvPr id="4" name="Price has a timestamp.&#10;So does the conversation.">
            <a:extLst xmlns:a="http://schemas.openxmlformats.org/drawingml/2006/main">
              <a:ext uri="{FF2B5EF4-FFF2-40B4-BE49-F238E27FC236}">
                <a16:creationId xmlns:a16="http://schemas.microsoft.com/office/drawing/2014/main" id="{D15B029A-B729-4748-8DA7-DE50289F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57350"/>
            <a:ext cx="4238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70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Price has a timestamp.</a:t>
            </a:r>
          </a:p>
          <a:p xmlns:a="http://schemas.openxmlformats.org/drawingml/2006/main">
            <a:pPr algn="l">
              <a:defRPr sz="27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70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 does the conversation.</a:t>
            </a:r>
          </a:p>
        </p:txBody>
      </p:sp>
      <p:sp>
        <p:nvSpPr>
          <p:cNvPr id="5" name="Different formats&#10;Different coverage&#10;Different observat">
            <a:extLst xmlns:a="http://schemas.openxmlformats.org/drawingml/2006/main">
              <a:ext uri="{FF2B5EF4-FFF2-40B4-BE49-F238E27FC236}">
                <a16:creationId xmlns:a16="http://schemas.microsoft.com/office/drawing/2014/main" id="{220BDD93-7C63-4A2D-85D7-5D31679A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43275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02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Different formats</a:t>
            </a:r>
          </a:p>
          <a:p xmlns:a="http://schemas.openxmlformats.org/drawingml/2006/main">
            <a:pPr algn="l">
              <a:defRPr sz="202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02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Different coverage</a:t>
            </a:r>
          </a:p>
          <a:p xmlns:a="http://schemas.openxmlformats.org/drawingml/2006/main">
            <a:pPr algn="l">
              <a:defRPr sz="202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02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Different observation times</a:t>
            </a:r>
          </a:p>
        </p:txBody>
      </p:sp>
      <p:sp>
        <p:nvSpPr>
          <p:cNvPr id="6" name="Our task: connect the evidence.">
            <a:extLst xmlns:a="http://schemas.openxmlformats.org/drawingml/2006/main">
              <a:ext uri="{FF2B5EF4-FFF2-40B4-BE49-F238E27FC236}">
                <a16:creationId xmlns:a16="http://schemas.microsoft.com/office/drawing/2014/main" id="{084F6228-A292-4DCF-9FFF-3E82A7D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2700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Our task: connect the evidence.</a:t>
            </a:r>
          </a:p>
        </p:txBody>
      </p:sp>
      <p:sp>
        <p:nvSpPr>
          <p:cNvPr id="7" name="Project promotional image provides context, not evidenc">
            <a:extLst xmlns:a="http://schemas.openxmlformats.org/drawingml/2006/main">
              <a:ext uri="{FF2B5EF4-FFF2-40B4-BE49-F238E27FC236}">
                <a16:creationId xmlns:a16="http://schemas.microsoft.com/office/drawing/2014/main" id="{AC86366F-B31A-4B54-9DC9-5DA26FD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Project promotional image provides context, not evidence of social activity or investment merit.</a:t>
            </a:r>
          </a:p>
        </p:txBody>
      </p:sp>
    </p:spTree>
    <p:extLst>
      <p:ext uri="{BB962C8B-B14F-4D97-AF65-F5344CB8AC3E}">
        <p14:creationId xmlns:p14="http://schemas.microsoft.com/office/powerpoint/2010/main" val="1636597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search questions">
            <a:extLst xmlns:a="http://schemas.openxmlformats.org/drawingml/2006/main">
              <a:ext uri="{FF2B5EF4-FFF2-40B4-BE49-F238E27FC236}">
                <a16:creationId xmlns:a16="http://schemas.microsoft.com/office/drawing/2014/main" id="{5042411E-F322-46BF-9EDD-C2083CEC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Research questions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D0489205-88EC-4983-87D8-443E2A23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C01CDE7-918D-450E-BC8D-8606FF63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563E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2563EB"/>
                </a:solidFill>
                <a:latin typeface="Geist Mono"/>
                <a:ea typeface="Geist Mono"/>
                <a:cs typeface="Geist Mono"/>
              </a:defRPr>
            </a:pPr>
            <a:r>
              <a:rPr sz="2700" b="0">
                <a:solidFill>
                  <a:srgbClr val="2563EB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4" name="How does observed activity relate&#10;to returns, volume an">
            <a:extLst xmlns:a="http://schemas.openxmlformats.org/drawingml/2006/main">
              <a:ext uri="{FF2B5EF4-FFF2-40B4-BE49-F238E27FC236}">
                <a16:creationId xmlns:a16="http://schemas.microsoft.com/office/drawing/2014/main" id="{A948B71C-C337-4096-A171-F17A8EC0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923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8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How does observed activity relate</a:t>
            </a:r>
          </a:p>
          <a:p xmlns:a="http://schemas.openxmlformats.org/drawingml/2006/main">
            <a:pPr algn="l">
              <a:defRPr sz="28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8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to returns, volume and volatility?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D2068546-89D1-4BB0-B51B-11B9108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85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563E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2563EB"/>
                </a:solidFill>
                <a:latin typeface="Geist Mono"/>
                <a:ea typeface="Geist Mono"/>
                <a:cs typeface="Geist Mono"/>
              </a:defRPr>
            </a:pPr>
            <a:r>
              <a:rPr sz="2700" b="0">
                <a:solidFill>
                  <a:srgbClr val="2563EB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6" name="What changes when coverage, reposts&#10;and collection dela">
            <a:extLst xmlns:a="http://schemas.openxmlformats.org/drawingml/2006/main">
              <a:ext uri="{FF2B5EF4-FFF2-40B4-BE49-F238E27FC236}">
                <a16:creationId xmlns:a16="http://schemas.microsoft.com/office/drawing/2014/main" id="{5083DAB6-3E48-40E7-AE12-2CA6AABD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14675"/>
            <a:ext cx="923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8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What changes when coverage, reposts</a:t>
            </a:r>
          </a:p>
          <a:p xmlns:a="http://schemas.openxmlformats.org/drawingml/2006/main">
            <a:pPr algn="l">
              <a:defRPr sz="28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8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and collection delays enter the picture?</a:t>
            </a:r>
          </a:p>
        </p:txBody>
      </p:sp>
      <p:sp>
        <p:nvSpPr>
          <p:cNvPr id="7" name="The engineering question">
            <a:extLst xmlns:a="http://schemas.openxmlformats.org/drawingml/2006/main">
              <a:ext uri="{FF2B5EF4-FFF2-40B4-BE49-F238E27FC236}">
                <a16:creationId xmlns:a16="http://schemas.microsoft.com/office/drawing/2014/main" id="{98AF3602-FBC5-404E-90CE-A741219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95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The engineering question</a:t>
            </a:r>
          </a:p>
        </p:txBody>
      </p:sp>
      <p:sp>
        <p:nvSpPr>
          <p:cNvPr id="8" name="Can another team replay the same inputs?">
            <a:extLst xmlns:a="http://schemas.openxmlformats.org/drawingml/2006/main">
              <a:ext uri="{FF2B5EF4-FFF2-40B4-BE49-F238E27FC236}">
                <a16:creationId xmlns:a16="http://schemas.microsoft.com/office/drawing/2014/main" id="{20A12C3B-CE1B-41CC-A104-7A6EFC38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2550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Can another team replay the same inputs?</a:t>
            </a:r>
          </a:p>
        </p:txBody>
      </p:sp>
    </p:spTree>
    <p:extLst>
      <p:ext uri="{BB962C8B-B14F-4D97-AF65-F5344CB8AC3E}">
        <p14:creationId xmlns:p14="http://schemas.microsoft.com/office/powerpoint/2010/main" val="831665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he price dataset is ready">
            <a:extLst xmlns:a="http://schemas.openxmlformats.org/drawingml/2006/main">
              <a:ext uri="{FF2B5EF4-FFF2-40B4-BE49-F238E27FC236}">
                <a16:creationId xmlns:a16="http://schemas.microsoft.com/office/drawing/2014/main" id="{FEBAD06D-BACD-438F-8E50-F60EB52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The price dataset is ready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844C22D0-34F4-40E7-8FD5-76F9B37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3" name="14,773">
            <a:extLst xmlns:a="http://schemas.openxmlformats.org/drawingml/2006/main">
              <a:ext uri="{FF2B5EF4-FFF2-40B4-BE49-F238E27FC236}">
                <a16:creationId xmlns:a16="http://schemas.microsoft.com/office/drawing/2014/main" id="{6DF61327-9A94-4DE0-926C-45FBCEE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750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14,773</a:t>
            </a:r>
          </a:p>
        </p:txBody>
      </p:sp>
      <p:sp>
        <p:nvSpPr>
          <p:cNvPr id="4" name="daily records">
            <a:extLst xmlns:a="http://schemas.openxmlformats.org/drawingml/2006/main">
              <a:ext uri="{FF2B5EF4-FFF2-40B4-BE49-F238E27FC236}">
                <a16:creationId xmlns:a16="http://schemas.microsoft.com/office/drawing/2014/main" id="{7B44C0B5-48F5-41A1-A32F-3E47A08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1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daily records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CA684035-0E0D-4B82-B962-BD99D7D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763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6600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10</a:t>
            </a:r>
          </a:p>
        </p:txBody>
      </p:sp>
      <p:sp>
        <p:nvSpPr>
          <p:cNvPr id="6" name="coins">
            <a:extLst xmlns:a="http://schemas.openxmlformats.org/drawingml/2006/main">
              <a:ext uri="{FF2B5EF4-FFF2-40B4-BE49-F238E27FC236}">
                <a16:creationId xmlns:a16="http://schemas.microsoft.com/office/drawing/2014/main" id="{4B507D9E-BBE8-417E-B2F4-29169332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1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coins</a:t>
            </a:r>
          </a:p>
        </p:txBody>
      </p:sp>
      <p:sp>
        <p:nvSpPr>
          <p:cNvPr id="7" name="Last observation: 7 Oct 2026">
            <a:extLst xmlns:a="http://schemas.openxmlformats.org/drawingml/2006/main">
              <a:ext uri="{FF2B5EF4-FFF2-40B4-BE49-F238E27FC236}">
                <a16:creationId xmlns:a16="http://schemas.microsoft.com/office/drawing/2014/main" id="{DF2888E9-D514-4C30-AD8E-E5A49D9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250" b="0">
                <a:solidFill>
                  <a:srgbClr val="18181B"/>
                </a:solidFill>
                <a:latin typeface="Geist"/>
                <a:ea typeface="Geist"/>
                <a:cs typeface="Geist"/>
              </a:rPr>
              <a:t>Last observation: 7 Oct 2026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5051A-A268-4A74-A173-1E90143C94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bbf9e3ddf488e"/>
          <a:stretch xmlns:a="http://schemas.openxmlformats.org/drawingml/2006/main"/>
        </p:blipFill>
        <p:spPr>
          <a:xfrm xmlns:a="http://schemas.openxmlformats.org/drawingml/2006/main">
            <a:off x="628650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9" name="DOGE">
            <a:extLst xmlns:a="http://schemas.openxmlformats.org/drawingml/2006/main">
              <a:ext uri="{FF2B5EF4-FFF2-40B4-BE49-F238E27FC236}">
                <a16:creationId xmlns:a16="http://schemas.microsoft.com/office/drawing/2014/main" id="{514B4D5F-6D0E-4562-8EBA-5688B2A6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DOGE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47EEB-705D-4F77-8AB8-73FD74F20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0e35ce2b34da1"/>
          <a:stretch xmlns:a="http://schemas.openxmlformats.org/drawingml/2006/main"/>
        </p:blipFill>
        <p:spPr>
          <a:xfrm xmlns:a="http://schemas.openxmlformats.org/drawingml/2006/main">
            <a:off x="1724025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1" name="SHIB">
            <a:extLst xmlns:a="http://schemas.openxmlformats.org/drawingml/2006/main">
              <a:ext uri="{FF2B5EF4-FFF2-40B4-BE49-F238E27FC236}">
                <a16:creationId xmlns:a16="http://schemas.microsoft.com/office/drawing/2014/main" id="{0456F7DD-7632-4C24-BCCE-08E7DEFF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SHIB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71EBD-F3D0-4942-BEB7-B38A815A1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07ce7c3a04e7d"/>
          <a:stretch xmlns:a="http://schemas.openxmlformats.org/drawingml/2006/main"/>
        </p:blipFill>
        <p:spPr>
          <a:xfrm xmlns:a="http://schemas.openxmlformats.org/drawingml/2006/main">
            <a:off x="2819400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3" name="PEPE">
            <a:extLst xmlns:a="http://schemas.openxmlformats.org/drawingml/2006/main">
              <a:ext uri="{FF2B5EF4-FFF2-40B4-BE49-F238E27FC236}">
                <a16:creationId xmlns:a16="http://schemas.microsoft.com/office/drawing/2014/main" id="{DB92D0F4-9127-473C-B3FC-5F73C406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PEPE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7B13B-834F-469D-B85D-EB66A8739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6e6b5dbb448a7"/>
          <a:stretch xmlns:a="http://schemas.openxmlformats.org/drawingml/2006/main"/>
        </p:blipFill>
        <p:spPr>
          <a:xfrm xmlns:a="http://schemas.openxmlformats.org/drawingml/2006/main">
            <a:off x="3914775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5" name="M">
            <a:extLst xmlns:a="http://schemas.openxmlformats.org/drawingml/2006/main">
              <a:ext uri="{FF2B5EF4-FFF2-40B4-BE49-F238E27FC236}">
                <a16:creationId xmlns:a16="http://schemas.microsoft.com/office/drawing/2014/main" id="{4915ADA9-BCF2-4081-A4CB-6BA6FB49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M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70037-B6EB-4598-9035-E2B9F018D9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5e6c6c09e4996"/>
          <a:stretch xmlns:a="http://schemas.openxmlformats.org/drawingml/2006/main"/>
        </p:blipFill>
        <p:spPr>
          <a:xfrm xmlns:a="http://schemas.openxmlformats.org/drawingml/2006/main">
            <a:off x="5010150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7" name="PENGU">
            <a:extLst xmlns:a="http://schemas.openxmlformats.org/drawingml/2006/main">
              <a:ext uri="{FF2B5EF4-FFF2-40B4-BE49-F238E27FC236}">
                <a16:creationId xmlns:a16="http://schemas.microsoft.com/office/drawing/2014/main" id="{794EC1DA-945E-4176-B176-1685E19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PENGU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46350-41AA-4768-98BE-7CFE2C2E85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2819785e04ddc"/>
          <a:stretch xmlns:a="http://schemas.openxmlformats.org/drawingml/2006/main"/>
        </p:blipFill>
        <p:spPr>
          <a:xfrm xmlns:a="http://schemas.openxmlformats.org/drawingml/2006/main">
            <a:off x="6105525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19" name="TRUMP">
            <a:extLst xmlns:a="http://schemas.openxmlformats.org/drawingml/2006/main">
              <a:ext uri="{FF2B5EF4-FFF2-40B4-BE49-F238E27FC236}">
                <a16:creationId xmlns:a16="http://schemas.microsoft.com/office/drawing/2014/main" id="{3257366B-CB39-46DC-A133-174FDF8E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TRUMP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98CD4-53E1-451F-A004-A239EB911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8a330b494d84"/>
          <a:stretch xmlns:a="http://schemas.openxmlformats.org/drawingml/2006/main"/>
        </p:blipFill>
        <p:spPr>
          <a:xfrm xmlns:a="http://schemas.openxmlformats.org/drawingml/2006/main">
            <a:off x="7200900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1" name="SPX">
            <a:extLst xmlns:a="http://schemas.openxmlformats.org/drawingml/2006/main">
              <a:ext uri="{FF2B5EF4-FFF2-40B4-BE49-F238E27FC236}">
                <a16:creationId xmlns:a16="http://schemas.microsoft.com/office/drawing/2014/main" id="{610525A7-B147-472F-8623-95B84BC3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SPX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AFCB72-FBE6-465E-B254-11C8EA452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7f584653a47aa"/>
          <a:stretch xmlns:a="http://schemas.openxmlformats.org/drawingml/2006/main"/>
        </p:blipFill>
        <p:spPr>
          <a:xfrm xmlns:a="http://schemas.openxmlformats.org/drawingml/2006/main">
            <a:off x="8296275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3" name="BONK">
            <a:extLst xmlns:a="http://schemas.openxmlformats.org/drawingml/2006/main">
              <a:ext uri="{FF2B5EF4-FFF2-40B4-BE49-F238E27FC236}">
                <a16:creationId xmlns:a16="http://schemas.microsoft.com/office/drawing/2014/main" id="{81B11F29-540F-4D04-A14F-61F0891D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BONK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41537-A05E-4F06-B48C-700B8E743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cf3100cab4842"/>
          <a:stretch xmlns:a="http://schemas.openxmlformats.org/drawingml/2006/main"/>
        </p:blipFill>
        <p:spPr>
          <a:xfrm xmlns:a="http://schemas.openxmlformats.org/drawingml/2006/main">
            <a:off x="9391650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5" name="FLOKI">
            <a:extLst xmlns:a="http://schemas.openxmlformats.org/drawingml/2006/main">
              <a:ext uri="{FF2B5EF4-FFF2-40B4-BE49-F238E27FC236}">
                <a16:creationId xmlns:a16="http://schemas.microsoft.com/office/drawing/2014/main" id="{ED5A5383-4A2A-490A-A8F8-055F7D9A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FLOKI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2B05E-C98B-4D2F-B3CF-C3938B67C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3aae8842b4930"/>
          <a:stretch xmlns:a="http://schemas.openxmlformats.org/drawingml/2006/main"/>
        </p:blipFill>
        <p:spPr>
          <a:xfrm xmlns:a="http://schemas.openxmlformats.org/drawingml/2006/main">
            <a:off x="10487025" y="413385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7" name="BIAN">
            <a:extLst xmlns:a="http://schemas.openxmlformats.org/drawingml/2006/main">
              <a:ext uri="{FF2B5EF4-FFF2-40B4-BE49-F238E27FC236}">
                <a16:creationId xmlns:a16="http://schemas.microsoft.com/office/drawing/2014/main" id="{4A0623CA-EB46-4E4F-BC61-9628ACF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03872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3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BIAN</a:t>
            </a:r>
          </a:p>
        </p:txBody>
      </p:sp>
      <p:sp>
        <p:nvSpPr>
          <p:cNvPr id="28" name="Fixed cohort. Common window: 4 Oct 2025–7 Oct 2026. Thi">
            <a:extLst xmlns:a="http://schemas.openxmlformats.org/drawingml/2006/main">
              <a:ext uri="{FF2B5EF4-FFF2-40B4-BE49-F238E27FC236}">
                <a16:creationId xmlns:a16="http://schemas.microsoft.com/office/drawing/2014/main" id="{3619F486-3612-4208-8870-1B50A929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Fixed cohort. Common window: 4 Oct 2025–7 Oct 2026. This is not historical top-ten membership.</a:t>
            </a:r>
          </a:p>
        </p:txBody>
      </p:sp>
    </p:spTree>
    <p:extLst>
      <p:ext uri="{BB962C8B-B14F-4D97-AF65-F5344CB8AC3E}">
        <p14:creationId xmlns:p14="http://schemas.microsoft.com/office/powerpoint/2010/main" val="1566601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llection scope">
            <a:extLst xmlns:a="http://schemas.openxmlformats.org/drawingml/2006/main">
              <a:ext uri="{FF2B5EF4-FFF2-40B4-BE49-F238E27FC236}">
                <a16:creationId xmlns:a16="http://schemas.microsoft.com/office/drawing/2014/main" id="{CB86301E-9ACE-46A3-BD44-D29E685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Collection scope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7640FDA8-0E58-43D6-99C6-7B6A33D5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CD045-8B50-4B32-80B4-C38E2F6FD5F5}"/>
              </a:ext>
            </a:extLst>
          </p:cNvPr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4476750"/>
                <a:gridCol w="4019550"/>
              </a:tblGrid>
              <a:tr h="77152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Starting scope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Readiness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</a:tr>
              <a:tr h="77152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CMC CSV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10 coins, daily OHLCV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Available input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77152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X via FxTwitter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5 selected coin accounts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Timeline checks succeeded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771525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Reddit via Arctic Shift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3 candidate communities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Disabled pending access conditions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DOGE  SHIB  PEPE  BONK  SPX">
            <a:extLst xmlns:a="http://schemas.openxmlformats.org/drawingml/2006/main">
              <a:ext uri="{FF2B5EF4-FFF2-40B4-BE49-F238E27FC236}">
                <a16:creationId xmlns:a16="http://schemas.microsoft.com/office/drawing/2014/main" id="{BDA90D48-3C69-4E7B-B153-D8AAFF20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958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63E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63EB"/>
                </a:solidFill>
                <a:latin typeface="Geist Mono"/>
                <a:ea typeface="Geist Mono"/>
                <a:cs typeface="Geist Mono"/>
              </a:defRPr>
            </a:pPr>
            <a:r>
              <a:rPr sz="2100" b="0">
                <a:solidFill>
                  <a:srgbClr val="2563EB"/>
                </a:solidFill>
                <a:latin typeface="Geist Mono"/>
                <a:ea typeface="Geist Mono"/>
                <a:cs typeface="Geist Mono"/>
              </a:rPr>
              <a:t>DOGE  SHIB  PEPE  BONK  SPX</a:t>
            </a:r>
          </a:p>
        </p:txBody>
      </p:sp>
      <p:sp>
        <p:nvSpPr>
          <p:cNvPr id="5" name="Source checks: 14 Oct 2026. Selected accounts do not re">
            <a:extLst xmlns:a="http://schemas.openxmlformats.org/drawingml/2006/main">
              <a:ext uri="{FF2B5EF4-FFF2-40B4-BE49-F238E27FC236}">
                <a16:creationId xmlns:a16="http://schemas.microsoft.com/office/drawing/2014/main" id="{B922B645-D9E3-413E-9E1B-E2841079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Source checks: 14 Oct 2026. Selected accounts do not represent all X activity.</a:t>
            </a:r>
          </a:p>
        </p:txBody>
      </p:sp>
    </p:spTree>
    <p:extLst>
      <p:ext uri="{BB962C8B-B14F-4D97-AF65-F5344CB8AC3E}">
        <p14:creationId xmlns:p14="http://schemas.microsoft.com/office/powerpoint/2010/main" val="1166782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478B5-A148-4A67-886D-CFFD64DB45A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05700" y="44481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E40D5-4636-4C86-B240-9E0226BA55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62350" y="44481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sp>
        <p:nvSpPr>
          <p:cNvPr id="17" name="MemeChain supplies the starting links">
            <a:extLst xmlns:a="http://schemas.openxmlformats.org/drawingml/2006/main">
              <a:ext uri="{FF2B5EF4-FFF2-40B4-BE49-F238E27FC236}">
                <a16:creationId xmlns:a16="http://schemas.microsoft.com/office/drawing/2014/main" id="{D30A1011-5A1E-4715-BAE1-C19B90F6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MemeChain supplies the starting links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C82B41AE-872C-402A-BFFC-BB810B1E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07</a:t>
            </a:r>
          </a:p>
        </p:txBody>
      </p:sp>
      <p:sp>
        <p:nvSpPr>
          <p:cNvPr id="3" name="31,811">
            <a:extLst xmlns:a="http://schemas.openxmlformats.org/drawingml/2006/main">
              <a:ext uri="{FF2B5EF4-FFF2-40B4-BE49-F238E27FC236}">
                <a16:creationId xmlns:a16="http://schemas.microsoft.com/office/drawing/2014/main" id="{E0D6E9F7-335D-4768-A433-8370A00E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09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67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31,811</a:t>
            </a:r>
          </a:p>
        </p:txBody>
      </p:sp>
      <p:sp>
        <p:nvSpPr>
          <p:cNvPr id="4" name="rows in the inspected social metadata table">
            <a:extLst xmlns:a="http://schemas.openxmlformats.org/drawingml/2006/main">
              <a:ext uri="{FF2B5EF4-FFF2-40B4-BE49-F238E27FC236}">
                <a16:creationId xmlns:a16="http://schemas.microsoft.com/office/drawing/2014/main" id="{A9631A8F-75EA-4AC1-8C4F-AE451E2A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2100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rows in the inspected social metadata table</a:t>
            </a:r>
          </a:p>
        </p:txBody>
      </p:sp>
      <p:sp>
        <p:nvSpPr>
          <p:cNvPr id="5" name="Dataset row">
            <a:extLst xmlns:a="http://schemas.openxmlformats.org/drawingml/2006/main">
              <a:ext uri="{FF2B5EF4-FFF2-40B4-BE49-F238E27FC236}">
                <a16:creationId xmlns:a16="http://schemas.microsoft.com/office/drawing/2014/main" id="{6139FBBA-90E4-4129-9B10-8531F85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14288">
            <a:solidFill>
              <a:srgbClr val="A1A1AA"/>
            </a:solidFill>
          </a:ln>
        </p:spPr>
      </p:sp>
      <p:sp>
        <p:nvSpPr>
          <p:cNvPr id="6" name="Dataset row">
            <a:extLst xmlns:a="http://schemas.openxmlformats.org/drawingml/2006/main">
              <a:ext uri="{FF2B5EF4-FFF2-40B4-BE49-F238E27FC236}">
                <a16:creationId xmlns:a16="http://schemas.microsoft.com/office/drawing/2014/main" id="{802A83B3-9D2F-448C-90EA-B4D8579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Dataset row</a:t>
            </a:r>
          </a:p>
        </p:txBody>
      </p:sp>
      <p:sp>
        <p:nvSpPr>
          <p:cNvPr id="7" name="chain + contract">
            <a:extLst xmlns:a="http://schemas.openxmlformats.org/drawingml/2006/main">
              <a:ext uri="{FF2B5EF4-FFF2-40B4-BE49-F238E27FC236}">
                <a16:creationId xmlns:a16="http://schemas.microsoft.com/office/drawing/2014/main" id="{9AE2BA7C-0EF8-4706-BCEA-84BD4C4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chain + contract</a:t>
            </a:r>
          </a:p>
        </p:txBody>
      </p:sp>
      <p:sp>
        <p:nvSpPr>
          <p:cNvPr id="8" name="Verified endpoint">
            <a:extLst xmlns:a="http://schemas.openxmlformats.org/drawingml/2006/main">
              <a:ext uri="{FF2B5EF4-FFF2-40B4-BE49-F238E27FC236}">
                <a16:creationId xmlns:a16="http://schemas.microsoft.com/office/drawing/2014/main" id="{1B8B8AA1-3BF2-4E0D-9B36-734A788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81425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14288">
            <a:solidFill>
              <a:srgbClr val="A1A1AA"/>
            </a:solidFill>
          </a:ln>
        </p:spPr>
      </p:sp>
      <p:sp>
        <p:nvSpPr>
          <p:cNvPr id="9" name="Verified endpoint">
            <a:extLst xmlns:a="http://schemas.openxmlformats.org/drawingml/2006/main">
              <a:ext uri="{FF2B5EF4-FFF2-40B4-BE49-F238E27FC236}">
                <a16:creationId xmlns:a16="http://schemas.microsoft.com/office/drawing/2014/main" id="{EE39FFFF-B607-462E-8544-AB3C0947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528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Verified endpoint</a:t>
            </a:r>
          </a:p>
        </p:txBody>
      </p:sp>
      <p:sp>
        <p:nvSpPr>
          <p:cNvPr id="10" name="website + account ID">
            <a:extLst xmlns:a="http://schemas.openxmlformats.org/drawingml/2006/main">
              <a:ext uri="{FF2B5EF4-FFF2-40B4-BE49-F238E27FC236}">
                <a16:creationId xmlns:a16="http://schemas.microsoft.com/office/drawing/2014/main" id="{A1B868BA-6D96-4BA0-85F4-A6F9A66C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19600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website + account ID</a:t>
            </a:r>
          </a:p>
        </p:txBody>
      </p:sp>
      <p:sp>
        <p:nvSpPr>
          <p:cNvPr id="11" name="Collector scope">
            <a:extLst xmlns:a="http://schemas.openxmlformats.org/drawingml/2006/main">
              <a:ext uri="{FF2B5EF4-FFF2-40B4-BE49-F238E27FC236}">
                <a16:creationId xmlns:a16="http://schemas.microsoft.com/office/drawing/2014/main" id="{1C19D692-F219-421D-8EE3-2EBD8DFA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81425"/>
            <a:ext cx="308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14288">
            <a:solidFill>
              <a:srgbClr val="4ADE80"/>
            </a:solidFill>
          </a:ln>
        </p:spPr>
      </p:sp>
      <p:sp>
        <p:nvSpPr>
          <p:cNvPr id="12" name="Collector scope">
            <a:extLst xmlns:a="http://schemas.openxmlformats.org/drawingml/2006/main">
              <a:ext uri="{FF2B5EF4-FFF2-40B4-BE49-F238E27FC236}">
                <a16:creationId xmlns:a16="http://schemas.microsoft.com/office/drawing/2014/main" id="{BEC986F9-A3FC-4D9D-84F7-E2E6FF6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5287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Collector scope</a:t>
            </a:r>
          </a:p>
        </p:txBody>
      </p:sp>
      <p:sp>
        <p:nvSpPr>
          <p:cNvPr id="13" name="approved, bounded list">
            <a:extLst xmlns:a="http://schemas.openxmlformats.org/drawingml/2006/main">
              <a:ext uri="{FF2B5EF4-FFF2-40B4-BE49-F238E27FC236}">
                <a16:creationId xmlns:a16="http://schemas.microsoft.com/office/drawing/2014/main" id="{236E65AA-8D50-4413-A12F-1E6128E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19600"/>
            <a:ext cx="2705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approved, bounded list</a:t>
            </a:r>
          </a:p>
        </p:txBody>
      </p:sp>
      <p:sp>
        <p:nvSpPr>
          <p:cNvPr id="16" name="Links are seeds. Verify identity, URL type and current ">
            <a:extLst xmlns:a="http://schemas.openxmlformats.org/drawingml/2006/main">
              <a:ext uri="{FF2B5EF4-FFF2-40B4-BE49-F238E27FC236}">
                <a16:creationId xmlns:a16="http://schemas.microsoft.com/office/drawing/2014/main" id="{EA03A6BF-A02F-460E-883A-C2E1BD91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Links are seeds. Verify identity, URL type and current access before collecting posts.</a:t>
            </a:r>
          </a:p>
        </p:txBody>
      </p:sp>
    </p:spTree>
    <p:extLst>
      <p:ext uri="{BB962C8B-B14F-4D97-AF65-F5344CB8AC3E}">
        <p14:creationId xmlns:p14="http://schemas.microsoft.com/office/powerpoint/2010/main" val="755982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D7AA7-5CF2-450F-A4DD-8CC81D1B3A7F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562350" y="45386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5E83F-3C23-4928-B19C-A1322E9858FD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562850" y="45386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5A0B6-AE7D-463B-84E0-6FC75D0433D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086975" y="28289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39036-4607-4740-8382-DD1FB898A41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62850" y="218598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39528-5616-4749-A21B-EB175FDE382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62350" y="218598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sp>
        <p:nvSpPr>
          <p:cNvPr id="28" name="Source-to-dashboard architecture">
            <a:extLst xmlns:a="http://schemas.openxmlformats.org/drawingml/2006/main">
              <a:ext uri="{FF2B5EF4-FFF2-40B4-BE49-F238E27FC236}">
                <a16:creationId xmlns:a16="http://schemas.microsoft.com/office/drawing/2014/main" id="{B478E254-1693-4316-999F-7F09FC8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Source-to-dashboard architecture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A7FC7FD1-A2C9-40CB-8B37-28DB6BF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08</a:t>
            </a:r>
          </a:p>
        </p:txBody>
      </p:sp>
      <p:sp>
        <p:nvSpPr>
          <p:cNvPr id="3" name="Sources">
            <a:extLst xmlns:a="http://schemas.openxmlformats.org/drawingml/2006/main">
              <a:ext uri="{FF2B5EF4-FFF2-40B4-BE49-F238E27FC236}">
                <a16:creationId xmlns:a16="http://schemas.microsoft.com/office/drawing/2014/main" id="{76466F85-841C-4497-9EF6-DD080012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52525B"/>
            </a:solidFill>
          </a:ln>
        </p:spPr>
      </p:sp>
      <p:sp>
        <p:nvSpPr>
          <p:cNvPr id="4" name="Sources">
            <a:extLst xmlns:a="http://schemas.openxmlformats.org/drawingml/2006/main">
              <a:ext uri="{FF2B5EF4-FFF2-40B4-BE49-F238E27FC236}">
                <a16:creationId xmlns:a16="http://schemas.microsoft.com/office/drawing/2014/main" id="{C1D6D78B-A258-4159-9123-F95A96A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Sources</a:t>
            </a:r>
          </a:p>
        </p:txBody>
      </p:sp>
      <p:sp>
        <p:nvSpPr>
          <p:cNvPr id="5" name="CSV, X, eligible Reddit">
            <a:extLst xmlns:a="http://schemas.openxmlformats.org/drawingml/2006/main">
              <a:ext uri="{FF2B5EF4-FFF2-40B4-BE49-F238E27FC236}">
                <a16:creationId xmlns:a16="http://schemas.microsoft.com/office/drawing/2014/main" id="{336A2795-200E-4AED-ABAD-12C5EBD1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CSV, X, eligible Reddit</a:t>
            </a:r>
          </a:p>
        </p:txBody>
      </p:sp>
      <p:sp>
        <p:nvSpPr>
          <p:cNvPr id="6" name="Raw archive">
            <a:extLst xmlns:a="http://schemas.openxmlformats.org/drawingml/2006/main">
              <a:ext uri="{FF2B5EF4-FFF2-40B4-BE49-F238E27FC236}">
                <a16:creationId xmlns:a16="http://schemas.microsoft.com/office/drawing/2014/main" id="{D703C0F6-B6E2-4F65-A486-3E4E6947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52525B"/>
            </a:solidFill>
          </a:ln>
        </p:spPr>
      </p:sp>
      <p:sp>
        <p:nvSpPr>
          <p:cNvPr id="7" name="Raw archive">
            <a:extLst xmlns:a="http://schemas.openxmlformats.org/drawingml/2006/main">
              <a:ext uri="{FF2B5EF4-FFF2-40B4-BE49-F238E27FC236}">
                <a16:creationId xmlns:a16="http://schemas.microsoft.com/office/drawing/2014/main" id="{11E8E4F9-FA03-4E03-A4AF-BA695431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14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Raw archive</a:t>
            </a:r>
          </a:p>
        </p:txBody>
      </p:sp>
      <p:sp>
        <p:nvSpPr>
          <p:cNvPr id="8" name="JSON, CSV, HTML + hashes">
            <a:extLst xmlns:a="http://schemas.openxmlformats.org/drawingml/2006/main">
              <a:ext uri="{FF2B5EF4-FFF2-40B4-BE49-F238E27FC236}">
                <a16:creationId xmlns:a16="http://schemas.microsoft.com/office/drawing/2014/main" id="{59F1B61C-2FA6-45B1-A91B-0B9FF23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812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JSON, CSV, HTML + hashes</a:t>
            </a:r>
          </a:p>
        </p:txBody>
      </p:sp>
      <p:sp>
        <p:nvSpPr>
          <p:cNvPr id="9" name="MongoDB">
            <a:extLst xmlns:a="http://schemas.openxmlformats.org/drawingml/2006/main">
              <a:ext uri="{FF2B5EF4-FFF2-40B4-BE49-F238E27FC236}">
                <a16:creationId xmlns:a16="http://schemas.microsoft.com/office/drawing/2014/main" id="{D9A9B0F5-2FF2-43FF-A297-1493DB5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43050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10" name="MongoDB">
            <a:extLst xmlns:a="http://schemas.openxmlformats.org/drawingml/2006/main">
              <a:ext uri="{FF2B5EF4-FFF2-40B4-BE49-F238E27FC236}">
                <a16:creationId xmlns:a16="http://schemas.microsoft.com/office/drawing/2014/main" id="{E168CC61-45A6-43CB-A92B-5C8F4A5C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MongoDB</a:t>
            </a:r>
          </a:p>
        </p:txBody>
      </p:sp>
      <p:sp>
        <p:nvSpPr>
          <p:cNvPr id="11" name="social documents + history">
            <a:extLst xmlns:a="http://schemas.openxmlformats.org/drawingml/2006/main">
              <a:ext uri="{FF2B5EF4-FFF2-40B4-BE49-F238E27FC236}">
                <a16:creationId xmlns:a16="http://schemas.microsoft.com/office/drawing/2014/main" id="{54BC91C3-D87D-4AE3-A241-6990531F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social documents + history</a:t>
            </a:r>
          </a:p>
        </p:txBody>
      </p:sp>
      <p:sp>
        <p:nvSpPr>
          <p:cNvPr id="12" name="Dashboard">
            <a:extLst xmlns:a="http://schemas.openxmlformats.org/drawingml/2006/main">
              <a:ext uri="{FF2B5EF4-FFF2-40B4-BE49-F238E27FC236}">
                <a16:creationId xmlns:a16="http://schemas.microsoft.com/office/drawing/2014/main" id="{F531EF29-3669-4CAD-A075-C2CF930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3" name="Dashboard">
            <a:extLst xmlns:a="http://schemas.openxmlformats.org/drawingml/2006/main">
              <a:ext uri="{FF2B5EF4-FFF2-40B4-BE49-F238E27FC236}">
                <a16:creationId xmlns:a16="http://schemas.microsoft.com/office/drawing/2014/main" id="{B8A5E300-CE40-47F5-BB9A-D64CC5E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Dashboard</a:t>
            </a:r>
          </a:p>
        </p:txBody>
      </p:sp>
      <p:sp>
        <p:nvSpPr>
          <p:cNvPr id="14" name="Streamlit + Plotly">
            <a:extLst xmlns:a="http://schemas.openxmlformats.org/drawingml/2006/main">
              <a:ext uri="{FF2B5EF4-FFF2-40B4-BE49-F238E27FC236}">
                <a16:creationId xmlns:a16="http://schemas.microsoft.com/office/drawing/2014/main" id="{52B00108-A42C-4C64-91A3-50547183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Streamlit + Plotly</a:t>
            </a:r>
          </a:p>
        </p:txBody>
      </p:sp>
      <p:sp>
        <p:nvSpPr>
          <p:cNvPr id="15" name="PostgreSQL">
            <a:extLst xmlns:a="http://schemas.openxmlformats.org/drawingml/2006/main">
              <a:ext uri="{FF2B5EF4-FFF2-40B4-BE49-F238E27FC236}">
                <a16:creationId xmlns:a16="http://schemas.microsoft.com/office/drawing/2014/main" id="{3C2E3379-8D18-4AF9-81B0-4C0860D5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95725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6" name="PostgreSQL">
            <a:extLst xmlns:a="http://schemas.openxmlformats.org/drawingml/2006/main">
              <a:ext uri="{FF2B5EF4-FFF2-40B4-BE49-F238E27FC236}">
                <a16:creationId xmlns:a16="http://schemas.microsoft.com/office/drawing/2014/main" id="{B48A8299-6F3B-4AE9-ACFE-81FE8A6C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671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PostgreSQL</a:t>
            </a:r>
          </a:p>
        </p:txBody>
      </p:sp>
      <p:sp>
        <p:nvSpPr>
          <p:cNvPr id="17" name="prices + analytical tables">
            <a:extLst xmlns:a="http://schemas.openxmlformats.org/drawingml/2006/main">
              <a:ext uri="{FF2B5EF4-FFF2-40B4-BE49-F238E27FC236}">
                <a16:creationId xmlns:a16="http://schemas.microsoft.com/office/drawing/2014/main" id="{56F654F3-3AFF-4C1A-BE82-1921CBC3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prices + analytical tables</a:t>
            </a:r>
          </a:p>
        </p:txBody>
      </p:sp>
      <p:sp>
        <p:nvSpPr>
          <p:cNvPr id="18" name="Transform">
            <a:extLst xmlns:a="http://schemas.openxmlformats.org/drawingml/2006/main">
              <a:ext uri="{FF2B5EF4-FFF2-40B4-BE49-F238E27FC236}">
                <a16:creationId xmlns:a16="http://schemas.microsoft.com/office/drawing/2014/main" id="{09EF09C9-6FD8-40FD-B7B4-A54137B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95725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52525B"/>
            </a:solidFill>
          </a:ln>
        </p:spPr>
      </p:sp>
      <p:sp>
        <p:nvSpPr>
          <p:cNvPr id="19" name="Transform">
            <a:extLst xmlns:a="http://schemas.openxmlformats.org/drawingml/2006/main">
              <a:ext uri="{FF2B5EF4-FFF2-40B4-BE49-F238E27FC236}">
                <a16:creationId xmlns:a16="http://schemas.microsoft.com/office/drawing/2014/main" id="{654604DF-2EC7-451A-A358-2C79F0AD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671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Transform</a:t>
            </a:r>
          </a:p>
        </p:txBody>
      </p:sp>
      <p:sp>
        <p:nvSpPr>
          <p:cNvPr id="20" name="Python + pandas">
            <a:extLst xmlns:a="http://schemas.openxmlformats.org/drawingml/2006/main">
              <a:ext uri="{FF2B5EF4-FFF2-40B4-BE49-F238E27FC236}">
                <a16:creationId xmlns:a16="http://schemas.microsoft.com/office/drawing/2014/main" id="{82FF4199-EF43-4932-BAAD-6AB4F96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339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Python + pandas</a:t>
            </a:r>
          </a:p>
        </p:txBody>
      </p:sp>
      <p:sp>
        <p:nvSpPr>
          <p:cNvPr id="26" name="Validated CSV prices enter PostgreSQL directly.">
            <a:extLst xmlns:a="http://schemas.openxmlformats.org/drawingml/2006/main">
              <a:ext uri="{FF2B5EF4-FFF2-40B4-BE49-F238E27FC236}">
                <a16:creationId xmlns:a16="http://schemas.microsoft.com/office/drawing/2014/main" id="{4F842358-FE68-4288-A3ED-920C27E0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53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Validated CSV prices enter PostgreSQL directly.</a:t>
            </a:r>
          </a:p>
        </p:txBody>
      </p:sp>
      <p:sp>
        <p:nvSpPr>
          <p:cNvPr id="27" name="Charts read a published SQL build. Post details use sta">
            <a:extLst xmlns:a="http://schemas.openxmlformats.org/drawingml/2006/main">
              <a:ext uri="{FF2B5EF4-FFF2-40B4-BE49-F238E27FC236}">
                <a16:creationId xmlns:a16="http://schemas.microsoft.com/office/drawing/2014/main" id="{6A21CD25-C49E-402A-8BD2-1FD1538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Charts read a published SQL build. Post details use stable IDs to retrieve MongoDB documents.</a:t>
            </a:r>
          </a:p>
        </p:txBody>
      </p:sp>
    </p:spTree>
    <p:extLst>
      <p:ext uri="{BB962C8B-B14F-4D97-AF65-F5344CB8AC3E}">
        <p14:creationId xmlns:p14="http://schemas.microsoft.com/office/powerpoint/2010/main" val="10319891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Why PostgreSQL + MongoDB?">
            <a:extLst xmlns:a="http://schemas.openxmlformats.org/drawingml/2006/main">
              <a:ext uri="{FF2B5EF4-FFF2-40B4-BE49-F238E27FC236}">
                <a16:creationId xmlns:a16="http://schemas.microsoft.com/office/drawing/2014/main" id="{C7DA033C-5BF5-41A6-9E06-8A033BD1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Why PostgreSQL + MongoDB?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F9C133EB-1B99-46F6-90B5-C86A54E5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43FA7-4A1D-4F68-8DCB-50C4547964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e128f830f49ed"/>
          <a:stretch xmlns:a="http://schemas.openxmlformats.org/drawingml/2006/main"/>
        </p:blipFill>
        <p:spPr>
          <a:xfrm xmlns:a="http://schemas.openxmlformats.org/drawingml/2006/main">
            <a:off x="609600" y="1505744"/>
            <a:ext cx="857250" cy="884238"/>
          </a:xfrm>
          <a:prstGeom xmlns:a="http://schemas.openxmlformats.org/drawingml/2006/main" prst="rect">
            <a:avLst/>
          </a:prstGeom>
        </p:spPr>
      </p:pic>
      <p:sp>
        <p:nvSpPr>
          <p:cNvPr id="4" name="PostgreSQL">
            <a:extLst xmlns:a="http://schemas.openxmlformats.org/drawingml/2006/main">
              <a:ext uri="{FF2B5EF4-FFF2-40B4-BE49-F238E27FC236}">
                <a16:creationId xmlns:a16="http://schemas.microsoft.com/office/drawing/2014/main" id="{FB7F1DAB-187D-48DF-B2D0-3FDFEEB9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764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775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PostgreSQL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8734B-188F-495A-88AB-B2023D1CE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c17eaded24546"/>
          <a:stretch xmlns:a="http://schemas.openxmlformats.org/drawingml/2006/main"/>
        </p:blipFill>
        <p:spPr>
          <a:xfrm xmlns:a="http://schemas.openxmlformats.org/drawingml/2006/main">
            <a:off x="7251299" y="1609725"/>
            <a:ext cx="2928153" cy="790575"/>
          </a:xfrm>
          <a:prstGeom xmlns:a="http://schemas.openxmlformats.org/drawingml/2006/main" prst="rect">
            <a:avLst/>
          </a:prstGeom>
        </p:spPr>
      </p:pic>
      <p:sp>
        <p:nvSpPr>
          <p:cNvPr id="6" name="Relationships and analysis">
            <a:extLst xmlns:a="http://schemas.openxmlformats.org/drawingml/2006/main">
              <a:ext uri="{FF2B5EF4-FFF2-40B4-BE49-F238E27FC236}">
                <a16:creationId xmlns:a16="http://schemas.microsoft.com/office/drawing/2014/main" id="{F4BE4052-995D-4B58-8DB9-AE65A15A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Relationships and analysis</a:t>
            </a:r>
          </a:p>
        </p:txBody>
      </p:sp>
      <p:sp>
        <p:nvSpPr>
          <p:cNvPr id="7" name="Prices, asset identities and SQL joins">
            <a:extLst xmlns:a="http://schemas.openxmlformats.org/drawingml/2006/main">
              <a:ext uri="{FF2B5EF4-FFF2-40B4-BE49-F238E27FC236}">
                <a16:creationId xmlns:a16="http://schemas.microsoft.com/office/drawing/2014/main" id="{D2AC5808-7EDA-4F53-8729-AE5EC93F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Prices, asset identities and SQL joins</a:t>
            </a:r>
          </a:p>
        </p:txBody>
      </p:sp>
      <p:sp>
        <p:nvSpPr>
          <p:cNvPr id="8" name="Social documents">
            <a:extLst xmlns:a="http://schemas.openxmlformats.org/drawingml/2006/main">
              <a:ext uri="{FF2B5EF4-FFF2-40B4-BE49-F238E27FC236}">
                <a16:creationId xmlns:a16="http://schemas.microsoft.com/office/drawing/2014/main" id="{F43581B8-0AD9-4C69-B36C-E06DB533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Social documents</a:t>
            </a:r>
          </a:p>
        </p:txBody>
      </p:sp>
      <p:sp>
        <p:nvSpPr>
          <p:cNvPr id="9" name="Platform fields and observation history">
            <a:extLst xmlns:a="http://schemas.openxmlformats.org/drawingml/2006/main">
              <a:ext uri="{FF2B5EF4-FFF2-40B4-BE49-F238E27FC236}">
                <a16:creationId xmlns:a16="http://schemas.microsoft.com/office/drawing/2014/main" id="{5497B95B-9A04-4025-9BC6-1A5ECC4B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Platform fields and observation history</a:t>
            </a:r>
          </a:p>
        </p:txBody>
      </p:sp>
      <p:sp>
        <p:nvSpPr>
          <p:cNvPr id="10" name="PostgreSQL also supports JSON.">
            <a:extLst xmlns:a="http://schemas.openxmlformats.org/drawingml/2006/main">
              <a:ext uri="{FF2B5EF4-FFF2-40B4-BE49-F238E27FC236}">
                <a16:creationId xmlns:a16="http://schemas.microsoft.com/office/drawing/2014/main" id="{03A7F024-8FAE-4BFD-89E1-6576FDE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2475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PostgreSQL also supports JSON.</a:t>
            </a:r>
          </a:p>
        </p:txBody>
      </p:sp>
      <p:sp>
        <p:nvSpPr>
          <p:cNvPr id="11" name="We choose two models to separate responsibilities&#10;and d">
            <a:extLst xmlns:a="http://schemas.openxmlformats.org/drawingml/2006/main">
              <a:ext uri="{FF2B5EF4-FFF2-40B4-BE49-F238E27FC236}">
                <a16:creationId xmlns:a16="http://schemas.microsoft.com/office/drawing/2014/main" id="{0F553581-E419-40EE-8AC9-7186291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175" b="0">
                <a:solidFill>
                  <a:srgbClr val="18181B"/>
                </a:solidFill>
                <a:latin typeface="Geist"/>
                <a:ea typeface="Geist"/>
                <a:cs typeface="Geist"/>
              </a:rPr>
              <a:t>We choose two models to separate responsibilities</a:t>
            </a:r>
          </a:p>
          <a:p xmlns:a="http://schemas.openxmlformats.org/drawingml/2006/main">
            <a:pPr algn="l">
              <a:defRPr sz="2175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175" b="0">
                <a:solidFill>
                  <a:srgbClr val="18181B"/>
                </a:solidFill>
                <a:latin typeface="Geist"/>
                <a:ea typeface="Geist"/>
                <a:cs typeface="Geist"/>
              </a:rPr>
              <a:t>and demonstrate document-to-relational ETL.</a:t>
            </a:r>
          </a:p>
        </p:txBody>
      </p:sp>
      <p:sp>
        <p:nvSpPr>
          <p:cNvPr id="12" name="Trade-off: two services, coordinated backups and cross-">
            <a:extLst xmlns:a="http://schemas.openxmlformats.org/drawingml/2006/main">
              <a:ext uri="{FF2B5EF4-FFF2-40B4-BE49-F238E27FC236}">
                <a16:creationId xmlns:a16="http://schemas.microsoft.com/office/drawing/2014/main" id="{421E305A-E4B8-440D-B73B-640F25B9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Trade-off: two services, coordinated backups and cross-store consistency. Images are optional.</a:t>
            </a:r>
          </a:p>
        </p:txBody>
      </p:sp>
    </p:spTree>
    <p:extLst>
      <p:ext uri="{BB962C8B-B14F-4D97-AF65-F5344CB8AC3E}">
        <p14:creationId xmlns:p14="http://schemas.microsoft.com/office/powerpoint/2010/main" val="1826266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eprocessing contracts">
            <a:extLst xmlns:a="http://schemas.openxmlformats.org/drawingml/2006/main">
              <a:ext uri="{FF2B5EF4-FFF2-40B4-BE49-F238E27FC236}">
                <a16:creationId xmlns:a16="http://schemas.microsoft.com/office/drawing/2014/main" id="{11F16E92-1510-48A9-81D5-3F10AA1C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Preprocessing contracts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D1DAAD6B-DB6D-4895-8329-6B6234D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10</a:t>
            </a:r>
          </a:p>
        </p:txBody>
      </p:sp>
      <p:sp>
        <p:nvSpPr>
          <p:cNvPr id="3" name="Same ticker ≠ same asset">
            <a:extLst xmlns:a="http://schemas.openxmlformats.org/drawingml/2006/main">
              <a:ext uri="{FF2B5EF4-FFF2-40B4-BE49-F238E27FC236}">
                <a16:creationId xmlns:a16="http://schemas.microsoft.com/office/drawing/2014/main" id="{D16500A0-20AF-40A5-8794-924C65D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4ADE80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4ADE80"/>
                </a:solidFill>
                <a:latin typeface="Geist"/>
                <a:ea typeface="Geist"/>
                <a:cs typeface="Geist"/>
              </a:defRPr>
            </a:pPr>
            <a:r>
              <a:rPr sz="3225" b="1">
                <a:solidFill>
                  <a:srgbClr val="4ADE80"/>
                </a:solidFill>
                <a:latin typeface="Geist"/>
                <a:ea typeface="Geist"/>
                <a:cs typeface="Geist"/>
              </a:rPr>
              <a:t>Same ticker ≠ same asset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CED96-6D98-41F3-9D2E-E63B0F9C9BF5}"/>
              </a:ext>
            </a:extLst>
          </p:cNvPr>
          <p:cNvGraphicFramePr/>
          <p:nvPr/>
        </p:nvGraphicFramePr>
        <p:xfrm>
          <a:off xmlns:a="http://schemas.openxmlformats.org/drawingml/2006/main" x="609600" y="26003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639050"/>
              </a:tblGrid>
              <a:tr h="5905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Contract</a:t>
                      </a:r>
                    </a:p>
                  </a:txBody>
                  <a:tcPr marL="91440" marR="91440" marT="45720" marB="45720" anchor="ctr">
                    <a:solidFill>
                      <a:srgbClr val="18181B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Rule</a:t>
                      </a:r>
                    </a:p>
                  </a:txBody>
                  <a:tcPr marL="91440" marR="91440" marT="45720" marB="45720" anchor="ctr">
                    <a:solidFill>
                      <a:srgbClr val="18181B"/>
                    </a:solidFill>
                  </a:tcPr>
                </a:tc>
              </a:tr>
              <a:tr h="5905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Asset identity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Verified chain + contract or native ID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</a:tr>
              <a:tr h="5905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Post identity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platform:item_type:native_id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</a:tr>
              <a:tr h="5905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Event time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UTC creation time, separate from fetch time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</a:tr>
              <a:tr h="590550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Text processing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AFAFA"/>
                          </a:solidFill>
                          <a:latin typeface="Geist"/>
                          <a:ea typeface="Geist"/>
                          <a:cs typeface="Geist"/>
                        </a:rPr>
                        <a:t>Deduplicate, detect language, preserve context</a:t>
                      </a:r>
                    </a:p>
                  </a:txBody>
                  <a:tcPr marL="91440" marR="91440" marT="45720" marB="45720" anchor="ctr"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5" name="Keep source zeros and unusual values with quality flags">
            <a:extLst xmlns:a="http://schemas.openxmlformats.org/drawingml/2006/main">
              <a:ext uri="{FF2B5EF4-FFF2-40B4-BE49-F238E27FC236}">
                <a16:creationId xmlns:a16="http://schemas.microsoft.com/office/drawing/2014/main" id="{A56221E3-D2C4-4A15-8C82-EC41C4CF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Keep source zeros and unusual values with quality flags. Preserve raw responses for replay.</a:t>
            </a:r>
          </a:p>
        </p:txBody>
      </p:sp>
    </p:spTree>
    <p:extLst>
      <p:ext uri="{BB962C8B-B14F-4D97-AF65-F5344CB8AC3E}">
        <p14:creationId xmlns:p14="http://schemas.microsoft.com/office/powerpoint/2010/main" val="517412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F2A74-6CC5-46E7-8666-E6F9CB05141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72375" y="373380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960EB-03FC-48D1-9BCB-BFFCA0E4655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62350" y="3733800"/>
            <a:ext cx="1057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sp>
        <p:nvSpPr>
          <p:cNvPr id="19" name="Daily batches, replayable inputs">
            <a:extLst xmlns:a="http://schemas.openxmlformats.org/drawingml/2006/main">
              <a:ext uri="{FF2B5EF4-FFF2-40B4-BE49-F238E27FC236}">
                <a16:creationId xmlns:a16="http://schemas.microsoft.com/office/drawing/2014/main" id="{ECD6CF5A-8D7E-4895-8A66-E88E8674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Daily batches, replayable inputs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35B8AC5C-7CB5-4815-B047-59380BE3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11</a:t>
            </a:r>
          </a:p>
        </p:txBody>
      </p:sp>
      <p:sp>
        <p:nvSpPr>
          <p:cNvPr id="3" name="02:00 UTC">
            <a:extLst xmlns:a="http://schemas.openxmlformats.org/drawingml/2006/main">
              <a:ext uri="{FF2B5EF4-FFF2-40B4-BE49-F238E27FC236}">
                <a16:creationId xmlns:a16="http://schemas.microsoft.com/office/drawing/2014/main" id="{74183A30-F6FC-4AC7-8538-22A4146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61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02:00 UTC</a:t>
            </a:r>
          </a:p>
        </p:txBody>
      </p:sp>
      <p:sp>
        <p:nvSpPr>
          <p:cNvPr id="4" name="11:00 KST">
            <a:extLst xmlns:a="http://schemas.openxmlformats.org/drawingml/2006/main">
              <a:ext uri="{FF2B5EF4-FFF2-40B4-BE49-F238E27FC236}">
                <a16:creationId xmlns:a16="http://schemas.microsoft.com/office/drawing/2014/main" id="{EE726BF3-D88A-4692-9603-79386DC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28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11:00 KST</a:t>
            </a:r>
          </a:p>
        </p:txBody>
      </p:sp>
      <p:sp>
        <p:nvSpPr>
          <p:cNvPr id="5" name="Collect">
            <a:extLst xmlns:a="http://schemas.openxmlformats.org/drawingml/2006/main">
              <a:ext uri="{FF2B5EF4-FFF2-40B4-BE49-F238E27FC236}">
                <a16:creationId xmlns:a16="http://schemas.microsoft.com/office/drawing/2014/main" id="{CDEA2E78-57DE-4137-8829-23A3377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52525B"/>
            </a:solidFill>
          </a:ln>
        </p:spPr>
      </p:sp>
      <p:sp>
        <p:nvSpPr>
          <p:cNvPr id="6" name="Collect">
            <a:extLst xmlns:a="http://schemas.openxmlformats.org/drawingml/2006/main">
              <a:ext uri="{FF2B5EF4-FFF2-40B4-BE49-F238E27FC236}">
                <a16:creationId xmlns:a16="http://schemas.microsoft.com/office/drawing/2014/main" id="{E9EEC228-02B1-4BD2-9D67-BF63FF55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Collect</a:t>
            </a:r>
          </a:p>
        </p:txBody>
      </p:sp>
      <p:sp>
        <p:nvSpPr>
          <p:cNvPr id="7" name="Revisit the last 7 days">
            <a:extLst xmlns:a="http://schemas.openxmlformats.org/drawingml/2006/main">
              <a:ext uri="{FF2B5EF4-FFF2-40B4-BE49-F238E27FC236}">
                <a16:creationId xmlns:a16="http://schemas.microsoft.com/office/drawing/2014/main" id="{6703902D-3A1D-4133-A3B6-83B79B7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Revisit the last 7 days</a:t>
            </a:r>
          </a:p>
        </p:txBody>
      </p:sp>
      <p:sp>
        <p:nvSpPr>
          <p:cNvPr id="8" name="Persist">
            <a:extLst xmlns:a="http://schemas.openxmlformats.org/drawingml/2006/main">
              <a:ext uri="{FF2B5EF4-FFF2-40B4-BE49-F238E27FC236}">
                <a16:creationId xmlns:a16="http://schemas.microsoft.com/office/drawing/2014/main" id="{88096A44-280A-43B4-9953-9E77D05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6705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52525B"/>
            </a:solidFill>
          </a:ln>
        </p:spPr>
      </p:sp>
      <p:sp>
        <p:nvSpPr>
          <p:cNvPr id="9" name="Persist">
            <a:extLst xmlns:a="http://schemas.openxmlformats.org/drawingml/2006/main">
              <a:ext uri="{FF2B5EF4-FFF2-40B4-BE49-F238E27FC236}">
                <a16:creationId xmlns:a16="http://schemas.microsoft.com/office/drawing/2014/main" id="{DC2D6B64-AD72-42B4-B6FF-800DD29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Persist</a:t>
            </a:r>
          </a:p>
        </p:txBody>
      </p:sp>
      <p:sp>
        <p:nvSpPr>
          <p:cNvPr id="10" name="Archive + checkpoint">
            <a:extLst xmlns:a="http://schemas.openxmlformats.org/drawingml/2006/main">
              <a:ext uri="{FF2B5EF4-FFF2-40B4-BE49-F238E27FC236}">
                <a16:creationId xmlns:a16="http://schemas.microsoft.com/office/drawing/2014/main" id="{E90FD5C5-D41A-4C42-B8FC-3CA24FB7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052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Archive + checkpoint</a:t>
            </a:r>
          </a:p>
        </p:txBody>
      </p:sp>
      <p:sp>
        <p:nvSpPr>
          <p:cNvPr id="11" name="Publish">
            <a:extLst xmlns:a="http://schemas.openxmlformats.org/drawingml/2006/main">
              <a:ext uri="{FF2B5EF4-FFF2-40B4-BE49-F238E27FC236}">
                <a16:creationId xmlns:a16="http://schemas.microsoft.com/office/drawing/2014/main" id="{F7DA05B3-0DDD-4577-8AD0-2005486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2" name="Publish">
            <a:extLst xmlns:a="http://schemas.openxmlformats.org/drawingml/2006/main">
              <a:ext uri="{FF2B5EF4-FFF2-40B4-BE49-F238E27FC236}">
                <a16:creationId xmlns:a16="http://schemas.microsoft.com/office/drawing/2014/main" id="{DD22959B-A59A-4EF1-9AB2-66B5F2D1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38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Publish</a:t>
            </a:r>
          </a:p>
        </p:txBody>
      </p:sp>
      <p:sp>
        <p:nvSpPr>
          <p:cNvPr id="13" name="One validated build">
            <a:extLst xmlns:a="http://schemas.openxmlformats.org/drawingml/2006/main">
              <a:ext uri="{FF2B5EF4-FFF2-40B4-BE49-F238E27FC236}">
                <a16:creationId xmlns:a16="http://schemas.microsoft.com/office/drawing/2014/main" id="{07F62BB7-1C69-4BC3-BCA4-02B96E1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052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One validated build</a:t>
            </a:r>
          </a:p>
        </p:txBody>
      </p:sp>
      <p:sp>
        <p:nvSpPr>
          <p:cNvPr id="16" name="Monthly reconciliation">
            <a:extLst xmlns:a="http://schemas.openxmlformats.org/drawingml/2006/main">
              <a:ext uri="{FF2B5EF4-FFF2-40B4-BE49-F238E27FC236}">
                <a16:creationId xmlns:a16="http://schemas.microsoft.com/office/drawing/2014/main" id="{3C14AC49-8588-4C85-899D-733B4510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Monthly reconciliation</a:t>
            </a:r>
          </a:p>
        </p:txBody>
      </p:sp>
      <p:sp>
        <p:nvSpPr>
          <p:cNvPr id="17" name="Last successful build survives a failed job.">
            <a:extLst xmlns:a="http://schemas.openxmlformats.org/drawingml/2006/main">
              <a:ext uri="{FF2B5EF4-FFF2-40B4-BE49-F238E27FC236}">
                <a16:creationId xmlns:a16="http://schemas.microsoft.com/office/drawing/2014/main" id="{57612FB4-17DA-40D3-8FB6-21EA4764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2100" b="0">
                <a:solidFill>
                  <a:srgbClr val="2563EB"/>
                </a:solidFill>
                <a:latin typeface="Geist"/>
                <a:ea typeface="Geist"/>
                <a:cs typeface="Geist"/>
              </a:rPr>
              <a:t>Last successful build survives a failed job.</a:t>
            </a:r>
          </a:p>
        </p:txBody>
      </p:sp>
      <p:sp>
        <p:nvSpPr>
          <p:cNvPr id="18" name="Price refresh requires new CSV deliveries or restoratio">
            <a:extLst xmlns:a="http://schemas.openxmlformats.org/drawingml/2006/main">
              <a:ext uri="{FF2B5EF4-FFF2-40B4-BE49-F238E27FC236}">
                <a16:creationId xmlns:a16="http://schemas.microsoft.com/office/drawing/2014/main" id="{12D672AA-EB55-469A-B40D-68B8F8C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Price refresh requires new CSV deliveries or restoration of the team collector.</a:t>
            </a:r>
          </a:p>
        </p:txBody>
      </p:sp>
    </p:spTree>
    <p:extLst>
      <p:ext uri="{BB962C8B-B14F-4D97-AF65-F5344CB8AC3E}">
        <p14:creationId xmlns:p14="http://schemas.microsoft.com/office/powerpoint/2010/main" val="1982766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ashboard concept">
            <a:extLst xmlns:a="http://schemas.openxmlformats.org/drawingml/2006/main">
              <a:ext uri="{FF2B5EF4-FFF2-40B4-BE49-F238E27FC236}">
                <a16:creationId xmlns:a16="http://schemas.microsoft.com/office/drawing/2014/main" id="{559AAEEA-B6BF-4109-A6E5-6A20102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Dashboard concept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FC2470A7-D480-4AA4-865D-C9749B1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12</a:t>
            </a:r>
          </a:p>
        </p:txBody>
      </p:sp>
      <p:sp>
        <p:nvSpPr>
          <p:cNvPr id="3" name="Market overview">
            <a:extLst xmlns:a="http://schemas.openxmlformats.org/drawingml/2006/main">
              <a:ext uri="{FF2B5EF4-FFF2-40B4-BE49-F238E27FC236}">
                <a16:creationId xmlns:a16="http://schemas.microsoft.com/office/drawing/2014/main" id="{A4C6C923-3B8C-42DF-BF46-080E8C15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875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Market overview</a:t>
            </a:r>
          </a:p>
        </p:txBody>
      </p:sp>
      <p:sp>
        <p:nvSpPr>
          <p:cNvPr id="4" name="DOGE   /   2026 Q3">
            <a:extLst xmlns:a="http://schemas.openxmlformats.org/drawingml/2006/main">
              <a:ext uri="{FF2B5EF4-FFF2-40B4-BE49-F238E27FC236}">
                <a16:creationId xmlns:a16="http://schemas.microsoft.com/office/drawing/2014/main" id="{68F99F8B-4223-40A9-A30A-3C6F796B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65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DOGE   /   2026 Q3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9C66865-8EBD-42F0-9F58-F34170DC18DA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c11c4e99a94cda"/>
          </a:graphicData>
        </a:graphic>
      </p:graphicFrame>
      <p:sp>
        <p:nvSpPr>
          <p:cNvPr id="6" name="Social activity">
            <a:extLst xmlns:a="http://schemas.openxmlformats.org/drawingml/2006/main">
              <a:ext uri="{FF2B5EF4-FFF2-40B4-BE49-F238E27FC236}">
                <a16:creationId xmlns:a16="http://schemas.microsoft.com/office/drawing/2014/main" id="{4B919FAA-A801-4F16-8403-4FCFC88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10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Social activity</a:t>
            </a:r>
          </a:p>
        </p:txBody>
      </p:sp>
      <p:sp>
        <p:nvSpPr>
          <p:cNvPr id="7" name="Awaiting the first&#10;eligible batch">
            <a:extLst xmlns:a="http://schemas.openxmlformats.org/drawingml/2006/main">
              <a:ext uri="{FF2B5EF4-FFF2-40B4-BE49-F238E27FC236}">
                <a16:creationId xmlns:a16="http://schemas.microsoft.com/office/drawing/2014/main" id="{31D918F9-C896-478A-BEF8-4CC82174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4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Awaiting the first</a:t>
            </a:r>
          </a:p>
          <a:p xmlns:a="http://schemas.openxmlformats.org/drawingml/2006/main">
            <a:pPr algn="l">
              <a:defRPr sz="24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4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eligible batch</a:t>
            </a:r>
          </a:p>
        </p:txBody>
      </p:sp>
      <p:sp>
        <p:nvSpPr>
          <p:cNvPr id="8" name="Coverage: unavailable">
            <a:extLst xmlns:a="http://schemas.openxmlformats.org/drawingml/2006/main">
              <a:ext uri="{FF2B5EF4-FFF2-40B4-BE49-F238E27FC236}">
                <a16:creationId xmlns:a16="http://schemas.microsoft.com/office/drawing/2014/main" id="{3D6517F5-C88F-443C-B8EA-10EB8CF0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97706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97706"/>
                </a:solidFill>
                <a:latin typeface="Geist Mono"/>
                <a:ea typeface="Geist Mono"/>
                <a:cs typeface="Geist Mono"/>
              </a:defRPr>
            </a:pPr>
            <a:r>
              <a:rPr sz="1575" b="0">
                <a:solidFill>
                  <a:srgbClr val="D97706"/>
                </a:solidFill>
                <a:latin typeface="Geist Mono"/>
                <a:ea typeface="Geist Mono"/>
                <a:cs typeface="Geist Mono"/>
              </a:rPr>
              <a:t>Coverage: unavailable</a:t>
            </a:r>
          </a:p>
        </p:txBody>
      </p:sp>
      <p:sp>
        <p:nvSpPr>
          <p:cNvPr id="9" name="Compare time series     Explore posts     Inspect data ">
            <a:extLst xmlns:a="http://schemas.openxmlformats.org/drawingml/2006/main">
              <a:ext uri="{FF2B5EF4-FFF2-40B4-BE49-F238E27FC236}">
                <a16:creationId xmlns:a16="http://schemas.microsoft.com/office/drawing/2014/main" id="{07DB6649-1149-41D2-90ED-C137C775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800" b="0">
                <a:solidFill>
                  <a:srgbClr val="18181B"/>
                </a:solidFill>
                <a:latin typeface="Geist"/>
                <a:ea typeface="Geist"/>
                <a:cs typeface="Geist"/>
              </a:rPr>
              <a:t>Compare time series     Explore posts     Inspect data health</a:t>
            </a:r>
          </a:p>
        </p:txBody>
      </p:sp>
      <p:sp>
        <p:nvSpPr>
          <p:cNvPr id="10" name="Concept layout. DOGE prices are real supplied data. The">
            <a:extLst xmlns:a="http://schemas.openxmlformats.org/drawingml/2006/main">
              <a:ext uri="{FF2B5EF4-FFF2-40B4-BE49-F238E27FC236}">
                <a16:creationId xmlns:a16="http://schemas.microsoft.com/office/drawing/2014/main" id="{ABC63817-EDD1-43D0-9E32-2C45553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Concept layout. DOGE prices are real supplied data. The social panel contains no simulated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50371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issing data has a meaning">
            <a:extLst xmlns:a="http://schemas.openxmlformats.org/drawingml/2006/main">
              <a:ext uri="{FF2B5EF4-FFF2-40B4-BE49-F238E27FC236}">
                <a16:creationId xmlns:a16="http://schemas.microsoft.com/office/drawing/2014/main" id="{0F82336E-FB54-47BC-867C-C3E5851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Missing data has a meaning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7068A3FB-ED23-4F62-A7DE-41DC03F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13</a:t>
            </a:r>
          </a:p>
        </p:txBody>
      </p:sp>
      <p:sp>
        <p:nvSpPr>
          <p:cNvPr id="3" name="NULL ≠ 0">
            <a:extLst xmlns:a="http://schemas.openxmlformats.org/drawingml/2006/main">
              <a:ext uri="{FF2B5EF4-FFF2-40B4-BE49-F238E27FC236}">
                <a16:creationId xmlns:a16="http://schemas.microsoft.com/office/drawing/2014/main" id="{81A1629E-D54A-4669-81F9-975842F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5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FAFAF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FAFAFA"/>
                </a:solidFill>
                <a:latin typeface="Geist Mono"/>
                <a:ea typeface="Geist Mono"/>
                <a:cs typeface="Geist Mono"/>
              </a:defRPr>
            </a:pPr>
            <a:r>
              <a:rPr sz="8400" b="1">
                <a:solidFill>
                  <a:srgbClr val="FAFAFA"/>
                </a:solidFill>
                <a:latin typeface="Geist Mono"/>
                <a:ea typeface="Geist Mono"/>
                <a:cs typeface="Geist Mono"/>
              </a:rPr>
              <a:t>NULL ≠ 0</a:t>
            </a:r>
          </a:p>
        </p:txBody>
      </p:sp>
      <p:sp>
        <p:nvSpPr>
          <p:cNvPr id="4" name="0">
            <a:extLst xmlns:a="http://schemas.openxmlformats.org/drawingml/2006/main">
              <a:ext uri="{FF2B5EF4-FFF2-40B4-BE49-F238E27FC236}">
                <a16:creationId xmlns:a16="http://schemas.microsoft.com/office/drawing/2014/main" id="{8B0720DA-D581-4247-83FC-F419E0EE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4ADE80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4ADE80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4ADE80"/>
                </a:solidFill>
                <a:latin typeface="Geist"/>
                <a:ea typeface="Geist"/>
                <a:cs typeface="Geist"/>
              </a:rPr>
              <a:t>0</a:t>
            </a:r>
          </a:p>
        </p:txBody>
      </p:sp>
      <p:sp>
        <p:nvSpPr>
          <p:cNvPr id="5" name="A checked scope with no observed posts">
            <a:extLst xmlns:a="http://schemas.openxmlformats.org/drawingml/2006/main">
              <a:ext uri="{FF2B5EF4-FFF2-40B4-BE49-F238E27FC236}">
                <a16:creationId xmlns:a16="http://schemas.microsoft.com/office/drawing/2014/main" id="{33948485-4DD4-4B2E-8808-BA0F228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A checked scope with no observed posts</a:t>
            </a:r>
          </a:p>
        </p:txBody>
      </p:sp>
      <p:sp>
        <p:nvSpPr>
          <p:cNvPr id="6" name="NULL">
            <a:extLst xmlns:a="http://schemas.openxmlformats.org/drawingml/2006/main">
              <a:ext uri="{FF2B5EF4-FFF2-40B4-BE49-F238E27FC236}">
                <a16:creationId xmlns:a16="http://schemas.microsoft.com/office/drawing/2014/main" id="{6F709969-B313-48E3-9ED0-69B81B33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87171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87171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F87171"/>
                </a:solidFill>
                <a:latin typeface="Geist"/>
                <a:ea typeface="Geist"/>
                <a:cs typeface="Geist"/>
              </a:rPr>
              <a:t>NULL</a:t>
            </a:r>
          </a:p>
        </p:txBody>
      </p:sp>
      <p:sp>
        <p:nvSpPr>
          <p:cNvPr id="7" name="A failed, partial or unavailable scope">
            <a:extLst xmlns:a="http://schemas.openxmlformats.org/drawingml/2006/main">
              <a:ext uri="{FF2B5EF4-FFF2-40B4-BE49-F238E27FC236}">
                <a16:creationId xmlns:a16="http://schemas.microsoft.com/office/drawing/2014/main" id="{BD080A99-FC46-4BC9-8DAC-34949D8B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A failed, partial or unavailable scope</a:t>
            </a:r>
          </a:p>
        </p:txBody>
      </p:sp>
      <p:sp>
        <p:nvSpPr>
          <p:cNvPr id="8" name="“The API is down” is not a sentiment signal.">
            <a:extLst xmlns:a="http://schemas.openxmlformats.org/drawingml/2006/main">
              <a:ext uri="{FF2B5EF4-FFF2-40B4-BE49-F238E27FC236}">
                <a16:creationId xmlns:a16="http://schemas.microsoft.com/office/drawing/2014/main" id="{7B1C6F7A-3253-45F3-B473-7E1A588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2400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“The API is down” is not a sentiment signal.</a:t>
            </a:r>
          </a:p>
        </p:txBody>
      </p:sp>
    </p:spTree>
    <p:extLst>
      <p:ext uri="{BB962C8B-B14F-4D97-AF65-F5344CB8AC3E}">
        <p14:creationId xmlns:p14="http://schemas.microsoft.com/office/powerpoint/2010/main" val="1822069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valuation targets">
            <a:extLst xmlns:a="http://schemas.openxmlformats.org/drawingml/2006/main">
              <a:ext uri="{FF2B5EF4-FFF2-40B4-BE49-F238E27FC236}">
                <a16:creationId xmlns:a16="http://schemas.microsoft.com/office/drawing/2014/main" id="{C0832ED6-3857-44D4-9D65-022C3823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Evaluation targets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AE7800CF-01A5-45CC-BC22-C1FF7DEB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14</a:t>
            </a:r>
          </a:p>
        </p:txBody>
      </p:sp>
      <p:sp>
        <p:nvSpPr>
          <p:cNvPr id="3" name="Correctness">
            <a:extLst xmlns:a="http://schemas.openxmlformats.org/drawingml/2006/main">
              <a:ext uri="{FF2B5EF4-FFF2-40B4-BE49-F238E27FC236}">
                <a16:creationId xmlns:a16="http://schemas.microsoft.com/office/drawing/2014/main" id="{199F9F50-4D80-4A78-B828-1132CFA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270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Correctness</a:t>
            </a:r>
          </a:p>
        </p:txBody>
      </p:sp>
      <p:sp>
        <p:nvSpPr>
          <p:cNvPr id="4" name="Same inputs, same outputs&#10;Recovery without duplicate re">
            <a:extLst xmlns:a="http://schemas.openxmlformats.org/drawingml/2006/main">
              <a:ext uri="{FF2B5EF4-FFF2-40B4-BE49-F238E27FC236}">
                <a16:creationId xmlns:a16="http://schemas.microsoft.com/office/drawing/2014/main" id="{2BBD673F-9AE4-4484-B06A-4CD0C5CC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1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Same inputs, same outputs</a:t>
            </a:r>
          </a:p>
          <a:p xmlns:a="http://schemas.openxmlformats.org/drawingml/2006/main">
            <a:pPr algn="l">
              <a:defRPr sz="21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1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Recovery without duplicate records</a:t>
            </a:r>
          </a:p>
        </p:txBody>
      </p:sp>
      <p:sp>
        <p:nvSpPr>
          <p:cNvPr id="5" name="200">
            <a:extLst xmlns:a="http://schemas.openxmlformats.org/drawingml/2006/main">
              <a:ext uri="{FF2B5EF4-FFF2-40B4-BE49-F238E27FC236}">
                <a16:creationId xmlns:a16="http://schemas.microsoft.com/office/drawing/2014/main" id="{51A2046B-B22A-4B91-8BBE-B9E6C7A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191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6600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200</a:t>
            </a:r>
          </a:p>
        </p:txBody>
      </p:sp>
      <p:sp>
        <p:nvSpPr>
          <p:cNvPr id="6" name="items for manual review,&#10;or the full eligible sample if">
            <a:extLst xmlns:a="http://schemas.openxmlformats.org/drawingml/2006/main">
              <a:ext uri="{FF2B5EF4-FFF2-40B4-BE49-F238E27FC236}">
                <a16:creationId xmlns:a16="http://schemas.microsoft.com/office/drawing/2014/main" id="{68D96F45-7BA4-4816-9FEF-D692DC8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4238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items for manual review,</a:t>
            </a:r>
          </a:p>
          <a:p xmlns:a="http://schemas.openxmlformats.org/drawingml/2006/main">
            <a: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or the full eligible sample if smaller</a:t>
            </a:r>
          </a:p>
        </p:txBody>
      </p:sp>
      <p:sp>
        <p:nvSpPr>
          <p:cNvPr id="7" name="&lt; 2 s">
            <a:extLst xmlns:a="http://schemas.openxmlformats.org/drawingml/2006/main">
              <a:ext uri="{FF2B5EF4-FFF2-40B4-BE49-F238E27FC236}">
                <a16:creationId xmlns:a16="http://schemas.microsoft.com/office/drawing/2014/main" id="{AA0A2D0A-041E-440F-A7DB-4803C5A2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6600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&lt; 2 s</a:t>
            </a:r>
          </a:p>
        </p:txBody>
      </p:sp>
      <p:sp>
        <p:nvSpPr>
          <p:cNvPr id="8" name="SQL chart query p95 target">
            <a:extLst xmlns:a="http://schemas.openxmlformats.org/drawingml/2006/main">
              <a:ext uri="{FF2B5EF4-FFF2-40B4-BE49-F238E27FC236}">
                <a16:creationId xmlns:a16="http://schemas.microsoft.com/office/drawing/2014/main" id="{38B7D875-2E88-4528-9AA1-E91E5CDA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202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SQL chart query p95 target</a:t>
            </a:r>
          </a:p>
        </p:txBody>
      </p:sp>
      <p:sp>
        <p:nvSpPr>
          <p:cNvPr id="9" name="±7 days">
            <a:extLst xmlns:a="http://schemas.openxmlformats.org/drawingml/2006/main">
              <a:ext uri="{FF2B5EF4-FFF2-40B4-BE49-F238E27FC236}">
                <a16:creationId xmlns:a16="http://schemas.microsoft.com/office/drawing/2014/main" id="{065ABAFB-5641-45D6-87E5-96B143B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46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±7 days</a:t>
            </a:r>
          </a:p>
        </p:txBody>
      </p:sp>
      <p:sp>
        <p:nvSpPr>
          <p:cNvPr id="10" name="Exploratory lead–lag range&#10;At least 30 paired days">
            <a:extLst xmlns:a="http://schemas.openxmlformats.org/drawingml/2006/main">
              <a:ext uri="{FF2B5EF4-FFF2-40B4-BE49-F238E27FC236}">
                <a16:creationId xmlns:a16="http://schemas.microsoft.com/office/drawing/2014/main" id="{716FF0EF-6C0F-45B3-9806-776DEDF7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38725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Exploratory lead–lag range</a:t>
            </a:r>
          </a:p>
          <a:p xmlns:a="http://schemas.openxmlformats.org/drawingml/2006/main">
            <a:pPr algn="l">
              <a:defRPr sz="18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At least 30 paired days</a:t>
            </a:r>
          </a:p>
        </p:txBody>
      </p:sp>
      <p:sp>
        <p:nvSpPr>
          <p:cNvPr id="11" name="Targets, not achieved results. Report hardware, actual ">
            <a:extLst xmlns:a="http://schemas.openxmlformats.org/drawingml/2006/main">
              <a:ext uri="{FF2B5EF4-FFF2-40B4-BE49-F238E27FC236}">
                <a16:creationId xmlns:a16="http://schemas.microsoft.com/office/drawing/2014/main" id="{659D1712-01A5-411B-9D14-1FD79F5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Targets, not achieved results. Report hardware, actual data volume and coverage.</a:t>
            </a:r>
          </a:p>
        </p:txBody>
      </p:sp>
    </p:spTree>
    <p:extLst>
      <p:ext uri="{BB962C8B-B14F-4D97-AF65-F5344CB8AC3E}">
        <p14:creationId xmlns:p14="http://schemas.microsoft.com/office/powerpoint/2010/main" val="5867411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ix-week work plan">
            <a:extLst xmlns:a="http://schemas.openxmlformats.org/drawingml/2006/main">
              <a:ext uri="{FF2B5EF4-FFF2-40B4-BE49-F238E27FC236}">
                <a16:creationId xmlns:a16="http://schemas.microsoft.com/office/drawing/2014/main" id="{0127FA15-77DE-45C7-B984-EF6E719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Six-week work plan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6B2513EB-9E1D-4C2B-B092-71D6F93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1ACDF-F577-486D-B481-80D7FBA2E23C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9448800"/>
              </a:tblGrid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Week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Deliverable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</a:tr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Source validation and data contracts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Collectors and raw archives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Preprocessing and SQL/NoSQL ETL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Dashboard and provenance navigation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Quality, recovery and performance checks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96661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06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Reproducible demo and final report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A dashboard with evidence behind every chart">
            <a:extLst xmlns:a="http://schemas.openxmlformats.org/drawingml/2006/main">
              <a:ext uri="{FF2B5EF4-FFF2-40B4-BE49-F238E27FC236}">
                <a16:creationId xmlns:a16="http://schemas.microsoft.com/office/drawing/2014/main" id="{78ACB5FC-0414-4DFD-8FD4-277F9006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2700" b="1">
                <a:solidFill>
                  <a:srgbClr val="2563EB"/>
                </a:solidFill>
                <a:latin typeface="Geist"/>
                <a:ea typeface="Geist"/>
                <a:cs typeface="Geist"/>
              </a:rPr>
              <a:t>A dashboard with evidence behind every chart</a:t>
            </a:r>
          </a:p>
        </p:txBody>
      </p:sp>
      <p:sp>
        <p:nvSpPr>
          <p:cNvPr id="5" name="Planning assumption. Team assignments and the official ">
            <a:extLst xmlns:a="http://schemas.openxmlformats.org/drawingml/2006/main">
              <a:ext uri="{FF2B5EF4-FFF2-40B4-BE49-F238E27FC236}">
                <a16:creationId xmlns:a16="http://schemas.microsoft.com/office/drawing/2014/main" id="{2612DB20-4A8E-41F2-B0CF-04B28B08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Planning assumption. Team assignments and the official submission deadline remain TBD.</a:t>
            </a:r>
          </a:p>
        </p:txBody>
      </p:sp>
    </p:spTree>
    <p:extLst>
      <p:ext uri="{BB962C8B-B14F-4D97-AF65-F5344CB8AC3E}">
        <p14:creationId xmlns:p14="http://schemas.microsoft.com/office/powerpoint/2010/main" val="10006266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BA7C5F-0851-4C83-BB1A-86EBFDD749DA}"/>
              </a:ext>
            </a:extLst>
          </p:cNvPr>
          <p:cNvCxnSpPr>
            <a:stCxn xmlns:a="http://schemas.openxmlformats.org/drawingml/2006/main" id="21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572375" y="4948238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94B09-66FA-48F5-8811-54613092D1E6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072688" y="3286125"/>
            <a:ext cx="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4F709-CC85-469D-A0CC-4C36F64B21E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72188" y="3286125"/>
            <a:ext cx="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EA1F8-C4A6-4B1F-B3EC-81177C7E914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09975" y="2452688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39031-3FB8-4091-B98F-F0657F4C4972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109788" y="3286125"/>
            <a:ext cx="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1A1AA"/>
            </a:solidFill>
            <a:tailEnd type="arrow" w="sm" len="sm"/>
          </a:ln>
        </p:spPr>
      </p:cxnSp>
      <p:sp>
        <p:nvSpPr>
          <p:cNvPr id="27" name="Appendix: storage ownership">
            <a:extLst xmlns:a="http://schemas.openxmlformats.org/drawingml/2006/main">
              <a:ext uri="{FF2B5EF4-FFF2-40B4-BE49-F238E27FC236}">
                <a16:creationId xmlns:a16="http://schemas.microsoft.com/office/drawing/2014/main" id="{C6A34D8B-D354-4337-B1F7-2473113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Appendix: storage ownership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1A2F4B97-48CD-4573-BBDA-3CE7E6E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16</a:t>
            </a:r>
          </a:p>
        </p:txBody>
      </p:sp>
      <p:sp>
        <p:nvSpPr>
          <p:cNvPr id="3" name="assets">
            <a:extLst xmlns:a="http://schemas.openxmlformats.org/drawingml/2006/main">
              <a:ext uri="{FF2B5EF4-FFF2-40B4-BE49-F238E27FC236}">
                <a16:creationId xmlns:a16="http://schemas.microsoft.com/office/drawing/2014/main" id="{89985B88-5267-488A-ACDC-53C71979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000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4" name="assets">
            <a:extLst xmlns:a="http://schemas.openxmlformats.org/drawingml/2006/main">
              <a:ext uri="{FF2B5EF4-FFF2-40B4-BE49-F238E27FC236}">
                <a16:creationId xmlns:a16="http://schemas.microsoft.com/office/drawing/2014/main" id="{65EFA4AD-7897-4B99-9524-DAA1C835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assets</a:t>
            </a:r>
          </a:p>
        </p:txBody>
      </p:sp>
      <p:sp>
        <p:nvSpPr>
          <p:cNvPr id="5" name="asset_id&#10;CMC + chain identities">
            <a:extLst xmlns:a="http://schemas.openxmlformats.org/drawingml/2006/main">
              <a:ext uri="{FF2B5EF4-FFF2-40B4-BE49-F238E27FC236}">
                <a16:creationId xmlns:a16="http://schemas.microsoft.com/office/drawing/2014/main" id="{7C0B11C4-7F4D-424A-AC90-9614740F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asset_id</a:t>
            </a:r>
          </a:p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CMC + chain identities</a:t>
            </a:r>
          </a:p>
        </p:txBody>
      </p:sp>
      <p:sp>
        <p:nvSpPr>
          <p:cNvPr id="6" name="price_daily">
            <a:extLst xmlns:a="http://schemas.openxmlformats.org/drawingml/2006/main">
              <a:ext uri="{FF2B5EF4-FFF2-40B4-BE49-F238E27FC236}">
                <a16:creationId xmlns:a16="http://schemas.microsoft.com/office/drawing/2014/main" id="{3FDC4F04-B764-474C-905F-AE8C445E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000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7" name="price_daily">
            <a:extLst xmlns:a="http://schemas.openxmlformats.org/drawingml/2006/main">
              <a:ext uri="{FF2B5EF4-FFF2-40B4-BE49-F238E27FC236}">
                <a16:creationId xmlns:a16="http://schemas.microsoft.com/office/drawing/2014/main" id="{D9ABB169-DE6B-49F3-A22C-1F191335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price_daily</a:t>
            </a:r>
          </a:p>
        </p:txBody>
      </p:sp>
      <p:sp>
        <p:nvSpPr>
          <p:cNvPr id="8" name="asset_id + date&#10;OHLCV + quality flags">
            <a:extLst xmlns:a="http://schemas.openxmlformats.org/drawingml/2006/main">
              <a:ext uri="{FF2B5EF4-FFF2-40B4-BE49-F238E27FC236}">
                <a16:creationId xmlns:a16="http://schemas.microsoft.com/office/drawing/2014/main" id="{C7A6651F-40E3-4F28-99D4-99EEA0F3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asset_id + date</a:t>
            </a:r>
          </a:p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OHLCV + quality flags</a:t>
            </a:r>
          </a:p>
        </p:txBody>
      </p:sp>
      <p:sp>
        <p:nvSpPr>
          <p:cNvPr id="10" name="item_assets">
            <a:extLst xmlns:a="http://schemas.openxmlformats.org/drawingml/2006/main">
              <a:ext uri="{FF2B5EF4-FFF2-40B4-BE49-F238E27FC236}">
                <a16:creationId xmlns:a16="http://schemas.microsoft.com/office/drawing/2014/main" id="{6495D95C-497C-48E1-8D4B-35394E3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00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1" name="item_assets">
            <a:extLst xmlns:a="http://schemas.openxmlformats.org/drawingml/2006/main">
              <a:ext uri="{FF2B5EF4-FFF2-40B4-BE49-F238E27FC236}">
                <a16:creationId xmlns:a16="http://schemas.microsoft.com/office/drawing/2014/main" id="{DDA8A09D-8760-45BD-AD4C-2F90C6C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item_assets</a:t>
            </a:r>
          </a:p>
        </p:txBody>
      </p:sp>
      <p:sp>
        <p:nvSpPr>
          <p:cNvPr id="12" name="item_key + asset_id&#10;match kind + rule version">
            <a:extLst xmlns:a="http://schemas.openxmlformats.org/drawingml/2006/main">
              <a:ext uri="{FF2B5EF4-FFF2-40B4-BE49-F238E27FC236}">
                <a16:creationId xmlns:a16="http://schemas.microsoft.com/office/drawing/2014/main" id="{5C859C5B-F7BB-48C7-8CF5-35880D9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item_key + asset_id</a:t>
            </a:r>
          </a:p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match kind + rule version</a:t>
            </a:r>
          </a:p>
        </p:txBody>
      </p:sp>
      <p:sp>
        <p:nvSpPr>
          <p:cNvPr id="14" name="social_features">
            <a:extLst xmlns:a="http://schemas.openxmlformats.org/drawingml/2006/main">
              <a:ext uri="{FF2B5EF4-FFF2-40B4-BE49-F238E27FC236}">
                <a16:creationId xmlns:a16="http://schemas.microsoft.com/office/drawing/2014/main" id="{BA63A0A9-E4CA-4009-BA2F-A0A0749F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3000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2563EB"/>
            </a:solidFill>
          </a:ln>
        </p:spPr>
      </p:sp>
      <p:sp>
        <p:nvSpPr>
          <p:cNvPr id="15" name="social_features">
            <a:extLst xmlns:a="http://schemas.openxmlformats.org/drawingml/2006/main">
              <a:ext uri="{FF2B5EF4-FFF2-40B4-BE49-F238E27FC236}">
                <a16:creationId xmlns:a16="http://schemas.microsoft.com/office/drawing/2014/main" id="{E694220D-1E67-450A-A77A-18C73381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social_features</a:t>
            </a:r>
          </a:p>
        </p:txBody>
      </p:sp>
      <p:sp>
        <p:nvSpPr>
          <p:cNvPr id="16" name="item_key + snapshot_id&#10;language + sentiment">
            <a:extLst xmlns:a="http://schemas.openxmlformats.org/drawingml/2006/main">
              <a:ext uri="{FF2B5EF4-FFF2-40B4-BE49-F238E27FC236}">
                <a16:creationId xmlns:a16="http://schemas.microsoft.com/office/drawing/2014/main" id="{3660D97B-ED83-4BF0-8A6C-D312425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52975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item_key + snapshot_id</a:t>
            </a:r>
          </a:p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language + sentiment</a:t>
            </a:r>
          </a:p>
        </p:txBody>
      </p:sp>
      <p:sp>
        <p:nvSpPr>
          <p:cNvPr id="18" name="social_items">
            <a:extLst xmlns:a="http://schemas.openxmlformats.org/drawingml/2006/main">
              <a:ext uri="{FF2B5EF4-FFF2-40B4-BE49-F238E27FC236}">
                <a16:creationId xmlns:a16="http://schemas.microsoft.com/office/drawing/2014/main" id="{2DCC7B6F-D346-4E03-9C91-2B89E93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3000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19" name="social_items">
            <a:extLst xmlns:a="http://schemas.openxmlformats.org/drawingml/2006/main">
              <a:ext uri="{FF2B5EF4-FFF2-40B4-BE49-F238E27FC236}">
                <a16:creationId xmlns:a16="http://schemas.microsoft.com/office/drawing/2014/main" id="{59C8B535-76C7-4017-B393-EB14506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social_items</a:t>
            </a:r>
          </a:p>
        </p:txBody>
      </p:sp>
      <p:sp>
        <p:nvSpPr>
          <p:cNvPr id="20" name="platform:type:native_id&#10;current text + references">
            <a:extLst xmlns:a="http://schemas.openxmlformats.org/drawingml/2006/main">
              <a:ext uri="{FF2B5EF4-FFF2-40B4-BE49-F238E27FC236}">
                <a16:creationId xmlns:a16="http://schemas.microsoft.com/office/drawing/2014/main" id="{377F86FD-B78B-4618-86DF-608551FE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57425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platform:type:native_id</a:t>
            </a:r>
          </a:p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current text + references</a:t>
            </a:r>
          </a:p>
        </p:txBody>
      </p:sp>
      <p:sp>
        <p:nvSpPr>
          <p:cNvPr id="21" name="observations">
            <a:extLst xmlns:a="http://schemas.openxmlformats.org/drawingml/2006/main">
              <a:ext uri="{FF2B5EF4-FFF2-40B4-BE49-F238E27FC236}">
                <a16:creationId xmlns:a16="http://schemas.microsoft.com/office/drawing/2014/main" id="{DA101E4E-25AD-47E8-B622-47F3C44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30003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22" name="observations">
            <a:extLst xmlns:a="http://schemas.openxmlformats.org/drawingml/2006/main">
              <a:ext uri="{FF2B5EF4-FFF2-40B4-BE49-F238E27FC236}">
                <a16:creationId xmlns:a16="http://schemas.microsoft.com/office/drawing/2014/main" id="{2A6CF040-CD82-4D12-BF2B-1C6757D1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19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observations</a:t>
            </a:r>
          </a:p>
        </p:txBody>
      </p:sp>
      <p:sp>
        <p:nvSpPr>
          <p:cNvPr id="23" name="snapshot_id + fetched_at&#10;source payload + raw URI">
            <a:extLst xmlns:a="http://schemas.openxmlformats.org/drawingml/2006/main">
              <a:ext uri="{FF2B5EF4-FFF2-40B4-BE49-F238E27FC236}">
                <a16:creationId xmlns:a16="http://schemas.microsoft.com/office/drawing/2014/main" id="{CC86EE77-7A83-49B3-8B82-C0F8BBBE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52975"/>
            <a:ext cx="2619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snapshot_id + fetched_at</a:t>
            </a:r>
          </a:p>
          <a:p xmlns:a="http://schemas.openxmlformats.org/drawingml/2006/main">
            <a:pPr algn="l">
              <a:defRPr sz="1575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575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source payload + raw URI</a:t>
            </a:r>
          </a:p>
        </p:txBody>
      </p:sp>
      <p:sp>
        <p:nvSpPr>
          <p:cNvPr id="26" name="Blue: PostgreSQL. Green: MongoDB. Validate cross-store ">
            <a:extLst xmlns:a="http://schemas.openxmlformats.org/drawingml/2006/main">
              <a:ext uri="{FF2B5EF4-FFF2-40B4-BE49-F238E27FC236}">
                <a16:creationId xmlns:a16="http://schemas.microsoft.com/office/drawing/2014/main" id="{41F4B01B-4DDC-4173-A241-46360E06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525B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52525B"/>
                </a:solidFill>
                <a:latin typeface="Geist"/>
                <a:ea typeface="Geist"/>
                <a:cs typeface="Geist"/>
              </a:rPr>
              <a:t>Blue: PostgreSQL. Green: MongoDB. Validate cross-store references in ETL.</a:t>
            </a:r>
          </a:p>
        </p:txBody>
      </p:sp>
    </p:spTree>
    <p:extLst>
      <p:ext uri="{BB962C8B-B14F-4D97-AF65-F5344CB8AC3E}">
        <p14:creationId xmlns:p14="http://schemas.microsoft.com/office/powerpoint/2010/main" val="8707453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ppendix: limits and fallbacks">
            <a:extLst xmlns:a="http://schemas.openxmlformats.org/drawingml/2006/main">
              <a:ext uri="{FF2B5EF4-FFF2-40B4-BE49-F238E27FC236}">
                <a16:creationId xmlns:a16="http://schemas.microsoft.com/office/drawing/2014/main" id="{90058051-569E-4B46-911B-F95BFDAF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8181B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18181B"/>
                </a:solidFill>
                <a:latin typeface="Geist"/>
                <a:ea typeface="Geist"/>
                <a:cs typeface="Geist"/>
              </a:rPr>
              <a:t>Appendix: limits and fallbacks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79937AA1-1922-4A05-802A-B1965EA3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52525B"/>
                </a:solidFill>
                <a:latin typeface="Geist Mono"/>
                <a:ea typeface="Geist Mono"/>
                <a:cs typeface="Geist Mono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811E2-D8FA-4FE4-AE44-7ABC63029E9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3905250"/>
                <a:gridCol w="4591050"/>
              </a:tblGrid>
              <a:tr h="611188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Dependency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Limit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Response</a:t>
                      </a:r>
                    </a:p>
                  </a:txBody>
                  <a:tcPr marL="91440" marR="91440" marT="45720" marB="45720" anchor="ctr">
                    <a:solidFill>
                      <a:srgbClr val="EDEDEF"/>
                    </a:solidFill>
                  </a:tcPr>
                </a:tc>
              </a:tr>
              <a:tr h="611188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Price updates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Collector script missing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Import new validated CSVs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611188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FxTwitter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Partial history or downtime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Expose coverage and freshness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611188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Arctic Shift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Access and policy conditions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Keep adapter disabled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611188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Sentiment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Irony and financial context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Manual sample review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611188"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Scale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14,773 price rows initially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lIns="133350" tIns="133350" rIns="133350" bIns="1333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181B"/>
                          </a:solidFill>
                          <a:latin typeface="Geist"/>
                          <a:ea typeface="Geist"/>
                          <a:cs typeface="Geist"/>
                        </a:rPr>
                        <a:t>Measure actual social volume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Optional later: images, OCR, embeddings and grounded su">
            <a:extLst xmlns:a="http://schemas.openxmlformats.org/drawingml/2006/main">
              <a:ext uri="{FF2B5EF4-FFF2-40B4-BE49-F238E27FC236}">
                <a16:creationId xmlns:a16="http://schemas.microsoft.com/office/drawing/2014/main" id="{6BA96E55-554C-45A5-A8C0-1B306881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563EB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563EB"/>
                </a:solidFill>
                <a:latin typeface="Geist"/>
                <a:ea typeface="Geist"/>
                <a:cs typeface="Geist"/>
              </a:defRPr>
            </a:pPr>
            <a:r>
              <a:rPr sz="1950" b="0">
                <a:solidFill>
                  <a:srgbClr val="2563EB"/>
                </a:solidFill>
                <a:latin typeface="Geist"/>
                <a:ea typeface="Geist"/>
                <a:cs typeface="Geist"/>
              </a:rPr>
              <a:t>Optional later: images, OCR, embeddings and grounded summaries</a:t>
            </a:r>
          </a:p>
        </p:txBody>
      </p:sp>
    </p:spTree>
    <p:extLst>
      <p:ext uri="{BB962C8B-B14F-4D97-AF65-F5344CB8AC3E}">
        <p14:creationId xmlns:p14="http://schemas.microsoft.com/office/powerpoint/2010/main" val="11177994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s and credits">
            <a:extLst xmlns:a="http://schemas.openxmlformats.org/drawingml/2006/main">
              <a:ext uri="{FF2B5EF4-FFF2-40B4-BE49-F238E27FC236}">
                <a16:creationId xmlns:a16="http://schemas.microsoft.com/office/drawing/2014/main" id="{5E2B6EFF-E597-4397-873E-09DD2D03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34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Sources and credits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5E912DDA-DF61-435E-994F-46391BBD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72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defRPr>
            </a:pPr>
            <a:r>
              <a:rPr sz="1200" b="0">
                <a:solidFill>
                  <a:srgbClr val="A1A1AA"/>
                </a:solidFill>
                <a:latin typeface="Geist Mono"/>
                <a:ea typeface="Geist Mono"/>
                <a:cs typeface="Geist Mono"/>
              </a:rPr>
              <a:t>18</a:t>
            </a:r>
          </a:p>
        </p:txBody>
      </p:sp>
      <p:sp>
        <p:nvSpPr>
          <p:cNvPr id="3" name="Project evidence">
            <a:extLst xmlns:a="http://schemas.openxmlformats.org/drawingml/2006/main">
              <a:ext uri="{FF2B5EF4-FFF2-40B4-BE49-F238E27FC236}">
                <a16:creationId xmlns:a16="http://schemas.microsoft.com/office/drawing/2014/main" id="{0161CDC0-E7A1-47D9-B39A-6F39E8CD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Project evidence</a:t>
            </a:r>
          </a:p>
        </p:txBody>
      </p:sp>
      <p:sp>
        <p:nvSpPr>
          <p:cNvPr id="4" name="Team CMC CSVs and EDA notebook&#10;Proposal and architectur">
            <a:extLst xmlns:a="http://schemas.openxmlformats.org/drawingml/2006/main">
              <a:ext uri="{FF2B5EF4-FFF2-40B4-BE49-F238E27FC236}">
                <a16:creationId xmlns:a16="http://schemas.microsoft.com/office/drawing/2014/main" id="{549DCE8C-F8BF-4426-89F4-38AA049A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Team CMC CSVs and EDA notebook</a:t>
            </a:r>
          </a:p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Proposal and architecture, 14 Oct 2026</a:t>
            </a:r>
          </a:p>
        </p:txBody>
      </p:sp>
      <p:sp>
        <p:nvSpPr>
          <p:cNvPr id="5" name="Source and database documentation">
            <a:extLst xmlns:a="http://schemas.openxmlformats.org/drawingml/2006/main">
              <a:ext uri="{FF2B5EF4-FFF2-40B4-BE49-F238E27FC236}">
                <a16:creationId xmlns:a16="http://schemas.microsoft.com/office/drawing/2014/main" id="{81DF8B7A-8084-40E2-98A2-83A1C8E4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Source and database documentation</a:t>
            </a:r>
          </a:p>
        </p:txBody>
      </p:sp>
      <p:sp>
        <p:nvSpPr>
          <p:cNvPr id="6" name="MemeChain on Zenodo, FxTwitter, Arctic Shift&#10;PostgreSQL">
            <a:extLst xmlns:a="http://schemas.openxmlformats.org/drawingml/2006/main">
              <a:ext uri="{FF2B5EF4-FFF2-40B4-BE49-F238E27FC236}">
                <a16:creationId xmlns:a16="http://schemas.microsoft.com/office/drawing/2014/main" id="{6CAE42A5-93A6-49F4-BA96-D57B2889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MemeChain on Zenodo, FxTwitter, Arctic Shift</a:t>
            </a:r>
          </a:p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PostgreSQL, MongoDB and Reddit policy</a:t>
            </a:r>
          </a:p>
        </p:txBody>
      </p:sp>
      <p:sp>
        <p:nvSpPr>
          <p:cNvPr id="7" name="Visual direction and images">
            <a:extLst xmlns:a="http://schemas.openxmlformats.org/drawingml/2006/main">
              <a:ext uri="{FF2B5EF4-FFF2-40B4-BE49-F238E27FC236}">
                <a16:creationId xmlns:a16="http://schemas.microsoft.com/office/drawing/2014/main" id="{FF18A7E1-88E5-4AA6-A960-22DF111D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AFAFA"/>
                </a:solidFill>
                <a:latin typeface="Geist"/>
                <a:ea typeface="Geist"/>
                <a:cs typeface="Geist"/>
              </a:defRPr>
            </a:pPr>
            <a:r>
              <a:rPr sz="2250" b="1">
                <a:solidFill>
                  <a:srgbClr val="FAFAFA"/>
                </a:solidFill>
                <a:latin typeface="Geist"/>
                <a:ea typeface="Geist"/>
                <a:cs typeface="Geist"/>
              </a:rPr>
              <a:t>Visual direction and images</a:t>
            </a:r>
          </a:p>
        </p:txBody>
      </p:sp>
      <p:sp>
        <p:nvSpPr>
          <p:cNvPr id="8" name="shadcn/ui and Vercel Geist&#10;Atsuko Sato / KAI-YOU, GetTr">
            <a:extLst xmlns:a="http://schemas.openxmlformats.org/drawingml/2006/main">
              <a:ext uri="{FF2B5EF4-FFF2-40B4-BE49-F238E27FC236}">
                <a16:creationId xmlns:a16="http://schemas.microsoft.com/office/drawing/2014/main" id="{52B6776B-AB7A-482E-ACA6-FBFE83A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shadcn/ui and Vercel Geist</a:t>
            </a:r>
          </a:p>
          <a:p xmlns:a="http://schemas.openxmlformats.org/drawingml/2006/main">
            <a:pPr algn="l">
              <a:defRPr sz="1875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875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Atsuko Sato / KAI-YOU, GetTrumpMemes, CMC, PostgreSQL, MongoDB</a:t>
            </a:r>
          </a:p>
        </p:txBody>
      </p:sp>
      <p:sp>
        <p:nvSpPr>
          <p:cNvPr id="9" name="Full URLs and image attribution appear in each slide’s ">
            <a:extLst xmlns:a="http://schemas.openxmlformats.org/drawingml/2006/main">
              <a:ext uri="{FF2B5EF4-FFF2-40B4-BE49-F238E27FC236}">
                <a16:creationId xmlns:a16="http://schemas.microsoft.com/office/drawing/2014/main" id="{C0CF168A-82C0-45A1-A723-276AB88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Geist"/>
                <a:ea typeface="Geist"/>
                <a:cs typeface="Geist"/>
              </a:defRPr>
            </a:pPr>
            <a:r>
              <a:rPr sz="1200" b="0">
                <a:solidFill>
                  <a:srgbClr val="A1A1AA"/>
                </a:solidFill>
                <a:latin typeface="Geist"/>
                <a:ea typeface="Geist"/>
                <a:cs typeface="Geist"/>
              </a:rPr>
              <a:t>Full URLs and image attribution appear in each slide’s speaker notes and sources.md.</a:t>
            </a:r>
          </a:p>
        </p:txBody>
      </p:sp>
    </p:spTree>
    <p:extLst>
      <p:ext uri="{BB962C8B-B14F-4D97-AF65-F5344CB8AC3E}">
        <p14:creationId xmlns:p14="http://schemas.microsoft.com/office/powerpoint/2010/main" val="703806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2026-10-15T01:13:00.9120000Z</dcterms:created>
  <dcterms:modified xsi:type="dcterms:W3CDTF">2026-10-15T01:13:00.9120000Z</dcterms:modified>
</coreProperties>
</file>