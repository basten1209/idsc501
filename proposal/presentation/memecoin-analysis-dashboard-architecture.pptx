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a7539441d0c49d1" /><Relationship Type="http://schemas.openxmlformats.org/officeDocument/2006/relationships/extended-properties" Target="/docProps/app.xml" Id="Rbb4eb75e73094bb8" /><Relationship Type="http://schemas.openxmlformats.org/officeDocument/2006/relationships/officeDocument" Target="/ppt/presentation.xml" Id="Rb9423644cc67493c" /></Relationships>
</file>

<file path=ppt/presentation.xml><?xml version="1.0" encoding="utf-8"?>
<p:presentation xmlns:p="http://schemas.openxmlformats.org/presentationml/2006/main">
  <p:sldMasterIdLst>
    <p:sldMasterId xmlns:r="http://schemas.openxmlformats.org/officeDocument/2006/relationships" id="2147483648" r:id="Rb4403707606c4f76"/>
  </p:sldMasterIdLst>
  <p:notesMasterIdLst>
    <p:notesMasterId xmlns:r="http://schemas.openxmlformats.org/officeDocument/2006/relationships" r:id="R4f865e789feb40e0"/>
  </p:notesMasterIdLst>
  <p:sldIdLst>
    <p:sldId xmlns:r="http://schemas.openxmlformats.org/officeDocument/2006/relationships" id="256" r:id="Rf192cbf7070e472a"/>
    <p:sldId xmlns:r="http://schemas.openxmlformats.org/officeDocument/2006/relationships" id="257" r:id="Rb75e87d38a954150"/>
    <p:sldId xmlns:r="http://schemas.openxmlformats.org/officeDocument/2006/relationships" id="258" r:id="R30e08456de0249a7"/>
    <p:sldId xmlns:r="http://schemas.openxmlformats.org/officeDocument/2006/relationships" id="259" r:id="Rfa22377d9ebc486f"/>
    <p:sldId xmlns:r="http://schemas.openxmlformats.org/officeDocument/2006/relationships" id="260" r:id="R861c2b14f6f24943"/>
    <p:sldId xmlns:r="http://schemas.openxmlformats.org/officeDocument/2006/relationships" id="261" r:id="R10b3c86495fa4752"/>
    <p:sldId xmlns:r="http://schemas.openxmlformats.org/officeDocument/2006/relationships" id="262" r:id="R76feaecca2d84983"/>
    <p:sldId xmlns:r="http://schemas.openxmlformats.org/officeDocument/2006/relationships" id="263" r:id="R7a8a006741c44b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68e772e4d448aa" /><Relationship Type="http://schemas.openxmlformats.org/officeDocument/2006/relationships/slideMaster" Target="/ppt/slideMasters/slideMaster1.xml" Id="Rb4403707606c4f76" /><Relationship Type="http://schemas.openxmlformats.org/officeDocument/2006/relationships/notesMaster" Target="/ppt/notesMasters/notesMaster1.xml" Id="R4f865e789feb40e0" /><Relationship Type="http://schemas.openxmlformats.org/officeDocument/2006/relationships/presProps" Target="/ppt/presProps.xml" Id="Ree2d172b240c4a93" /><Relationship Type="http://schemas.openxmlformats.org/officeDocument/2006/relationships/tableStyles" Target="/ppt/tableStyles.xml" Id="Rb0370c3337724961" /><Relationship Type="http://schemas.openxmlformats.org/officeDocument/2006/relationships/slide" Target="/ppt/slides/slide1.xml" Id="Rf192cbf7070e472a" /><Relationship Type="http://schemas.openxmlformats.org/officeDocument/2006/relationships/slide" Target="/ppt/slides/slide2.xml" Id="Rb75e87d38a954150" /><Relationship Type="http://schemas.openxmlformats.org/officeDocument/2006/relationships/slide" Target="/ppt/slides/slide3.xml" Id="R30e08456de0249a7" /><Relationship Type="http://schemas.openxmlformats.org/officeDocument/2006/relationships/slide" Target="/ppt/slides/slide4.xml" Id="Rfa22377d9ebc486f" /><Relationship Type="http://schemas.openxmlformats.org/officeDocument/2006/relationships/slide" Target="/ppt/slides/slide5.xml" Id="R861c2b14f6f24943" /><Relationship Type="http://schemas.openxmlformats.org/officeDocument/2006/relationships/slide" Target="/ppt/slides/slide6.xml" Id="R10b3c86495fa4752" /><Relationship Type="http://schemas.openxmlformats.org/officeDocument/2006/relationships/slide" Target="/ppt/slides/slide7.xml" Id="R76feaecca2d84983" /><Relationship Type="http://schemas.openxmlformats.org/officeDocument/2006/relationships/slide" Target="/ppt/slides/slide8.xml" Id="R7a8a006741c44b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3452398e4f4d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ab682f59cd4e88" /><Relationship Type="http://schemas.openxmlformats.org/officeDocument/2006/relationships/notesMaster" Target="/ppt/notesMasters/notesMaster1.xml" Id="R01dae1da4aab42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0cbf5381ac4575" /><Relationship Type="http://schemas.openxmlformats.org/officeDocument/2006/relationships/notesMaster" Target="/ppt/notesMasters/notesMaster1.xml" Id="R3fbd5e55d37241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3fb5d3ce604c76" /><Relationship Type="http://schemas.openxmlformats.org/officeDocument/2006/relationships/notesMaster" Target="/ppt/notesMasters/notesMaster1.xml" Id="R24abee54d4d644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0961fea99041f7" /><Relationship Type="http://schemas.openxmlformats.org/officeDocument/2006/relationships/notesMaster" Target="/ppt/notesMasters/notesMaster1.xml" Id="Radb4d833e17448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eee22c29f34eda" /><Relationship Type="http://schemas.openxmlformats.org/officeDocument/2006/relationships/notesMaster" Target="/ppt/notesMasters/notesMaster1.xml" Id="R5f998782823644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897ef4444645c6" /><Relationship Type="http://schemas.openxmlformats.org/officeDocument/2006/relationships/notesMaster" Target="/ppt/notesMasters/notesMaster1.xml" Id="R3515f838971f4b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6650d4ab424f38" /><Relationship Type="http://schemas.openxmlformats.org/officeDocument/2006/relationships/notesMaster" Target="/ppt/notesMasters/notesMaster1.xml" Id="R7e347f8f4a1648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f2193e771540f6" /><Relationship Type="http://schemas.openxmlformats.org/officeDocument/2006/relationships/notesMaster" Target="/ppt/notesMasters/notesMaster1.xml" Id="R832948a47d3d48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10초</a:t>
            </a:r>
          </a:p>
          <a:p xmlns:a="http://schemas.openxmlformats.org/drawingml/2006/main">
            <a:r>
              <a:t/>
            </a:r>
          </a:p>
          <a:p xmlns:a="http://schemas.openxmlformats.org/drawingml/2006/main">
            <a:r>
              <a:t>저희는 밈코인의 가격과 소셜 활동을 함께 살펴보는 Meme Coin Analysis Dashboard를 제안합니다. 서로 다른 데이터를 수집하고 연결하는 Data Engineering 프로젝트입니다.</a:t>
            </a:r>
          </a:p>
          <a:p xmlns:a="http://schemas.openxmlformats.org/drawingml/2006/main">
            <a:r>
              <a:t/>
            </a:r>
          </a:p>
          <a:p xmlns:a="http://schemas.openxmlformats.org/drawingml/2006/main">
            <a:r>
              <a:t>Sources</a:t>
            </a:r>
          </a:p>
          <a:p xmlns:a="http://schemas.openxmlformats.org/drawingml/2006/main">
            <a:r>
              <a:t>proposal/project-proposal.md (baseline a8d9091)</a:t>
            </a:r>
          </a:p>
          <a:p xmlns:a="http://schemas.openxmlformats.org/drawingml/2006/main">
            <a:r>
              <a:t>https://icons8.com/icons/set/doge</a:t>
            </a:r>
          </a:p>
          <a:p xmlns:a="http://schemas.openxmlformats.org/drawingml/2006/main">
            <a:r>
              <a:t>https://postech.ac.kr/kor/university-introduction/logo.do</a:t>
            </a:r>
          </a:p>
          <a:p xmlns:a="http://schemas.openxmlformats.org/drawingml/2006/main">
            <a:r>
              <a:t>https://ui.shadcn.com/docs/theming</a:t>
            </a:r>
          </a:p>
          <a:p xmlns:a="http://schemas.openxmlformats.org/drawingml/2006/main">
            <a:r>
              <a:t>https://vercel.com/geist/introduction</a:t>
            </a:r>
          </a:p>
          <a:p xmlns:a="http://schemas.openxmlformats.org/drawingml/2006/main">
            <a:r>
              <a:t>https://vercel.com/font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15초</a:t>
            </a:r>
          </a:p>
          <a:p xmlns:a="http://schemas.openxmlformats.org/drawingml/2006/main">
            <a:r>
              <a:t/>
            </a:r>
          </a:p>
          <a:p xmlns:a="http://schemas.openxmlformats.org/drawingml/2006/main">
            <a:r>
              <a:t>먼저 주제를 선정한 이유를 설명하고, 전체 데이터 파이프라인을 한 장으로 보여 드리겠습니다. 이어서 수집과 전처리, 데이터베이스를 선택한 이유, 최종 대시보드를 차례로 설명하겠습니다.</a:t>
            </a:r>
          </a:p>
          <a:p xmlns:a="http://schemas.openxmlformats.org/drawingml/2006/main">
            <a:r>
              <a:t/>
            </a:r>
          </a:p>
          <a:p xmlns:a="http://schemas.openxmlformats.org/drawingml/2006/main">
            <a:r>
              <a:t>Sources</a:t>
            </a:r>
          </a:p>
          <a:p xmlns:a="http://schemas.openxmlformats.org/drawingml/2006/main">
            <a:r>
              <a:t>lecturenote/1_overview.html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55초</a:t>
            </a:r>
          </a:p>
          <a:p xmlns:a="http://schemas.openxmlformats.org/drawingml/2006/main">
            <a:r>
              <a:t/>
            </a:r>
          </a:p>
          <a:p xmlns:a="http://schemas.openxmlformats.org/drawingml/2006/main">
            <a:r>
              <a:t>이 차트는 제공받은 TRUMP의 전체 기간 일별 종가입니다. 처음 상승하는 구간은 우리가 기대하는 모습이고, 그 뒤는 “내가 사면 이렇게 된다”는 밈으로 표현했습니다. 실제 매매 결과를 보여 주는 것은 아닙니다.</a:t>
            </a:r>
          </a:p>
          <a:p xmlns:a="http://schemas.openxmlformats.org/drawingml/2006/main">
            <a:r>
              <a:t>가격 차트는 언제 움직였는지는 알려 주지만, 당시 커뮤니티에서 어떤 이야기가 오갔는지까지 보여 주지는 않습니다. 그래서 가격과 관측 가능한 게시물을 같은 시간축에서 살펴보고 싶었습니다. 사용자는 가격이 움직인 날짜를 선택하고, 관련 게시물과 당시 관측된 활동을 확인할 수 있습니다. 소셜 활동이 가격 변동의 원인이라고 단정하는 대신, 두 자료를 연결해서 맥락을 탐색하는 것이 목적입니다.</a:t>
            </a:r>
          </a:p>
          <a:p xmlns:a="http://schemas.openxmlformats.org/drawingml/2006/main">
            <a:r>
              <a:t>참고: 628개 종가, 최고 일별 종가 $45.5030010328, 마지막 제공 종가 $1.8772949946. 장중 최고가와 구분합니다.</a:t>
            </a:r>
          </a:p>
          <a:p xmlns:a="http://schemas.openxmlformats.org/drawingml/2006/main">
            <a:r>
              <a:t/>
            </a:r>
          </a:p>
          <a:p xmlns:a="http://schemas.openxmlformats.org/drawingml/2006/main">
            <a:r>
              <a:t>Sources</a:t>
            </a:r>
          </a:p>
          <a:p xmlns:a="http://schemas.openxmlformats.org/drawingml/2006/main">
            <a:r>
              <a:t>proposal/evidence-and-references.md (baseline a8d9091)</a:t>
            </a:r>
          </a:p>
          <a:p xmlns:a="http://schemas.openxmlformats.org/drawingml/2006/main">
            <a:r>
              <a:t>Input: .context/attachments/ogAuZF/memecoin_price.zip / memecoin_price/OFFICIAL TRUMP.csv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55초</a:t>
            </a:r>
          </a:p>
          <a:p xmlns:a="http://schemas.openxmlformats.org/drawingml/2006/main">
            <a:r>
              <a:t/>
            </a:r>
          </a:p>
          <a:p xmlns:a="http://schemas.openxmlformats.org/drawingml/2006/main">
            <a:r>
              <a:t>이 그림이 전체 파이프라인입니다. 왼쪽의 CMC 크롤링 결과와 X·Reddit API 응답을 먼저 원본 파일로 보존합니다. Python으로 검증하고 표준화한 다음, 데이터 종류에 따라 경로가 갈라집니다.</a:t>
            </a:r>
          </a:p>
          <a:p xmlns:a="http://schemas.openxmlformats.org/drawingml/2006/main">
            <a:r>
              <a:t>가격은 위쪽 경로를 따라 PostgreSQL로 들어갑니다. 소셜은 아래쪽 MongoDB에 문서와 관측 이력으로 저장합니다. 이어서 Python이 코인 연결과 감성 지표를 계산하고, 코인·날짜·수집 범위별로 집계해 PostgreSQL로 전달합니다. 두 경로가 이곳에서 합쳐집니다.</a:t>
            </a:r>
          </a:p>
          <a:p xmlns:a="http://schemas.openxmlformats.org/drawingml/2006/main">
            <a:r>
              <a:t>실선은 데이터의 수집·변환·적재이고, 점선은 화면 조회 경로입니다. 대시보드의 차트는 PostgreSQL, 게시물 상세는 MongoDB를 읽습니다. 그림의 화면은 8장에서 보여 드릴 구현 예정 화면의 축소본입니다.</a:t>
            </a:r>
          </a:p>
          <a:p xmlns:a="http://schemas.openxmlformats.org/drawingml/2006/main">
            <a:r>
              <a:t/>
            </a:r>
          </a:p>
          <a:p xmlns:a="http://schemas.openxmlformats.org/drawingml/2006/main">
            <a:r>
              <a:t>Sources</a:t>
            </a:r>
          </a:p>
          <a:p xmlns:a="http://schemas.openxmlformats.org/drawingml/2006/main">
            <a:r>
              <a:t>lecturenote/1_overview.html: Netflix and Coupang Eats pipeline examples (visual structure only)</a:t>
            </a:r>
          </a:p>
          <a:p xmlns:a="http://schemas.openxmlformats.org/drawingml/2006/main">
            <a:r>
              <a:t>architecture/system-design.md, section 2</a:t>
            </a:r>
          </a:p>
          <a:p xmlns:a="http://schemas.openxmlformats.org/drawingml/2006/main">
            <a:r>
              <a:t>architecture/ingestion-and-archiving.md</a:t>
            </a:r>
          </a:p>
          <a:p xmlns:a="http://schemas.openxmlformats.org/drawingml/2006/main">
            <a:r>
              <a:t>proposal/evidence-and-references.md</a:t>
            </a:r>
          </a:p>
          <a:p xmlns:a="http://schemas.openxmlformats.org/drawingml/2006/main">
            <a:r>
              <a:t>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70초</a:t>
            </a:r>
          </a:p>
          <a:p xmlns:a="http://schemas.openxmlformats.org/drawingml/2006/main">
            <a:r>
              <a:t/>
            </a:r>
          </a:p>
          <a:p xmlns:a="http://schemas.openxmlformats.org/drawingml/2006/main">
            <a:r>
              <a:t>가격은 이미 10개 코인, 14,773행을 확보했습니다. 팀원이 CoinMarketCap Historical Data 페이지를 크롤링하고 CSV로 전달한 자료입니다. 소셜은 이제 수집할 예정입니다.</a:t>
            </a:r>
          </a:p>
          <a:p xmlns:a="http://schemas.openxmlformats.org/drawingml/2006/main">
            <a:r>
              <a:t>X는 DOGE, SHIB, PEPE, BONK, SPX의 선정 계정을 FxTwitter 제3자 API로 조회해 본문과 시각, 반응 수를 JSON으로 저장합니다. 선정 계정의 활동을 전체 X 언급량으로 해석하지 않습니다. Reddit은 접근·사용 조건을 충족할 때 Arctic Shift API 또는 필요한 아카이브 파일로 관련 커뮤니티의 글과 댓글을 수집합니다.</a:t>
            </a:r>
          </a:p>
          <a:p xmlns:a="http://schemas.openxmlformats.org/drawingml/2006/main">
            <a:r>
              <a:t>MemeChain은 사이트와 소셜 채널을 찾을 때 참고한 자료입니다. 데이터셋을 적재하는 것이 아니라, 실제 선정 사이트와 계정에서 크롤링이나 API로 데이터를 확보합니다. 프로젝트 웹사이트는 소셜 링크와 계약 주소를 검증하는 데 사용합니다. 소셜은 일별로 수집하고 최근 7일을 재조회합니다. 가격 갱신은 새 CSV를 받거나 팀원의 크롤러를 복원해야 합니다.</a:t>
            </a:r>
          </a:p>
          <a:p xmlns:a="http://schemas.openxmlformats.org/drawingml/2006/main">
            <a:r>
              <a:t/>
            </a:r>
          </a:p>
          <a:p xmlns:a="http://schemas.openxmlformats.org/drawingml/2006/main">
            <a:r>
              <a:t>Sources</a:t>
            </a:r>
          </a:p>
          <a:p xmlns:a="http://schemas.openxmlformats.org/drawingml/2006/main">
            <a:r>
              <a:t>proposal/evidence-and-references.md</a:t>
            </a:r>
          </a:p>
          <a:p xmlns:a="http://schemas.openxmlformats.org/drawingml/2006/main">
            <a:r>
              <a:t>architecture/ingestion-and-archiving.md</a:t>
            </a:r>
          </a:p>
          <a:p xmlns:a="http://schemas.openxmlformats.org/drawingml/2006/main">
            <a:r>
              <a:t>https://docs.fxembed.com/api/introduction/</a:t>
            </a:r>
          </a:p>
          <a:p xmlns:a="http://schemas.openxmlformats.org/drawingml/2006/main">
            <a:r>
              <a:t>https://github.com/ArthurHeitmann/arctic_shift/blob/master/api/README.md</a:t>
            </a:r>
          </a:p>
          <a:p xmlns:a="http://schemas.openxmlformats.org/drawingml/2006/main">
            <a:r>
              <a:t>https://zenodo.org/records/18246856</a:t>
            </a:r>
          </a:p>
          <a:p xmlns:a="http://schemas.openxmlformats.org/drawingml/2006/main">
            <a:r>
              <a:t>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65초</a:t>
            </a:r>
          </a:p>
          <a:p xmlns:a="http://schemas.openxmlformats.org/drawingml/2006/main">
            <a:r>
              <a:t/>
            </a:r>
          </a:p>
          <a:p xmlns:a="http://schemas.openxmlformats.org/drawingml/2006/main">
            <a:r>
              <a:t>여기서는 게시물 한 건이 분석용 지표로 바뀌는 과정을 보여 드립니다. 왼쪽은 필드 구조를 설명하는 예시이며, 실제 수집한 게시물은 아닙니다. 먼저 원본 JSON을 보존하고, 게시물 ID를 기준으로 중복을 제거합니다. 게시 시각은 UTC로 통일하고, 반응 수를 관측한 시각과 구분합니다. 언어와 재게시 여부도 기록합니다.</a:t>
            </a:r>
          </a:p>
          <a:p xmlns:a="http://schemas.openxmlformats.org/drawingml/2006/main">
            <a:r>
              <a:t>그다음 검증한 계정과 코인 정보, 본문의 표현을 이용해 게시물을 코인에 연결합니다. 영어 텍스트에 대해서는 기본 감성 지표를 계산하고, 코인·날짜별 게시물 수와 평균 감성 등으로 집계합니다. 감성의 긍정·부정을 가격의 상승·하락 예측으로 해석하지 않습니다.</a:t>
            </a:r>
          </a:p>
          <a:p xmlns:a="http://schemas.openxmlformats.org/drawingml/2006/main">
            <a:r>
              <a:t>가격도 중복 날짜와 OHLC 관계, 0이나 누락 값을 점검합니다. 특히 API 실패는 활동 0건과 다릅니다. 수집을 확인한 경우에만 0을 쓰고, 실패나 미수집 상태는 결측과 상태 정보로 남깁니다.</a:t>
            </a:r>
          </a:p>
          <a:p xmlns:a="http://schemas.openxmlformats.org/drawingml/2006/main">
            <a:r>
              <a:t/>
            </a:r>
          </a:p>
          <a:p xmlns:a="http://schemas.openxmlformats.org/drawingml/2006/main">
            <a:r>
              <a:t>Sources</a:t>
            </a:r>
          </a:p>
          <a:p xmlns:a="http://schemas.openxmlformats.org/drawingml/2006/main">
            <a:r>
              <a:t>architecture/system-design.md; architecture/data-model.md; architecture/ingestion-and-archiving.md (baseline a8d9091)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70초</a:t>
            </a:r>
          </a:p>
          <a:p xmlns:a="http://schemas.openxmlformats.org/drawingml/2006/main">
            <a:r>
              <a:t/>
            </a:r>
          </a:p>
          <a:p xmlns:a="http://schemas.openxmlformats.org/drawingml/2006/main">
            <a:r>
              <a:t>두 데이터베이스를 선택한 이유입니다. PostgreSQL도 JSON을 지원하므로, 소셜 데이터가 텍스트라는 이유만으로 MongoDB가 필요한 것은 아닙니다.</a:t>
            </a:r>
          </a:p>
          <a:p xmlns:a="http://schemas.openxmlformats.org/drawingml/2006/main">
            <a:r>
              <a:t>MongoDB에는 X의 인용·미디어 필드와 Reddit의 글·댓글 관계처럼 플랫폼별로 다른 문서 구조를 보관합니다. 게시물 상세 조회와 관측 이력이 이쪽의 책임입니다. PostgreSQL에는 코인 식별 정보, 가격, 게시물과 코인의 연결, 일별 분석 지표를 저장합니다. 관계와 제약조건을 적용하고 SQL로 분석하기 위한 저장소입니다.</a:t>
            </a:r>
          </a:p>
          <a:p xmlns:a="http://schemas.openxmlformats.org/drawingml/2006/main">
            <a:r>
              <a:t>이번 프로젝트에서는 문서형과 관계형 모델의 역할을 구분하고, MongoDB에서 필요한 값을 추출해 PostgreSQL로 옮기는 ETL을 직접 구현하려고 합니다. 소셜 기록을 일별로 먼저 집계한 뒤 가격과 결합해 행이 중복되는 문제를 막습니다.</a:t>
            </a:r>
          </a:p>
          <a:p xmlns:a="http://schemas.openxmlformats.org/drawingml/2006/main">
            <a:r>
              <a:t>대신 DB 두 개의 인덱스와 백업, 일관성을 관리해야 합니다. 원본 파일과 문서·분석 결과에 안정적인 ID를 유지하고, 검증된 배치만 대시보드에 공개할 계획입니다.</a:t>
            </a:r>
          </a:p>
          <a:p xmlns:a="http://schemas.openxmlformats.org/drawingml/2006/main">
            <a:r>
              <a:t/>
            </a:r>
          </a:p>
          <a:p xmlns:a="http://schemas.openxmlformats.org/drawingml/2006/main">
            <a:r>
              <a:t>Sources</a:t>
            </a:r>
          </a:p>
          <a:p xmlns:a="http://schemas.openxmlformats.org/drawingml/2006/main">
            <a:r>
              <a:t>architecture/system-design.md, sections 3–4</a:t>
            </a:r>
          </a:p>
          <a:p xmlns:a="http://schemas.openxmlformats.org/drawingml/2006/main">
            <a:r>
              <a:t>architecture/data-model.md</a:t>
            </a:r>
          </a:p>
          <a:p xmlns:a="http://schemas.openxmlformats.org/drawingml/2006/main">
            <a:r>
              <a:t>https://www.postgresql.org/docs/current/datatype-json.html</a:t>
            </a:r>
          </a:p>
          <a:p xmlns:a="http://schemas.openxmlformats.org/drawingml/2006/main">
            <a:r>
              <a:t>https://www.mongodb.com/docs/manual/data-modeling/</a:t>
            </a:r>
          </a:p>
          <a:p xmlns:a="http://schemas.openxmlformats.org/drawingml/2006/main">
            <a:r>
              <a:t>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50초</a:t>
            </a:r>
          </a:p>
          <a:p xmlns:a="http://schemas.openxmlformats.org/drawingml/2006/main">
            <a:r>
              <a:t/>
            </a:r>
          </a:p>
          <a:p xmlns:a="http://schemas.openxmlformats.org/drawingml/2006/main">
            <a:r>
              <a:t>최종 결과물은 이와 같은 대시보드입니다. 사용자는 코인과 기간을 선택해 가격과 소셜 활동을 비교하고, 특정 날짜에 관측된 게시물을 확인할 수 있습니다. 화면에는 수집 범위와 최신 관측 시각도 함께 보여 줍니다.</a:t>
            </a:r>
          </a:p>
          <a:p xmlns:a="http://schemas.openxmlformats.org/drawingml/2006/main">
            <a:r>
              <a:t>현재 왼쪽 DOGE 가격은 제공받은 실제 자료이고, 오른쪽 소셜은 아직 수집하지 않았기 때문에 빈 상태로 표시했습니다. 이것은 구현 예정 화면입니다. Streamlit과 Plotly로 만들고, 차트는 PostgreSQL에서, 게시물 상세는 MongoDB에서 조회할 계획입니다. 이 프로젝트를 통해 크롤링과 API 수집부터 전처리, SQL·NoSQL 저장, 실제 조회 화면까지 하나의 데이터 파이프라인을 구현하겠습니다.</a:t>
            </a:r>
          </a:p>
          <a:p xmlns:a="http://schemas.openxmlformats.org/drawingml/2006/main">
            <a:r>
              <a:t/>
            </a:r>
          </a:p>
          <a:p xmlns:a="http://schemas.openxmlformats.org/drawingml/2006/main">
            <a:r>
              <a:t>Sources</a:t>
            </a:r>
          </a:p>
          <a:p xmlns:a="http://schemas.openxmlformats.org/drawingml/2006/main">
            <a:r>
              <a:t>architecture/system-design.md; architecture/data-model.md; architecture/ingestion-and-archiving.md (baseline a8d9091)</a:t>
            </a:r>
          </a:p>
          <a:p xmlns:a="http://schemas.openxmlformats.org/drawingml/2006/main">
            <a:r>
              <a:t>proposal/evidence-and-references.md (baseline a8d9091)</a:t>
            </a:r>
          </a:p>
          <a:p xmlns:a="http://schemas.openxmlformats.org/drawingml/2006/main">
            <a:r>
              <a:t>https://ui.shadcn.com/docs/theming</a:t>
            </a:r>
          </a:p>
          <a:p xmlns:a="http://schemas.openxmlformats.org/drawingml/2006/main">
            <a:r>
              <a:t>https://vercel.com/geist/introduction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0bc3289f3f42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09622395bc4e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7d70d7c30c44d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a45dab1c4c486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78d533fc7d44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c83c9812cf4b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8BF071-7504-47A4-80E9-9E7D1C022A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802C37-9EF5-4C38-BB03-7C24BB79159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B4C43B-8F14-49B1-A2C5-3933625C79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C79A40-531C-4337-9394-F8460D005D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57A149E-5CD1-4F9D-828F-1C48DDE6F1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CCAFE5-6A7F-4038-8D49-069E702F14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B9D0CF-EA9C-4D09-90AC-52D9ACA8C5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973E80-97FD-4C22-9B41-3E321C96D9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5CD2D1-2082-40A1-86F6-FFC8F62261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B3149E-7445-42E0-B776-13C813AFBF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518c22e94244b4" /><Relationship Type="http://schemas.openxmlformats.org/officeDocument/2006/relationships/slideLayout" Target="/ppt/slideLayouts/slideLayout1.xml" Id="R6423034a57634a7a" /><Relationship Type="http://schemas.openxmlformats.org/officeDocument/2006/relationships/slideLayout" Target="/ppt/slideLayouts/slideLayout2.xml" Id="Ra81cb5fac4ab4bf3" /><Relationship Type="http://schemas.openxmlformats.org/officeDocument/2006/relationships/slideLayout" Target="/ppt/slideLayouts/slideLayout3.xml" Id="R19068e856d5244ed" /><Relationship Type="http://schemas.openxmlformats.org/officeDocument/2006/relationships/slideLayout" Target="/ppt/slideLayouts/slideLayout4.xml" Id="Ra6e58e4a33534d2f" /><Relationship Type="http://schemas.openxmlformats.org/officeDocument/2006/relationships/slideLayout" Target="/ppt/slideLayouts/slideLayout5.xml" Id="R07f81a0fe63c4bf8" /><Relationship Type="http://schemas.openxmlformats.org/officeDocument/2006/relationships/slideLayout" Target="/ppt/slideLayouts/slideLayout6.xml" Id="R6fe76b6e9cc544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23034a57634a7a"/>
    <p:sldLayoutId xmlns:r="http://schemas.openxmlformats.org/officeDocument/2006/relationships" id="2147483650" r:id="Ra81cb5fac4ab4bf3"/>
    <p:sldLayoutId xmlns:r="http://schemas.openxmlformats.org/officeDocument/2006/relationships" id="2147483651" r:id="R19068e856d5244ed"/>
    <p:sldLayoutId xmlns:r="http://schemas.openxmlformats.org/officeDocument/2006/relationships" id="2147483652" r:id="Ra6e58e4a33534d2f"/>
    <p:sldLayoutId xmlns:r="http://schemas.openxmlformats.org/officeDocument/2006/relationships" id="2147483653" r:id="R07f81a0fe63c4bf8"/>
    <p:sldLayoutId xmlns:r="http://schemas.openxmlformats.org/officeDocument/2006/relationships" id="2147483654" r:id="R6fe76b6e9cc544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5659a90ef3f42c6" /><Relationship Type="http://schemas.openxmlformats.org/officeDocument/2006/relationships/image" Target="/ppt/media/image.jpeg" Id="Rb8664f3d1c594050" /><Relationship Type="http://schemas.openxmlformats.org/officeDocument/2006/relationships/notesSlide" Target="/ppt/notesSlides/notesSlide1.xml" Id="R41c8174a9b5d40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fb4aa7a11f34ce3" /><Relationship Type="http://schemas.openxmlformats.org/officeDocument/2006/relationships/notesSlide" Target="/ppt/notesSlides/notesSlide2.xml" Id="R9e916687ca804c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f9fd8d9e5e04aba" /><Relationship Type="http://schemas.openxmlformats.org/officeDocument/2006/relationships/chart" Target="/ppt/slides/charts/chart1.xml" Id="Refa55d676a3a46f7" /><Relationship Type="http://schemas.openxmlformats.org/officeDocument/2006/relationships/notesSlide" Target="/ppt/notesSlides/notesSlide3.xml" Id="R008d2a9f645049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283ef15006b4867" /><Relationship Type="http://schemas.openxmlformats.org/officeDocument/2006/relationships/image" Target="/ppt/media/image.png" Id="R8a9e26738ac84b33" /><Relationship Type="http://schemas.openxmlformats.org/officeDocument/2006/relationships/image" Target="/ppt/media/image.svg" Id="Rb5020dbaab4d4633" /><Relationship Type="http://schemas.openxmlformats.org/officeDocument/2006/relationships/image" Target="/ppt/media/image2.png" Id="R02d38bedd82549a4" /><Relationship Type="http://schemas.openxmlformats.org/officeDocument/2006/relationships/image" Target="/ppt/media/image2.svg" Id="Rc58853885be44cf6" /><Relationship Type="http://schemas.openxmlformats.org/officeDocument/2006/relationships/image" Target="/ppt/media/image3.png" Id="R0f1edccfe1484f1f" /><Relationship Type="http://schemas.openxmlformats.org/officeDocument/2006/relationships/image" Target="/ppt/media/image3.svg" Id="R090248d1626e4ea3" /><Relationship Type="http://schemas.openxmlformats.org/officeDocument/2006/relationships/image" Target="/ppt/media/image4.png" Id="R842cbbd6fea54ecc" /><Relationship Type="http://schemas.openxmlformats.org/officeDocument/2006/relationships/notesSlide" Target="/ppt/notesSlides/notesSlide4.xml" Id="R3c29cc8d4b0a46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bf28f7e4c3a41dc" /><Relationship Type="http://schemas.openxmlformats.org/officeDocument/2006/relationships/image" Target="/ppt/media/image4.svg" Id="R50edf59651ea4180" /><Relationship Type="http://schemas.openxmlformats.org/officeDocument/2006/relationships/image" Target="/ppt/media/image.jpeg" Id="R721609b03cb94908" /><Relationship Type="http://schemas.openxmlformats.org/officeDocument/2006/relationships/image" Target="/ppt/media/image5.png" Id="R4f408c94de8848db" /><Relationship Type="http://schemas.openxmlformats.org/officeDocument/2006/relationships/image" Target="/ppt/media/image5.svg" Id="Ra8aefc32e31c43cf" /><Relationship Type="http://schemas.openxmlformats.org/officeDocument/2006/relationships/image" Target="/ppt/media/image6.png" Id="Rd1d1c7af70b34f1f" /><Relationship Type="http://schemas.openxmlformats.org/officeDocument/2006/relationships/image" Target="/ppt/media/image6.svg" Id="R18990332e59349d2" /><Relationship Type="http://schemas.openxmlformats.org/officeDocument/2006/relationships/notesSlide" Target="/ppt/notesSlides/notesSlide5.xml" Id="R322bb3a55aef4d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30289c0bcac4ebe" /><Relationship Type="http://schemas.openxmlformats.org/officeDocument/2006/relationships/notesSlide" Target="/ppt/notesSlides/notesSlide6.xml" Id="R463d962c98d14e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10987e4c11b44dc" /><Relationship Type="http://schemas.openxmlformats.org/officeDocument/2006/relationships/image" Target="/ppt/media/image7.png" Id="R4d468a274aa64949" /><Relationship Type="http://schemas.openxmlformats.org/officeDocument/2006/relationships/image" Target="/ppt/media/image7.svg" Id="R24a1418e46eb4a92" /><Relationship Type="http://schemas.openxmlformats.org/officeDocument/2006/relationships/image" Target="/ppt/media/image8.png" Id="R41523624caef4793" /><Relationship Type="http://schemas.openxmlformats.org/officeDocument/2006/relationships/image" Target="/ppt/media/image8.svg" Id="Rd164fd8c317a4276" /><Relationship Type="http://schemas.openxmlformats.org/officeDocument/2006/relationships/notesSlide" Target="/ppt/notesSlides/notesSlide7.xml" Id="R7d4066f86aaa4a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3a46721a42948f9" /><Relationship Type="http://schemas.openxmlformats.org/officeDocument/2006/relationships/chart" Target="/ppt/slides/charts/chart2.xml" Id="Rdb174c75d24a483c" /><Relationship Type="http://schemas.openxmlformats.org/officeDocument/2006/relationships/notesSlide" Target="/ppt/notesSlides/notesSlide8.xml" Id="R8ec77ab561d64bb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After peak daily close</c:v>
          </c:tx>
          <c:spPr>
            <a:ln xmlns:a="http://schemas.openxmlformats.org/drawingml/2006/main" w="21908">
              <a:solidFill>
                <a:srgbClr val="111111"/>
              </a:solidFill>
            </a:ln>
          </c:spPr>
          <c:marker>
            <c:symbol val="none"/>
          </c:marker>
          <c:xVal>
            <c:numRef>
              <c:f>'Chart Data'!$A$2:$A$628</c:f>
              <c:numCache>
                <c:formatCode>General</c:formatCode>
                <c:ptCount val="627"/>
                <c:pt idx="0">
                  <c:v>45676</c:v>
                </c:pt>
                <c:pt idx="1">
                  <c:v>45677</c:v>
                </c:pt>
                <c:pt idx="2">
                  <c:v>45678</c:v>
                </c:pt>
                <c:pt idx="3">
                  <c:v>45679</c:v>
                </c:pt>
                <c:pt idx="4">
                  <c:v>45680</c:v>
                </c:pt>
                <c:pt idx="5">
                  <c:v>45681</c:v>
                </c:pt>
                <c:pt idx="6">
                  <c:v>45682</c:v>
                </c:pt>
                <c:pt idx="7">
                  <c:v>45683</c:v>
                </c:pt>
                <c:pt idx="8">
                  <c:v>45684</c:v>
                </c:pt>
                <c:pt idx="9">
                  <c:v>45685</c:v>
                </c:pt>
                <c:pt idx="10">
                  <c:v>45686</c:v>
                </c:pt>
                <c:pt idx="11">
                  <c:v>45687</c:v>
                </c:pt>
                <c:pt idx="12">
                  <c:v>45688</c:v>
                </c:pt>
                <c:pt idx="13">
                  <c:v>45689</c:v>
                </c:pt>
                <c:pt idx="14">
                  <c:v>45690</c:v>
                </c:pt>
                <c:pt idx="15">
                  <c:v>45691</c:v>
                </c:pt>
                <c:pt idx="16">
                  <c:v>45692</c:v>
                </c:pt>
                <c:pt idx="17">
                  <c:v>45693</c:v>
                </c:pt>
                <c:pt idx="18">
                  <c:v>45694</c:v>
                </c:pt>
                <c:pt idx="19">
                  <c:v>45695</c:v>
                </c:pt>
                <c:pt idx="20">
                  <c:v>45696</c:v>
                </c:pt>
                <c:pt idx="21">
                  <c:v>45697</c:v>
                </c:pt>
                <c:pt idx="22">
                  <c:v>45698</c:v>
                </c:pt>
                <c:pt idx="23">
                  <c:v>45699</c:v>
                </c:pt>
                <c:pt idx="24">
                  <c:v>45700</c:v>
                </c:pt>
                <c:pt idx="25">
                  <c:v>45701</c:v>
                </c:pt>
                <c:pt idx="26">
                  <c:v>45702</c:v>
                </c:pt>
                <c:pt idx="27">
                  <c:v>45703</c:v>
                </c:pt>
                <c:pt idx="28">
                  <c:v>45704</c:v>
                </c:pt>
                <c:pt idx="29">
                  <c:v>45705</c:v>
                </c:pt>
                <c:pt idx="30">
                  <c:v>45706</c:v>
                </c:pt>
                <c:pt idx="31">
                  <c:v>45707</c:v>
                </c:pt>
                <c:pt idx="32">
                  <c:v>45708</c:v>
                </c:pt>
                <c:pt idx="33">
                  <c:v>45709</c:v>
                </c:pt>
                <c:pt idx="34">
                  <c:v>45710</c:v>
                </c:pt>
                <c:pt idx="35">
                  <c:v>45711</c:v>
                </c:pt>
                <c:pt idx="36">
                  <c:v>45712</c:v>
                </c:pt>
                <c:pt idx="37">
                  <c:v>45713</c:v>
                </c:pt>
                <c:pt idx="38">
                  <c:v>45714</c:v>
                </c:pt>
                <c:pt idx="39">
                  <c:v>45715</c:v>
                </c:pt>
                <c:pt idx="40">
                  <c:v>45716</c:v>
                </c:pt>
                <c:pt idx="41">
                  <c:v>45717</c:v>
                </c:pt>
                <c:pt idx="42">
                  <c:v>45718</c:v>
                </c:pt>
                <c:pt idx="43">
                  <c:v>45719</c:v>
                </c:pt>
                <c:pt idx="44">
                  <c:v>45720</c:v>
                </c:pt>
                <c:pt idx="45">
                  <c:v>45721</c:v>
                </c:pt>
                <c:pt idx="46">
                  <c:v>45722</c:v>
                </c:pt>
                <c:pt idx="47">
                  <c:v>45723</c:v>
                </c:pt>
                <c:pt idx="48">
                  <c:v>45724</c:v>
                </c:pt>
                <c:pt idx="49">
                  <c:v>45725</c:v>
                </c:pt>
                <c:pt idx="50">
                  <c:v>45726</c:v>
                </c:pt>
                <c:pt idx="51">
                  <c:v>45727</c:v>
                </c:pt>
                <c:pt idx="52">
                  <c:v>45728</c:v>
                </c:pt>
                <c:pt idx="53">
                  <c:v>45729</c:v>
                </c:pt>
                <c:pt idx="54">
                  <c:v>45730</c:v>
                </c:pt>
                <c:pt idx="55">
                  <c:v>45731</c:v>
                </c:pt>
                <c:pt idx="56">
                  <c:v>45732</c:v>
                </c:pt>
                <c:pt idx="57">
                  <c:v>45733</c:v>
                </c:pt>
                <c:pt idx="58">
                  <c:v>45734</c:v>
                </c:pt>
                <c:pt idx="59">
                  <c:v>45735</c:v>
                </c:pt>
                <c:pt idx="60">
                  <c:v>45736</c:v>
                </c:pt>
                <c:pt idx="61">
                  <c:v>45737</c:v>
                </c:pt>
                <c:pt idx="62">
                  <c:v>45738</c:v>
                </c:pt>
                <c:pt idx="63">
                  <c:v>45739</c:v>
                </c:pt>
                <c:pt idx="64">
                  <c:v>45740</c:v>
                </c:pt>
                <c:pt idx="65">
                  <c:v>45741</c:v>
                </c:pt>
                <c:pt idx="66">
                  <c:v>45742</c:v>
                </c:pt>
                <c:pt idx="67">
                  <c:v>45743</c:v>
                </c:pt>
                <c:pt idx="68">
                  <c:v>45744</c:v>
                </c:pt>
                <c:pt idx="69">
                  <c:v>45745</c:v>
                </c:pt>
                <c:pt idx="70">
                  <c:v>45746</c:v>
                </c:pt>
                <c:pt idx="71">
                  <c:v>45747</c:v>
                </c:pt>
                <c:pt idx="72">
                  <c:v>45748</c:v>
                </c:pt>
                <c:pt idx="73">
                  <c:v>45749</c:v>
                </c:pt>
                <c:pt idx="74">
                  <c:v>45750</c:v>
                </c:pt>
                <c:pt idx="75">
                  <c:v>45751</c:v>
                </c:pt>
                <c:pt idx="76">
                  <c:v>45752</c:v>
                </c:pt>
                <c:pt idx="77">
                  <c:v>45753</c:v>
                </c:pt>
                <c:pt idx="78">
                  <c:v>45754</c:v>
                </c:pt>
                <c:pt idx="79">
                  <c:v>45755</c:v>
                </c:pt>
                <c:pt idx="80">
                  <c:v>45756</c:v>
                </c:pt>
                <c:pt idx="81">
                  <c:v>45757</c:v>
                </c:pt>
                <c:pt idx="82">
                  <c:v>45758</c:v>
                </c:pt>
                <c:pt idx="83">
                  <c:v>45759</c:v>
                </c:pt>
                <c:pt idx="84">
                  <c:v>45760</c:v>
                </c:pt>
                <c:pt idx="85">
                  <c:v>45761</c:v>
                </c:pt>
                <c:pt idx="86">
                  <c:v>45762</c:v>
                </c:pt>
                <c:pt idx="87">
                  <c:v>45763</c:v>
                </c:pt>
                <c:pt idx="88">
                  <c:v>45764</c:v>
                </c:pt>
                <c:pt idx="89">
                  <c:v>45765</c:v>
                </c:pt>
                <c:pt idx="90">
                  <c:v>45766</c:v>
                </c:pt>
                <c:pt idx="91">
                  <c:v>45767</c:v>
                </c:pt>
                <c:pt idx="92">
                  <c:v>45768</c:v>
                </c:pt>
                <c:pt idx="93">
                  <c:v>45769</c:v>
                </c:pt>
                <c:pt idx="94">
                  <c:v>45770</c:v>
                </c:pt>
                <c:pt idx="95">
                  <c:v>45771</c:v>
                </c:pt>
                <c:pt idx="96">
                  <c:v>45772</c:v>
                </c:pt>
                <c:pt idx="97">
                  <c:v>45773</c:v>
                </c:pt>
                <c:pt idx="98">
                  <c:v>45774</c:v>
                </c:pt>
                <c:pt idx="99">
                  <c:v>45775</c:v>
                </c:pt>
                <c:pt idx="100">
                  <c:v>45776</c:v>
                </c:pt>
                <c:pt idx="101">
                  <c:v>45777</c:v>
                </c:pt>
                <c:pt idx="102">
                  <c:v>45778</c:v>
                </c:pt>
                <c:pt idx="103">
                  <c:v>45779</c:v>
                </c:pt>
                <c:pt idx="104">
                  <c:v>45780</c:v>
                </c:pt>
                <c:pt idx="105">
                  <c:v>45781</c:v>
                </c:pt>
                <c:pt idx="106">
                  <c:v>45782</c:v>
                </c:pt>
                <c:pt idx="107">
                  <c:v>45783</c:v>
                </c:pt>
                <c:pt idx="108">
                  <c:v>45784</c:v>
                </c:pt>
                <c:pt idx="109">
                  <c:v>45785</c:v>
                </c:pt>
                <c:pt idx="110">
                  <c:v>45786</c:v>
                </c:pt>
                <c:pt idx="111">
                  <c:v>45787</c:v>
                </c:pt>
                <c:pt idx="112">
                  <c:v>45788</c:v>
                </c:pt>
                <c:pt idx="113">
                  <c:v>45789</c:v>
                </c:pt>
                <c:pt idx="114">
                  <c:v>45790</c:v>
                </c:pt>
                <c:pt idx="115">
                  <c:v>45791</c:v>
                </c:pt>
                <c:pt idx="116">
                  <c:v>45792</c:v>
                </c:pt>
                <c:pt idx="117">
                  <c:v>45793</c:v>
                </c:pt>
                <c:pt idx="118">
                  <c:v>45794</c:v>
                </c:pt>
                <c:pt idx="119">
                  <c:v>45795</c:v>
                </c:pt>
                <c:pt idx="120">
                  <c:v>45796</c:v>
                </c:pt>
                <c:pt idx="121">
                  <c:v>45797</c:v>
                </c:pt>
                <c:pt idx="122">
                  <c:v>45798</c:v>
                </c:pt>
                <c:pt idx="123">
                  <c:v>45799</c:v>
                </c:pt>
                <c:pt idx="124">
                  <c:v>45800</c:v>
                </c:pt>
                <c:pt idx="125">
                  <c:v>45801</c:v>
                </c:pt>
                <c:pt idx="126">
                  <c:v>45802</c:v>
                </c:pt>
                <c:pt idx="127">
                  <c:v>45803</c:v>
                </c:pt>
                <c:pt idx="128">
                  <c:v>45804</c:v>
                </c:pt>
                <c:pt idx="129">
                  <c:v>45805</c:v>
                </c:pt>
                <c:pt idx="130">
                  <c:v>45806</c:v>
                </c:pt>
                <c:pt idx="131">
                  <c:v>45807</c:v>
                </c:pt>
                <c:pt idx="132">
                  <c:v>45808</c:v>
                </c:pt>
                <c:pt idx="133">
                  <c:v>45809</c:v>
                </c:pt>
                <c:pt idx="134">
                  <c:v>45810</c:v>
                </c:pt>
                <c:pt idx="135">
                  <c:v>45811</c:v>
                </c:pt>
                <c:pt idx="136">
                  <c:v>45812</c:v>
                </c:pt>
                <c:pt idx="137">
                  <c:v>45813</c:v>
                </c:pt>
                <c:pt idx="138">
                  <c:v>45814</c:v>
                </c:pt>
                <c:pt idx="139">
                  <c:v>45815</c:v>
                </c:pt>
                <c:pt idx="140">
                  <c:v>45816</c:v>
                </c:pt>
                <c:pt idx="141">
                  <c:v>45817</c:v>
                </c:pt>
                <c:pt idx="142">
                  <c:v>45818</c:v>
                </c:pt>
                <c:pt idx="143">
                  <c:v>45819</c:v>
                </c:pt>
                <c:pt idx="144">
                  <c:v>45820</c:v>
                </c:pt>
                <c:pt idx="145">
                  <c:v>45821</c:v>
                </c:pt>
                <c:pt idx="146">
                  <c:v>45822</c:v>
                </c:pt>
                <c:pt idx="147">
                  <c:v>45823</c:v>
                </c:pt>
                <c:pt idx="148">
                  <c:v>45824</c:v>
                </c:pt>
                <c:pt idx="149">
                  <c:v>45825</c:v>
                </c:pt>
                <c:pt idx="150">
                  <c:v>45826</c:v>
                </c:pt>
                <c:pt idx="151">
                  <c:v>45827</c:v>
                </c:pt>
                <c:pt idx="152">
                  <c:v>45828</c:v>
                </c:pt>
                <c:pt idx="153">
                  <c:v>45829</c:v>
                </c:pt>
                <c:pt idx="154">
                  <c:v>45830</c:v>
                </c:pt>
                <c:pt idx="155">
                  <c:v>45831</c:v>
                </c:pt>
                <c:pt idx="156">
                  <c:v>45832</c:v>
                </c:pt>
                <c:pt idx="157">
                  <c:v>45833</c:v>
                </c:pt>
                <c:pt idx="158">
                  <c:v>45834</c:v>
                </c:pt>
                <c:pt idx="159">
                  <c:v>45835</c:v>
                </c:pt>
                <c:pt idx="160">
                  <c:v>45836</c:v>
                </c:pt>
                <c:pt idx="161">
                  <c:v>45837</c:v>
                </c:pt>
                <c:pt idx="162">
                  <c:v>45838</c:v>
                </c:pt>
                <c:pt idx="163">
                  <c:v>45839</c:v>
                </c:pt>
                <c:pt idx="164">
                  <c:v>45840</c:v>
                </c:pt>
                <c:pt idx="165">
                  <c:v>45841</c:v>
                </c:pt>
                <c:pt idx="166">
                  <c:v>45842</c:v>
                </c:pt>
                <c:pt idx="167">
                  <c:v>45843</c:v>
                </c:pt>
                <c:pt idx="168">
                  <c:v>45844</c:v>
                </c:pt>
                <c:pt idx="169">
                  <c:v>45845</c:v>
                </c:pt>
                <c:pt idx="170">
                  <c:v>45846</c:v>
                </c:pt>
                <c:pt idx="171">
                  <c:v>45847</c:v>
                </c:pt>
                <c:pt idx="172">
                  <c:v>45848</c:v>
                </c:pt>
                <c:pt idx="173">
                  <c:v>45849</c:v>
                </c:pt>
                <c:pt idx="174">
                  <c:v>45850</c:v>
                </c:pt>
                <c:pt idx="175">
                  <c:v>45851</c:v>
                </c:pt>
                <c:pt idx="176">
                  <c:v>45852</c:v>
                </c:pt>
                <c:pt idx="177">
                  <c:v>45853</c:v>
                </c:pt>
                <c:pt idx="178">
                  <c:v>45854</c:v>
                </c:pt>
                <c:pt idx="179">
                  <c:v>45855</c:v>
                </c:pt>
                <c:pt idx="180">
                  <c:v>45856</c:v>
                </c:pt>
                <c:pt idx="181">
                  <c:v>45857</c:v>
                </c:pt>
                <c:pt idx="182">
                  <c:v>45858</c:v>
                </c:pt>
                <c:pt idx="183">
                  <c:v>45859</c:v>
                </c:pt>
                <c:pt idx="184">
                  <c:v>45860</c:v>
                </c:pt>
                <c:pt idx="185">
                  <c:v>45861</c:v>
                </c:pt>
                <c:pt idx="186">
                  <c:v>45862</c:v>
                </c:pt>
                <c:pt idx="187">
                  <c:v>45863</c:v>
                </c:pt>
                <c:pt idx="188">
                  <c:v>45864</c:v>
                </c:pt>
                <c:pt idx="189">
                  <c:v>45865</c:v>
                </c:pt>
                <c:pt idx="190">
                  <c:v>45866</c:v>
                </c:pt>
                <c:pt idx="191">
                  <c:v>45867</c:v>
                </c:pt>
                <c:pt idx="192">
                  <c:v>45868</c:v>
                </c:pt>
                <c:pt idx="193">
                  <c:v>45869</c:v>
                </c:pt>
                <c:pt idx="194">
                  <c:v>45870</c:v>
                </c:pt>
                <c:pt idx="195">
                  <c:v>45871</c:v>
                </c:pt>
                <c:pt idx="196">
                  <c:v>45872</c:v>
                </c:pt>
                <c:pt idx="197">
                  <c:v>45873</c:v>
                </c:pt>
                <c:pt idx="198">
                  <c:v>45874</c:v>
                </c:pt>
                <c:pt idx="199">
                  <c:v>45875</c:v>
                </c:pt>
                <c:pt idx="200">
                  <c:v>45876</c:v>
                </c:pt>
                <c:pt idx="201">
                  <c:v>45877</c:v>
                </c:pt>
                <c:pt idx="202">
                  <c:v>45878</c:v>
                </c:pt>
                <c:pt idx="203">
                  <c:v>45879</c:v>
                </c:pt>
                <c:pt idx="204">
                  <c:v>45880</c:v>
                </c:pt>
                <c:pt idx="205">
                  <c:v>45881</c:v>
                </c:pt>
                <c:pt idx="206">
                  <c:v>45882</c:v>
                </c:pt>
                <c:pt idx="207">
                  <c:v>45883</c:v>
                </c:pt>
                <c:pt idx="208">
                  <c:v>45884</c:v>
                </c:pt>
                <c:pt idx="209">
                  <c:v>45885</c:v>
                </c:pt>
                <c:pt idx="210">
                  <c:v>45886</c:v>
                </c:pt>
                <c:pt idx="211">
                  <c:v>45887</c:v>
                </c:pt>
                <c:pt idx="212">
                  <c:v>45888</c:v>
                </c:pt>
                <c:pt idx="213">
                  <c:v>45889</c:v>
                </c:pt>
                <c:pt idx="214">
                  <c:v>45890</c:v>
                </c:pt>
                <c:pt idx="215">
                  <c:v>45891</c:v>
                </c:pt>
                <c:pt idx="216">
                  <c:v>45892</c:v>
                </c:pt>
                <c:pt idx="217">
                  <c:v>45893</c:v>
                </c:pt>
                <c:pt idx="218">
                  <c:v>45894</c:v>
                </c:pt>
                <c:pt idx="219">
                  <c:v>45895</c:v>
                </c:pt>
                <c:pt idx="220">
                  <c:v>45896</c:v>
                </c:pt>
                <c:pt idx="221">
                  <c:v>45897</c:v>
                </c:pt>
                <c:pt idx="222">
                  <c:v>45898</c:v>
                </c:pt>
                <c:pt idx="223">
                  <c:v>45899</c:v>
                </c:pt>
                <c:pt idx="224">
                  <c:v>45900</c:v>
                </c:pt>
                <c:pt idx="225">
                  <c:v>45901</c:v>
                </c:pt>
                <c:pt idx="226">
                  <c:v>45902</c:v>
                </c:pt>
                <c:pt idx="227">
                  <c:v>45903</c:v>
                </c:pt>
                <c:pt idx="228">
                  <c:v>45904</c:v>
                </c:pt>
                <c:pt idx="229">
                  <c:v>45905</c:v>
                </c:pt>
                <c:pt idx="230">
                  <c:v>45906</c:v>
                </c:pt>
                <c:pt idx="231">
                  <c:v>45907</c:v>
                </c:pt>
                <c:pt idx="232">
                  <c:v>45908</c:v>
                </c:pt>
                <c:pt idx="233">
                  <c:v>45909</c:v>
                </c:pt>
                <c:pt idx="234">
                  <c:v>45910</c:v>
                </c:pt>
                <c:pt idx="235">
                  <c:v>45911</c:v>
                </c:pt>
                <c:pt idx="236">
                  <c:v>45912</c:v>
                </c:pt>
                <c:pt idx="237">
                  <c:v>45913</c:v>
                </c:pt>
                <c:pt idx="238">
                  <c:v>45914</c:v>
                </c:pt>
                <c:pt idx="239">
                  <c:v>45915</c:v>
                </c:pt>
                <c:pt idx="240">
                  <c:v>45916</c:v>
                </c:pt>
                <c:pt idx="241">
                  <c:v>45917</c:v>
                </c:pt>
                <c:pt idx="242">
                  <c:v>45918</c:v>
                </c:pt>
                <c:pt idx="243">
                  <c:v>45919</c:v>
                </c:pt>
                <c:pt idx="244">
                  <c:v>45920</c:v>
                </c:pt>
                <c:pt idx="245">
                  <c:v>45921</c:v>
                </c:pt>
                <c:pt idx="246">
                  <c:v>45922</c:v>
                </c:pt>
                <c:pt idx="247">
                  <c:v>45923</c:v>
                </c:pt>
                <c:pt idx="248">
                  <c:v>45924</c:v>
                </c:pt>
                <c:pt idx="249">
                  <c:v>45925</c:v>
                </c:pt>
                <c:pt idx="250">
                  <c:v>45926</c:v>
                </c:pt>
                <c:pt idx="251">
                  <c:v>45927</c:v>
                </c:pt>
                <c:pt idx="252">
                  <c:v>45928</c:v>
                </c:pt>
                <c:pt idx="253">
                  <c:v>45929</c:v>
                </c:pt>
                <c:pt idx="254">
                  <c:v>45930</c:v>
                </c:pt>
                <c:pt idx="255">
                  <c:v>45931</c:v>
                </c:pt>
                <c:pt idx="256">
                  <c:v>45932</c:v>
                </c:pt>
                <c:pt idx="257">
                  <c:v>45933</c:v>
                </c:pt>
                <c:pt idx="258">
                  <c:v>45934</c:v>
                </c:pt>
                <c:pt idx="259">
                  <c:v>45935</c:v>
                </c:pt>
                <c:pt idx="260">
                  <c:v>45936</c:v>
                </c:pt>
                <c:pt idx="261">
                  <c:v>45937</c:v>
                </c:pt>
                <c:pt idx="262">
                  <c:v>45938</c:v>
                </c:pt>
                <c:pt idx="263">
                  <c:v>45939</c:v>
                </c:pt>
                <c:pt idx="264">
                  <c:v>45940</c:v>
                </c:pt>
                <c:pt idx="265">
                  <c:v>45941</c:v>
                </c:pt>
                <c:pt idx="266">
                  <c:v>45942</c:v>
                </c:pt>
                <c:pt idx="267">
                  <c:v>45943</c:v>
                </c:pt>
                <c:pt idx="268">
                  <c:v>45944</c:v>
                </c:pt>
                <c:pt idx="269">
                  <c:v>45945</c:v>
                </c:pt>
                <c:pt idx="270">
                  <c:v>45946</c:v>
                </c:pt>
                <c:pt idx="271">
                  <c:v>45947</c:v>
                </c:pt>
                <c:pt idx="272">
                  <c:v>45948</c:v>
                </c:pt>
                <c:pt idx="273">
                  <c:v>45949</c:v>
                </c:pt>
                <c:pt idx="274">
                  <c:v>45950</c:v>
                </c:pt>
                <c:pt idx="275">
                  <c:v>45951</c:v>
                </c:pt>
                <c:pt idx="276">
                  <c:v>45952</c:v>
                </c:pt>
                <c:pt idx="277">
                  <c:v>45953</c:v>
                </c:pt>
                <c:pt idx="278">
                  <c:v>45954</c:v>
                </c:pt>
                <c:pt idx="279">
                  <c:v>45955</c:v>
                </c:pt>
                <c:pt idx="280">
                  <c:v>45956</c:v>
                </c:pt>
                <c:pt idx="281">
                  <c:v>45957</c:v>
                </c:pt>
                <c:pt idx="282">
                  <c:v>45958</c:v>
                </c:pt>
                <c:pt idx="283">
                  <c:v>45959</c:v>
                </c:pt>
                <c:pt idx="284">
                  <c:v>45960</c:v>
                </c:pt>
                <c:pt idx="285">
                  <c:v>45961</c:v>
                </c:pt>
                <c:pt idx="286">
                  <c:v>45962</c:v>
                </c:pt>
                <c:pt idx="287">
                  <c:v>45963</c:v>
                </c:pt>
                <c:pt idx="288">
                  <c:v>45964</c:v>
                </c:pt>
                <c:pt idx="289">
                  <c:v>45965</c:v>
                </c:pt>
                <c:pt idx="290">
                  <c:v>45966</c:v>
                </c:pt>
                <c:pt idx="291">
                  <c:v>45967</c:v>
                </c:pt>
                <c:pt idx="292">
                  <c:v>45968</c:v>
                </c:pt>
                <c:pt idx="293">
                  <c:v>45969</c:v>
                </c:pt>
                <c:pt idx="294">
                  <c:v>45970</c:v>
                </c:pt>
                <c:pt idx="295">
                  <c:v>45971</c:v>
                </c:pt>
                <c:pt idx="296">
                  <c:v>45972</c:v>
                </c:pt>
                <c:pt idx="297">
                  <c:v>45973</c:v>
                </c:pt>
                <c:pt idx="298">
                  <c:v>45974</c:v>
                </c:pt>
                <c:pt idx="299">
                  <c:v>45975</c:v>
                </c:pt>
                <c:pt idx="300">
                  <c:v>45976</c:v>
                </c:pt>
                <c:pt idx="301">
                  <c:v>45977</c:v>
                </c:pt>
                <c:pt idx="302">
                  <c:v>45978</c:v>
                </c:pt>
                <c:pt idx="303">
                  <c:v>45979</c:v>
                </c:pt>
                <c:pt idx="304">
                  <c:v>45980</c:v>
                </c:pt>
                <c:pt idx="305">
                  <c:v>45981</c:v>
                </c:pt>
                <c:pt idx="306">
                  <c:v>45982</c:v>
                </c:pt>
                <c:pt idx="307">
                  <c:v>45983</c:v>
                </c:pt>
                <c:pt idx="308">
                  <c:v>45984</c:v>
                </c:pt>
                <c:pt idx="309">
                  <c:v>45985</c:v>
                </c:pt>
                <c:pt idx="310">
                  <c:v>45986</c:v>
                </c:pt>
                <c:pt idx="311">
                  <c:v>45987</c:v>
                </c:pt>
                <c:pt idx="312">
                  <c:v>45988</c:v>
                </c:pt>
                <c:pt idx="313">
                  <c:v>45989</c:v>
                </c:pt>
                <c:pt idx="314">
                  <c:v>45990</c:v>
                </c:pt>
                <c:pt idx="315">
                  <c:v>45991</c:v>
                </c:pt>
                <c:pt idx="316">
                  <c:v>45992</c:v>
                </c:pt>
                <c:pt idx="317">
                  <c:v>45993</c:v>
                </c:pt>
                <c:pt idx="318">
                  <c:v>45994</c:v>
                </c:pt>
                <c:pt idx="319">
                  <c:v>45995</c:v>
                </c:pt>
                <c:pt idx="320">
                  <c:v>45996</c:v>
                </c:pt>
                <c:pt idx="321">
                  <c:v>45997</c:v>
                </c:pt>
                <c:pt idx="322">
                  <c:v>45998</c:v>
                </c:pt>
                <c:pt idx="323">
                  <c:v>45999</c:v>
                </c:pt>
                <c:pt idx="324">
                  <c:v>46000</c:v>
                </c:pt>
                <c:pt idx="325">
                  <c:v>46001</c:v>
                </c:pt>
                <c:pt idx="326">
                  <c:v>46002</c:v>
                </c:pt>
                <c:pt idx="327">
                  <c:v>46003</c:v>
                </c:pt>
                <c:pt idx="328">
                  <c:v>46004</c:v>
                </c:pt>
                <c:pt idx="329">
                  <c:v>46005</c:v>
                </c:pt>
                <c:pt idx="330">
                  <c:v>46006</c:v>
                </c:pt>
                <c:pt idx="331">
                  <c:v>46007</c:v>
                </c:pt>
                <c:pt idx="332">
                  <c:v>46008</c:v>
                </c:pt>
                <c:pt idx="333">
                  <c:v>46009</c:v>
                </c:pt>
                <c:pt idx="334">
                  <c:v>46010</c:v>
                </c:pt>
                <c:pt idx="335">
                  <c:v>46011</c:v>
                </c:pt>
                <c:pt idx="336">
                  <c:v>46012</c:v>
                </c:pt>
                <c:pt idx="337">
                  <c:v>46013</c:v>
                </c:pt>
                <c:pt idx="338">
                  <c:v>46014</c:v>
                </c:pt>
                <c:pt idx="339">
                  <c:v>46015</c:v>
                </c:pt>
                <c:pt idx="340">
                  <c:v>46016</c:v>
                </c:pt>
                <c:pt idx="341">
                  <c:v>46017</c:v>
                </c:pt>
                <c:pt idx="342">
                  <c:v>46018</c:v>
                </c:pt>
                <c:pt idx="343">
                  <c:v>46019</c:v>
                </c:pt>
                <c:pt idx="344">
                  <c:v>46020</c:v>
                </c:pt>
                <c:pt idx="345">
                  <c:v>46021</c:v>
                </c:pt>
                <c:pt idx="346">
                  <c:v>46022</c:v>
                </c:pt>
                <c:pt idx="347">
                  <c:v>46023</c:v>
                </c:pt>
                <c:pt idx="348">
                  <c:v>46024</c:v>
                </c:pt>
                <c:pt idx="349">
                  <c:v>46025</c:v>
                </c:pt>
                <c:pt idx="350">
                  <c:v>46026</c:v>
                </c:pt>
                <c:pt idx="351">
                  <c:v>46027</c:v>
                </c:pt>
                <c:pt idx="352">
                  <c:v>46028</c:v>
                </c:pt>
                <c:pt idx="353">
                  <c:v>46029</c:v>
                </c:pt>
                <c:pt idx="354">
                  <c:v>46030</c:v>
                </c:pt>
                <c:pt idx="355">
                  <c:v>46031</c:v>
                </c:pt>
                <c:pt idx="356">
                  <c:v>46032</c:v>
                </c:pt>
                <c:pt idx="357">
                  <c:v>46033</c:v>
                </c:pt>
                <c:pt idx="358">
                  <c:v>46034</c:v>
                </c:pt>
                <c:pt idx="359">
                  <c:v>46035</c:v>
                </c:pt>
                <c:pt idx="360">
                  <c:v>46036</c:v>
                </c:pt>
                <c:pt idx="361">
                  <c:v>46037</c:v>
                </c:pt>
                <c:pt idx="362">
                  <c:v>46038</c:v>
                </c:pt>
                <c:pt idx="363">
                  <c:v>46039</c:v>
                </c:pt>
                <c:pt idx="364">
                  <c:v>46040</c:v>
                </c:pt>
                <c:pt idx="365">
                  <c:v>46041</c:v>
                </c:pt>
                <c:pt idx="366">
                  <c:v>46042</c:v>
                </c:pt>
                <c:pt idx="367">
                  <c:v>46043</c:v>
                </c:pt>
                <c:pt idx="368">
                  <c:v>46044</c:v>
                </c:pt>
                <c:pt idx="369">
                  <c:v>46045</c:v>
                </c:pt>
                <c:pt idx="370">
                  <c:v>46046</c:v>
                </c:pt>
                <c:pt idx="371">
                  <c:v>46047</c:v>
                </c:pt>
                <c:pt idx="372">
                  <c:v>46048</c:v>
                </c:pt>
                <c:pt idx="373">
                  <c:v>46049</c:v>
                </c:pt>
                <c:pt idx="374">
                  <c:v>46050</c:v>
                </c:pt>
                <c:pt idx="375">
                  <c:v>46051</c:v>
                </c:pt>
                <c:pt idx="376">
                  <c:v>46052</c:v>
                </c:pt>
                <c:pt idx="377">
                  <c:v>46053</c:v>
                </c:pt>
                <c:pt idx="378">
                  <c:v>46054</c:v>
                </c:pt>
                <c:pt idx="379">
                  <c:v>46055</c:v>
                </c:pt>
                <c:pt idx="380">
                  <c:v>46056</c:v>
                </c:pt>
                <c:pt idx="381">
                  <c:v>46057</c:v>
                </c:pt>
                <c:pt idx="382">
                  <c:v>46058</c:v>
                </c:pt>
                <c:pt idx="383">
                  <c:v>46059</c:v>
                </c:pt>
                <c:pt idx="384">
                  <c:v>46060</c:v>
                </c:pt>
                <c:pt idx="385">
                  <c:v>46061</c:v>
                </c:pt>
                <c:pt idx="386">
                  <c:v>46062</c:v>
                </c:pt>
                <c:pt idx="387">
                  <c:v>46063</c:v>
                </c:pt>
                <c:pt idx="388">
                  <c:v>46064</c:v>
                </c:pt>
                <c:pt idx="389">
                  <c:v>46065</c:v>
                </c:pt>
                <c:pt idx="390">
                  <c:v>46066</c:v>
                </c:pt>
                <c:pt idx="391">
                  <c:v>46067</c:v>
                </c:pt>
                <c:pt idx="392">
                  <c:v>46068</c:v>
                </c:pt>
                <c:pt idx="393">
                  <c:v>46069</c:v>
                </c:pt>
                <c:pt idx="394">
                  <c:v>46070</c:v>
                </c:pt>
                <c:pt idx="395">
                  <c:v>46071</c:v>
                </c:pt>
                <c:pt idx="396">
                  <c:v>46072</c:v>
                </c:pt>
                <c:pt idx="397">
                  <c:v>46073</c:v>
                </c:pt>
                <c:pt idx="398">
                  <c:v>46074</c:v>
                </c:pt>
                <c:pt idx="399">
                  <c:v>46075</c:v>
                </c:pt>
                <c:pt idx="400">
                  <c:v>46076</c:v>
                </c:pt>
                <c:pt idx="401">
                  <c:v>46077</c:v>
                </c:pt>
                <c:pt idx="402">
                  <c:v>46078</c:v>
                </c:pt>
                <c:pt idx="403">
                  <c:v>46079</c:v>
                </c:pt>
                <c:pt idx="404">
                  <c:v>46080</c:v>
                </c:pt>
                <c:pt idx="405">
                  <c:v>46081</c:v>
                </c:pt>
                <c:pt idx="406">
                  <c:v>46082</c:v>
                </c:pt>
                <c:pt idx="407">
                  <c:v>46083</c:v>
                </c:pt>
                <c:pt idx="408">
                  <c:v>46084</c:v>
                </c:pt>
                <c:pt idx="409">
                  <c:v>46085</c:v>
                </c:pt>
                <c:pt idx="410">
                  <c:v>46086</c:v>
                </c:pt>
                <c:pt idx="411">
                  <c:v>46087</c:v>
                </c:pt>
                <c:pt idx="412">
                  <c:v>46088</c:v>
                </c:pt>
                <c:pt idx="413">
                  <c:v>46089</c:v>
                </c:pt>
                <c:pt idx="414">
                  <c:v>46090</c:v>
                </c:pt>
                <c:pt idx="415">
                  <c:v>46091</c:v>
                </c:pt>
                <c:pt idx="416">
                  <c:v>46092</c:v>
                </c:pt>
                <c:pt idx="417">
                  <c:v>46093</c:v>
                </c:pt>
                <c:pt idx="418">
                  <c:v>46094</c:v>
                </c:pt>
                <c:pt idx="419">
                  <c:v>46095</c:v>
                </c:pt>
                <c:pt idx="420">
                  <c:v>46096</c:v>
                </c:pt>
                <c:pt idx="421">
                  <c:v>46097</c:v>
                </c:pt>
                <c:pt idx="422">
                  <c:v>46098</c:v>
                </c:pt>
                <c:pt idx="423">
                  <c:v>46099</c:v>
                </c:pt>
                <c:pt idx="424">
                  <c:v>46100</c:v>
                </c:pt>
                <c:pt idx="425">
                  <c:v>46101</c:v>
                </c:pt>
                <c:pt idx="426">
                  <c:v>46102</c:v>
                </c:pt>
                <c:pt idx="427">
                  <c:v>46103</c:v>
                </c:pt>
                <c:pt idx="428">
                  <c:v>46104</c:v>
                </c:pt>
                <c:pt idx="429">
                  <c:v>46105</c:v>
                </c:pt>
                <c:pt idx="430">
                  <c:v>46106</c:v>
                </c:pt>
                <c:pt idx="431">
                  <c:v>46107</c:v>
                </c:pt>
                <c:pt idx="432">
                  <c:v>46108</c:v>
                </c:pt>
                <c:pt idx="433">
                  <c:v>46109</c:v>
                </c:pt>
                <c:pt idx="434">
                  <c:v>46110</c:v>
                </c:pt>
                <c:pt idx="435">
                  <c:v>46111</c:v>
                </c:pt>
                <c:pt idx="436">
                  <c:v>46112</c:v>
                </c:pt>
                <c:pt idx="437">
                  <c:v>46113</c:v>
                </c:pt>
                <c:pt idx="438">
                  <c:v>46114</c:v>
                </c:pt>
                <c:pt idx="439">
                  <c:v>46115</c:v>
                </c:pt>
                <c:pt idx="440">
                  <c:v>46116</c:v>
                </c:pt>
                <c:pt idx="441">
                  <c:v>46117</c:v>
                </c:pt>
                <c:pt idx="442">
                  <c:v>46118</c:v>
                </c:pt>
                <c:pt idx="443">
                  <c:v>46119</c:v>
                </c:pt>
                <c:pt idx="444">
                  <c:v>46120</c:v>
                </c:pt>
                <c:pt idx="445">
                  <c:v>46121</c:v>
                </c:pt>
                <c:pt idx="446">
                  <c:v>46122</c:v>
                </c:pt>
                <c:pt idx="447">
                  <c:v>46123</c:v>
                </c:pt>
                <c:pt idx="448">
                  <c:v>46124</c:v>
                </c:pt>
                <c:pt idx="449">
                  <c:v>46125</c:v>
                </c:pt>
                <c:pt idx="450">
                  <c:v>46126</c:v>
                </c:pt>
                <c:pt idx="451">
                  <c:v>46127</c:v>
                </c:pt>
                <c:pt idx="452">
                  <c:v>46128</c:v>
                </c:pt>
                <c:pt idx="453">
                  <c:v>46129</c:v>
                </c:pt>
                <c:pt idx="454">
                  <c:v>46130</c:v>
                </c:pt>
                <c:pt idx="455">
                  <c:v>46131</c:v>
                </c:pt>
                <c:pt idx="456">
                  <c:v>46132</c:v>
                </c:pt>
                <c:pt idx="457">
                  <c:v>46133</c:v>
                </c:pt>
                <c:pt idx="458">
                  <c:v>46134</c:v>
                </c:pt>
                <c:pt idx="459">
                  <c:v>46135</c:v>
                </c:pt>
                <c:pt idx="460">
                  <c:v>46136</c:v>
                </c:pt>
                <c:pt idx="461">
                  <c:v>46137</c:v>
                </c:pt>
                <c:pt idx="462">
                  <c:v>46138</c:v>
                </c:pt>
                <c:pt idx="463">
                  <c:v>46139</c:v>
                </c:pt>
                <c:pt idx="464">
                  <c:v>46140</c:v>
                </c:pt>
                <c:pt idx="465">
                  <c:v>46141</c:v>
                </c:pt>
                <c:pt idx="466">
                  <c:v>46142</c:v>
                </c:pt>
                <c:pt idx="467">
                  <c:v>46143</c:v>
                </c:pt>
                <c:pt idx="468">
                  <c:v>46144</c:v>
                </c:pt>
                <c:pt idx="469">
                  <c:v>46145</c:v>
                </c:pt>
                <c:pt idx="470">
                  <c:v>46146</c:v>
                </c:pt>
                <c:pt idx="471">
                  <c:v>46147</c:v>
                </c:pt>
                <c:pt idx="472">
                  <c:v>46148</c:v>
                </c:pt>
                <c:pt idx="473">
                  <c:v>46149</c:v>
                </c:pt>
                <c:pt idx="474">
                  <c:v>46150</c:v>
                </c:pt>
                <c:pt idx="475">
                  <c:v>46151</c:v>
                </c:pt>
                <c:pt idx="476">
                  <c:v>46152</c:v>
                </c:pt>
                <c:pt idx="477">
                  <c:v>46153</c:v>
                </c:pt>
                <c:pt idx="478">
                  <c:v>46154</c:v>
                </c:pt>
                <c:pt idx="479">
                  <c:v>46155</c:v>
                </c:pt>
                <c:pt idx="480">
                  <c:v>46156</c:v>
                </c:pt>
                <c:pt idx="481">
                  <c:v>46157</c:v>
                </c:pt>
                <c:pt idx="482">
                  <c:v>46158</c:v>
                </c:pt>
                <c:pt idx="483">
                  <c:v>46159</c:v>
                </c:pt>
                <c:pt idx="484">
                  <c:v>46160</c:v>
                </c:pt>
                <c:pt idx="485">
                  <c:v>46161</c:v>
                </c:pt>
                <c:pt idx="486">
                  <c:v>46162</c:v>
                </c:pt>
                <c:pt idx="487">
                  <c:v>46163</c:v>
                </c:pt>
                <c:pt idx="488">
                  <c:v>46164</c:v>
                </c:pt>
                <c:pt idx="489">
                  <c:v>46165</c:v>
                </c:pt>
                <c:pt idx="490">
                  <c:v>46166</c:v>
                </c:pt>
                <c:pt idx="491">
                  <c:v>46167</c:v>
                </c:pt>
                <c:pt idx="492">
                  <c:v>46168</c:v>
                </c:pt>
                <c:pt idx="493">
                  <c:v>46169</c:v>
                </c:pt>
                <c:pt idx="494">
                  <c:v>46170</c:v>
                </c:pt>
                <c:pt idx="495">
                  <c:v>46171</c:v>
                </c:pt>
                <c:pt idx="496">
                  <c:v>46172</c:v>
                </c:pt>
                <c:pt idx="497">
                  <c:v>46173</c:v>
                </c:pt>
                <c:pt idx="498">
                  <c:v>46174</c:v>
                </c:pt>
                <c:pt idx="499">
                  <c:v>46175</c:v>
                </c:pt>
                <c:pt idx="500">
                  <c:v>46176</c:v>
                </c:pt>
                <c:pt idx="501">
                  <c:v>46177</c:v>
                </c:pt>
                <c:pt idx="502">
                  <c:v>46178</c:v>
                </c:pt>
                <c:pt idx="503">
                  <c:v>46179</c:v>
                </c:pt>
                <c:pt idx="504">
                  <c:v>46180</c:v>
                </c:pt>
                <c:pt idx="505">
                  <c:v>46181</c:v>
                </c:pt>
                <c:pt idx="506">
                  <c:v>46182</c:v>
                </c:pt>
                <c:pt idx="507">
                  <c:v>46183</c:v>
                </c:pt>
                <c:pt idx="508">
                  <c:v>46184</c:v>
                </c:pt>
                <c:pt idx="509">
                  <c:v>46185</c:v>
                </c:pt>
                <c:pt idx="510">
                  <c:v>46186</c:v>
                </c:pt>
                <c:pt idx="511">
                  <c:v>46187</c:v>
                </c:pt>
                <c:pt idx="512">
                  <c:v>46188</c:v>
                </c:pt>
                <c:pt idx="513">
                  <c:v>46189</c:v>
                </c:pt>
                <c:pt idx="514">
                  <c:v>46190</c:v>
                </c:pt>
                <c:pt idx="515">
                  <c:v>46191</c:v>
                </c:pt>
                <c:pt idx="516">
                  <c:v>46192</c:v>
                </c:pt>
                <c:pt idx="517">
                  <c:v>46193</c:v>
                </c:pt>
                <c:pt idx="518">
                  <c:v>46194</c:v>
                </c:pt>
                <c:pt idx="519">
                  <c:v>46195</c:v>
                </c:pt>
                <c:pt idx="520">
                  <c:v>46196</c:v>
                </c:pt>
                <c:pt idx="521">
                  <c:v>46197</c:v>
                </c:pt>
                <c:pt idx="522">
                  <c:v>46198</c:v>
                </c:pt>
                <c:pt idx="523">
                  <c:v>46199</c:v>
                </c:pt>
                <c:pt idx="524">
                  <c:v>46200</c:v>
                </c:pt>
                <c:pt idx="525">
                  <c:v>46201</c:v>
                </c:pt>
                <c:pt idx="526">
                  <c:v>46202</c:v>
                </c:pt>
                <c:pt idx="527">
                  <c:v>46203</c:v>
                </c:pt>
                <c:pt idx="528">
                  <c:v>46204</c:v>
                </c:pt>
                <c:pt idx="529">
                  <c:v>46205</c:v>
                </c:pt>
                <c:pt idx="530">
                  <c:v>46206</c:v>
                </c:pt>
                <c:pt idx="531">
                  <c:v>46207</c:v>
                </c:pt>
                <c:pt idx="532">
                  <c:v>46208</c:v>
                </c:pt>
                <c:pt idx="533">
                  <c:v>46209</c:v>
                </c:pt>
                <c:pt idx="534">
                  <c:v>46210</c:v>
                </c:pt>
                <c:pt idx="535">
                  <c:v>46211</c:v>
                </c:pt>
                <c:pt idx="536">
                  <c:v>46212</c:v>
                </c:pt>
                <c:pt idx="537">
                  <c:v>46213</c:v>
                </c:pt>
                <c:pt idx="538">
                  <c:v>46214</c:v>
                </c:pt>
                <c:pt idx="539">
                  <c:v>46215</c:v>
                </c:pt>
                <c:pt idx="540">
                  <c:v>46216</c:v>
                </c:pt>
                <c:pt idx="541">
                  <c:v>46217</c:v>
                </c:pt>
                <c:pt idx="542">
                  <c:v>46218</c:v>
                </c:pt>
                <c:pt idx="543">
                  <c:v>46219</c:v>
                </c:pt>
                <c:pt idx="544">
                  <c:v>46220</c:v>
                </c:pt>
                <c:pt idx="545">
                  <c:v>46221</c:v>
                </c:pt>
                <c:pt idx="546">
                  <c:v>46222</c:v>
                </c:pt>
                <c:pt idx="547">
                  <c:v>46223</c:v>
                </c:pt>
                <c:pt idx="548">
                  <c:v>46224</c:v>
                </c:pt>
                <c:pt idx="549">
                  <c:v>46225</c:v>
                </c:pt>
                <c:pt idx="550">
                  <c:v>46226</c:v>
                </c:pt>
                <c:pt idx="551">
                  <c:v>46227</c:v>
                </c:pt>
                <c:pt idx="552">
                  <c:v>46228</c:v>
                </c:pt>
                <c:pt idx="553">
                  <c:v>46229</c:v>
                </c:pt>
                <c:pt idx="554">
                  <c:v>46230</c:v>
                </c:pt>
                <c:pt idx="555">
                  <c:v>46231</c:v>
                </c:pt>
                <c:pt idx="556">
                  <c:v>46232</c:v>
                </c:pt>
                <c:pt idx="557">
                  <c:v>46233</c:v>
                </c:pt>
                <c:pt idx="558">
                  <c:v>46234</c:v>
                </c:pt>
                <c:pt idx="559">
                  <c:v>46235</c:v>
                </c:pt>
                <c:pt idx="560">
                  <c:v>46236</c:v>
                </c:pt>
                <c:pt idx="561">
                  <c:v>46237</c:v>
                </c:pt>
                <c:pt idx="562">
                  <c:v>46238</c:v>
                </c:pt>
                <c:pt idx="563">
                  <c:v>46239</c:v>
                </c:pt>
                <c:pt idx="564">
                  <c:v>46240</c:v>
                </c:pt>
                <c:pt idx="565">
                  <c:v>46241</c:v>
                </c:pt>
                <c:pt idx="566">
                  <c:v>46242</c:v>
                </c:pt>
                <c:pt idx="567">
                  <c:v>46243</c:v>
                </c:pt>
                <c:pt idx="568">
                  <c:v>46244</c:v>
                </c:pt>
                <c:pt idx="569">
                  <c:v>46245</c:v>
                </c:pt>
                <c:pt idx="570">
                  <c:v>46246</c:v>
                </c:pt>
                <c:pt idx="571">
                  <c:v>46247</c:v>
                </c:pt>
                <c:pt idx="572">
                  <c:v>46248</c:v>
                </c:pt>
                <c:pt idx="573">
                  <c:v>46249</c:v>
                </c:pt>
                <c:pt idx="574">
                  <c:v>46250</c:v>
                </c:pt>
                <c:pt idx="575">
                  <c:v>46251</c:v>
                </c:pt>
                <c:pt idx="576">
                  <c:v>46252</c:v>
                </c:pt>
                <c:pt idx="577">
                  <c:v>46253</c:v>
                </c:pt>
                <c:pt idx="578">
                  <c:v>46254</c:v>
                </c:pt>
                <c:pt idx="579">
                  <c:v>46255</c:v>
                </c:pt>
                <c:pt idx="580">
                  <c:v>46256</c:v>
                </c:pt>
                <c:pt idx="581">
                  <c:v>46257</c:v>
                </c:pt>
                <c:pt idx="582">
                  <c:v>46258</c:v>
                </c:pt>
                <c:pt idx="583">
                  <c:v>46259</c:v>
                </c:pt>
                <c:pt idx="584">
                  <c:v>46260</c:v>
                </c:pt>
                <c:pt idx="585">
                  <c:v>46261</c:v>
                </c:pt>
                <c:pt idx="586">
                  <c:v>46262</c:v>
                </c:pt>
                <c:pt idx="587">
                  <c:v>46263</c:v>
                </c:pt>
                <c:pt idx="588">
                  <c:v>46264</c:v>
                </c:pt>
                <c:pt idx="589">
                  <c:v>46265</c:v>
                </c:pt>
                <c:pt idx="590">
                  <c:v>46266</c:v>
                </c:pt>
                <c:pt idx="591">
                  <c:v>46267</c:v>
                </c:pt>
                <c:pt idx="592">
                  <c:v>46268</c:v>
                </c:pt>
                <c:pt idx="593">
                  <c:v>46269</c:v>
                </c:pt>
                <c:pt idx="594">
                  <c:v>46270</c:v>
                </c:pt>
                <c:pt idx="595">
                  <c:v>46271</c:v>
                </c:pt>
                <c:pt idx="596">
                  <c:v>46272</c:v>
                </c:pt>
                <c:pt idx="597">
                  <c:v>46273</c:v>
                </c:pt>
                <c:pt idx="598">
                  <c:v>46274</c:v>
                </c:pt>
                <c:pt idx="599">
                  <c:v>46275</c:v>
                </c:pt>
                <c:pt idx="600">
                  <c:v>46276</c:v>
                </c:pt>
                <c:pt idx="601">
                  <c:v>46277</c:v>
                </c:pt>
                <c:pt idx="602">
                  <c:v>46278</c:v>
                </c:pt>
                <c:pt idx="603">
                  <c:v>46279</c:v>
                </c:pt>
                <c:pt idx="604">
                  <c:v>46280</c:v>
                </c:pt>
                <c:pt idx="605">
                  <c:v>46281</c:v>
                </c:pt>
                <c:pt idx="606">
                  <c:v>46282</c:v>
                </c:pt>
                <c:pt idx="607">
                  <c:v>46283</c:v>
                </c:pt>
                <c:pt idx="608">
                  <c:v>46284</c:v>
                </c:pt>
                <c:pt idx="609">
                  <c:v>46285</c:v>
                </c:pt>
                <c:pt idx="610">
                  <c:v>46286</c:v>
                </c:pt>
                <c:pt idx="611">
                  <c:v>46287</c:v>
                </c:pt>
                <c:pt idx="612">
                  <c:v>46288</c:v>
                </c:pt>
                <c:pt idx="613">
                  <c:v>46289</c:v>
                </c:pt>
                <c:pt idx="614">
                  <c:v>46290</c:v>
                </c:pt>
                <c:pt idx="615">
                  <c:v>46291</c:v>
                </c:pt>
                <c:pt idx="616">
                  <c:v>46292</c:v>
                </c:pt>
                <c:pt idx="617">
                  <c:v>46293</c:v>
                </c:pt>
                <c:pt idx="618">
                  <c:v>46294</c:v>
                </c:pt>
                <c:pt idx="619">
                  <c:v>46295</c:v>
                </c:pt>
                <c:pt idx="620">
                  <c:v>46296</c:v>
                </c:pt>
                <c:pt idx="621">
                  <c:v>46297</c:v>
                </c:pt>
                <c:pt idx="622">
                  <c:v>46298</c:v>
                </c:pt>
                <c:pt idx="623">
                  <c:v>46299</c:v>
                </c:pt>
                <c:pt idx="624">
                  <c:v>46300</c:v>
                </c:pt>
                <c:pt idx="625">
                  <c:v>46301</c:v>
                </c:pt>
                <c:pt idx="626">
                  <c:v>46302</c:v>
                </c:pt>
              </c:numCache>
            </c:numRef>
          </c:xVal>
          <c:yVal>
            <c:numRef>
              <c:f>'Chart Data'!$B$2:$B$628</c:f>
              <c:numCache>
                <c:formatCode>$0</c:formatCode>
                <c:ptCount val="627"/>
                <c:pt idx="0">
                  <c:v>45.5030010328</c:v>
                </c:pt>
                <c:pt idx="1">
                  <c:v>36.9606590793</c:v>
                </c:pt>
                <c:pt idx="2">
                  <c:v>44.0049969891</c:v>
                </c:pt>
                <c:pt idx="3">
                  <c:v>36.9057571143</c:v>
                </c:pt>
                <c:pt idx="4">
                  <c:v>34.7083060806</c:v>
                </c:pt>
                <c:pt idx="5">
                  <c:v>30.0813004249</c:v>
                </c:pt>
                <c:pt idx="6">
                  <c:v>28.8858209191</c:v>
                </c:pt>
                <c:pt idx="7">
                  <c:v>27.3513932482</c:v>
                </c:pt>
                <c:pt idx="8">
                  <c:v>28.0485638761</c:v>
                </c:pt>
                <c:pt idx="9">
                  <c:v>27.3368789836</c:v>
                </c:pt>
                <c:pt idx="10">
                  <c:v>27.2055763914</c:v>
                </c:pt>
                <c:pt idx="11">
                  <c:v>26.0775761673</c:v>
                </c:pt>
                <c:pt idx="12">
                  <c:v>24.1116164683</c:v>
                </c:pt>
                <c:pt idx="13">
                  <c:v>19.7367385755</c:v>
                </c:pt>
                <c:pt idx="14">
                  <c:v>20.8576512905</c:v>
                </c:pt>
                <c:pt idx="15">
                  <c:v>19.6657196635</c:v>
                </c:pt>
                <c:pt idx="16">
                  <c:v>17.2070144873</c:v>
                </c:pt>
                <c:pt idx="17">
                  <c:v>18.1397337977</c:v>
                </c:pt>
                <c:pt idx="18">
                  <c:v>17.1183966881</c:v>
                </c:pt>
                <c:pt idx="19">
                  <c:v>16.5950975909</c:v>
                </c:pt>
                <c:pt idx="20">
                  <c:v>17.2727350246</c:v>
                </c:pt>
                <c:pt idx="21">
                  <c:v>15.910079347</c:v>
                </c:pt>
                <c:pt idx="22">
                  <c:v>15.8942137211</c:v>
                </c:pt>
                <c:pt idx="23">
                  <c:v>15.3399339415</c:v>
                </c:pt>
                <c:pt idx="24">
                  <c:v>15.4407200126</c:v>
                </c:pt>
                <c:pt idx="25">
                  <c:v>16.2842720747</c:v>
                </c:pt>
                <c:pt idx="26">
                  <c:v>21.4867029471</c:v>
                </c:pt>
                <c:pt idx="27">
                  <c:v>18.669437314</c:v>
                </c:pt>
                <c:pt idx="28">
                  <c:v>18.7658325851</c:v>
                </c:pt>
                <c:pt idx="29">
                  <c:v>17.1886947564</c:v>
                </c:pt>
                <c:pt idx="30">
                  <c:v>16.3430468723</c:v>
                </c:pt>
                <c:pt idx="31">
                  <c:v>17.0392405627</c:v>
                </c:pt>
                <c:pt idx="32">
                  <c:v>17.0634190484</c:v>
                </c:pt>
                <c:pt idx="33">
                  <c:v>15.8694430792</c:v>
                </c:pt>
                <c:pt idx="34">
                  <c:v>16.5103934136</c:v>
                </c:pt>
                <c:pt idx="35">
                  <c:v>16.1268282476</c:v>
                </c:pt>
                <c:pt idx="36">
                  <c:v>12.905040985</c:v>
                </c:pt>
                <c:pt idx="37">
                  <c:v>13.2392005889</c:v>
                </c:pt>
                <c:pt idx="38">
                  <c:v>13.2886748063</c:v>
                </c:pt>
                <c:pt idx="39">
                  <c:v>12.5942666016</c:v>
                </c:pt>
                <c:pt idx="40">
                  <c:v>12.9659160369</c:v>
                </c:pt>
                <c:pt idx="41">
                  <c:v>13.190515052</c:v>
                </c:pt>
                <c:pt idx="42">
                  <c:v>16.8663992594</c:v>
                </c:pt>
                <c:pt idx="43">
                  <c:v>12.8092273565</c:v>
                </c:pt>
                <c:pt idx="44">
                  <c:v>13.0010469342</c:v>
                </c:pt>
                <c:pt idx="45">
                  <c:v>13.2203445312</c:v>
                </c:pt>
                <c:pt idx="46">
                  <c:v>13.0967656329</c:v>
                </c:pt>
                <c:pt idx="47">
                  <c:v>12.3515324972</c:v>
                </c:pt>
                <c:pt idx="48">
                  <c:v>12.0239942186</c:v>
                </c:pt>
                <c:pt idx="49">
                  <c:v>10.6988621621</c:v>
                </c:pt>
                <c:pt idx="50">
                  <c:v>10.3040149848</c:v>
                </c:pt>
                <c:pt idx="51">
                  <c:v>10.4871653751</c:v>
                </c:pt>
                <c:pt idx="52">
                  <c:v>10.5768959561</c:v>
                </c:pt>
                <c:pt idx="53">
                  <c:v>10.7117578697</c:v>
                </c:pt>
                <c:pt idx="54">
                  <c:v>11.8928710098</c:v>
                </c:pt>
                <c:pt idx="55">
                  <c:v>12.1829904899</c:v>
                </c:pt>
                <c:pt idx="56">
                  <c:v>11.209065435</c:v>
                </c:pt>
                <c:pt idx="57">
                  <c:v>11.4183753505</c:v>
                </c:pt>
                <c:pt idx="58">
                  <c:v>11.0248332965</c:v>
                </c:pt>
                <c:pt idx="59">
                  <c:v>11.6666825712</c:v>
                </c:pt>
                <c:pt idx="60">
                  <c:v>11.0488226092</c:v>
                </c:pt>
                <c:pt idx="61">
                  <c:v>10.8472096439</c:v>
                </c:pt>
                <c:pt idx="62">
                  <c:v>10.7412243508</c:v>
                </c:pt>
                <c:pt idx="63">
                  <c:v>11.4865255907</c:v>
                </c:pt>
                <c:pt idx="64">
                  <c:v>11.8734825374</c:v>
                </c:pt>
                <c:pt idx="65">
                  <c:v>11.6064347121</c:v>
                </c:pt>
                <c:pt idx="66">
                  <c:v>11.3954071477</c:v>
                </c:pt>
                <c:pt idx="67">
                  <c:v>11.1039255785</c:v>
                </c:pt>
                <c:pt idx="68">
                  <c:v>10.3327658203</c:v>
                </c:pt>
                <c:pt idx="69">
                  <c:v>10.0744625708</c:v>
                </c:pt>
                <c:pt idx="70">
                  <c:v>10.2008588136</c:v>
                </c:pt>
                <c:pt idx="71">
                  <c:v>10.0219331612</c:v>
                </c:pt>
                <c:pt idx="72">
                  <c:v>10.3973526153</c:v>
                </c:pt>
                <c:pt idx="73">
                  <c:v>9.1801502717</c:v>
                </c:pt>
                <c:pt idx="74">
                  <c:v>9.4675278672</c:v>
                </c:pt>
                <c:pt idx="75">
                  <c:v>9.3488217976</c:v>
                </c:pt>
                <c:pt idx="76">
                  <c:v>9.2195024107</c:v>
                </c:pt>
                <c:pt idx="77">
                  <c:v>7.9113468315</c:v>
                </c:pt>
                <c:pt idx="78">
                  <c:v>7.8302417918</c:v>
                </c:pt>
                <c:pt idx="79">
                  <c:v>7.5733076389</c:v>
                </c:pt>
                <c:pt idx="80">
                  <c:v>8.1649371996</c:v>
                </c:pt>
                <c:pt idx="81">
                  <c:v>7.9122059106</c:v>
                </c:pt>
                <c:pt idx="82">
                  <c:v>8.0519767643</c:v>
                </c:pt>
                <c:pt idx="83">
                  <c:v>8.6717934512</c:v>
                </c:pt>
                <c:pt idx="84">
                  <c:v>8.2846966936</c:v>
                </c:pt>
                <c:pt idx="85">
                  <c:v>7.8734876902</c:v>
                </c:pt>
                <c:pt idx="86">
                  <c:v>7.8115266525</c:v>
                </c:pt>
                <c:pt idx="87">
                  <c:v>7.721686774</c:v>
                </c:pt>
                <c:pt idx="88">
                  <c:v>7.5435181798</c:v>
                </c:pt>
                <c:pt idx="89">
                  <c:v>7.7935272395</c:v>
                </c:pt>
                <c:pt idx="90">
                  <c:v>8.4229021762</c:v>
                </c:pt>
                <c:pt idx="91">
                  <c:v>8.1724731685</c:v>
                </c:pt>
                <c:pt idx="92">
                  <c:v>8.3308639783</c:v>
                </c:pt>
                <c:pt idx="93">
                  <c:v>9.2236496384</c:v>
                </c:pt>
                <c:pt idx="94">
                  <c:v>13.3528765106</c:v>
                </c:pt>
                <c:pt idx="95">
                  <c:v>12.2324752451</c:v>
                </c:pt>
                <c:pt idx="96">
                  <c:v>13.3668856956</c:v>
                </c:pt>
                <c:pt idx="97">
                  <c:v>15.6106189385</c:v>
                </c:pt>
                <c:pt idx="98">
                  <c:v>14.8774681039</c:v>
                </c:pt>
                <c:pt idx="99">
                  <c:v>14.6580481303</c:v>
                </c:pt>
                <c:pt idx="100">
                  <c:v>13.0100662524</c:v>
                </c:pt>
                <c:pt idx="101">
                  <c:v>13.1675123063</c:v>
                </c:pt>
                <c:pt idx="102">
                  <c:v>12.72071342</c:v>
                </c:pt>
                <c:pt idx="103">
                  <c:v>13.2298815004</c:v>
                </c:pt>
                <c:pt idx="104">
                  <c:v>11.3286718964</c:v>
                </c:pt>
                <c:pt idx="105">
                  <c:v>10.9857996572</c:v>
                </c:pt>
                <c:pt idx="106">
                  <c:v>11.1771404757</c:v>
                </c:pt>
                <c:pt idx="107">
                  <c:v>11.029093901</c:v>
                </c:pt>
                <c:pt idx="108">
                  <c:v>10.9902290205</c:v>
                </c:pt>
                <c:pt idx="109">
                  <c:v>12.5687440886</c:v>
                </c:pt>
                <c:pt idx="110">
                  <c:v>14.2724386235</c:v>
                </c:pt>
                <c:pt idx="111">
                  <c:v>14.9206765674</c:v>
                </c:pt>
                <c:pt idx="112">
                  <c:v>13.7263091152</c:v>
                </c:pt>
                <c:pt idx="113">
                  <c:v>13.0954450002</c:v>
                </c:pt>
                <c:pt idx="114">
                  <c:v>13.8089157015</c:v>
                </c:pt>
                <c:pt idx="115">
                  <c:v>13.3933211656</c:v>
                </c:pt>
                <c:pt idx="116">
                  <c:v>12.7694593332</c:v>
                </c:pt>
                <c:pt idx="117">
                  <c:v>12.6234727556</c:v>
                </c:pt>
                <c:pt idx="118">
                  <c:v>12.6380853459</c:v>
                </c:pt>
                <c:pt idx="119">
                  <c:v>13.3034963644</c:v>
                </c:pt>
                <c:pt idx="120">
                  <c:v>12.8709161663</c:v>
                </c:pt>
                <c:pt idx="121">
                  <c:v>14.4357236412</c:v>
                </c:pt>
                <c:pt idx="122">
                  <c:v>14.4327305349</c:v>
                </c:pt>
                <c:pt idx="123">
                  <c:v>14.7067908021</c:v>
                </c:pt>
                <c:pt idx="124">
                  <c:v>12.5163711726</c:v>
                </c:pt>
                <c:pt idx="125">
                  <c:v>12.9310432332</c:v>
                </c:pt>
                <c:pt idx="126">
                  <c:v>12.8254262938</c:v>
                </c:pt>
                <c:pt idx="127">
                  <c:v>12.7261910075</c:v>
                </c:pt>
                <c:pt idx="128">
                  <c:v>12.7827330829</c:v>
                </c:pt>
                <c:pt idx="129">
                  <c:v>12.4699609439</c:v>
                </c:pt>
                <c:pt idx="130">
                  <c:v>11.9285511784</c:v>
                </c:pt>
                <c:pt idx="131">
                  <c:v>10.8372824588</c:v>
                </c:pt>
                <c:pt idx="132">
                  <c:v>11.2454618498</c:v>
                </c:pt>
                <c:pt idx="133">
                  <c:v>11.3742062791</c:v>
                </c:pt>
                <c:pt idx="134">
                  <c:v>11.333423406</c:v>
                </c:pt>
                <c:pt idx="135">
                  <c:v>11.1814481411</c:v>
                </c:pt>
                <c:pt idx="136">
                  <c:v>10.8126963839</c:v>
                </c:pt>
                <c:pt idx="137">
                  <c:v>9.752081115</c:v>
                </c:pt>
                <c:pt idx="138">
                  <c:v>10.1111642575</c:v>
                </c:pt>
                <c:pt idx="139">
                  <c:v>10.390046975</c:v>
                </c:pt>
                <c:pt idx="140">
                  <c:v>10.4091622749</c:v>
                </c:pt>
                <c:pt idx="141">
                  <c:v>10.8609600368</c:v>
                </c:pt>
                <c:pt idx="142">
                  <c:v>10.9594057982</c:v>
                </c:pt>
                <c:pt idx="143">
                  <c:v>10.7129794413</c:v>
                </c:pt>
                <c:pt idx="144">
                  <c:v>10.155886118</c:v>
                </c:pt>
                <c:pt idx="145">
                  <c:v>10.2184782294</c:v>
                </c:pt>
                <c:pt idx="146">
                  <c:v>10.0357047275</c:v>
                </c:pt>
                <c:pt idx="147">
                  <c:v>9.9729994196</c:v>
                </c:pt>
                <c:pt idx="148">
                  <c:v>9.6521509289</c:v>
                </c:pt>
                <c:pt idx="149">
                  <c:v>9.5260363474</c:v>
                </c:pt>
                <c:pt idx="150">
                  <c:v>9.3756409143</c:v>
                </c:pt>
                <c:pt idx="151">
                  <c:v>9.3544699247</c:v>
                </c:pt>
                <c:pt idx="152">
                  <c:v>9.1926935588</c:v>
                </c:pt>
                <c:pt idx="153">
                  <c:v>8.9468455218</c:v>
                </c:pt>
                <c:pt idx="154">
                  <c:v>8.7261784039</c:v>
                </c:pt>
                <c:pt idx="155">
                  <c:v>9.3057754944</c:v>
                </c:pt>
                <c:pt idx="156">
                  <c:v>9.2931045497</c:v>
                </c:pt>
                <c:pt idx="157">
                  <c:v>8.9416034991</c:v>
                </c:pt>
                <c:pt idx="158">
                  <c:v>8.9646517715</c:v>
                </c:pt>
                <c:pt idx="159">
                  <c:v>9.0085125279</c:v>
                </c:pt>
                <c:pt idx="160">
                  <c:v>9.1151600114</c:v>
                </c:pt>
                <c:pt idx="161">
                  <c:v>9.2445950181</c:v>
                </c:pt>
                <c:pt idx="162">
                  <c:v>8.8877093731</c:v>
                </c:pt>
                <c:pt idx="163">
                  <c:v>8.5798056034</c:v>
                </c:pt>
                <c:pt idx="164">
                  <c:v>8.830587016</c:v>
                </c:pt>
                <c:pt idx="165">
                  <c:v>8.9172473222</c:v>
                </c:pt>
                <c:pt idx="166">
                  <c:v>8.5063230106</c:v>
                </c:pt>
                <c:pt idx="167">
                  <c:v>8.5342837311</c:v>
                </c:pt>
                <c:pt idx="168">
                  <c:v>8.6324204799</c:v>
                </c:pt>
                <c:pt idx="169">
                  <c:v>8.5825589435</c:v>
                </c:pt>
                <c:pt idx="170">
                  <c:v>8.6211500443</c:v>
                </c:pt>
                <c:pt idx="171">
                  <c:v>9.050284135</c:v>
                </c:pt>
                <c:pt idx="172">
                  <c:v>9.7970722922</c:v>
                </c:pt>
                <c:pt idx="173">
                  <c:v>9.9278587984</c:v>
                </c:pt>
                <c:pt idx="174">
                  <c:v>9.5970186507</c:v>
                </c:pt>
                <c:pt idx="175">
                  <c:v>9.5451795071</c:v>
                </c:pt>
                <c:pt idx="176">
                  <c:v>9.4242766005</c:v>
                </c:pt>
                <c:pt idx="177">
                  <c:v>9.4827861494</c:v>
                </c:pt>
                <c:pt idx="178">
                  <c:v>9.8631261503</c:v>
                </c:pt>
                <c:pt idx="179">
                  <c:v>9.993601576</c:v>
                </c:pt>
                <c:pt idx="180">
                  <c:v>10.0003363877</c:v>
                </c:pt>
                <c:pt idx="181">
                  <c:v>10.1635359294</c:v>
                </c:pt>
                <c:pt idx="182">
                  <c:v>10.7540358841</c:v>
                </c:pt>
                <c:pt idx="183">
                  <c:v>11.2335345452</c:v>
                </c:pt>
                <c:pt idx="184">
                  <c:v>11.1497970318</c:v>
                </c:pt>
                <c:pt idx="185">
                  <c:v>10.1280578175</c:v>
                </c:pt>
                <c:pt idx="186">
                  <c:v>9.9841682239</c:v>
                </c:pt>
                <c:pt idx="187">
                  <c:v>10.1207752581</c:v>
                </c:pt>
                <c:pt idx="188">
                  <c:v>10.145427136</c:v>
                </c:pt>
                <c:pt idx="189">
                  <c:v>10.3200384859</c:v>
                </c:pt>
                <c:pt idx="190">
                  <c:v>9.6972290522</c:v>
                </c:pt>
                <c:pt idx="191">
                  <c:v>9.4859382347</c:v>
                </c:pt>
                <c:pt idx="192">
                  <c:v>9.3036198555</c:v>
                </c:pt>
                <c:pt idx="193">
                  <c:v>8.9544253199</c:v>
                </c:pt>
                <c:pt idx="194">
                  <c:v>8.7262870257</c:v>
                </c:pt>
                <c:pt idx="195">
                  <c:v>8.6158789429</c:v>
                </c:pt>
                <c:pt idx="196">
                  <c:v>8.820397096</c:v>
                </c:pt>
                <c:pt idx="197">
                  <c:v>9.0412409665</c:v>
                </c:pt>
                <c:pt idx="198">
                  <c:v>8.6817367433</c:v>
                </c:pt>
                <c:pt idx="199">
                  <c:v>8.8569134191</c:v>
                </c:pt>
                <c:pt idx="200">
                  <c:v>9.2416277647</c:v>
                </c:pt>
                <c:pt idx="201">
                  <c:v>9.3971883488</c:v>
                </c:pt>
                <c:pt idx="202">
                  <c:v>9.5364207574</c:v>
                </c:pt>
                <c:pt idx="203">
                  <c:v>9.2799888981</c:v>
                </c:pt>
                <c:pt idx="204">
                  <c:v>8.8070146877</c:v>
                </c:pt>
                <c:pt idx="205">
                  <c:v>9.2166084331</c:v>
                </c:pt>
                <c:pt idx="206">
                  <c:v>9.6375427759</c:v>
                </c:pt>
                <c:pt idx="207">
                  <c:v>9.0974909837</c:v>
                </c:pt>
                <c:pt idx="208">
                  <c:v>9.2551437796</c:v>
                </c:pt>
                <c:pt idx="209">
                  <c:v>9.1185553438</c:v>
                </c:pt>
                <c:pt idx="210">
                  <c:v>9.2431688315</c:v>
                </c:pt>
                <c:pt idx="211">
                  <c:v>9.0779013553</c:v>
                </c:pt>
                <c:pt idx="212">
                  <c:v>8.6082022306</c:v>
                </c:pt>
                <c:pt idx="213">
                  <c:v>8.8993115625</c:v>
                </c:pt>
                <c:pt idx="214">
                  <c:v>8.3992514153</c:v>
                </c:pt>
                <c:pt idx="215">
                  <c:v>8.9982363298</c:v>
                </c:pt>
                <c:pt idx="216">
                  <c:v>8.9008522032</c:v>
                </c:pt>
                <c:pt idx="217">
                  <c:v>8.6726033743</c:v>
                </c:pt>
                <c:pt idx="218">
                  <c:v>8.1840401539</c:v>
                </c:pt>
                <c:pt idx="219">
                  <c:v>8.4466241445</c:v>
                </c:pt>
                <c:pt idx="220">
                  <c:v>8.4072829975</c:v>
                </c:pt>
                <c:pt idx="221">
                  <c:v>8.5639225705</c:v>
                </c:pt>
                <c:pt idx="222">
                  <c:v>8.3651598862</c:v>
                </c:pt>
                <c:pt idx="223">
                  <c:v>8.366002437</c:v>
                </c:pt>
                <c:pt idx="224">
                  <c:v>8.6256268941</c:v>
                </c:pt>
                <c:pt idx="225">
                  <c:v>8.3427236344</c:v>
                </c:pt>
                <c:pt idx="226">
                  <c:v>8.3913465477</c:v>
                </c:pt>
                <c:pt idx="227">
                  <c:v>8.4375174942</c:v>
                </c:pt>
                <c:pt idx="228">
                  <c:v>8.2880042833</c:v>
                </c:pt>
                <c:pt idx="229">
                  <c:v>8.3595397536</c:v>
                </c:pt>
                <c:pt idx="230">
                  <c:v>8.3574305946</c:v>
                </c:pt>
                <c:pt idx="231">
                  <c:v>8.4851294146</c:v>
                </c:pt>
                <c:pt idx="232">
                  <c:v>8.6127646619</c:v>
                </c:pt>
                <c:pt idx="233">
                  <c:v>8.6757595788</c:v>
                </c:pt>
                <c:pt idx="234">
                  <c:v>8.8144477124</c:v>
                </c:pt>
                <c:pt idx="235">
                  <c:v>8.8251689788</c:v>
                </c:pt>
                <c:pt idx="236">
                  <c:v>8.9922571933</c:v>
                </c:pt>
                <c:pt idx="237">
                  <c:v>9.2432033259</c:v>
                </c:pt>
                <c:pt idx="238">
                  <c:v>8.7453730944</c:v>
                </c:pt>
                <c:pt idx="239">
                  <c:v>8.5320916331</c:v>
                </c:pt>
                <c:pt idx="240">
                  <c:v>8.603266655</c:v>
                </c:pt>
                <c:pt idx="241">
                  <c:v>8.6975594129</c:v>
                </c:pt>
                <c:pt idx="242">
                  <c:v>8.6668075032</c:v>
                </c:pt>
                <c:pt idx="243">
                  <c:v>8.416173719</c:v>
                </c:pt>
                <c:pt idx="244">
                  <c:v>8.4463292876</c:v>
                </c:pt>
                <c:pt idx="245">
                  <c:v>8.3758349461</c:v>
                </c:pt>
                <c:pt idx="246">
                  <c:v>7.6873105597</c:v>
                </c:pt>
                <c:pt idx="247">
                  <c:v>7.6346946793</c:v>
                </c:pt>
                <c:pt idx="248">
                  <c:v>7.7052032109</c:v>
                </c:pt>
                <c:pt idx="249">
                  <c:v>7.3984929725</c:v>
                </c:pt>
                <c:pt idx="250">
                  <c:v>7.5877188204</c:v>
                </c:pt>
                <c:pt idx="251">
                  <c:v>7.572781012</c:v>
                </c:pt>
                <c:pt idx="252">
                  <c:v>7.6565316489</c:v>
                </c:pt>
                <c:pt idx="253">
                  <c:v>7.579413391</c:v>
                </c:pt>
                <c:pt idx="254">
                  <c:v>7.3758042718</c:v>
                </c:pt>
                <c:pt idx="255">
                  <c:v>7.5820220903</c:v>
                </c:pt>
                <c:pt idx="256">
                  <c:v>7.8290565104</c:v>
                </c:pt>
                <c:pt idx="257">
                  <c:v>7.8566055601</c:v>
                </c:pt>
                <c:pt idx="258">
                  <c:v>7.7585036291</c:v>
                </c:pt>
                <c:pt idx="259">
                  <c:v>7.78960915</c:v>
                </c:pt>
                <c:pt idx="260">
                  <c:v>7.9575108559</c:v>
                </c:pt>
                <c:pt idx="261">
                  <c:v>7.529919853</c:v>
                </c:pt>
                <c:pt idx="262">
                  <c:v>7.7294512516</c:v>
                </c:pt>
                <c:pt idx="263">
                  <c:v>7.5376504527</c:v>
                </c:pt>
                <c:pt idx="264">
                  <c:v>5.405416528</c:v>
                </c:pt>
                <c:pt idx="265">
                  <c:v>5.8625161781</c:v>
                </c:pt>
                <c:pt idx="266">
                  <c:v>6.2117435783</c:v>
                </c:pt>
                <c:pt idx="267">
                  <c:v>6.549190108</c:v>
                </c:pt>
                <c:pt idx="268">
                  <c:v>6.2961059724</c:v>
                </c:pt>
                <c:pt idx="269">
                  <c:v>6.0620150101</c:v>
                </c:pt>
                <c:pt idx="270">
                  <c:v>5.9419080692</c:v>
                </c:pt>
                <c:pt idx="271">
                  <c:v>5.7560667156</c:v>
                </c:pt>
                <c:pt idx="272">
                  <c:v>5.8796643376</c:v>
                </c:pt>
                <c:pt idx="273">
                  <c:v>5.9534068929</c:v>
                </c:pt>
                <c:pt idx="274">
                  <c:v>5.9790441896</c:v>
                </c:pt>
                <c:pt idx="275">
                  <c:v>5.8711633827</c:v>
                </c:pt>
                <c:pt idx="276">
                  <c:v>5.7159099563</c:v>
                </c:pt>
                <c:pt idx="277">
                  <c:v>5.8616574342</c:v>
                </c:pt>
                <c:pt idx="278">
                  <c:v>5.9612485218</c:v>
                </c:pt>
                <c:pt idx="279">
                  <c:v>5.9920305888</c:v>
                </c:pt>
                <c:pt idx="280">
                  <c:v>6.2799459067</c:v>
                </c:pt>
                <c:pt idx="281">
                  <c:v>7.1516408953</c:v>
                </c:pt>
                <c:pt idx="282">
                  <c:v>7.2060873729</c:v>
                </c:pt>
                <c:pt idx="283">
                  <c:v>8.2539278109</c:v>
                </c:pt>
                <c:pt idx="284">
                  <c:v>7.5164731203</c:v>
                </c:pt>
                <c:pt idx="285">
                  <c:v>7.9908159843</c:v>
                </c:pt>
                <c:pt idx="286">
                  <c:v>7.7559391036</c:v>
                </c:pt>
                <c:pt idx="287">
                  <c:v>7.5379215888</c:v>
                </c:pt>
                <c:pt idx="288">
                  <c:v>7.2735763101</c:v>
                </c:pt>
                <c:pt idx="289">
                  <c:v>6.9671007438</c:v>
                </c:pt>
                <c:pt idx="290">
                  <c:v>8.104238351</c:v>
                </c:pt>
                <c:pt idx="291">
                  <c:v>7.6019784999</c:v>
                </c:pt>
                <c:pt idx="292">
                  <c:v>7.6988817381</c:v>
                </c:pt>
                <c:pt idx="293">
                  <c:v>7.5029808708</c:v>
                </c:pt>
                <c:pt idx="294">
                  <c:v>7.6999909274</c:v>
                </c:pt>
                <c:pt idx="295">
                  <c:v>8.8436575842</c:v>
                </c:pt>
                <c:pt idx="296">
                  <c:v>7.884328247</c:v>
                </c:pt>
                <c:pt idx="297">
                  <c:v>7.4723226785</c:v>
                </c:pt>
                <c:pt idx="298">
                  <c:v>7.2706987163</c:v>
                </c:pt>
                <c:pt idx="299">
                  <c:v>7.184756073</c:v>
                </c:pt>
                <c:pt idx="300">
                  <c:v>7.2089727966</c:v>
                </c:pt>
                <c:pt idx="301">
                  <c:v>7.0601106073</c:v>
                </c:pt>
                <c:pt idx="302">
                  <c:v>6.9058096642</c:v>
                </c:pt>
                <c:pt idx="303">
                  <c:v>7.1347431774</c:v>
                </c:pt>
                <c:pt idx="304">
                  <c:v>6.8611618479</c:v>
                </c:pt>
                <c:pt idx="305">
                  <c:v>6.6544885364</c:v>
                </c:pt>
                <c:pt idx="306">
                  <c:v>6.2682374794</c:v>
                </c:pt>
                <c:pt idx="307">
                  <c:v>6.294130999</c:v>
                </c:pt>
                <c:pt idx="308">
                  <c:v>6.2595061531</c:v>
                </c:pt>
                <c:pt idx="309">
                  <c:v>6.3678349588</c:v>
                </c:pt>
                <c:pt idx="310">
                  <c:v>6.2293246506</c:v>
                </c:pt>
                <c:pt idx="311">
                  <c:v>6.2859019218</c:v>
                </c:pt>
                <c:pt idx="312">
                  <c:v>6.143455016</c:v>
                </c:pt>
                <c:pt idx="313">
                  <c:v>6.0448126676</c:v>
                </c:pt>
                <c:pt idx="314">
                  <c:v>6.034412146</c:v>
                </c:pt>
                <c:pt idx="315">
                  <c:v>6.0099349805</c:v>
                </c:pt>
                <c:pt idx="316">
                  <c:v>5.7306394101</c:v>
                </c:pt>
                <c:pt idx="317">
                  <c:v>5.9920173522</c:v>
                </c:pt>
                <c:pt idx="318">
                  <c:v>6.0741422635</c:v>
                </c:pt>
                <c:pt idx="319">
                  <c:v>5.9255719715</c:v>
                </c:pt>
                <c:pt idx="320">
                  <c:v>5.7436341685</c:v>
                </c:pt>
                <c:pt idx="321">
                  <c:v>5.7218679187</c:v>
                </c:pt>
                <c:pt idx="322">
                  <c:v>5.6553055459</c:v>
                </c:pt>
                <c:pt idx="323">
                  <c:v>5.6901063762</c:v>
                </c:pt>
                <c:pt idx="324">
                  <c:v>5.9358860376</c:v>
                </c:pt>
                <c:pt idx="325">
                  <c:v>5.7472454495</c:v>
                </c:pt>
                <c:pt idx="326">
                  <c:v>5.6875596606</c:v>
                </c:pt>
                <c:pt idx="327">
                  <c:v>5.6124054695</c:v>
                </c:pt>
                <c:pt idx="328">
                  <c:v>5.5565571154</c:v>
                </c:pt>
                <c:pt idx="329">
                  <c:v>5.4198556742</c:v>
                </c:pt>
                <c:pt idx="330">
                  <c:v>5.3290635056</c:v>
                </c:pt>
                <c:pt idx="331">
                  <c:v>5.2947571275</c:v>
                </c:pt>
                <c:pt idx="332">
                  <c:v>5.1359796569</c:v>
                </c:pt>
                <c:pt idx="333">
                  <c:v>5.0119846973</c:v>
                </c:pt>
                <c:pt idx="334">
                  <c:v>5.1583906735</c:v>
                </c:pt>
                <c:pt idx="335">
                  <c:v>5.090307434</c:v>
                </c:pt>
                <c:pt idx="336">
                  <c:v>5.0679691383</c:v>
                </c:pt>
                <c:pt idx="337">
                  <c:v>4.9749956275</c:v>
                </c:pt>
                <c:pt idx="338">
                  <c:v>4.9471518714</c:v>
                </c:pt>
                <c:pt idx="339">
                  <c:v>4.9145201318</c:v>
                </c:pt>
                <c:pt idx="340">
                  <c:v>4.8682377457</c:v>
                </c:pt>
                <c:pt idx="341">
                  <c:v>4.892803095</c:v>
                </c:pt>
                <c:pt idx="342">
                  <c:v>4.9613064721</c:v>
                </c:pt>
                <c:pt idx="343">
                  <c:v>4.919580798</c:v>
                </c:pt>
                <c:pt idx="344">
                  <c:v>4.9057067948</c:v>
                </c:pt>
                <c:pt idx="345">
                  <c:v>4.9021312244</c:v>
                </c:pt>
                <c:pt idx="346">
                  <c:v>4.8017246226</c:v>
                </c:pt>
                <c:pt idx="347">
                  <c:v>4.8831244609</c:v>
                </c:pt>
                <c:pt idx="348">
                  <c:v>5.0469639692</c:v>
                </c:pt>
                <c:pt idx="349">
                  <c:v>5.2606239417</c:v>
                </c:pt>
                <c:pt idx="350">
                  <c:v>5.4023466224</c:v>
                </c:pt>
                <c:pt idx="351">
                  <c:v>5.6257338531</c:v>
                </c:pt>
                <c:pt idx="352">
                  <c:v>5.4798217237</c:v>
                </c:pt>
                <c:pt idx="353">
                  <c:v>5.3611889511</c:v>
                </c:pt>
                <c:pt idx="354">
                  <c:v>5.359479996</c:v>
                </c:pt>
                <c:pt idx="355">
                  <c:v>5.430355617</c:v>
                </c:pt>
                <c:pt idx="356">
                  <c:v>5.3970002708</c:v>
                </c:pt>
                <c:pt idx="357">
                  <c:v>5.4350158227</c:v>
                </c:pt>
                <c:pt idx="358">
                  <c:v>5.3427133777</c:v>
                </c:pt>
                <c:pt idx="359">
                  <c:v>5.6600279404</c:v>
                </c:pt>
                <c:pt idx="360">
                  <c:v>5.5627827307</c:v>
                </c:pt>
                <c:pt idx="361">
                  <c:v>5.3622754028</c:v>
                </c:pt>
                <c:pt idx="362">
                  <c:v>5.3843932437</c:v>
                </c:pt>
                <c:pt idx="363">
                  <c:v>5.3154452694</c:v>
                </c:pt>
                <c:pt idx="364">
                  <c:v>5.0888965191</c:v>
                </c:pt>
                <c:pt idx="365">
                  <c:v>5.0085851745</c:v>
                </c:pt>
                <c:pt idx="366">
                  <c:v>4.8297591459</c:v>
                </c:pt>
                <c:pt idx="367">
                  <c:v>4.9354738682</c:v>
                </c:pt>
                <c:pt idx="368">
                  <c:v>4.8404004852</c:v>
                </c:pt>
                <c:pt idx="369">
                  <c:v>4.8481192325</c:v>
                </c:pt>
                <c:pt idx="370">
                  <c:v>4.9324376786</c:v>
                </c:pt>
                <c:pt idx="371">
                  <c:v>4.754316358</c:v>
                </c:pt>
                <c:pt idx="372">
                  <c:v>4.8043915672</c:v>
                </c:pt>
                <c:pt idx="373">
                  <c:v>4.796563156</c:v>
                </c:pt>
                <c:pt idx="374">
                  <c:v>4.7549936912</c:v>
                </c:pt>
                <c:pt idx="375">
                  <c:v>4.5701364539</c:v>
                </c:pt>
                <c:pt idx="376">
                  <c:v>4.4548776362</c:v>
                </c:pt>
                <c:pt idx="377">
                  <c:v>4.2411810791</c:v>
                </c:pt>
                <c:pt idx="378">
                  <c:v>4.1355793055</c:v>
                </c:pt>
                <c:pt idx="379">
                  <c:v>4.2637219957</c:v>
                </c:pt>
                <c:pt idx="380">
                  <c:v>4.2059073517</c:v>
                </c:pt>
                <c:pt idx="381">
                  <c:v>4.1399929144</c:v>
                </c:pt>
                <c:pt idx="382">
                  <c:v>3.4251425622</c:v>
                </c:pt>
                <c:pt idx="383">
                  <c:v>3.5116592367</c:v>
                </c:pt>
                <c:pt idx="384">
                  <c:v>3.4358628849</c:v>
                </c:pt>
                <c:pt idx="385">
                  <c:v>3.3619236522</c:v>
                </c:pt>
                <c:pt idx="386">
                  <c:v>3.3576647271</c:v>
                </c:pt>
                <c:pt idx="387">
                  <c:v>3.2377339206</c:v>
                </c:pt>
                <c:pt idx="388">
                  <c:v>3.2156284582</c:v>
                </c:pt>
                <c:pt idx="389">
                  <c:v>3.2887960563</c:v>
                </c:pt>
                <c:pt idx="390">
                  <c:v>3.419107101</c:v>
                </c:pt>
                <c:pt idx="391">
                  <c:v>3.5847847611</c:v>
                </c:pt>
                <c:pt idx="392">
                  <c:v>3.4062454105</c:v>
                </c:pt>
                <c:pt idx="393">
                  <c:v>3.3812403022</c:v>
                </c:pt>
                <c:pt idx="394">
                  <c:v>3.4503649111</c:v>
                </c:pt>
                <c:pt idx="395">
                  <c:v>3.3763278372</c:v>
                </c:pt>
                <c:pt idx="396">
                  <c:v>3.4184752969</c:v>
                </c:pt>
                <c:pt idx="397">
                  <c:v>3.5707244553</c:v>
                </c:pt>
                <c:pt idx="398">
                  <c:v>3.4712654127</c:v>
                </c:pt>
                <c:pt idx="399">
                  <c:v>3.3868399312</c:v>
                </c:pt>
                <c:pt idx="400">
                  <c:v>3.3059579857</c:v>
                </c:pt>
                <c:pt idx="401">
                  <c:v>3.366458195</c:v>
                </c:pt>
                <c:pt idx="402">
                  <c:v>3.519945427</c:v>
                </c:pt>
                <c:pt idx="403">
                  <c:v>3.4677111738</c:v>
                </c:pt>
                <c:pt idx="404">
                  <c:v>3.4012377612</c:v>
                </c:pt>
                <c:pt idx="405">
                  <c:v>3.4658219023</c:v>
                </c:pt>
                <c:pt idx="406">
                  <c:v>3.4209759897</c:v>
                </c:pt>
                <c:pt idx="407">
                  <c:v>3.4771168416</c:v>
                </c:pt>
                <c:pt idx="408">
                  <c:v>3.3932989081</c:v>
                </c:pt>
                <c:pt idx="409">
                  <c:v>3.4302993942</c:v>
                </c:pt>
                <c:pt idx="410">
                  <c:v>3.2279527862</c:v>
                </c:pt>
                <c:pt idx="411">
                  <c:v>3.1311657716</c:v>
                </c:pt>
                <c:pt idx="412">
                  <c:v>2.9990657364</c:v>
                </c:pt>
                <c:pt idx="413">
                  <c:v>2.9681935601</c:v>
                </c:pt>
                <c:pt idx="414">
                  <c:v>2.8821926306</c:v>
                </c:pt>
                <c:pt idx="415">
                  <c:v>2.9035010878</c:v>
                </c:pt>
                <c:pt idx="416">
                  <c:v>2.9008449138</c:v>
                </c:pt>
                <c:pt idx="417">
                  <c:v>2.935727337</c:v>
                </c:pt>
                <c:pt idx="418">
                  <c:v>3.8505826533</c:v>
                </c:pt>
                <c:pt idx="419">
                  <c:v>4.0147745002</c:v>
                </c:pt>
                <c:pt idx="420">
                  <c:v>4.0521750144</c:v>
                </c:pt>
                <c:pt idx="421">
                  <c:v>3.8999025921</c:v>
                </c:pt>
                <c:pt idx="422">
                  <c:v>3.6558414698</c:v>
                </c:pt>
                <c:pt idx="423">
                  <c:v>3.4893735097</c:v>
                </c:pt>
                <c:pt idx="424">
                  <c:v>3.3446038655</c:v>
                </c:pt>
                <c:pt idx="425">
                  <c:v>3.3527933106</c:v>
                </c:pt>
                <c:pt idx="426">
                  <c:v>3.2468705174</c:v>
                </c:pt>
                <c:pt idx="427">
                  <c:v>3.195800045</c:v>
                </c:pt>
                <c:pt idx="428">
                  <c:v>3.2858991565</c:v>
                </c:pt>
                <c:pt idx="429">
                  <c:v>3.2709206486</c:v>
                </c:pt>
                <c:pt idx="430">
                  <c:v>3.2821705295</c:v>
                </c:pt>
                <c:pt idx="431">
                  <c:v>3.1307161051</c:v>
                </c:pt>
                <c:pt idx="432">
                  <c:v>2.9908726935</c:v>
                </c:pt>
                <c:pt idx="433">
                  <c:v>2.9376434067</c:v>
                </c:pt>
                <c:pt idx="434">
                  <c:v>2.8614931545</c:v>
                </c:pt>
                <c:pt idx="435">
                  <c:v>2.9324246896</c:v>
                </c:pt>
                <c:pt idx="436">
                  <c:v>3.0097055048</c:v>
                </c:pt>
                <c:pt idx="437">
                  <c:v>2.9480806711</c:v>
                </c:pt>
                <c:pt idx="438">
                  <c:v>2.8149435638</c:v>
                </c:pt>
                <c:pt idx="439">
                  <c:v>2.7946728636</c:v>
                </c:pt>
                <c:pt idx="440">
                  <c:v>2.903923421</c:v>
                </c:pt>
                <c:pt idx="441">
                  <c:v>2.8765511957</c:v>
                </c:pt>
                <c:pt idx="442">
                  <c:v>2.8408457045</c:v>
                </c:pt>
                <c:pt idx="443">
                  <c:v>3.0011770247</c:v>
                </c:pt>
                <c:pt idx="444">
                  <c:v>2.9202938897</c:v>
                </c:pt>
                <c:pt idx="445">
                  <c:v>2.9284429281</c:v>
                </c:pt>
                <c:pt idx="446">
                  <c:v>2.8538000932</c:v>
                </c:pt>
                <c:pt idx="447">
                  <c:v>2.8283936505</c:v>
                </c:pt>
                <c:pt idx="448">
                  <c:v>2.7959558174</c:v>
                </c:pt>
                <c:pt idx="449">
                  <c:v>2.874881387</c:v>
                </c:pt>
                <c:pt idx="450">
                  <c:v>2.8067318551</c:v>
                </c:pt>
                <c:pt idx="451">
                  <c:v>2.9343865478</c:v>
                </c:pt>
                <c:pt idx="452">
                  <c:v>3.0725188375</c:v>
                </c:pt>
                <c:pt idx="453">
                  <c:v>3.0473959791</c:v>
                </c:pt>
                <c:pt idx="454">
                  <c:v>2.8784383887</c:v>
                </c:pt>
                <c:pt idx="455">
                  <c:v>2.7926246444</c:v>
                </c:pt>
                <c:pt idx="456">
                  <c:v>2.8730005022</c:v>
                </c:pt>
                <c:pt idx="457">
                  <c:v>2.8543702171</c:v>
                </c:pt>
                <c:pt idx="458">
                  <c:v>2.9120200277</c:v>
                </c:pt>
                <c:pt idx="459">
                  <c:v>2.8703548879</c:v>
                </c:pt>
                <c:pt idx="460">
                  <c:v>2.8797730219</c:v>
                </c:pt>
                <c:pt idx="461">
                  <c:v>2.570249926</c:v>
                </c:pt>
                <c:pt idx="462">
                  <c:v>2.6158528948</c:v>
                </c:pt>
                <c:pt idx="463">
                  <c:v>2.528798839</c:v>
                </c:pt>
                <c:pt idx="464">
                  <c:v>2.4853940377</c:v>
                </c:pt>
                <c:pt idx="465">
                  <c:v>2.392278287</c:v>
                </c:pt>
                <c:pt idx="466">
                  <c:v>2.3836226797</c:v>
                </c:pt>
                <c:pt idx="467">
                  <c:v>2.3131752711</c:v>
                </c:pt>
                <c:pt idx="468">
                  <c:v>2.358367443</c:v>
                </c:pt>
                <c:pt idx="469">
                  <c:v>2.3325662668</c:v>
                </c:pt>
                <c:pt idx="470">
                  <c:v>2.3159473152</c:v>
                </c:pt>
                <c:pt idx="471">
                  <c:v>2.3764709532</c:v>
                </c:pt>
                <c:pt idx="472">
                  <c:v>2.371238376</c:v>
                </c:pt>
                <c:pt idx="473">
                  <c:v>2.3786843075</c:v>
                </c:pt>
                <c:pt idx="474">
                  <c:v>2.4722023342</c:v>
                </c:pt>
                <c:pt idx="475">
                  <c:v>2.4598254383</c:v>
                </c:pt>
                <c:pt idx="476">
                  <c:v>2.4892356868</c:v>
                </c:pt>
                <c:pt idx="477">
                  <c:v>2.4313534003</c:v>
                </c:pt>
                <c:pt idx="478">
                  <c:v>2.4434101204</c:v>
                </c:pt>
                <c:pt idx="479">
                  <c:v>2.3595022731</c:v>
                </c:pt>
                <c:pt idx="480">
                  <c:v>2.3749591822</c:v>
                </c:pt>
                <c:pt idx="481">
                  <c:v>2.2484899584</c:v>
                </c:pt>
                <c:pt idx="482">
                  <c:v>2.1749102555</c:v>
                </c:pt>
                <c:pt idx="483">
                  <c:v>2.0830475731</c:v>
                </c:pt>
                <c:pt idx="484">
                  <c:v>2.072545137</c:v>
                </c:pt>
                <c:pt idx="485">
                  <c:v>2.0159901849</c:v>
                </c:pt>
                <c:pt idx="486">
                  <c:v>2.0299976511</c:v>
                </c:pt>
                <c:pt idx="487">
                  <c:v>2.0776072612</c:v>
                </c:pt>
                <c:pt idx="488">
                  <c:v>2.0171215966</c:v>
                </c:pt>
                <c:pt idx="489">
                  <c:v>2.0965620082</c:v>
                </c:pt>
                <c:pt idx="490">
                  <c:v>2.0594829488</c:v>
                </c:pt>
                <c:pt idx="491">
                  <c:v>2.0820640356</c:v>
                </c:pt>
                <c:pt idx="492">
                  <c:v>2.0125288251</c:v>
                </c:pt>
                <c:pt idx="493">
                  <c:v>1.9519058978</c:v>
                </c:pt>
                <c:pt idx="494">
                  <c:v>1.9036864474</c:v>
                </c:pt>
                <c:pt idx="495">
                  <c:v>1.9738819654</c:v>
                </c:pt>
                <c:pt idx="496">
                  <c:v>1.9915664957</c:v>
                </c:pt>
                <c:pt idx="497">
                  <c:v>2.0122230765</c:v>
                </c:pt>
                <c:pt idx="498">
                  <c:v>2.0393556359</c:v>
                </c:pt>
                <c:pt idx="499">
                  <c:v>1.9446443794</c:v>
                </c:pt>
                <c:pt idx="500">
                  <c:v>1.9810185244</c:v>
                </c:pt>
                <c:pt idx="501">
                  <c:v>1.8000979359</c:v>
                </c:pt>
                <c:pt idx="502">
                  <c:v>1.5913818066</c:v>
                </c:pt>
                <c:pt idx="503">
                  <c:v>1.5794913174</c:v>
                </c:pt>
                <c:pt idx="504">
                  <c:v>1.6639153681</c:v>
                </c:pt>
                <c:pt idx="505">
                  <c:v>1.6807944929</c:v>
                </c:pt>
                <c:pt idx="506">
                  <c:v>1.6578692104</c:v>
                </c:pt>
                <c:pt idx="507">
                  <c:v>1.639563048</c:v>
                </c:pt>
                <c:pt idx="508">
                  <c:v>1.7385260194</c:v>
                </c:pt>
                <c:pt idx="509">
                  <c:v>2.163354858</c:v>
                </c:pt>
                <c:pt idx="510">
                  <c:v>2.1882650363</c:v>
                </c:pt>
                <c:pt idx="511">
                  <c:v>2.0733129661</c:v>
                </c:pt>
                <c:pt idx="512">
                  <c:v>1.9913795858</c:v>
                </c:pt>
                <c:pt idx="513">
                  <c:v>1.906559939</c:v>
                </c:pt>
                <c:pt idx="514">
                  <c:v>1.912631429</c:v>
                </c:pt>
                <c:pt idx="515">
                  <c:v>1.8878758168</c:v>
                </c:pt>
                <c:pt idx="516">
                  <c:v>1.85263781</c:v>
                </c:pt>
                <c:pt idx="517">
                  <c:v>1.8082699387</c:v>
                </c:pt>
                <c:pt idx="518">
                  <c:v>1.8806844837</c:v>
                </c:pt>
                <c:pt idx="519">
                  <c:v>1.8694589791</c:v>
                </c:pt>
                <c:pt idx="520">
                  <c:v>1.7660676681</c:v>
                </c:pt>
                <c:pt idx="521">
                  <c:v>1.6926834263</c:v>
                </c:pt>
                <c:pt idx="522">
                  <c:v>1.6405351618</c:v>
                </c:pt>
                <c:pt idx="523">
                  <c:v>1.7067041269</c:v>
                </c:pt>
                <c:pt idx="524">
                  <c:v>1.6512037281</c:v>
                </c:pt>
                <c:pt idx="525">
                  <c:v>1.6317465995</c:v>
                </c:pt>
                <c:pt idx="526">
                  <c:v>1.6755466331</c:v>
                </c:pt>
                <c:pt idx="527">
                  <c:v>1.6552456583</c:v>
                </c:pt>
                <c:pt idx="528">
                  <c:v>1.6827678168</c:v>
                </c:pt>
                <c:pt idx="529">
                  <c:v>1.7168797462</c:v>
                </c:pt>
                <c:pt idx="530">
                  <c:v>1.7860401007</c:v>
                </c:pt>
                <c:pt idx="531">
                  <c:v>1.818712379</c:v>
                </c:pt>
                <c:pt idx="532">
                  <c:v>1.7045436324</c:v>
                </c:pt>
                <c:pt idx="533">
                  <c:v>1.6924995803</c:v>
                </c:pt>
                <c:pt idx="534">
                  <c:v>1.6458999851</c:v>
                </c:pt>
                <c:pt idx="535">
                  <c:v>1.6025010804</c:v>
                </c:pt>
                <c:pt idx="536">
                  <c:v>1.6063044872</c:v>
                </c:pt>
                <c:pt idx="537">
                  <c:v>1.6138146707</c:v>
                </c:pt>
                <c:pt idx="538">
                  <c:v>1.5883814999</c:v>
                </c:pt>
                <c:pt idx="539">
                  <c:v>1.5571898973</c:v>
                </c:pt>
                <c:pt idx="540">
                  <c:v>1.5427124961</c:v>
                </c:pt>
                <c:pt idx="541">
                  <c:v>1.558537645</c:v>
                </c:pt>
                <c:pt idx="542">
                  <c:v>1.5787901578</c:v>
                </c:pt>
                <c:pt idx="543">
                  <c:v>1.5446650528</c:v>
                </c:pt>
                <c:pt idx="544">
                  <c:v>1.5528278598</c:v>
                </c:pt>
                <c:pt idx="545">
                  <c:v>1.6230855275</c:v>
                </c:pt>
                <c:pt idx="546">
                  <c:v>1.566922657</c:v>
                </c:pt>
                <c:pt idx="547">
                  <c:v>1.5888270103</c:v>
                </c:pt>
                <c:pt idx="548">
                  <c:v>1.5901193715</c:v>
                </c:pt>
                <c:pt idx="549">
                  <c:v>1.6083104493</c:v>
                </c:pt>
                <c:pt idx="550">
                  <c:v>1.5997571252</c:v>
                </c:pt>
                <c:pt idx="551">
                  <c:v>1.5603905155</c:v>
                </c:pt>
                <c:pt idx="552">
                  <c:v>1.5659442983</c:v>
                </c:pt>
                <c:pt idx="553">
                  <c:v>1.5962226262</c:v>
                </c:pt>
                <c:pt idx="554">
                  <c:v>1.5270480932</c:v>
                </c:pt>
                <c:pt idx="555">
                  <c:v>1.4665930976</c:v>
                </c:pt>
                <c:pt idx="556">
                  <c:v>1.4594962459</c:v>
                </c:pt>
                <c:pt idx="557">
                  <c:v>1.4568650927</c:v>
                </c:pt>
                <c:pt idx="558">
                  <c:v>1.4155763178</c:v>
                </c:pt>
                <c:pt idx="559">
                  <c:v>1.4348951842</c:v>
                </c:pt>
                <c:pt idx="560">
                  <c:v>1.4381821956</c:v>
                </c:pt>
                <c:pt idx="561">
                  <c:v>1.4700057333</c:v>
                </c:pt>
                <c:pt idx="562">
                  <c:v>1.4667953019</c:v>
                </c:pt>
                <c:pt idx="563">
                  <c:v>1.4652732519</c:v>
                </c:pt>
                <c:pt idx="564">
                  <c:v>1.476479686</c:v>
                </c:pt>
                <c:pt idx="565">
                  <c:v>1.4765626719</c:v>
                </c:pt>
                <c:pt idx="566">
                  <c:v>1.4882644149</c:v>
                </c:pt>
                <c:pt idx="567">
                  <c:v>1.4851985588</c:v>
                </c:pt>
                <c:pt idx="568">
                  <c:v>1.4808686906</c:v>
                </c:pt>
                <c:pt idx="569">
                  <c:v>1.4786957564</c:v>
                </c:pt>
                <c:pt idx="570">
                  <c:v>1.4084534578</c:v>
                </c:pt>
                <c:pt idx="571">
                  <c:v>1.3947192818</c:v>
                </c:pt>
                <c:pt idx="572">
                  <c:v>1.4312128411</c:v>
                </c:pt>
                <c:pt idx="573">
                  <c:v>1.4031303735</c:v>
                </c:pt>
                <c:pt idx="574">
                  <c:v>1.3988135391</c:v>
                </c:pt>
                <c:pt idx="575">
                  <c:v>1.3957428683</c:v>
                </c:pt>
                <c:pt idx="576">
                  <c:v>1.4072843714</c:v>
                </c:pt>
                <c:pt idx="577">
                  <c:v>1.7910941096</c:v>
                </c:pt>
                <c:pt idx="578">
                  <c:v>1.6486963754</c:v>
                </c:pt>
                <c:pt idx="579">
                  <c:v>1.8662551316</c:v>
                </c:pt>
                <c:pt idx="580">
                  <c:v>2.3942921589</c:v>
                </c:pt>
                <c:pt idx="581">
                  <c:v>2.6166410009</c:v>
                </c:pt>
                <c:pt idx="582">
                  <c:v>2.3923298743</c:v>
                </c:pt>
                <c:pt idx="583">
                  <c:v>2.172542331</c:v>
                </c:pt>
                <c:pt idx="584">
                  <c:v>2.3301637309</c:v>
                </c:pt>
                <c:pt idx="585">
                  <c:v>2.5538869671</c:v>
                </c:pt>
                <c:pt idx="586">
                  <c:v>2.7365880068</c:v>
                </c:pt>
                <c:pt idx="587">
                  <c:v>2.6798178447</c:v>
                </c:pt>
                <c:pt idx="588">
                  <c:v>2.3465576284</c:v>
                </c:pt>
                <c:pt idx="589">
                  <c:v>2.4234937392</c:v>
                </c:pt>
                <c:pt idx="590">
                  <c:v>2.271062003</c:v>
                </c:pt>
                <c:pt idx="591">
                  <c:v>2.2143501307</c:v>
                </c:pt>
                <c:pt idx="592">
                  <c:v>2.3886274392</c:v>
                </c:pt>
                <c:pt idx="593">
                  <c:v>2.3066569405</c:v>
                </c:pt>
                <c:pt idx="594">
                  <c:v>2.3735232124</c:v>
                </c:pt>
                <c:pt idx="595">
                  <c:v>2.3331438364</c:v>
                </c:pt>
                <c:pt idx="596">
                  <c:v>2.3078357213</c:v>
                </c:pt>
                <c:pt idx="597">
                  <c:v>2.2238702766</c:v>
                </c:pt>
                <c:pt idx="598">
                  <c:v>2.029882597</c:v>
                </c:pt>
                <c:pt idx="599">
                  <c:v>1.9439150385</c:v>
                </c:pt>
                <c:pt idx="600">
                  <c:v>1.9809577531</c:v>
                </c:pt>
                <c:pt idx="601">
                  <c:v>1.9893984581</c:v>
                </c:pt>
                <c:pt idx="602">
                  <c:v>1.9285938714</c:v>
                </c:pt>
                <c:pt idx="603">
                  <c:v>2.001785933</c:v>
                </c:pt>
                <c:pt idx="604">
                  <c:v>1.8814745295</c:v>
                </c:pt>
                <c:pt idx="605">
                  <c:v>1.9370269841</c:v>
                </c:pt>
                <c:pt idx="606">
                  <c:v>1.9539342183</c:v>
                </c:pt>
                <c:pt idx="607">
                  <c:v>2.0834677553</c:v>
                </c:pt>
                <c:pt idx="608">
                  <c:v>2.1034525424</c:v>
                </c:pt>
                <c:pt idx="609">
                  <c:v>2.0713364648</c:v>
                </c:pt>
                <c:pt idx="610">
                  <c:v>2.1864415128</c:v>
                </c:pt>
                <c:pt idx="611">
                  <c:v>2.2456171647</c:v>
                </c:pt>
                <c:pt idx="612">
                  <c:v>1.9642949855</c:v>
                </c:pt>
                <c:pt idx="613">
                  <c:v>2.0742844502</c:v>
                </c:pt>
                <c:pt idx="614">
                  <c:v>2.121981837</c:v>
                </c:pt>
                <c:pt idx="615">
                  <c:v>2.1156845643</c:v>
                </c:pt>
                <c:pt idx="616">
                  <c:v>2.1267630028</c:v>
                </c:pt>
                <c:pt idx="617">
                  <c:v>2.0085685323</c:v>
                </c:pt>
                <c:pt idx="618">
                  <c:v>2.0230051743</c:v>
                </c:pt>
                <c:pt idx="619">
                  <c:v>2.0504787828</c:v>
                </c:pt>
                <c:pt idx="620">
                  <c:v>2.0611996178</c:v>
                </c:pt>
                <c:pt idx="621">
                  <c:v>2.1149922691</c:v>
                </c:pt>
                <c:pt idx="622">
                  <c:v>2.0450565605</c:v>
                </c:pt>
                <c:pt idx="623">
                  <c:v>2.0647212877</c:v>
                </c:pt>
                <c:pt idx="624">
                  <c:v>2.0568460803</c:v>
                </c:pt>
                <c:pt idx="625">
                  <c:v>2.0112944747</c:v>
                </c:pt>
                <c:pt idx="626">
                  <c:v>1.8772949946</c:v>
                </c:pt>
              </c:numCache>
            </c:numRef>
          </c:yVal>
          <c:smooth val="0"/>
        </c:ser>
        <c:ser>
          <c:idx val="1"/>
          <c:order val="1"/>
          <c:tx>
            <c:v>First daily closes</c:v>
          </c:tx>
          <c:spPr>
            <a:ln xmlns:a="http://schemas.openxmlformats.org/drawingml/2006/main" w="38100">
              <a:solidFill>
                <a:srgbClr val="A61955"/>
              </a:solidFill>
            </a:ln>
          </c:spPr>
          <c:marker>
            <c:symbol val="none"/>
          </c:marker>
          <c:xVal>
            <c:numRef>
              <c:f>'Chart Data'!$C$2:$C$3</c:f>
              <c:numCache>
                <c:formatCode>General</c:formatCode>
                <c:ptCount val="2"/>
                <c:pt idx="0">
                  <c:v>45675</c:v>
                </c:pt>
                <c:pt idx="1">
                  <c:v>45676</c:v>
                </c:pt>
              </c:numCache>
            </c:numRef>
          </c:xVal>
          <c:yVal>
            <c:numRef>
              <c:f>'Chart Data'!$D$2:$D$3</c:f>
              <c:numCache>
                <c:formatCode>$0</c:formatCode>
                <c:ptCount val="2"/>
                <c:pt idx="0">
                  <c:v>28.7279147134</c:v>
                </c:pt>
                <c:pt idx="1">
                  <c:v>45.5030010328</c:v>
                </c:pt>
              </c:numCache>
            </c:numRef>
          </c:yVal>
          <c:smooth val="0"/>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EEEEEE"/>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50112"/>
        <c:majorUnit val="10"/>
      </c:valAx>
      <c:valAx>
        <c:axId val="48650112"/>
        <c:scaling>
          <c:orientation val="minMax"/>
          <c:max val="46302"/>
          <c:min val="45671"/>
        </c:scaling>
        <c:delete val="0"/>
        <c:axPos val="b"/>
        <c:numFmt formatCode="mmm yy"/>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72768"/>
        <c:majorUnit val="180"/>
      </c:valAx>
      <c:spPr>
        <a:solidFill xmlns:a="http://schemas.openxmlformats.org/drawingml/2006/main">
          <a:srgbClr val="FFFFFF"/>
        </a:solidFill>
        <a:ln xmlns:a="http://schemas.openxmlformats.org/drawingml/2006/main" w="0">
          <a:noFill/>
        </a:ln>
      </c:spPr>
    </c:plotArea>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DOGE daily close (USD)</c:v>
          </c:tx>
          <c:spPr>
            <a:ln xmlns:a="http://schemas.openxmlformats.org/drawingml/2006/main" w="23813">
              <a:solidFill>
                <a:srgbClr val="111111"/>
              </a:solidFill>
            </a:ln>
          </c:spPr>
          <c:marker>
            <c:symbol val="none"/>
          </c:marker>
          <c:xVal>
            <c:numRef>
              <c:f>'Chart Data'!$A$2:$A$93</c:f>
              <c:numCache>
                <c:formatCode>General</c:formatCode>
                <c:ptCount val="92"/>
                <c:pt idx="0">
                  <c:v>46204</c:v>
                </c:pt>
                <c:pt idx="1">
                  <c:v>46205</c:v>
                </c:pt>
                <c:pt idx="2">
                  <c:v>46206</c:v>
                </c:pt>
                <c:pt idx="3">
                  <c:v>46207</c:v>
                </c:pt>
                <c:pt idx="4">
                  <c:v>46208</c:v>
                </c:pt>
                <c:pt idx="5">
                  <c:v>46209</c:v>
                </c:pt>
                <c:pt idx="6">
                  <c:v>46210</c:v>
                </c:pt>
                <c:pt idx="7">
                  <c:v>46211</c:v>
                </c:pt>
                <c:pt idx="8">
                  <c:v>46212</c:v>
                </c:pt>
                <c:pt idx="9">
                  <c:v>46213</c:v>
                </c:pt>
                <c:pt idx="10">
                  <c:v>46214</c:v>
                </c:pt>
                <c:pt idx="11">
                  <c:v>46215</c:v>
                </c:pt>
                <c:pt idx="12">
                  <c:v>46216</c:v>
                </c:pt>
                <c:pt idx="13">
                  <c:v>46217</c:v>
                </c:pt>
                <c:pt idx="14">
                  <c:v>46218</c:v>
                </c:pt>
                <c:pt idx="15">
                  <c:v>46219</c:v>
                </c:pt>
                <c:pt idx="16">
                  <c:v>46220</c:v>
                </c:pt>
                <c:pt idx="17">
                  <c:v>46221</c:v>
                </c:pt>
                <c:pt idx="18">
                  <c:v>46222</c:v>
                </c:pt>
                <c:pt idx="19">
                  <c:v>46223</c:v>
                </c:pt>
                <c:pt idx="20">
                  <c:v>46224</c:v>
                </c:pt>
                <c:pt idx="21">
                  <c:v>46225</c:v>
                </c:pt>
                <c:pt idx="22">
                  <c:v>46226</c:v>
                </c:pt>
                <c:pt idx="23">
                  <c:v>46227</c:v>
                </c:pt>
                <c:pt idx="24">
                  <c:v>46228</c:v>
                </c:pt>
                <c:pt idx="25">
                  <c:v>46229</c:v>
                </c:pt>
                <c:pt idx="26">
                  <c:v>46230</c:v>
                </c:pt>
                <c:pt idx="27">
                  <c:v>46231</c:v>
                </c:pt>
                <c:pt idx="28">
                  <c:v>46232</c:v>
                </c:pt>
                <c:pt idx="29">
                  <c:v>46233</c:v>
                </c:pt>
                <c:pt idx="30">
                  <c:v>46234</c:v>
                </c:pt>
                <c:pt idx="31">
                  <c:v>46235</c:v>
                </c:pt>
                <c:pt idx="32">
                  <c:v>46236</c:v>
                </c:pt>
                <c:pt idx="33">
                  <c:v>46237</c:v>
                </c:pt>
                <c:pt idx="34">
                  <c:v>46238</c:v>
                </c:pt>
                <c:pt idx="35">
                  <c:v>46239</c:v>
                </c:pt>
                <c:pt idx="36">
                  <c:v>46240</c:v>
                </c:pt>
                <c:pt idx="37">
                  <c:v>46241</c:v>
                </c:pt>
                <c:pt idx="38">
                  <c:v>46242</c:v>
                </c:pt>
                <c:pt idx="39">
                  <c:v>46243</c:v>
                </c:pt>
                <c:pt idx="40">
                  <c:v>46244</c:v>
                </c:pt>
                <c:pt idx="41">
                  <c:v>46245</c:v>
                </c:pt>
                <c:pt idx="42">
                  <c:v>46246</c:v>
                </c:pt>
                <c:pt idx="43">
                  <c:v>46247</c:v>
                </c:pt>
                <c:pt idx="44">
                  <c:v>46248</c:v>
                </c:pt>
                <c:pt idx="45">
                  <c:v>46249</c:v>
                </c:pt>
                <c:pt idx="46">
                  <c:v>46250</c:v>
                </c:pt>
                <c:pt idx="47">
                  <c:v>46251</c:v>
                </c:pt>
                <c:pt idx="48">
                  <c:v>46252</c:v>
                </c:pt>
                <c:pt idx="49">
                  <c:v>46253</c:v>
                </c:pt>
                <c:pt idx="50">
                  <c:v>46254</c:v>
                </c:pt>
                <c:pt idx="51">
                  <c:v>46255</c:v>
                </c:pt>
                <c:pt idx="52">
                  <c:v>46256</c:v>
                </c:pt>
                <c:pt idx="53">
                  <c:v>46257</c:v>
                </c:pt>
                <c:pt idx="54">
                  <c:v>46258</c:v>
                </c:pt>
                <c:pt idx="55">
                  <c:v>46259</c:v>
                </c:pt>
                <c:pt idx="56">
                  <c:v>46260</c:v>
                </c:pt>
                <c:pt idx="57">
                  <c:v>46261</c:v>
                </c:pt>
                <c:pt idx="58">
                  <c:v>46262</c:v>
                </c:pt>
                <c:pt idx="59">
                  <c:v>46263</c:v>
                </c:pt>
                <c:pt idx="60">
                  <c:v>46264</c:v>
                </c:pt>
                <c:pt idx="61">
                  <c:v>46265</c:v>
                </c:pt>
                <c:pt idx="62">
                  <c:v>46266</c:v>
                </c:pt>
                <c:pt idx="63">
                  <c:v>46267</c:v>
                </c:pt>
                <c:pt idx="64">
                  <c:v>46268</c:v>
                </c:pt>
                <c:pt idx="65">
                  <c:v>46269</c:v>
                </c:pt>
                <c:pt idx="66">
                  <c:v>46270</c:v>
                </c:pt>
                <c:pt idx="67">
                  <c:v>46271</c:v>
                </c:pt>
                <c:pt idx="68">
                  <c:v>46272</c:v>
                </c:pt>
                <c:pt idx="69">
                  <c:v>46273</c:v>
                </c:pt>
                <c:pt idx="70">
                  <c:v>46274</c:v>
                </c:pt>
                <c:pt idx="71">
                  <c:v>46275</c:v>
                </c:pt>
                <c:pt idx="72">
                  <c:v>46276</c:v>
                </c:pt>
                <c:pt idx="73">
                  <c:v>46277</c:v>
                </c:pt>
                <c:pt idx="74">
                  <c:v>46278</c:v>
                </c:pt>
                <c:pt idx="75">
                  <c:v>46279</c:v>
                </c:pt>
                <c:pt idx="76">
                  <c:v>46280</c:v>
                </c:pt>
                <c:pt idx="77">
                  <c:v>46281</c:v>
                </c:pt>
                <c:pt idx="78">
                  <c:v>46282</c:v>
                </c:pt>
                <c:pt idx="79">
                  <c:v>46283</c:v>
                </c:pt>
                <c:pt idx="80">
                  <c:v>46284</c:v>
                </c:pt>
                <c:pt idx="81">
                  <c:v>46285</c:v>
                </c:pt>
                <c:pt idx="82">
                  <c:v>46286</c:v>
                </c:pt>
                <c:pt idx="83">
                  <c:v>46287</c:v>
                </c:pt>
                <c:pt idx="84">
                  <c:v>46288</c:v>
                </c:pt>
                <c:pt idx="85">
                  <c:v>46289</c:v>
                </c:pt>
                <c:pt idx="86">
                  <c:v>46290</c:v>
                </c:pt>
                <c:pt idx="87">
                  <c:v>46291</c:v>
                </c:pt>
                <c:pt idx="88">
                  <c:v>46292</c:v>
                </c:pt>
                <c:pt idx="89">
                  <c:v>46293</c:v>
                </c:pt>
                <c:pt idx="90">
                  <c:v>46294</c:v>
                </c:pt>
                <c:pt idx="91">
                  <c:v>46295</c:v>
                </c:pt>
              </c:numCache>
            </c:numRef>
          </c:xVal>
          <c:yVal>
            <c:numRef>
              <c:f>'Chart Data'!$B$2:$B$93</c:f>
              <c:numCache>
                <c:formatCode>$0.00</c:formatCode>
                <c:ptCount val="92"/>
                <c:pt idx="0">
                  <c:v>0.0721772701</c:v>
                </c:pt>
                <c:pt idx="1">
                  <c:v>0.074080066</c:v>
                </c:pt>
                <c:pt idx="2">
                  <c:v>0.0774896737</c:v>
                </c:pt>
                <c:pt idx="3">
                  <c:v>0.0775885126</c:v>
                </c:pt>
                <c:pt idx="4">
                  <c:v>0.0777337855</c:v>
                </c:pt>
                <c:pt idx="5">
                  <c:v>0.0765829849</c:v>
                </c:pt>
                <c:pt idx="6">
                  <c:v>0.0741835303</c:v>
                </c:pt>
                <c:pt idx="7">
                  <c:v>0.0723113034</c:v>
                </c:pt>
                <c:pt idx="8">
                  <c:v>0.0728585654</c:v>
                </c:pt>
                <c:pt idx="9">
                  <c:v>0.0740469871</c:v>
                </c:pt>
                <c:pt idx="10">
                  <c:v>0.0732688774</c:v>
                </c:pt>
                <c:pt idx="11">
                  <c:v>0.0726828774</c:v>
                </c:pt>
                <c:pt idx="12">
                  <c:v>0.0718505528</c:v>
                </c:pt>
                <c:pt idx="13">
                  <c:v>0.0744406787</c:v>
                </c:pt>
                <c:pt idx="14">
                  <c:v>0.0740440875</c:v>
                </c:pt>
                <c:pt idx="15">
                  <c:v>0.0723413371</c:v>
                </c:pt>
                <c:pt idx="16">
                  <c:v>0.0725107007</c:v>
                </c:pt>
                <c:pt idx="17">
                  <c:v>0.0724690703</c:v>
                </c:pt>
                <c:pt idx="18">
                  <c:v>0.072310217</c:v>
                </c:pt>
                <c:pt idx="19">
                  <c:v>0.0721394954</c:v>
                </c:pt>
                <c:pt idx="20">
                  <c:v>0.0732823364</c:v>
                </c:pt>
                <c:pt idx="21">
                  <c:v>0.0729518563</c:v>
                </c:pt>
                <c:pt idx="22">
                  <c:v>0.0691331344</c:v>
                </c:pt>
                <c:pt idx="23">
                  <c:v>0.0695205228</c:v>
                </c:pt>
                <c:pt idx="24">
                  <c:v>0.0716754396</c:v>
                </c:pt>
                <c:pt idx="25">
                  <c:v>0.0732970842</c:v>
                </c:pt>
                <c:pt idx="26">
                  <c:v>0.0703339317</c:v>
                </c:pt>
                <c:pt idx="27">
                  <c:v>0.0707504566</c:v>
                </c:pt>
                <c:pt idx="28">
                  <c:v>0.0700737644</c:v>
                </c:pt>
                <c:pt idx="29">
                  <c:v>0.0705518696</c:v>
                </c:pt>
                <c:pt idx="30">
                  <c:v>0.0695199333</c:v>
                </c:pt>
                <c:pt idx="31">
                  <c:v>0.0690720206</c:v>
                </c:pt>
                <c:pt idx="32">
                  <c:v>0.0706793877</c:v>
                </c:pt>
                <c:pt idx="33">
                  <c:v>0.0701444524</c:v>
                </c:pt>
                <c:pt idx="34">
                  <c:v>0.0700433004</c:v>
                </c:pt>
                <c:pt idx="35">
                  <c:v>0.0699821715</c:v>
                </c:pt>
                <c:pt idx="36">
                  <c:v>0.0689875105</c:v>
                </c:pt>
                <c:pt idx="37">
                  <c:v>0.0696227662</c:v>
                </c:pt>
                <c:pt idx="38">
                  <c:v>0.070391145</c:v>
                </c:pt>
                <c:pt idx="39">
                  <c:v>0.0692552308</c:v>
                </c:pt>
                <c:pt idx="40">
                  <c:v>0.0696879429</c:v>
                </c:pt>
                <c:pt idx="41">
                  <c:v>0.0718310053</c:v>
                </c:pt>
                <c:pt idx="42">
                  <c:v>0.069592431</c:v>
                </c:pt>
                <c:pt idx="43">
                  <c:v>0.0700889072</c:v>
                </c:pt>
                <c:pt idx="44">
                  <c:v>0.0700015362</c:v>
                </c:pt>
                <c:pt idx="45">
                  <c:v>0.0695497812</c:v>
                </c:pt>
                <c:pt idx="46">
                  <c:v>0.0694824044</c:v>
                </c:pt>
                <c:pt idx="47">
                  <c:v>0.0703483335</c:v>
                </c:pt>
                <c:pt idx="48">
                  <c:v>0.0702131911</c:v>
                </c:pt>
                <c:pt idx="49">
                  <c:v>0.0749723157</c:v>
                </c:pt>
                <c:pt idx="50">
                  <c:v>0.080422414</c:v>
                </c:pt>
                <c:pt idx="51">
                  <c:v>0.0916272205</c:v>
                </c:pt>
                <c:pt idx="52">
                  <c:v>0.0919524251</c:v>
                </c:pt>
                <c:pt idx="53">
                  <c:v>0.0934181391</c:v>
                </c:pt>
                <c:pt idx="54">
                  <c:v>0.0899098827</c:v>
                </c:pt>
                <c:pt idx="55">
                  <c:v>0.0857161756</c:v>
                </c:pt>
                <c:pt idx="56">
                  <c:v>0.087741435</c:v>
                </c:pt>
                <c:pt idx="57">
                  <c:v>0.0891425217</c:v>
                </c:pt>
                <c:pt idx="58">
                  <c:v>0.0852185086</c:v>
                </c:pt>
                <c:pt idx="59">
                  <c:v>0.0852805557</c:v>
                </c:pt>
                <c:pt idx="60">
                  <c:v>0.0820965786</c:v>
                </c:pt>
                <c:pt idx="61">
                  <c:v>0.0828138227</c:v>
                </c:pt>
                <c:pt idx="62">
                  <c:v>0.0816449892</c:v>
                </c:pt>
                <c:pt idx="63">
                  <c:v>0.0816362387</c:v>
                </c:pt>
                <c:pt idx="64">
                  <c:v>0.0877814356</c:v>
                </c:pt>
                <c:pt idx="65">
                  <c:v>0.084815459</c:v>
                </c:pt>
                <c:pt idx="66">
                  <c:v>0.0896840504</c:v>
                </c:pt>
                <c:pt idx="67">
                  <c:v>0.0908191091</c:v>
                </c:pt>
                <c:pt idx="68">
                  <c:v>0.0906274284</c:v>
                </c:pt>
                <c:pt idx="69">
                  <c:v>0.0899940575</c:v>
                </c:pt>
                <c:pt idx="70">
                  <c:v>0.0861630055</c:v>
                </c:pt>
                <c:pt idx="71">
                  <c:v>0.0829143172</c:v>
                </c:pt>
                <c:pt idx="72">
                  <c:v>0.0842842615</c:v>
                </c:pt>
                <c:pt idx="73">
                  <c:v>0.0848533993</c:v>
                </c:pt>
                <c:pt idx="74">
                  <c:v>0.0824212989</c:v>
                </c:pt>
                <c:pt idx="75">
                  <c:v>0.0836318875</c:v>
                </c:pt>
                <c:pt idx="76">
                  <c:v>0.0800761653</c:v>
                </c:pt>
                <c:pt idx="77">
                  <c:v>0.0808664436</c:v>
                </c:pt>
                <c:pt idx="78">
                  <c:v>0.0817179865</c:v>
                </c:pt>
                <c:pt idx="79">
                  <c:v>0.0874111968</c:v>
                </c:pt>
                <c:pt idx="80">
                  <c:v>0.0877222377</c:v>
                </c:pt>
                <c:pt idx="81">
                  <c:v>0.0872825155</c:v>
                </c:pt>
                <c:pt idx="82">
                  <c:v>0.0996215775</c:v>
                </c:pt>
                <c:pt idx="83">
                  <c:v>0.1003674134</c:v>
                </c:pt>
                <c:pt idx="84">
                  <c:v>0.0926901322</c:v>
                </c:pt>
                <c:pt idx="85">
                  <c:v>0.0957495925</c:v>
                </c:pt>
                <c:pt idx="86">
                  <c:v>0.0989479685</c:v>
                </c:pt>
                <c:pt idx="87">
                  <c:v>0.0967662722</c:v>
                </c:pt>
                <c:pt idx="88">
                  <c:v>0.0970336787</c:v>
                </c:pt>
                <c:pt idx="89">
                  <c:v>0.093875308</c:v>
                </c:pt>
                <c:pt idx="90">
                  <c:v>0.0938561975</c:v>
                </c:pt>
                <c:pt idx="91">
                  <c:v>0.0944721408</c:v>
                </c:pt>
              </c:numCache>
            </c:numRef>
          </c:yVal>
          <c:smooth val="0"/>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0.12"/>
          <c:min val="0"/>
        </c:scaling>
        <c:delete val="0"/>
        <c:axPos val="l"/>
        <c:majorGridlines>
          <c:spPr>
            <a:ln xmlns:a="http://schemas.openxmlformats.org/drawingml/2006/main" w="9525">
              <a:solidFill>
                <a:srgbClr val="EEEEEE"/>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50112"/>
        <c:majorUnit val="0.04"/>
      </c:valAx>
      <c:valAx>
        <c:axId val="48650112"/>
        <c:scaling>
          <c:orientation val="minMax"/>
          <c:max val="46295"/>
          <c:min val="46204"/>
        </c:scaling>
        <c:delete val="0"/>
        <c:axPos val="b"/>
        <c:numFmt formatCode="d mmm"/>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72768"/>
        <c:majorUnit val="30"/>
      </c:valAx>
      <c:spPr>
        <a:solidFill xmlns:a="http://schemas.openxmlformats.org/drawingml/2006/main">
          <a:srgbClr val="FFFFFF"/>
        </a:solidFill>
        <a:ln xmlns:a="http://schemas.openxmlformats.org/drawingml/2006/main" w="0">
          <a:noFill/>
        </a:ln>
      </c:spPr>
    </c:plotArea>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7AB7FF70-5D9E-4696-8C65-28D6FEB2DA6B}"/>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01</a:t>
            </a:r>
          </a:p>
        </p:txBody>
      </p:sp>
      <p:sp>
        <p:nvSpPr>
          <p:cNvPr id="2" name="Meme Coin&#10;Analysis&#10;Dashboard">
            <a:extLst xmlns:a="http://schemas.openxmlformats.org/drawingml/2006/main">
              <a:ext uri="{FF2B5EF4-FFF2-40B4-BE49-F238E27FC236}">
                <a16:creationId xmlns:a16="http://schemas.microsoft.com/office/drawing/2014/main" id="{C4958479-F0FF-4F37-A7FC-A06C7EF89DA9}"/>
              </a:ext>
            </a:extLst>
          </p:cNvPr>
          <p:cNvSpPr>
            <a:spLocks xmlns:a="http://schemas.openxmlformats.org/drawingml/2006/main" noGrp="1"/>
          </p:cNvSpPr>
          <p:nvPr/>
        </p:nvSpPr>
        <p:spPr>
          <a:xfrm xmlns:a="http://schemas.openxmlformats.org/drawingml/2006/main">
            <a:off x="685800" y="1247775"/>
            <a:ext cx="7381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525" b="1">
                <a:solidFill>
                  <a:srgbClr val="111111"/>
                </a:solidFill>
                <a:latin typeface="Geist"/>
                <a:ea typeface="Geist"/>
                <a:cs typeface="Geist"/>
              </a:defRPr>
            </a:defPPr>
          </a:lstStyle>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Meme Coin</a:t>
            </a:r>
          </a:p>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Analysis</a:t>
            </a:r>
          </a:p>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Dashboard</a:t>
            </a:r>
          </a:p>
        </p:txBody>
      </p:sp>
      <p:sp>
        <p:nvSpPr>
          <p:cNvPr id="3" name="Data Engineering Project Proposal">
            <a:extLst xmlns:a="http://schemas.openxmlformats.org/drawingml/2006/main">
              <a:ext uri="{FF2B5EF4-FFF2-40B4-BE49-F238E27FC236}">
                <a16:creationId xmlns:a16="http://schemas.microsoft.com/office/drawing/2014/main" id="{FF1D02D8-EC70-4F3E-877B-F322B45A3B0A}"/>
              </a:ext>
            </a:extLst>
          </p:cNvPr>
          <p:cNvSpPr>
            <a:spLocks xmlns:a="http://schemas.openxmlformats.org/drawingml/2006/main" noGrp="1"/>
          </p:cNvSpPr>
          <p:nvPr/>
        </p:nvSpPr>
        <p:spPr>
          <a:xfrm xmlns:a="http://schemas.openxmlformats.org/drawingml/2006/main">
            <a:off x="733425" y="4743450"/>
            <a:ext cx="704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a:ea typeface="Geist"/>
                <a:cs typeface="Geist"/>
              </a:defRPr>
            </a:defPPr>
          </a:lstStyle>
          <a:p xmlns:a="http://schemas.openxmlformats.org/drawingml/2006/main">
            <a:pPr algn="l">
              <a:buNone/>
              <a:defRPr sz="2250" b="0">
                <a:solidFill>
                  <a:srgbClr val="A61955"/>
                </a:solidFill>
                <a:latin typeface="Geist"/>
                <a:ea typeface="Geist"/>
                <a:cs typeface="Geist"/>
              </a:defRPr>
            </a:pPr>
            <a:r>
              <a:rPr sz="2250" b="0">
                <a:solidFill>
                  <a:srgbClr val="A61955"/>
                </a:solidFill>
                <a:latin typeface="Geist"/>
                <a:ea typeface="Geist"/>
                <a:cs typeface="Geist"/>
              </a:rPr>
              <a:t>Data Engineering Project Proposal</a:t>
            </a:r>
          </a:p>
        </p:txBody>
      </p:sp>
      <p:sp>
        <p:nvSpPr>
          <p:cNvPr id="4" name="IDSC501">
            <a:extLst xmlns:a="http://schemas.openxmlformats.org/drawingml/2006/main">
              <a:ext uri="{FF2B5EF4-FFF2-40B4-BE49-F238E27FC236}">
                <a16:creationId xmlns:a16="http://schemas.microsoft.com/office/drawing/2014/main" id="{A0D38EF6-C5E0-49F7-9563-177EF0083236}"/>
              </a:ext>
            </a:extLst>
          </p:cNvPr>
          <p:cNvSpPr>
            <a:spLocks xmlns:a="http://schemas.openxmlformats.org/drawingml/2006/main" noGrp="1"/>
          </p:cNvSpPr>
          <p:nvPr/>
        </p:nvSpPr>
        <p:spPr>
          <a:xfrm xmlns:a="http://schemas.openxmlformats.org/drawingml/2006/main">
            <a:off x="733425" y="5724525"/>
            <a:ext cx="314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Mono"/>
                <a:ea typeface="Geist Mono"/>
                <a:cs typeface="Geist Mono"/>
              </a:defRPr>
            </a:defPPr>
          </a:lstStyle>
          <a:p xmlns:a="http://schemas.openxmlformats.org/drawingml/2006/main">
            <a:pPr algn="l">
              <a:buNone/>
              <a:defRPr sz="1650" b="0">
                <a:solidFill>
                  <a:srgbClr val="555555"/>
                </a:solidFill>
                <a:latin typeface="Geist Mono"/>
                <a:ea typeface="Geist Mono"/>
                <a:cs typeface="Geist Mono"/>
              </a:defRPr>
            </a:pPr>
            <a:r>
              <a:rPr sz="1650" b="0">
                <a:solidFill>
                  <a:srgbClr val="555555"/>
                </a:solidFill>
                <a:latin typeface="Geist Mono"/>
                <a:ea typeface="Geist Mono"/>
                <a:cs typeface="Geist Mono"/>
              </a:rPr>
              <a:t>IDSC501</a:t>
            </a:r>
          </a:p>
        </p:txBody>
      </p:sp>
      <p:sp>
        <p:nvSpPr>
          <p:cNvPr id="5" name="Team members: TBD">
            <a:extLst xmlns:a="http://schemas.openxmlformats.org/drawingml/2006/main">
              <a:ext uri="{FF2B5EF4-FFF2-40B4-BE49-F238E27FC236}">
                <a16:creationId xmlns:a16="http://schemas.microsoft.com/office/drawing/2014/main" id="{E576B874-E23B-4F35-9AB9-582731F04466}"/>
              </a:ext>
            </a:extLst>
          </p:cNvPr>
          <p:cNvSpPr>
            <a:spLocks xmlns:a="http://schemas.openxmlformats.org/drawingml/2006/main" noGrp="1"/>
          </p:cNvSpPr>
          <p:nvPr/>
        </p:nvSpPr>
        <p:spPr>
          <a:xfrm xmlns:a="http://schemas.openxmlformats.org/drawingml/2006/main">
            <a:off x="733425" y="61245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buNone/>
              <a:defRPr sz="1650" b="0">
                <a:solidFill>
                  <a:srgbClr val="555555"/>
                </a:solidFill>
                <a:latin typeface="Geist"/>
                <a:ea typeface="Geist"/>
                <a:cs typeface="Geist"/>
              </a:defRPr>
            </a:pPr>
            <a:r>
              <a:rPr sz="1650" b="0">
                <a:solidFill>
                  <a:srgbClr val="555555"/>
                </a:solidFill>
                <a:latin typeface="Geist"/>
                <a:ea typeface="Geist"/>
                <a:cs typeface="Geist"/>
              </a:rPr>
              <a:t>Team members: TBD</a:t>
            </a:r>
          </a:p>
        </p:txBody>
      </p:sp>
      <p:pic>
        <p:nvPicPr>
          <p:cNvPr id="6" name="">
            <a:extLst xmlns:a="http://schemas.openxmlformats.org/drawingml/2006/main">
              <a:ext uri="{FF2B5EF4-FFF2-40B4-BE49-F238E27FC236}">
                <a16:creationId xmlns:a16="http://schemas.microsoft.com/office/drawing/2014/main" id="{2770AB33-EA11-4B67-B25C-4C3BB8092259}"/>
              </a:ext>
            </a:extLst>
          </p:cNvPr>
          <p:cNvPicPr>
            <a:picLocks xmlns:a="http://schemas.openxmlformats.org/drawingml/2006/main" noChangeAspect="1"/>
          </p:cNvPicPr>
          <p:nvPr/>
        </p:nvPicPr>
        <p:blipFill>
          <a:blip xmlns:r="http://schemas.openxmlformats.org/officeDocument/2006/relationships" xmlns:a="http://schemas.openxmlformats.org/drawingml/2006/main" r:embed="Rb8664f3d1c594050"/>
          <a:stretch xmlns:a="http://schemas.openxmlformats.org/drawingml/2006/main"/>
        </p:blipFill>
        <p:spPr>
          <a:xfrm xmlns:a="http://schemas.openxmlformats.org/drawingml/2006/main">
            <a:off x="8267700" y="1971675"/>
            <a:ext cx="3238500" cy="3238500"/>
          </a:xfrm>
          <a:prstGeom xmlns:a="http://schemas.openxmlformats.org/drawingml/2006/main" prst="rect">
            <a:avLst/>
          </a:prstGeom>
        </p:spPr>
      </p:pic>
      <p:sp>
        <p:nvSpPr>
          <p:cNvPr id="7" name="much data.&#10;such pipeline.">
            <a:extLst xmlns:a="http://schemas.openxmlformats.org/drawingml/2006/main">
              <a:ext uri="{FF2B5EF4-FFF2-40B4-BE49-F238E27FC236}">
                <a16:creationId xmlns:a16="http://schemas.microsoft.com/office/drawing/2014/main" id="{A1DA26EC-9142-41C5-B690-853DC282AA2C}"/>
              </a:ext>
            </a:extLst>
          </p:cNvPr>
          <p:cNvSpPr>
            <a:spLocks xmlns:a="http://schemas.openxmlformats.org/drawingml/2006/main" noGrp="1"/>
          </p:cNvSpPr>
          <p:nvPr/>
        </p:nvSpPr>
        <p:spPr>
          <a:xfrm xmlns:a="http://schemas.openxmlformats.org/drawingml/2006/main">
            <a:off x="8286750" y="5381625"/>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Mono"/>
                <a:ea typeface="Geist Mono"/>
                <a:cs typeface="Geist Mono"/>
              </a:defRPr>
            </a:defPPr>
          </a:lstStyle>
          <a:p xmlns:a="http://schemas.openxmlformats.org/drawingml/2006/main">
            <a:pPr algn="l">
              <a:buNone/>
              <a:defRPr sz="1875" b="0">
                <a:solidFill>
                  <a:srgbClr val="555555"/>
                </a:solidFill>
                <a:latin typeface="Geist Mono"/>
                <a:ea typeface="Geist Mono"/>
                <a:cs typeface="Geist Mono"/>
              </a:defRPr>
            </a:pPr>
            <a:r>
              <a:rPr sz="1875" b="0">
                <a:solidFill>
                  <a:srgbClr val="555555"/>
                </a:solidFill>
                <a:latin typeface="Geist Mono"/>
                <a:ea typeface="Geist Mono"/>
                <a:cs typeface="Geist Mono"/>
              </a:rPr>
              <a:t>much data.</a:t>
            </a:r>
          </a:p>
          <a:p xmlns:a="http://schemas.openxmlformats.org/drawingml/2006/main">
            <a:pPr algn="l">
              <a:buNone/>
              <a:defRPr sz="1875" b="0">
                <a:solidFill>
                  <a:srgbClr val="555555"/>
                </a:solidFill>
                <a:latin typeface="Geist Mono"/>
                <a:ea typeface="Geist Mono"/>
                <a:cs typeface="Geist Mono"/>
              </a:defRPr>
            </a:pPr>
            <a:r>
              <a:rPr sz="1875" b="0">
                <a:solidFill>
                  <a:srgbClr val="555555"/>
                </a:solidFill>
                <a:latin typeface="Geist Mono"/>
                <a:ea typeface="Geist Mono"/>
                <a:cs typeface="Geist Mono"/>
              </a:rPr>
              <a:t>such pipeline.</a:t>
            </a:r>
          </a:p>
        </p:txBody>
      </p:sp>
      <p:sp>
        <p:nvSpPr>
          <p:cNvPr id="8" name="Doge illustration: Icons8">
            <a:extLst xmlns:a="http://schemas.openxmlformats.org/drawingml/2006/main">
              <a:ext uri="{FF2B5EF4-FFF2-40B4-BE49-F238E27FC236}">
                <a16:creationId xmlns:a16="http://schemas.microsoft.com/office/drawing/2014/main" id="{BEC383FE-B66E-4D6A-9C64-686B8659A912}"/>
              </a:ext>
            </a:extLst>
          </p:cNvPr>
          <p:cNvSpPr>
            <a:spLocks xmlns:a="http://schemas.openxmlformats.org/drawingml/2006/main" noGrp="1"/>
          </p:cNvSpPr>
          <p:nvPr/>
        </p:nvSpPr>
        <p:spPr>
          <a:xfrm xmlns:a="http://schemas.openxmlformats.org/drawingml/2006/main">
            <a:off x="8286750" y="6238875"/>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5555"/>
                </a:solidFill>
                <a:latin typeface="Geist"/>
                <a:ea typeface="Geist"/>
                <a:cs typeface="Geist"/>
              </a:defRPr>
            </a:defPPr>
          </a:lstStyle>
          <a:p xmlns:a="http://schemas.openxmlformats.org/drawingml/2006/main">
            <a:pPr algn="l">
              <a:buNone/>
              <a:defRPr sz="1050" b="0">
                <a:solidFill>
                  <a:srgbClr val="555555"/>
                </a:solidFill>
                <a:latin typeface="Geist"/>
                <a:ea typeface="Geist"/>
                <a:cs typeface="Geist"/>
              </a:defRPr>
            </a:pPr>
            <a:r>
              <a:rPr sz="1050" b="0">
                <a:solidFill>
                  <a:srgbClr val="555555"/>
                </a:solidFill>
                <a:latin typeface="Geist"/>
                <a:ea typeface="Geist"/>
                <a:cs typeface="Geist"/>
              </a:rPr>
              <a:t>Doge illustration: Icons8</a:t>
            </a:r>
          </a:p>
        </p:txBody>
      </p:sp>
    </p:spTree>
    <p:extLst>
      <p:ext uri="{BB962C8B-B14F-4D97-AF65-F5344CB8AC3E}">
        <p14:creationId xmlns:p14="http://schemas.microsoft.com/office/powerpoint/2010/main" val="13383191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Contents">
            <a:extLst xmlns:a="http://schemas.openxmlformats.org/drawingml/2006/main">
              <a:ext uri="{FF2B5EF4-FFF2-40B4-BE49-F238E27FC236}">
                <a16:creationId xmlns:a16="http://schemas.microsoft.com/office/drawing/2014/main" id="{08037B1E-4018-4F03-845F-46B41C7ADDFC}"/>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Contents</a:t>
            </a:r>
          </a:p>
        </p:txBody>
      </p:sp>
      <p:sp>
        <p:nvSpPr>
          <p:cNvPr id="2" name="02">
            <a:extLst xmlns:a="http://schemas.openxmlformats.org/drawingml/2006/main">
              <a:ext uri="{FF2B5EF4-FFF2-40B4-BE49-F238E27FC236}">
                <a16:creationId xmlns:a16="http://schemas.microsoft.com/office/drawing/2014/main" id="{A737460A-57E3-4084-9B63-583660051104}"/>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02</a:t>
            </a:r>
          </a:p>
        </p:txBody>
      </p:sp>
      <p:sp>
        <p:nvSpPr>
          <p:cNvPr id="3" name="01">
            <a:extLst xmlns:a="http://schemas.openxmlformats.org/drawingml/2006/main">
              <a:ext uri="{FF2B5EF4-FFF2-40B4-BE49-F238E27FC236}">
                <a16:creationId xmlns:a16="http://schemas.microsoft.com/office/drawing/2014/main" id="{18B985EE-04B9-4D18-A2AB-C9461BB50408}"/>
              </a:ext>
            </a:extLst>
          </p:cNvPr>
          <p:cNvSpPr>
            <a:spLocks xmlns:a="http://schemas.openxmlformats.org/drawingml/2006/main" noGrp="1"/>
          </p:cNvSpPr>
          <p:nvPr/>
        </p:nvSpPr>
        <p:spPr>
          <a:xfrm xmlns:a="http://schemas.openxmlformats.org/drawingml/2006/main">
            <a:off x="704850" y="170497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Mono"/>
                <a:ea typeface="Geist Mono"/>
                <a:cs typeface="Geist Mono"/>
              </a:defRPr>
            </a:defPPr>
          </a:lstStyle>
          <a:p xmlns:a="http://schemas.openxmlformats.org/drawingml/2006/main">
            <a:pPr algn="l">
              <a:buNone/>
              <a:defRPr sz="2250" b="0">
                <a:solidFill>
                  <a:srgbClr val="A61955"/>
                </a:solidFill>
                <a:latin typeface="Geist Mono"/>
                <a:ea typeface="Geist Mono"/>
                <a:cs typeface="Geist Mono"/>
              </a:defRPr>
            </a:pPr>
            <a:r>
              <a:rPr sz="2250" b="0">
                <a:solidFill>
                  <a:srgbClr val="A61955"/>
                </a:solidFill>
                <a:latin typeface="Geist Mono"/>
                <a:ea typeface="Geist Mono"/>
                <a:cs typeface="Geist Mono"/>
              </a:rPr>
              <a:t>01</a:t>
            </a:r>
          </a:p>
        </p:txBody>
      </p:sp>
      <p:sp>
        <p:nvSpPr>
          <p:cNvPr id="4" name="Ideation">
            <a:extLst xmlns:a="http://schemas.openxmlformats.org/drawingml/2006/main">
              <a:ext uri="{FF2B5EF4-FFF2-40B4-BE49-F238E27FC236}">
                <a16:creationId xmlns:a16="http://schemas.microsoft.com/office/drawing/2014/main" id="{56934789-86A8-47A8-8C46-FD40506E41C8}"/>
              </a:ext>
            </a:extLst>
          </p:cNvPr>
          <p:cNvSpPr>
            <a:spLocks xmlns:a="http://schemas.openxmlformats.org/drawingml/2006/main" noGrp="1"/>
          </p:cNvSpPr>
          <p:nvPr/>
        </p:nvSpPr>
        <p:spPr>
          <a:xfrm xmlns:a="http://schemas.openxmlformats.org/drawingml/2006/main">
            <a:off x="1828800" y="1657350"/>
            <a:ext cx="6000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buNone/>
              <a:defRPr sz="2775" b="1">
                <a:solidFill>
                  <a:srgbClr val="111111"/>
                </a:solidFill>
                <a:latin typeface="Geist"/>
                <a:ea typeface="Geist"/>
                <a:cs typeface="Geist"/>
              </a:defRPr>
            </a:pPr>
            <a:r>
              <a:rPr sz="2775" b="1">
                <a:solidFill>
                  <a:srgbClr val="111111"/>
                </a:solidFill>
                <a:latin typeface="Geist"/>
                <a:ea typeface="Geist"/>
                <a:cs typeface="Geist"/>
              </a:rPr>
              <a:t>Ideation</a:t>
            </a:r>
          </a:p>
        </p:txBody>
      </p:sp>
      <p:sp>
        <p:nvSpPr>
          <p:cNvPr id="5" name="Why meme coins?">
            <a:extLst xmlns:a="http://schemas.openxmlformats.org/drawingml/2006/main">
              <a:ext uri="{FF2B5EF4-FFF2-40B4-BE49-F238E27FC236}">
                <a16:creationId xmlns:a16="http://schemas.microsoft.com/office/drawing/2014/main" id="{2D3612B6-92E9-47FC-9849-0CBD9FD0D480}"/>
              </a:ext>
            </a:extLst>
          </p:cNvPr>
          <p:cNvSpPr>
            <a:spLocks xmlns:a="http://schemas.openxmlformats.org/drawingml/2006/main" noGrp="1"/>
          </p:cNvSpPr>
          <p:nvPr/>
        </p:nvSpPr>
        <p:spPr>
          <a:xfrm xmlns:a="http://schemas.openxmlformats.org/drawingml/2006/main">
            <a:off x="7943850" y="1752600"/>
            <a:ext cx="356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buNone/>
              <a:defRPr sz="1725" b="0">
                <a:solidFill>
                  <a:srgbClr val="555555"/>
                </a:solidFill>
                <a:latin typeface="Geist"/>
                <a:ea typeface="Geist"/>
                <a:cs typeface="Geist"/>
              </a:defRPr>
            </a:pPr>
            <a:r>
              <a:rPr sz="1725" b="0">
                <a:solidFill>
                  <a:srgbClr val="555555"/>
                </a:solidFill>
                <a:latin typeface="Geist"/>
                <a:ea typeface="Geist"/>
                <a:cs typeface="Geist"/>
              </a:rPr>
              <a:t>Why meme coins?</a:t>
            </a:r>
          </a:p>
        </p:txBody>
      </p:sp>
      <p:sp>
        <p:nvSpPr>
          <p:cNvPr id="6" name="">
            <a:extLst xmlns:a="http://schemas.openxmlformats.org/drawingml/2006/main">
              <a:ext uri="{FF2B5EF4-FFF2-40B4-BE49-F238E27FC236}">
                <a16:creationId xmlns:a16="http://schemas.microsoft.com/office/drawing/2014/main" id="{EFADC71C-2B36-4554-A736-069CD49EB4EF}"/>
              </a:ext>
            </a:extLst>
          </p:cNvPr>
          <p:cNvSpPr>
            <a:spLocks xmlns:a="http://schemas.openxmlformats.org/drawingml/2006/main" noGrp="1"/>
          </p:cNvSpPr>
          <p:nvPr/>
        </p:nvSpPr>
        <p:spPr>
          <a:xfrm xmlns:a="http://schemas.openxmlformats.org/drawingml/2006/main">
            <a:off x="1828800" y="2390775"/>
            <a:ext cx="9677400" cy="9525"/>
          </a:xfrm>
          <a:prstGeom xmlns:a="http://schemas.openxmlformats.org/drawingml/2006/main" prst="rect">
            <a:avLst/>
          </a:prstGeom>
          <a:solidFill xmlns:a="http://schemas.openxmlformats.org/drawingml/2006/main">
            <a:srgbClr val="DDDDDD"/>
          </a:solidFill>
          <a:ln xmlns:a="http://schemas.openxmlformats.org/drawingml/2006/main" w="0">
            <a:noFill/>
          </a:ln>
        </p:spPr>
      </p:sp>
      <p:sp>
        <p:nvSpPr>
          <p:cNvPr id="7" name="02">
            <a:extLst xmlns:a="http://schemas.openxmlformats.org/drawingml/2006/main">
              <a:ext uri="{FF2B5EF4-FFF2-40B4-BE49-F238E27FC236}">
                <a16:creationId xmlns:a16="http://schemas.microsoft.com/office/drawing/2014/main" id="{3496A720-F204-4005-806C-59F90F2C0295}"/>
              </a:ext>
            </a:extLst>
          </p:cNvPr>
          <p:cNvSpPr>
            <a:spLocks xmlns:a="http://schemas.openxmlformats.org/drawingml/2006/main" noGrp="1"/>
          </p:cNvSpPr>
          <p:nvPr/>
        </p:nvSpPr>
        <p:spPr>
          <a:xfrm xmlns:a="http://schemas.openxmlformats.org/drawingml/2006/main">
            <a:off x="704850" y="273367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Mono"/>
                <a:ea typeface="Geist Mono"/>
                <a:cs typeface="Geist Mono"/>
              </a:defRPr>
            </a:defPPr>
          </a:lstStyle>
          <a:p xmlns:a="http://schemas.openxmlformats.org/drawingml/2006/main">
            <a:pPr algn="l">
              <a:buNone/>
              <a:defRPr sz="2250" b="0">
                <a:solidFill>
                  <a:srgbClr val="A61955"/>
                </a:solidFill>
                <a:latin typeface="Geist Mono"/>
                <a:ea typeface="Geist Mono"/>
                <a:cs typeface="Geist Mono"/>
              </a:defRPr>
            </a:pPr>
            <a:r>
              <a:rPr sz="2250" b="0">
                <a:solidFill>
                  <a:srgbClr val="A61955"/>
                </a:solidFill>
                <a:latin typeface="Geist Mono"/>
                <a:ea typeface="Geist Mono"/>
                <a:cs typeface="Geist Mono"/>
              </a:rPr>
              <a:t>02</a:t>
            </a:r>
          </a:p>
        </p:txBody>
      </p:sp>
      <p:sp>
        <p:nvSpPr>
          <p:cNvPr id="8" name="Data collection">
            <a:extLst xmlns:a="http://schemas.openxmlformats.org/drawingml/2006/main">
              <a:ext uri="{FF2B5EF4-FFF2-40B4-BE49-F238E27FC236}">
                <a16:creationId xmlns:a16="http://schemas.microsoft.com/office/drawing/2014/main" id="{2A98A961-2DA2-459C-AB1F-4151458755CA}"/>
              </a:ext>
            </a:extLst>
          </p:cNvPr>
          <p:cNvSpPr>
            <a:spLocks xmlns:a="http://schemas.openxmlformats.org/drawingml/2006/main" noGrp="1"/>
          </p:cNvSpPr>
          <p:nvPr/>
        </p:nvSpPr>
        <p:spPr>
          <a:xfrm xmlns:a="http://schemas.openxmlformats.org/drawingml/2006/main">
            <a:off x="1828800" y="2686050"/>
            <a:ext cx="6000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buNone/>
              <a:defRPr sz="2775" b="1">
                <a:solidFill>
                  <a:srgbClr val="111111"/>
                </a:solidFill>
                <a:latin typeface="Geist"/>
                <a:ea typeface="Geist"/>
                <a:cs typeface="Geist"/>
              </a:defRPr>
            </a:pPr>
            <a:r>
              <a:rPr sz="2775" b="1">
                <a:solidFill>
                  <a:srgbClr val="111111"/>
                </a:solidFill>
                <a:latin typeface="Geist"/>
                <a:ea typeface="Geist"/>
                <a:cs typeface="Geist"/>
              </a:rPr>
              <a:t>Data pipeline</a:t>
            </a:r>
          </a:p>
        </p:txBody>
      </p:sp>
      <p:sp>
        <p:nvSpPr>
          <p:cNvPr id="9" name="Sources and access methods">
            <a:extLst xmlns:a="http://schemas.openxmlformats.org/drawingml/2006/main">
              <a:ext uri="{FF2B5EF4-FFF2-40B4-BE49-F238E27FC236}">
                <a16:creationId xmlns:a16="http://schemas.microsoft.com/office/drawing/2014/main" id="{0CDCBD3F-CE7C-4E5D-ADE8-8846FEEBD41F}"/>
              </a:ext>
            </a:extLst>
          </p:cNvPr>
          <p:cNvSpPr>
            <a:spLocks xmlns:a="http://schemas.openxmlformats.org/drawingml/2006/main" noGrp="1"/>
          </p:cNvSpPr>
          <p:nvPr/>
        </p:nvSpPr>
        <p:spPr>
          <a:xfrm xmlns:a="http://schemas.openxmlformats.org/drawingml/2006/main">
            <a:off x="7943850" y="2781300"/>
            <a:ext cx="356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buNone/>
              <a:defRPr sz="1725" b="0">
                <a:solidFill>
                  <a:srgbClr val="555555"/>
                </a:solidFill>
                <a:latin typeface="Geist"/>
                <a:ea typeface="Geist"/>
                <a:cs typeface="Geist"/>
              </a:defRPr>
            </a:pPr>
            <a:r>
              <a:rPr sz="1725" b="0">
                <a:solidFill>
                  <a:srgbClr val="555555"/>
                </a:solidFill>
                <a:latin typeface="Geist"/>
                <a:ea typeface="Geist"/>
                <a:cs typeface="Geist"/>
              </a:rPr>
              <a:t>Sources to dashboard</a:t>
            </a:r>
          </a:p>
        </p:txBody>
      </p:sp>
      <p:sp>
        <p:nvSpPr>
          <p:cNvPr id="10" name="">
            <a:extLst xmlns:a="http://schemas.openxmlformats.org/drawingml/2006/main">
              <a:ext uri="{FF2B5EF4-FFF2-40B4-BE49-F238E27FC236}">
                <a16:creationId xmlns:a16="http://schemas.microsoft.com/office/drawing/2014/main" id="{937A2289-50AA-4052-B42F-F1E2EFB7075B}"/>
              </a:ext>
            </a:extLst>
          </p:cNvPr>
          <p:cNvSpPr>
            <a:spLocks xmlns:a="http://schemas.openxmlformats.org/drawingml/2006/main" noGrp="1"/>
          </p:cNvSpPr>
          <p:nvPr/>
        </p:nvSpPr>
        <p:spPr>
          <a:xfrm xmlns:a="http://schemas.openxmlformats.org/drawingml/2006/main">
            <a:off x="1828800" y="3419475"/>
            <a:ext cx="9677400" cy="9525"/>
          </a:xfrm>
          <a:prstGeom xmlns:a="http://schemas.openxmlformats.org/drawingml/2006/main" prst="rect">
            <a:avLst/>
          </a:prstGeom>
          <a:solidFill xmlns:a="http://schemas.openxmlformats.org/drawingml/2006/main">
            <a:srgbClr val="DDDDDD"/>
          </a:solidFill>
          <a:ln xmlns:a="http://schemas.openxmlformats.org/drawingml/2006/main" w="0">
            <a:noFill/>
          </a:ln>
        </p:spPr>
      </p:sp>
      <p:sp>
        <p:nvSpPr>
          <p:cNvPr id="11" name="03">
            <a:extLst xmlns:a="http://schemas.openxmlformats.org/drawingml/2006/main">
              <a:ext uri="{FF2B5EF4-FFF2-40B4-BE49-F238E27FC236}">
                <a16:creationId xmlns:a16="http://schemas.microsoft.com/office/drawing/2014/main" id="{2A58D5D6-B6FB-4AEE-8332-EF0F8FFD2957}"/>
              </a:ext>
            </a:extLst>
          </p:cNvPr>
          <p:cNvSpPr>
            <a:spLocks xmlns:a="http://schemas.openxmlformats.org/drawingml/2006/main" noGrp="1"/>
          </p:cNvSpPr>
          <p:nvPr/>
        </p:nvSpPr>
        <p:spPr>
          <a:xfrm xmlns:a="http://schemas.openxmlformats.org/drawingml/2006/main">
            <a:off x="704850" y="376237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Mono"/>
                <a:ea typeface="Geist Mono"/>
                <a:cs typeface="Geist Mono"/>
              </a:defRPr>
            </a:defPPr>
          </a:lstStyle>
          <a:p xmlns:a="http://schemas.openxmlformats.org/drawingml/2006/main">
            <a:pPr algn="l">
              <a:buNone/>
              <a:defRPr sz="2250" b="0">
                <a:solidFill>
                  <a:srgbClr val="A61955"/>
                </a:solidFill>
                <a:latin typeface="Geist Mono"/>
                <a:ea typeface="Geist Mono"/>
                <a:cs typeface="Geist Mono"/>
              </a:defRPr>
            </a:pPr>
            <a:r>
              <a:rPr sz="2250" b="0">
                <a:solidFill>
                  <a:srgbClr val="A61955"/>
                </a:solidFill>
                <a:latin typeface="Geist Mono"/>
                <a:ea typeface="Geist Mono"/>
                <a:cs typeface="Geist Mono"/>
              </a:rPr>
              <a:t>03</a:t>
            </a:r>
          </a:p>
        </p:txBody>
      </p:sp>
      <p:sp>
        <p:nvSpPr>
          <p:cNvPr id="12" name="Preprocessing">
            <a:extLst xmlns:a="http://schemas.openxmlformats.org/drawingml/2006/main">
              <a:ext uri="{FF2B5EF4-FFF2-40B4-BE49-F238E27FC236}">
                <a16:creationId xmlns:a16="http://schemas.microsoft.com/office/drawing/2014/main" id="{D5FCE7BF-03E4-40E5-99A2-BE64CFE7D77C}"/>
              </a:ext>
            </a:extLst>
          </p:cNvPr>
          <p:cNvSpPr>
            <a:spLocks xmlns:a="http://schemas.openxmlformats.org/drawingml/2006/main" noGrp="1"/>
          </p:cNvSpPr>
          <p:nvPr/>
        </p:nvSpPr>
        <p:spPr>
          <a:xfrm xmlns:a="http://schemas.openxmlformats.org/drawingml/2006/main">
            <a:off x="1828800" y="3714750"/>
            <a:ext cx="6000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buNone/>
              <a:defRPr sz="2775" b="1">
                <a:solidFill>
                  <a:srgbClr val="111111"/>
                </a:solidFill>
                <a:latin typeface="Geist"/>
                <a:ea typeface="Geist"/>
                <a:cs typeface="Geist"/>
              </a:defRPr>
            </a:pPr>
            <a:r>
              <a:rPr sz="2775" b="1">
                <a:solidFill>
                  <a:srgbClr val="111111"/>
                </a:solidFill>
                <a:latin typeface="Geist"/>
                <a:ea typeface="Geist"/>
                <a:cs typeface="Geist"/>
              </a:rPr>
              <a:t>Collection &amp; preprocessing</a:t>
            </a:r>
          </a:p>
        </p:txBody>
      </p:sp>
      <p:sp>
        <p:nvSpPr>
          <p:cNvPr id="13" name="Records ready for analysis">
            <a:extLst xmlns:a="http://schemas.openxmlformats.org/drawingml/2006/main">
              <a:ext uri="{FF2B5EF4-FFF2-40B4-BE49-F238E27FC236}">
                <a16:creationId xmlns:a16="http://schemas.microsoft.com/office/drawing/2014/main" id="{08BDC26C-4DBE-4A5A-BA64-F5FBA055AB61}"/>
              </a:ext>
            </a:extLst>
          </p:cNvPr>
          <p:cNvSpPr>
            <a:spLocks xmlns:a="http://schemas.openxmlformats.org/drawingml/2006/main" noGrp="1"/>
          </p:cNvSpPr>
          <p:nvPr/>
        </p:nvSpPr>
        <p:spPr>
          <a:xfrm xmlns:a="http://schemas.openxmlformats.org/drawingml/2006/main">
            <a:off x="7943850" y="3810000"/>
            <a:ext cx="356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buNone/>
              <a:defRPr sz="1725" b="0">
                <a:solidFill>
                  <a:srgbClr val="555555"/>
                </a:solidFill>
                <a:latin typeface="Geist"/>
                <a:ea typeface="Geist"/>
                <a:cs typeface="Geist"/>
              </a:defRPr>
            </a:pPr>
            <a:r>
              <a:rPr sz="1725" b="0">
                <a:solidFill>
                  <a:srgbClr val="555555"/>
                </a:solidFill>
                <a:latin typeface="Geist"/>
                <a:ea typeface="Geist"/>
                <a:cs typeface="Geist"/>
              </a:rPr>
              <a:t>Crawling, APIs and data quality</a:t>
            </a:r>
          </a:p>
        </p:txBody>
      </p:sp>
      <p:sp>
        <p:nvSpPr>
          <p:cNvPr id="14" name="">
            <a:extLst xmlns:a="http://schemas.openxmlformats.org/drawingml/2006/main">
              <a:ext uri="{FF2B5EF4-FFF2-40B4-BE49-F238E27FC236}">
                <a16:creationId xmlns:a16="http://schemas.microsoft.com/office/drawing/2014/main" id="{449712E5-2168-4B0A-846A-439EF704EB59}"/>
              </a:ext>
            </a:extLst>
          </p:cNvPr>
          <p:cNvSpPr>
            <a:spLocks xmlns:a="http://schemas.openxmlformats.org/drawingml/2006/main" noGrp="1"/>
          </p:cNvSpPr>
          <p:nvPr/>
        </p:nvSpPr>
        <p:spPr>
          <a:xfrm xmlns:a="http://schemas.openxmlformats.org/drawingml/2006/main">
            <a:off x="1828800" y="4448175"/>
            <a:ext cx="9677400" cy="9525"/>
          </a:xfrm>
          <a:prstGeom xmlns:a="http://schemas.openxmlformats.org/drawingml/2006/main" prst="rect">
            <a:avLst/>
          </a:prstGeom>
          <a:solidFill xmlns:a="http://schemas.openxmlformats.org/drawingml/2006/main">
            <a:srgbClr val="DDDDDD"/>
          </a:solidFill>
          <a:ln xmlns:a="http://schemas.openxmlformats.org/drawingml/2006/main" w="0">
            <a:noFill/>
          </a:ln>
        </p:spPr>
      </p:sp>
      <p:sp>
        <p:nvSpPr>
          <p:cNvPr id="15" name="04">
            <a:extLst xmlns:a="http://schemas.openxmlformats.org/drawingml/2006/main">
              <a:ext uri="{FF2B5EF4-FFF2-40B4-BE49-F238E27FC236}">
                <a16:creationId xmlns:a16="http://schemas.microsoft.com/office/drawing/2014/main" id="{E245BC65-088F-4FE3-9ECB-65FEA3E7443A}"/>
              </a:ext>
            </a:extLst>
          </p:cNvPr>
          <p:cNvSpPr>
            <a:spLocks xmlns:a="http://schemas.openxmlformats.org/drawingml/2006/main" noGrp="1"/>
          </p:cNvSpPr>
          <p:nvPr/>
        </p:nvSpPr>
        <p:spPr>
          <a:xfrm xmlns:a="http://schemas.openxmlformats.org/drawingml/2006/main">
            <a:off x="704850" y="479107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Mono"/>
                <a:ea typeface="Geist Mono"/>
                <a:cs typeface="Geist Mono"/>
              </a:defRPr>
            </a:defPPr>
          </a:lstStyle>
          <a:p xmlns:a="http://schemas.openxmlformats.org/drawingml/2006/main">
            <a:pPr algn="l">
              <a:buNone/>
              <a:defRPr sz="2250" b="0">
                <a:solidFill>
                  <a:srgbClr val="A61955"/>
                </a:solidFill>
                <a:latin typeface="Geist Mono"/>
                <a:ea typeface="Geist Mono"/>
                <a:cs typeface="Geist Mono"/>
              </a:defRPr>
            </a:pPr>
            <a:r>
              <a:rPr sz="2250" b="0">
                <a:solidFill>
                  <a:srgbClr val="A61955"/>
                </a:solidFill>
                <a:latin typeface="Geist Mono"/>
                <a:ea typeface="Geist Mono"/>
                <a:cs typeface="Geist Mono"/>
              </a:rPr>
              <a:t>04</a:t>
            </a:r>
          </a:p>
        </p:txBody>
      </p:sp>
      <p:sp>
        <p:nvSpPr>
          <p:cNvPr id="16" name="Database &amp; application">
            <a:extLst xmlns:a="http://schemas.openxmlformats.org/drawingml/2006/main">
              <a:ext uri="{FF2B5EF4-FFF2-40B4-BE49-F238E27FC236}">
                <a16:creationId xmlns:a16="http://schemas.microsoft.com/office/drawing/2014/main" id="{7578B3A4-B481-4743-9904-DCB23648A643}"/>
              </a:ext>
            </a:extLst>
          </p:cNvPr>
          <p:cNvSpPr>
            <a:spLocks xmlns:a="http://schemas.openxmlformats.org/drawingml/2006/main" noGrp="1"/>
          </p:cNvSpPr>
          <p:nvPr/>
        </p:nvSpPr>
        <p:spPr>
          <a:xfrm xmlns:a="http://schemas.openxmlformats.org/drawingml/2006/main">
            <a:off x="1828800" y="4743450"/>
            <a:ext cx="6000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buNone/>
              <a:defRPr sz="2775" b="1">
                <a:solidFill>
                  <a:srgbClr val="111111"/>
                </a:solidFill>
                <a:latin typeface="Geist"/>
                <a:ea typeface="Geist"/>
                <a:cs typeface="Geist"/>
              </a:defRPr>
            </a:pPr>
            <a:r>
              <a:rPr sz="2775" b="1">
                <a:solidFill>
                  <a:srgbClr val="111111"/>
                </a:solidFill>
                <a:latin typeface="Geist"/>
                <a:ea typeface="Geist"/>
                <a:cs typeface="Geist"/>
              </a:rPr>
              <a:t>Database &amp; application</a:t>
            </a:r>
          </a:p>
        </p:txBody>
      </p:sp>
      <p:sp>
        <p:nvSpPr>
          <p:cNvPr id="17" name="Storage, joins and the dashboard">
            <a:extLst xmlns:a="http://schemas.openxmlformats.org/drawingml/2006/main">
              <a:ext uri="{FF2B5EF4-FFF2-40B4-BE49-F238E27FC236}">
                <a16:creationId xmlns:a16="http://schemas.microsoft.com/office/drawing/2014/main" id="{BDC4D0E3-61D9-4A8C-BDCC-CFA0AAF557AB}"/>
              </a:ext>
            </a:extLst>
          </p:cNvPr>
          <p:cNvSpPr>
            <a:spLocks xmlns:a="http://schemas.openxmlformats.org/drawingml/2006/main" noGrp="1"/>
          </p:cNvSpPr>
          <p:nvPr/>
        </p:nvSpPr>
        <p:spPr>
          <a:xfrm xmlns:a="http://schemas.openxmlformats.org/drawingml/2006/main">
            <a:off x="7943850" y="4838700"/>
            <a:ext cx="356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buNone/>
              <a:defRPr sz="1725" b="0">
                <a:solidFill>
                  <a:srgbClr val="555555"/>
                </a:solidFill>
                <a:latin typeface="Geist"/>
                <a:ea typeface="Geist"/>
                <a:cs typeface="Geist"/>
              </a:defRPr>
            </a:pPr>
            <a:r>
              <a:rPr sz="1725" b="0">
                <a:solidFill>
                  <a:srgbClr val="555555"/>
                </a:solidFill>
                <a:latin typeface="Geist"/>
                <a:ea typeface="Geist"/>
                <a:cs typeface="Geist"/>
              </a:rPr>
              <a:t>Storage, joins and the dashboard</a:t>
            </a:r>
          </a:p>
        </p:txBody>
      </p:sp>
    </p:spTree>
    <p:extLst>
      <p:ext uri="{BB962C8B-B14F-4D97-AF65-F5344CB8AC3E}">
        <p14:creationId xmlns:p14="http://schemas.microsoft.com/office/powerpoint/2010/main" val="13020600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hy meme coins?">
            <a:extLst xmlns:a="http://schemas.openxmlformats.org/drawingml/2006/main">
              <a:ext uri="{FF2B5EF4-FFF2-40B4-BE49-F238E27FC236}">
                <a16:creationId xmlns:a16="http://schemas.microsoft.com/office/drawing/2014/main" id="{266CC1CD-952E-42D7-8052-440D88F493D1}"/>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Why meme coins?</a:t>
            </a:r>
          </a:p>
        </p:txBody>
      </p:sp>
      <p:sp>
        <p:nvSpPr>
          <p:cNvPr id="2" name="03">
            <a:extLst xmlns:a="http://schemas.openxmlformats.org/drawingml/2006/main">
              <a:ext uri="{FF2B5EF4-FFF2-40B4-BE49-F238E27FC236}">
                <a16:creationId xmlns:a16="http://schemas.microsoft.com/office/drawing/2014/main" id="{59CC9765-8981-40EF-BF0B-92793850C35F}"/>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03</a:t>
            </a:r>
          </a:p>
        </p:txBody>
      </p:sp>
      <p:sp>
        <p:nvSpPr>
          <p:cNvPr id="3" name="TRUMP daily close (USD)">
            <a:extLst xmlns:a="http://schemas.openxmlformats.org/drawingml/2006/main">
              <a:ext uri="{FF2B5EF4-FFF2-40B4-BE49-F238E27FC236}">
                <a16:creationId xmlns:a16="http://schemas.microsoft.com/office/drawing/2014/main" id="{BDAD84C8-C5B3-4DF7-88B1-0FBA17DEFF29}"/>
              </a:ext>
            </a:extLst>
          </p:cNvPr>
          <p:cNvSpPr>
            <a:spLocks xmlns:a="http://schemas.openxmlformats.org/drawingml/2006/main" noGrp="1"/>
          </p:cNvSpPr>
          <p:nvPr/>
        </p:nvSpPr>
        <p:spPr>
          <a:xfrm xmlns:a="http://schemas.openxmlformats.org/drawingml/2006/main">
            <a:off x="704850" y="118110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buNone/>
              <a:defRPr sz="1725" b="0">
                <a:solidFill>
                  <a:srgbClr val="555555"/>
                </a:solidFill>
                <a:latin typeface="Geist"/>
                <a:ea typeface="Geist"/>
                <a:cs typeface="Geist"/>
              </a:defRPr>
            </a:pPr>
            <a:r>
              <a:rPr sz="1725" b="0">
                <a:solidFill>
                  <a:srgbClr val="555555"/>
                </a:solidFill>
                <a:latin typeface="Geist"/>
                <a:ea typeface="Geist"/>
                <a:cs typeface="Geist"/>
              </a:rPr>
              <a:t>TRUMP daily close (USD)</a:t>
            </a:r>
          </a:p>
        </p:txBody>
      </p:sp>
      <p:sp>
        <p:nvSpPr>
          <p:cNvPr id="4" name="what you want">
            <a:extLst xmlns:a="http://schemas.openxmlformats.org/drawingml/2006/main">
              <a:ext uri="{FF2B5EF4-FFF2-40B4-BE49-F238E27FC236}">
                <a16:creationId xmlns:a16="http://schemas.microsoft.com/office/drawing/2014/main" id="{76EF3803-9627-4821-9DCF-452CAFA64B59}"/>
              </a:ext>
            </a:extLst>
          </p:cNvPr>
          <p:cNvSpPr>
            <a:spLocks xmlns:a="http://schemas.openxmlformats.org/drawingml/2006/main" noGrp="1"/>
          </p:cNvSpPr>
          <p:nvPr/>
        </p:nvSpPr>
        <p:spPr>
          <a:xfrm xmlns:a="http://schemas.openxmlformats.org/drawingml/2006/main">
            <a:off x="1152525" y="17240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61955"/>
                </a:solidFill>
                <a:latin typeface="Geist"/>
                <a:ea typeface="Geist"/>
                <a:cs typeface="Geist"/>
              </a:defRPr>
            </a:defPPr>
          </a:lstStyle>
          <a:p xmlns:a="http://schemas.openxmlformats.org/drawingml/2006/main">
            <a:pPr algn="l">
              <a:buNone/>
              <a:defRPr sz="2325" b="1">
                <a:solidFill>
                  <a:srgbClr val="A61955"/>
                </a:solidFill>
                <a:latin typeface="Geist"/>
                <a:ea typeface="Geist"/>
                <a:cs typeface="Geist"/>
              </a:defRPr>
            </a:pPr>
            <a:r>
              <a:rPr sz="2325" b="1">
                <a:solidFill>
                  <a:srgbClr val="A61955"/>
                </a:solidFill>
                <a:latin typeface="Geist"/>
                <a:ea typeface="Geist"/>
                <a:cs typeface="Geist"/>
              </a:rPr>
              <a:t>what you want</a:t>
            </a:r>
          </a:p>
        </p:txBody>
      </p:sp>
      <p:sp>
        <p:nvSpPr>
          <p:cNvPr id="5" name="after you buy">
            <a:extLst xmlns:a="http://schemas.openxmlformats.org/drawingml/2006/main">
              <a:ext uri="{FF2B5EF4-FFF2-40B4-BE49-F238E27FC236}">
                <a16:creationId xmlns:a16="http://schemas.microsoft.com/office/drawing/2014/main" id="{BA4719E7-BFEB-40DF-965D-4F253CAF7A8F}"/>
              </a:ext>
            </a:extLst>
          </p:cNvPr>
          <p:cNvSpPr>
            <a:spLocks xmlns:a="http://schemas.openxmlformats.org/drawingml/2006/main" noGrp="1"/>
          </p:cNvSpPr>
          <p:nvPr/>
        </p:nvSpPr>
        <p:spPr>
          <a:xfrm xmlns:a="http://schemas.openxmlformats.org/drawingml/2006/main">
            <a:off x="7477125" y="17240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1111"/>
                </a:solidFill>
                <a:latin typeface="Geist"/>
                <a:ea typeface="Geist"/>
                <a:cs typeface="Geist"/>
              </a:defRPr>
            </a:defPPr>
          </a:lstStyle>
          <a:p xmlns:a="http://schemas.openxmlformats.org/drawingml/2006/main">
            <a:pPr algn="l">
              <a:buNone/>
              <a:defRPr sz="2325" b="1">
                <a:solidFill>
                  <a:srgbClr val="111111"/>
                </a:solidFill>
                <a:latin typeface="Geist"/>
                <a:ea typeface="Geist"/>
                <a:cs typeface="Geist"/>
              </a:defRPr>
            </a:pPr>
            <a:r>
              <a:rPr sz="2325" b="1">
                <a:solidFill>
                  <a:srgbClr val="111111"/>
                </a:solidFill>
                <a:latin typeface="Geist"/>
                <a:ea typeface="Geist"/>
                <a:cs typeface="Geist"/>
              </a:rPr>
              <a:t>after you buy</a:t>
            </a:r>
          </a:p>
        </p:txBody>
      </p:sp>
      <p:graphicFrame>
        <p:nvGraphicFramePr>
          <p:cNvPr id="6" name="Chart">
            <a:extLst xmlns:a="http://schemas.openxmlformats.org/drawingml/2006/main">
              <a:ext uri="{FF2B5EF4-FFF2-40B4-BE49-F238E27FC236}">
                <a16:creationId xmlns:a16="http://schemas.microsoft.com/office/drawing/2014/main" id="{B3200984-2425-4E92-A652-94837EACB5AC}"/>
              </a:ext>
            </a:extLst>
          </p:cNvPr>
          <p:cNvGraphicFramePr/>
          <p:nvPr/>
        </p:nvGraphicFramePr>
        <p:xfrm>
          <a:off xmlns:a="http://schemas.openxmlformats.org/drawingml/2006/main" x="762000" y="2324100"/>
          <a:ext xmlns:a="http://schemas.openxmlformats.org/drawingml/2006/main" cx="10668000" cy="2886075"/>
        </p:xfrm>
        <a:graphic xmlns:a="http://schemas.openxmlformats.org/drawingml/2006/main">
          <a:graphicData uri="http://schemas.openxmlformats.org/drawingml/2006/chart">
            <c:chart xmlns:r="http://schemas.openxmlformats.org/officeDocument/2006/relationships" xmlns:c="http://schemas.openxmlformats.org/drawingml/2006/chart" r:id="Refa55d676a3a46f7"/>
          </a:graphicData>
        </a:graphic>
      </p:graphicFrame>
      <p:sp>
        <p:nvSpPr>
          <p:cNvPr id="7" name="What was the community saying?">
            <a:extLst xmlns:a="http://schemas.openxmlformats.org/drawingml/2006/main">
              <a:ext uri="{FF2B5EF4-FFF2-40B4-BE49-F238E27FC236}">
                <a16:creationId xmlns:a16="http://schemas.microsoft.com/office/drawing/2014/main" id="{9BD56540-3B66-4859-B715-75F8497A2786}"/>
              </a:ext>
            </a:extLst>
          </p:cNvPr>
          <p:cNvSpPr>
            <a:spLocks xmlns:a="http://schemas.openxmlformats.org/drawingml/2006/main" noGrp="1"/>
          </p:cNvSpPr>
          <p:nvPr/>
        </p:nvSpPr>
        <p:spPr>
          <a:xfrm xmlns:a="http://schemas.openxmlformats.org/drawingml/2006/main">
            <a:off x="704850" y="55245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A61955"/>
                </a:solidFill>
                <a:latin typeface="Geist"/>
                <a:ea typeface="Geist"/>
                <a:cs typeface="Geist"/>
              </a:defRPr>
            </a:defPPr>
          </a:lstStyle>
          <a:p xmlns:a="http://schemas.openxmlformats.org/drawingml/2006/main">
            <a:pPr algn="l">
              <a:buNone/>
              <a:defRPr sz="2775" b="1">
                <a:solidFill>
                  <a:srgbClr val="A61955"/>
                </a:solidFill>
                <a:latin typeface="Geist"/>
                <a:ea typeface="Geist"/>
                <a:cs typeface="Geist"/>
              </a:defRPr>
            </a:pPr>
            <a:r>
              <a:rPr sz="2775" b="1">
                <a:solidFill>
                  <a:srgbClr val="A61955"/>
                </a:solidFill>
                <a:latin typeface="Geist"/>
                <a:ea typeface="Geist"/>
                <a:cs typeface="Geist"/>
              </a:rPr>
              <a:t>What was the community saying?</a:t>
            </a:r>
          </a:p>
        </p:txBody>
      </p:sp>
      <p:sp>
        <p:nvSpPr>
          <p:cNvPr id="8" name="18 Jan 2025–7 Oct 2026. Supplied daily closes. Captions are ">
            <a:extLst xmlns:a="http://schemas.openxmlformats.org/drawingml/2006/main">
              <a:ext uri="{FF2B5EF4-FFF2-40B4-BE49-F238E27FC236}">
                <a16:creationId xmlns:a16="http://schemas.microsoft.com/office/drawing/2014/main" id="{B87B6731-385A-4E8E-A008-D08C09A7CC75}"/>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18 Jan 2025–7 Oct 2026. Supplied daily closes. Captions are a joke, not an actual trade.</a:t>
            </a:r>
          </a:p>
        </p:txBody>
      </p:sp>
    </p:spTree>
    <p:extLst>
      <p:ext uri="{BB962C8B-B14F-4D97-AF65-F5344CB8AC3E}">
        <p14:creationId xmlns:p14="http://schemas.microsoft.com/office/powerpoint/2010/main" val="19450595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Data pipeline">
            <a:extLst xmlns:a="http://schemas.openxmlformats.org/drawingml/2006/main">
              <a:ext uri="{FF2B5EF4-FFF2-40B4-BE49-F238E27FC236}">
                <a16:creationId xmlns:a16="http://schemas.microsoft.com/office/drawing/2014/main" id="{2C9D4752-E177-4EC2-9BB9-43983EA73789}"/>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Data pipeline</a:t>
            </a:r>
          </a:p>
        </p:txBody>
      </p:sp>
      <p:sp>
        <p:nvSpPr>
          <p:cNvPr id="2" name="04">
            <a:extLst xmlns:a="http://schemas.openxmlformats.org/drawingml/2006/main">
              <a:ext uri="{FF2B5EF4-FFF2-40B4-BE49-F238E27FC236}">
                <a16:creationId xmlns:a16="http://schemas.microsoft.com/office/drawing/2014/main" id="{7DC55D7B-C1B7-4BDC-8C21-DA305A77EE4B}"/>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04</a:t>
            </a:r>
          </a:p>
        </p:txBody>
      </p:sp>
      <p:sp>
        <p:nvSpPr>
          <p:cNvPr id="3" name="Sources &amp; ingestion">
            <a:extLst xmlns:a="http://schemas.openxmlformats.org/drawingml/2006/main">
              <a:ext uri="{FF2B5EF4-FFF2-40B4-BE49-F238E27FC236}">
                <a16:creationId xmlns:a16="http://schemas.microsoft.com/office/drawing/2014/main" id="{5A3A8245-1C82-404F-A5A6-BCD82F55313B}"/>
              </a:ext>
            </a:extLst>
          </p:cNvPr>
          <p:cNvSpPr>
            <a:spLocks xmlns:a="http://schemas.openxmlformats.org/drawingml/2006/main" noGrp="1"/>
          </p:cNvSpPr>
          <p:nvPr/>
        </p:nvSpPr>
        <p:spPr>
          <a:xfrm xmlns:a="http://schemas.openxmlformats.org/drawingml/2006/main">
            <a:off x="685800" y="14287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11111"/>
                </a:solidFill>
                <a:latin typeface="Geist"/>
                <a:ea typeface="Geist"/>
                <a:cs typeface="Geist"/>
              </a:defRPr>
            </a:defPPr>
          </a:lstStyle>
          <a:p xmlns:a="http://schemas.openxmlformats.org/drawingml/2006/main">
            <a:pPr algn="l">
              <a:defRPr sz="1800" b="1">
                <a:solidFill>
                  <a:srgbClr val="111111"/>
                </a:solidFill>
                <a:latin typeface="Geist"/>
                <a:ea typeface="Geist"/>
                <a:cs typeface="Geist"/>
              </a:defRPr>
            </a:pPr>
            <a:r>
              <a:rPr sz="1800" b="1">
                <a:solidFill>
                  <a:srgbClr val="111111"/>
                </a:solidFill>
                <a:latin typeface="Geist"/>
                <a:ea typeface="Geist"/>
                <a:cs typeface="Geist"/>
              </a:rPr>
              <a:t>Sources &amp; ingestion</a:t>
            </a:r>
          </a:p>
        </p:txBody>
      </p:sp>
      <p:sp>
        <p:nvSpPr>
          <p:cNvPr id="4" name="Processing &amp; storage">
            <a:extLst xmlns:a="http://schemas.openxmlformats.org/drawingml/2006/main">
              <a:ext uri="{FF2B5EF4-FFF2-40B4-BE49-F238E27FC236}">
                <a16:creationId xmlns:a16="http://schemas.microsoft.com/office/drawing/2014/main" id="{C9622C05-5A8B-441A-AE11-BA43715C1F1A}"/>
              </a:ext>
            </a:extLst>
          </p:cNvPr>
          <p:cNvSpPr>
            <a:spLocks xmlns:a="http://schemas.openxmlformats.org/drawingml/2006/main" noGrp="1"/>
          </p:cNvSpPr>
          <p:nvPr/>
        </p:nvSpPr>
        <p:spPr>
          <a:xfrm xmlns:a="http://schemas.openxmlformats.org/drawingml/2006/main">
            <a:off x="4191000" y="1428750"/>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11111"/>
                </a:solidFill>
                <a:latin typeface="Geist"/>
                <a:ea typeface="Geist"/>
                <a:cs typeface="Geist"/>
              </a:defRPr>
            </a:defPPr>
          </a:lstStyle>
          <a:p xmlns:a="http://schemas.openxmlformats.org/drawingml/2006/main">
            <a:pPr algn="l">
              <a:defRPr sz="1800" b="1">
                <a:solidFill>
                  <a:srgbClr val="111111"/>
                </a:solidFill>
                <a:latin typeface="Geist"/>
                <a:ea typeface="Geist"/>
                <a:cs typeface="Geist"/>
              </a:defRPr>
            </a:pPr>
            <a:r>
              <a:rPr sz="1800" b="1">
                <a:solidFill>
                  <a:srgbClr val="111111"/>
                </a:solidFill>
                <a:latin typeface="Geist"/>
                <a:ea typeface="Geist"/>
                <a:cs typeface="Geist"/>
              </a:rPr>
              <a:t>Processing &amp; storage</a:t>
            </a:r>
          </a:p>
        </p:txBody>
      </p:sp>
      <p:sp>
        <p:nvSpPr>
          <p:cNvPr id="5" name="Application">
            <a:extLst xmlns:a="http://schemas.openxmlformats.org/drawingml/2006/main">
              <a:ext uri="{FF2B5EF4-FFF2-40B4-BE49-F238E27FC236}">
                <a16:creationId xmlns:a16="http://schemas.microsoft.com/office/drawing/2014/main" id="{31D8C20C-D751-4B5D-934F-318A2ADD8F95}"/>
              </a:ext>
            </a:extLst>
          </p:cNvPr>
          <p:cNvSpPr>
            <a:spLocks xmlns:a="http://schemas.openxmlformats.org/drawingml/2006/main" noGrp="1"/>
          </p:cNvSpPr>
          <p:nvPr/>
        </p:nvSpPr>
        <p:spPr>
          <a:xfrm xmlns:a="http://schemas.openxmlformats.org/drawingml/2006/main">
            <a:off x="10515600" y="14287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11111"/>
                </a:solidFill>
                <a:latin typeface="Geist"/>
                <a:ea typeface="Geist"/>
                <a:cs typeface="Geist"/>
              </a:defRPr>
            </a:defPPr>
          </a:lstStyle>
          <a:p xmlns:a="http://schemas.openxmlformats.org/drawingml/2006/main">
            <a:pPr algn="l">
              <a:defRPr sz="1650" b="1">
                <a:solidFill>
                  <a:srgbClr val="111111"/>
                </a:solidFill>
                <a:latin typeface="Geist"/>
                <a:ea typeface="Geist"/>
                <a:cs typeface="Geist"/>
              </a:defRPr>
            </a:pPr>
            <a:r>
              <a:rPr sz="1650" b="1">
                <a:solidFill>
                  <a:srgbClr val="111111"/>
                </a:solidFill>
                <a:latin typeface="Geist"/>
                <a:ea typeface="Geist"/>
                <a:cs typeface="Geist"/>
              </a:rPr>
              <a:t>Application</a:t>
            </a:r>
          </a:p>
        </p:txBody>
      </p:sp>
      <p:cxnSp>
        <p:nvCxnSpPr>
          <p:cNvPr id="6" name="Batch data flow">
            <a:extLst xmlns:a="http://schemas.openxmlformats.org/drawingml/2006/main">
              <a:ext uri="{FF2B5EF4-FFF2-40B4-BE49-F238E27FC236}">
                <a16:creationId xmlns:a16="http://schemas.microsoft.com/office/drawing/2014/main" id="{CE0678BD-7D06-49F3-90CF-CB5061F58791}"/>
              </a:ext>
            </a:extLst>
          </p:cNvPr>
          <p:cNvCxnSpPr/>
          <p:nvPr/>
        </p:nvCxnSpPr>
        <p:spPr>
          <a:xfrm xmlns:a="http://schemas.openxmlformats.org/drawingml/2006/main">
            <a:off x="685800" y="1838325"/>
            <a:ext cx="2457450" cy="0"/>
          </a:xfrm>
          <a:prstGeom xmlns:a="http://schemas.openxmlformats.org/drawingml/2006/main" prst="straightConnector1">
            <a:avLst/>
          </a:prstGeom>
          <a:ln xmlns:a="http://schemas.openxmlformats.org/drawingml/2006/main" w="9525">
            <a:solidFill>
              <a:srgbClr val="D5D5D5"/>
            </a:solidFill>
            <a:prstDash val="solid"/>
          </a:ln>
        </p:spPr>
      </p:cxnSp>
      <p:cxnSp>
        <p:nvCxnSpPr>
          <p:cNvPr id="7" name="Batch data flow">
            <a:extLst xmlns:a="http://schemas.openxmlformats.org/drawingml/2006/main">
              <a:ext uri="{FF2B5EF4-FFF2-40B4-BE49-F238E27FC236}">
                <a16:creationId xmlns:a16="http://schemas.microsoft.com/office/drawing/2014/main" id="{F144D640-6F1D-45DB-BB3F-9D5E06D36D5D}"/>
              </a:ext>
            </a:extLst>
          </p:cNvPr>
          <p:cNvCxnSpPr/>
          <p:nvPr/>
        </p:nvCxnSpPr>
        <p:spPr>
          <a:xfrm xmlns:a="http://schemas.openxmlformats.org/drawingml/2006/main">
            <a:off x="4191000" y="1838325"/>
            <a:ext cx="6096000" cy="0"/>
          </a:xfrm>
          <a:prstGeom xmlns:a="http://schemas.openxmlformats.org/drawingml/2006/main" prst="straightConnector1">
            <a:avLst/>
          </a:prstGeom>
          <a:ln xmlns:a="http://schemas.openxmlformats.org/drawingml/2006/main" w="9525">
            <a:solidFill>
              <a:srgbClr val="D5D5D5"/>
            </a:solidFill>
            <a:prstDash val="solid"/>
          </a:ln>
        </p:spPr>
      </p:cxnSp>
      <p:cxnSp>
        <p:nvCxnSpPr>
          <p:cNvPr id="8" name="Batch data flow">
            <a:extLst xmlns:a="http://schemas.openxmlformats.org/drawingml/2006/main">
              <a:ext uri="{FF2B5EF4-FFF2-40B4-BE49-F238E27FC236}">
                <a16:creationId xmlns:a16="http://schemas.microsoft.com/office/drawing/2014/main" id="{DAB9C54B-A9BD-46B3-84F6-46B5EBB651B3}"/>
              </a:ext>
            </a:extLst>
          </p:cNvPr>
          <p:cNvCxnSpPr/>
          <p:nvPr/>
        </p:nvCxnSpPr>
        <p:spPr>
          <a:xfrm xmlns:a="http://schemas.openxmlformats.org/drawingml/2006/main">
            <a:off x="10515600" y="1838325"/>
            <a:ext cx="1371600" cy="0"/>
          </a:xfrm>
          <a:prstGeom xmlns:a="http://schemas.openxmlformats.org/drawingml/2006/main" prst="straightConnector1">
            <a:avLst/>
          </a:prstGeom>
          <a:ln xmlns:a="http://schemas.openxmlformats.org/drawingml/2006/main" w="9525">
            <a:solidFill>
              <a:srgbClr val="D5D5D5"/>
            </a:solidFill>
            <a:prstDash val="solid"/>
          </a:ln>
        </p:spPr>
      </p:cxnSp>
      <p:pic>
        <p:nvPicPr>
          <p:cNvPr id="9" name="">
            <a:extLst xmlns:a="http://schemas.openxmlformats.org/drawingml/2006/main">
              <a:ext uri="{FF2B5EF4-FFF2-40B4-BE49-F238E27FC236}">
                <a16:creationId xmlns:a16="http://schemas.microsoft.com/office/drawing/2014/main" id="{825E2767-A44C-4FD7-BD01-F08458877C5C}"/>
              </a:ext>
            </a:extLst>
          </p:cNvPr>
          <p:cNvPicPr>
            <a:picLocks xmlns:a="http://schemas.openxmlformats.org/drawingml/2006/main" noChangeAspect="1"/>
          </p:cNvPicPr>
          <p:nvPr/>
        </p:nvPicPr>
        <p:blipFill>
          <a:blip xmlns:r="http://schemas.openxmlformats.org/officeDocument/2006/relationships" xmlns:a="http://schemas.openxmlformats.org/drawingml/2006/main" r:embed="R8a9e26738ac84b33">
            <a:extLst>
              <a:ext uri="{96DAC541-7B7A-43D3-8B79-37D633B846F1}">
                <asvg:svgBlip xmlns:asvg="http://schemas.microsoft.com/office/drawing/2016/SVG/main" r:embed="Rb5020dbaab4d4633"/>
              </a:ext>
            </a:extLst>
          </a:blip>
          <a:stretch xmlns:a="http://schemas.openxmlformats.org/drawingml/2006/main"/>
        </p:blipFill>
        <p:spPr>
          <a:xfrm xmlns:a="http://schemas.openxmlformats.org/drawingml/2006/main">
            <a:off x="685800" y="2190750"/>
            <a:ext cx="400050" cy="400050"/>
          </a:xfrm>
          <a:prstGeom xmlns:a="http://schemas.openxmlformats.org/drawingml/2006/main" prst="rect">
            <a:avLst/>
          </a:prstGeom>
        </p:spPr>
      </p:pic>
      <p:sp>
        <p:nvSpPr>
          <p:cNvPr id="10" name="CMC">
            <a:extLst xmlns:a="http://schemas.openxmlformats.org/drawingml/2006/main">
              <a:ext uri="{FF2B5EF4-FFF2-40B4-BE49-F238E27FC236}">
                <a16:creationId xmlns:a16="http://schemas.microsoft.com/office/drawing/2014/main" id="{65F86D6B-1F7E-48FD-96A5-43F1EEC5D1B2}"/>
              </a:ext>
            </a:extLst>
          </p:cNvPr>
          <p:cNvSpPr>
            <a:spLocks xmlns:a="http://schemas.openxmlformats.org/drawingml/2006/main" noGrp="1"/>
          </p:cNvSpPr>
          <p:nvPr/>
        </p:nvSpPr>
        <p:spPr>
          <a:xfrm xmlns:a="http://schemas.openxmlformats.org/drawingml/2006/main">
            <a:off x="1219200" y="220980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1111"/>
                </a:solidFill>
                <a:latin typeface="Geist"/>
                <a:ea typeface="Geist"/>
                <a:cs typeface="Geist"/>
              </a:defRPr>
            </a:defPPr>
          </a:lstStyle>
          <a:p xmlns:a="http://schemas.openxmlformats.org/drawingml/2006/main">
            <a:pPr algn="l">
              <a:defRPr sz="2025" b="1">
                <a:solidFill>
                  <a:srgbClr val="111111"/>
                </a:solidFill>
                <a:latin typeface="Geist"/>
                <a:ea typeface="Geist"/>
                <a:cs typeface="Geist"/>
              </a:defRPr>
            </a:pPr>
            <a:r>
              <a:rPr sz="2025" b="1">
                <a:solidFill>
                  <a:srgbClr val="111111"/>
                </a:solidFill>
                <a:latin typeface="Geist"/>
                <a:ea typeface="Geist"/>
                <a:cs typeface="Geist"/>
              </a:rPr>
              <a:t>CMC</a:t>
            </a:r>
          </a:p>
        </p:txBody>
      </p:sp>
      <p:sp>
        <p:nvSpPr>
          <p:cNvPr id="11" name="Historical crawl">
            <a:extLst xmlns:a="http://schemas.openxmlformats.org/drawingml/2006/main">
              <a:ext uri="{FF2B5EF4-FFF2-40B4-BE49-F238E27FC236}">
                <a16:creationId xmlns:a16="http://schemas.microsoft.com/office/drawing/2014/main" id="{345EE669-CD22-4388-8742-795295D690C1}"/>
              </a:ext>
            </a:extLst>
          </p:cNvPr>
          <p:cNvSpPr>
            <a:spLocks xmlns:a="http://schemas.openxmlformats.org/drawingml/2006/main" noGrp="1"/>
          </p:cNvSpPr>
          <p:nvPr/>
        </p:nvSpPr>
        <p:spPr>
          <a:xfrm xmlns:a="http://schemas.openxmlformats.org/drawingml/2006/main">
            <a:off x="685800" y="26670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Historical crawl</a:t>
            </a:r>
          </a:p>
        </p:txBody>
      </p:sp>
      <p:sp>
        <p:nvSpPr>
          <p:cNvPr id="12" name="CSV">
            <a:extLst xmlns:a="http://schemas.openxmlformats.org/drawingml/2006/main">
              <a:ext uri="{FF2B5EF4-FFF2-40B4-BE49-F238E27FC236}">
                <a16:creationId xmlns:a16="http://schemas.microsoft.com/office/drawing/2014/main" id="{89C76752-C956-4D23-A7FD-A3A2B91DC846}"/>
              </a:ext>
            </a:extLst>
          </p:cNvPr>
          <p:cNvSpPr>
            <a:spLocks xmlns:a="http://schemas.openxmlformats.org/drawingml/2006/main" noGrp="1"/>
          </p:cNvSpPr>
          <p:nvPr/>
        </p:nvSpPr>
        <p:spPr>
          <a:xfrm xmlns:a="http://schemas.openxmlformats.org/drawingml/2006/main">
            <a:off x="685800" y="2962275"/>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5555"/>
                </a:solidFill>
                <a:latin typeface="Geist"/>
                <a:ea typeface="Geist"/>
                <a:cs typeface="Geist"/>
              </a:defRPr>
            </a:defPPr>
          </a:lstStyle>
          <a:p xmlns:a="http://schemas.openxmlformats.org/drawingml/2006/main">
            <a:pPr algn="l">
              <a:defRPr sz="1575" b="0">
                <a:solidFill>
                  <a:srgbClr val="555555"/>
                </a:solidFill>
                <a:latin typeface="Geist"/>
                <a:ea typeface="Geist"/>
                <a:cs typeface="Geist"/>
              </a:defRPr>
            </a:pPr>
            <a:r>
              <a:rPr sz="1575" b="0">
                <a:solidFill>
                  <a:srgbClr val="555555"/>
                </a:solidFill>
                <a:latin typeface="Geist"/>
                <a:ea typeface="Geist"/>
                <a:cs typeface="Geist"/>
              </a:rPr>
              <a:t>CSV</a:t>
            </a:r>
          </a:p>
        </p:txBody>
      </p:sp>
      <p:pic>
        <p:nvPicPr>
          <p:cNvPr id="13" name="">
            <a:extLst xmlns:a="http://schemas.openxmlformats.org/drawingml/2006/main">
              <a:ext uri="{FF2B5EF4-FFF2-40B4-BE49-F238E27FC236}">
                <a16:creationId xmlns:a16="http://schemas.microsoft.com/office/drawing/2014/main" id="{9E19AFC0-F699-410D-9FBE-0B6AB4674EA3}"/>
              </a:ext>
            </a:extLst>
          </p:cNvPr>
          <p:cNvPicPr>
            <a:picLocks xmlns:a="http://schemas.openxmlformats.org/drawingml/2006/main" noChangeAspect="1"/>
          </p:cNvPicPr>
          <p:nvPr/>
        </p:nvPicPr>
        <p:blipFill>
          <a:blip xmlns:r="http://schemas.openxmlformats.org/officeDocument/2006/relationships" xmlns:a="http://schemas.openxmlformats.org/drawingml/2006/main" r:embed="R02d38bedd82549a4">
            <a:extLst>
              <a:ext uri="{96DAC541-7B7A-43D3-8B79-37D633B846F1}">
                <asvg:svgBlip xmlns:asvg="http://schemas.microsoft.com/office/drawing/2016/SVG/main" r:embed="Rc58853885be44cf6"/>
              </a:ext>
            </a:extLst>
          </a:blip>
          <a:stretch xmlns:a="http://schemas.openxmlformats.org/drawingml/2006/main"/>
        </p:blipFill>
        <p:spPr>
          <a:xfrm xmlns:a="http://schemas.openxmlformats.org/drawingml/2006/main">
            <a:off x="685800" y="4076700"/>
            <a:ext cx="323850" cy="323850"/>
          </a:xfrm>
          <a:prstGeom xmlns:a="http://schemas.openxmlformats.org/drawingml/2006/main" prst="rect">
            <a:avLst/>
          </a:prstGeom>
        </p:spPr>
      </p:pic>
      <p:sp>
        <p:nvSpPr>
          <p:cNvPr id="14" name="FxTwitter API">
            <a:extLst xmlns:a="http://schemas.openxmlformats.org/drawingml/2006/main">
              <a:ext uri="{FF2B5EF4-FFF2-40B4-BE49-F238E27FC236}">
                <a16:creationId xmlns:a16="http://schemas.microsoft.com/office/drawing/2014/main" id="{8349FC82-6A6B-4DC5-A16B-58D4678F4C76}"/>
              </a:ext>
            </a:extLst>
          </p:cNvPr>
          <p:cNvSpPr>
            <a:spLocks xmlns:a="http://schemas.openxmlformats.org/drawingml/2006/main" noGrp="1"/>
          </p:cNvSpPr>
          <p:nvPr/>
        </p:nvSpPr>
        <p:spPr>
          <a:xfrm xmlns:a="http://schemas.openxmlformats.org/drawingml/2006/main">
            <a:off x="1181100" y="40957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Geist"/>
                <a:ea typeface="Geist"/>
                <a:cs typeface="Geist"/>
              </a:defRPr>
            </a:defPPr>
          </a:lstStyle>
          <a:p xmlns:a="http://schemas.openxmlformats.org/drawingml/2006/main">
            <a:pPr algn="l">
              <a:defRPr sz="1650" b="0">
                <a:solidFill>
                  <a:srgbClr val="111111"/>
                </a:solidFill>
                <a:latin typeface="Geist"/>
                <a:ea typeface="Geist"/>
                <a:cs typeface="Geist"/>
              </a:defRPr>
            </a:pPr>
            <a:r>
              <a:rPr sz="1650" b="0">
                <a:solidFill>
                  <a:srgbClr val="111111"/>
                </a:solidFill>
                <a:latin typeface="Geist"/>
                <a:ea typeface="Geist"/>
                <a:cs typeface="Geist"/>
              </a:rPr>
              <a:t>FxTwitter API</a:t>
            </a:r>
          </a:p>
        </p:txBody>
      </p:sp>
      <p:sp>
        <p:nvSpPr>
          <p:cNvPr id="15" name="Selected accounts">
            <a:extLst xmlns:a="http://schemas.openxmlformats.org/drawingml/2006/main">
              <a:ext uri="{FF2B5EF4-FFF2-40B4-BE49-F238E27FC236}">
                <a16:creationId xmlns:a16="http://schemas.microsoft.com/office/drawing/2014/main" id="{F023132B-720F-4FEA-8137-CD159B9F89DF}"/>
              </a:ext>
            </a:extLst>
          </p:cNvPr>
          <p:cNvSpPr>
            <a:spLocks xmlns:a="http://schemas.openxmlformats.org/drawingml/2006/main" noGrp="1"/>
          </p:cNvSpPr>
          <p:nvPr/>
        </p:nvSpPr>
        <p:spPr>
          <a:xfrm xmlns:a="http://schemas.openxmlformats.org/drawingml/2006/main">
            <a:off x="685800" y="4457700"/>
            <a:ext cx="1838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Geist"/>
                <a:ea typeface="Geist"/>
                <a:cs typeface="Geist"/>
              </a:defRPr>
            </a:defPPr>
          </a:lstStyle>
          <a:p xmlns:a="http://schemas.openxmlformats.org/drawingml/2006/main">
            <a:pPr algn="l">
              <a:defRPr sz="1500" b="0">
                <a:solidFill>
                  <a:srgbClr val="555555"/>
                </a:solidFill>
                <a:latin typeface="Geist"/>
                <a:ea typeface="Geist"/>
                <a:cs typeface="Geist"/>
              </a:defRPr>
            </a:pPr>
            <a:r>
              <a:rPr sz="1500" b="0">
                <a:solidFill>
                  <a:srgbClr val="555555"/>
                </a:solidFill>
                <a:latin typeface="Geist"/>
                <a:ea typeface="Geist"/>
                <a:cs typeface="Geist"/>
              </a:rPr>
              <a:t>Selected accounts</a:t>
            </a:r>
          </a:p>
        </p:txBody>
      </p:sp>
      <p:pic>
        <p:nvPicPr>
          <p:cNvPr id="16" name="">
            <a:extLst xmlns:a="http://schemas.openxmlformats.org/drawingml/2006/main">
              <a:ext uri="{FF2B5EF4-FFF2-40B4-BE49-F238E27FC236}">
                <a16:creationId xmlns:a16="http://schemas.microsoft.com/office/drawing/2014/main" id="{F542D57C-EE7D-4FA8-B839-9527D4E6D9AA}"/>
              </a:ext>
            </a:extLst>
          </p:cNvPr>
          <p:cNvPicPr>
            <a:picLocks xmlns:a="http://schemas.openxmlformats.org/drawingml/2006/main" noChangeAspect="1"/>
          </p:cNvPicPr>
          <p:nvPr/>
        </p:nvPicPr>
        <p:blipFill>
          <a:blip xmlns:r="http://schemas.openxmlformats.org/officeDocument/2006/relationships" xmlns:a="http://schemas.openxmlformats.org/drawingml/2006/main" r:embed="R0f1edccfe1484f1f">
            <a:extLst>
              <a:ext uri="{96DAC541-7B7A-43D3-8B79-37D633B846F1}">
                <asvg:svgBlip xmlns:asvg="http://schemas.microsoft.com/office/drawing/2016/SVG/main" r:embed="R090248d1626e4ea3"/>
              </a:ext>
            </a:extLst>
          </a:blip>
          <a:stretch xmlns:a="http://schemas.openxmlformats.org/drawingml/2006/main"/>
        </p:blipFill>
        <p:spPr>
          <a:xfrm xmlns:a="http://schemas.openxmlformats.org/drawingml/2006/main">
            <a:off x="685800" y="5010150"/>
            <a:ext cx="323850" cy="323850"/>
          </a:xfrm>
          <a:prstGeom xmlns:a="http://schemas.openxmlformats.org/drawingml/2006/main" prst="rect">
            <a:avLst/>
          </a:prstGeom>
        </p:spPr>
      </p:pic>
      <p:sp>
        <p:nvSpPr>
          <p:cNvPr id="17" name="Arctic Shift*">
            <a:extLst xmlns:a="http://schemas.openxmlformats.org/drawingml/2006/main">
              <a:ext uri="{FF2B5EF4-FFF2-40B4-BE49-F238E27FC236}">
                <a16:creationId xmlns:a16="http://schemas.microsoft.com/office/drawing/2014/main" id="{7EAD803B-B921-4300-B680-0334EFDCA47E}"/>
              </a:ext>
            </a:extLst>
          </p:cNvPr>
          <p:cNvSpPr>
            <a:spLocks xmlns:a="http://schemas.openxmlformats.org/drawingml/2006/main" noGrp="1"/>
          </p:cNvSpPr>
          <p:nvPr/>
        </p:nvSpPr>
        <p:spPr>
          <a:xfrm xmlns:a="http://schemas.openxmlformats.org/drawingml/2006/main">
            <a:off x="1181100" y="50292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Geist"/>
                <a:ea typeface="Geist"/>
                <a:cs typeface="Geist"/>
              </a:defRPr>
            </a:defPPr>
          </a:lstStyle>
          <a:p xmlns:a="http://schemas.openxmlformats.org/drawingml/2006/main">
            <a:pPr algn="l">
              <a:defRPr sz="1650" b="0">
                <a:solidFill>
                  <a:srgbClr val="111111"/>
                </a:solidFill>
                <a:latin typeface="Geist"/>
                <a:ea typeface="Geist"/>
                <a:cs typeface="Geist"/>
              </a:defRPr>
            </a:pPr>
            <a:r>
              <a:rPr sz="1650" b="0">
                <a:solidFill>
                  <a:srgbClr val="111111"/>
                </a:solidFill>
                <a:latin typeface="Geist"/>
                <a:ea typeface="Geist"/>
                <a:cs typeface="Geist"/>
              </a:rPr>
              <a:t>Arctic Shift*</a:t>
            </a:r>
          </a:p>
        </p:txBody>
      </p:sp>
      <p:sp>
        <p:nvSpPr>
          <p:cNvPr id="18" name="Raw archive files">
            <a:extLst xmlns:a="http://schemas.openxmlformats.org/drawingml/2006/main">
              <a:ext uri="{FF2B5EF4-FFF2-40B4-BE49-F238E27FC236}">
                <a16:creationId xmlns:a16="http://schemas.microsoft.com/office/drawing/2014/main" id="{434BD08D-561B-4DD4-B13D-D7FB0A98C134}"/>
              </a:ext>
            </a:extLst>
          </p:cNvPr>
          <p:cNvSpPr>
            <a:spLocks xmlns:a="http://schemas.openxmlformats.org/drawingml/2006/main" noGrp="1"/>
          </p:cNvSpPr>
          <p:nvPr/>
        </p:nvSpPr>
        <p:spPr>
          <a:xfrm xmlns:a="http://schemas.openxmlformats.org/drawingml/2006/main">
            <a:off x="2952750" y="3286125"/>
            <a:ext cx="952500" cy="1238250"/>
          </a:xfrm>
          <a:prstGeom xmlns:a="http://schemas.openxmlformats.org/drawingml/2006/main" prst="foldedCorner">
            <a:avLst/>
          </a:prstGeom>
          <a:solidFill xmlns:a="http://schemas.openxmlformats.org/drawingml/2006/main">
            <a:srgbClr val="FFFFFF"/>
          </a:solidFill>
          <a:ln xmlns:a="http://schemas.openxmlformats.org/drawingml/2006/main" w="13335">
            <a:solidFill>
              <a:srgbClr val="555555"/>
            </a:solidFill>
          </a:ln>
        </p:spPr>
      </p:sp>
      <p:sp>
        <p:nvSpPr>
          <p:cNvPr id="19" name="CSV&#10;JSON">
            <a:extLst xmlns:a="http://schemas.openxmlformats.org/drawingml/2006/main">
              <a:ext uri="{FF2B5EF4-FFF2-40B4-BE49-F238E27FC236}">
                <a16:creationId xmlns:a16="http://schemas.microsoft.com/office/drawing/2014/main" id="{DA2B52D0-1D30-493B-97C5-2273C1F542A0}"/>
              </a:ext>
            </a:extLst>
          </p:cNvPr>
          <p:cNvSpPr>
            <a:spLocks xmlns:a="http://schemas.openxmlformats.org/drawingml/2006/main" noGrp="1"/>
          </p:cNvSpPr>
          <p:nvPr/>
        </p:nvSpPr>
        <p:spPr>
          <a:xfrm xmlns:a="http://schemas.openxmlformats.org/drawingml/2006/main">
            <a:off x="3038475" y="3638550"/>
            <a:ext cx="781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11111"/>
                </a:solidFill>
                <a:latin typeface="Geist"/>
                <a:ea typeface="Geist"/>
                <a:cs typeface="Geist"/>
              </a:defRPr>
            </a:defPPr>
          </a:lstStyle>
          <a:p xmlns:a="http://schemas.openxmlformats.org/drawingml/2006/main">
            <a:pPr algn="ctr">
              <a:defRPr sz="1725" b="1">
                <a:solidFill>
                  <a:srgbClr val="111111"/>
                </a:solidFill>
                <a:latin typeface="Geist"/>
                <a:ea typeface="Geist"/>
                <a:cs typeface="Geist"/>
              </a:defRPr>
            </a:pPr>
            <a:r>
              <a:rPr sz="1725" b="1">
                <a:solidFill>
                  <a:srgbClr val="111111"/>
                </a:solidFill>
                <a:latin typeface="Geist"/>
                <a:ea typeface="Geist"/>
                <a:cs typeface="Geist"/>
              </a:rPr>
              <a:t>CSV</a:t>
            </a:r>
          </a:p>
          <a:p xmlns:a="http://schemas.openxmlformats.org/drawingml/2006/main">
            <a:pPr algn="ctr">
              <a:defRPr sz="1725" b="1">
                <a:solidFill>
                  <a:srgbClr val="111111"/>
                </a:solidFill>
                <a:latin typeface="Geist"/>
                <a:ea typeface="Geist"/>
                <a:cs typeface="Geist"/>
              </a:defRPr>
            </a:pPr>
            <a:r>
              <a:rPr sz="1725" b="1">
                <a:solidFill>
                  <a:srgbClr val="111111"/>
                </a:solidFill>
                <a:latin typeface="Geist"/>
                <a:ea typeface="Geist"/>
                <a:cs typeface="Geist"/>
              </a:rPr>
              <a:t>JSON</a:t>
            </a:r>
          </a:p>
        </p:txBody>
      </p:sp>
      <p:sp>
        <p:nvSpPr>
          <p:cNvPr id="20" name="Raw archive">
            <a:extLst xmlns:a="http://schemas.openxmlformats.org/drawingml/2006/main">
              <a:ext uri="{FF2B5EF4-FFF2-40B4-BE49-F238E27FC236}">
                <a16:creationId xmlns:a16="http://schemas.microsoft.com/office/drawing/2014/main" id="{3933660B-DB38-42D5-B366-42E89188BF5F}"/>
              </a:ext>
            </a:extLst>
          </p:cNvPr>
          <p:cNvSpPr>
            <a:spLocks xmlns:a="http://schemas.openxmlformats.org/drawingml/2006/main" noGrp="1"/>
          </p:cNvSpPr>
          <p:nvPr/>
        </p:nvSpPr>
        <p:spPr>
          <a:xfrm xmlns:a="http://schemas.openxmlformats.org/drawingml/2006/main">
            <a:off x="2667000" y="46672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11111"/>
                </a:solidFill>
                <a:latin typeface="Geist"/>
                <a:ea typeface="Geist"/>
                <a:cs typeface="Geist"/>
              </a:defRPr>
            </a:defPPr>
          </a:lstStyle>
          <a:p xmlns:a="http://schemas.openxmlformats.org/drawingml/2006/main">
            <a:pPr algn="ctr">
              <a:defRPr sz="1800" b="1">
                <a:solidFill>
                  <a:srgbClr val="111111"/>
                </a:solidFill>
                <a:latin typeface="Geist"/>
                <a:ea typeface="Geist"/>
                <a:cs typeface="Geist"/>
              </a:defRPr>
            </a:pPr>
            <a:r>
              <a:rPr sz="1800" b="1">
                <a:solidFill>
                  <a:srgbClr val="111111"/>
                </a:solidFill>
                <a:latin typeface="Geist"/>
                <a:ea typeface="Geist"/>
                <a:cs typeface="Geist"/>
              </a:rPr>
              <a:t>Raw archive</a:t>
            </a:r>
          </a:p>
        </p:txBody>
      </p:sp>
      <p:sp>
        <p:nvSpPr>
          <p:cNvPr id="21" name="Python preprocessing">
            <a:extLst xmlns:a="http://schemas.openxmlformats.org/drawingml/2006/main">
              <a:ext uri="{FF2B5EF4-FFF2-40B4-BE49-F238E27FC236}">
                <a16:creationId xmlns:a16="http://schemas.microsoft.com/office/drawing/2014/main" id="{ED8B9876-6603-4979-87A6-4A27FAF5F689}"/>
              </a:ext>
            </a:extLst>
          </p:cNvPr>
          <p:cNvSpPr>
            <a:spLocks xmlns:a="http://schemas.openxmlformats.org/drawingml/2006/main" noGrp="1"/>
          </p:cNvSpPr>
          <p:nvPr/>
        </p:nvSpPr>
        <p:spPr>
          <a:xfrm xmlns:a="http://schemas.openxmlformats.org/drawingml/2006/main">
            <a:off x="4238625" y="3381375"/>
            <a:ext cx="1390650" cy="104775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13335">
            <a:solidFill>
              <a:srgbClr val="555555"/>
            </a:solidFill>
          </a:ln>
        </p:spPr>
      </p:sp>
      <p:sp>
        <p:nvSpPr>
          <p:cNvPr id="22" name="Python">
            <a:extLst xmlns:a="http://schemas.openxmlformats.org/drawingml/2006/main">
              <a:ext uri="{FF2B5EF4-FFF2-40B4-BE49-F238E27FC236}">
                <a16:creationId xmlns:a16="http://schemas.microsoft.com/office/drawing/2014/main" id="{5F622B2A-848B-49EF-8EDC-D36BEE40B82B}"/>
              </a:ext>
            </a:extLst>
          </p:cNvPr>
          <p:cNvSpPr>
            <a:spLocks xmlns:a="http://schemas.openxmlformats.org/drawingml/2006/main" noGrp="1"/>
          </p:cNvSpPr>
          <p:nvPr/>
        </p:nvSpPr>
        <p:spPr>
          <a:xfrm xmlns:a="http://schemas.openxmlformats.org/drawingml/2006/main">
            <a:off x="4371975" y="3495675"/>
            <a:ext cx="1123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11111"/>
                </a:solidFill>
                <a:latin typeface="Geist"/>
                <a:ea typeface="Geist"/>
                <a:cs typeface="Geist"/>
              </a:defRPr>
            </a:defPPr>
          </a:lstStyle>
          <a:p xmlns:a="http://schemas.openxmlformats.org/drawingml/2006/main">
            <a:pPr algn="ctr">
              <a:defRPr sz="1875" b="1">
                <a:solidFill>
                  <a:srgbClr val="111111"/>
                </a:solidFill>
                <a:latin typeface="Geist"/>
                <a:ea typeface="Geist"/>
                <a:cs typeface="Geist"/>
              </a:defRPr>
            </a:pPr>
            <a:r>
              <a:rPr sz="1875" b="1">
                <a:solidFill>
                  <a:srgbClr val="111111"/>
                </a:solidFill>
                <a:latin typeface="Geist"/>
                <a:ea typeface="Geist"/>
                <a:cs typeface="Geist"/>
              </a:rPr>
              <a:t>Python</a:t>
            </a:r>
          </a:p>
        </p:txBody>
      </p:sp>
      <p:sp>
        <p:nvSpPr>
          <p:cNvPr id="23" name="validate&#10;normalize">
            <a:extLst xmlns:a="http://schemas.openxmlformats.org/drawingml/2006/main">
              <a:ext uri="{FF2B5EF4-FFF2-40B4-BE49-F238E27FC236}">
                <a16:creationId xmlns:a16="http://schemas.microsoft.com/office/drawing/2014/main" id="{FF802FAD-38BC-4D8B-99B0-AD7638C01F77}"/>
              </a:ext>
            </a:extLst>
          </p:cNvPr>
          <p:cNvSpPr>
            <a:spLocks xmlns:a="http://schemas.openxmlformats.org/drawingml/2006/main" noGrp="1"/>
          </p:cNvSpPr>
          <p:nvPr/>
        </p:nvSpPr>
        <p:spPr>
          <a:xfrm xmlns:a="http://schemas.openxmlformats.org/drawingml/2006/main">
            <a:off x="4352925" y="3867150"/>
            <a:ext cx="1162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55555"/>
                </a:solidFill>
                <a:latin typeface="Geist"/>
                <a:ea typeface="Geist"/>
                <a:cs typeface="Geist"/>
              </a:defRPr>
            </a:defPPr>
          </a:lstStyle>
          <a:p xmlns:a="http://schemas.openxmlformats.org/drawingml/2006/main">
            <a:pPr algn="ctr">
              <a:defRPr sz="1650" b="0">
                <a:solidFill>
                  <a:srgbClr val="555555"/>
                </a:solidFill>
                <a:latin typeface="Geist"/>
                <a:ea typeface="Geist"/>
                <a:cs typeface="Geist"/>
              </a:defRPr>
            </a:pPr>
            <a:r>
              <a:rPr sz="1650" b="0">
                <a:solidFill>
                  <a:srgbClr val="555555"/>
                </a:solidFill>
                <a:latin typeface="Geist"/>
                <a:ea typeface="Geist"/>
                <a:cs typeface="Geist"/>
              </a:rPr>
              <a:t>validate</a:t>
            </a:r>
          </a:p>
          <a:p xmlns:a="http://schemas.openxmlformats.org/drawingml/2006/main">
            <a:pPr algn="ctr">
              <a:defRPr sz="1650" b="0">
                <a:solidFill>
                  <a:srgbClr val="555555"/>
                </a:solidFill>
                <a:latin typeface="Geist"/>
                <a:ea typeface="Geist"/>
                <a:cs typeface="Geist"/>
              </a:defRPr>
            </a:pPr>
            <a:r>
              <a:rPr sz="1650" b="0">
                <a:solidFill>
                  <a:srgbClr val="555555"/>
                </a:solidFill>
                <a:latin typeface="Geist"/>
                <a:ea typeface="Geist"/>
                <a:cs typeface="Geist"/>
              </a:rPr>
              <a:t>normalize</a:t>
            </a:r>
          </a:p>
        </p:txBody>
      </p:sp>
      <p:sp>
        <p:nvSpPr>
          <p:cNvPr id="24" name="MongoDB document store">
            <a:extLst xmlns:a="http://schemas.openxmlformats.org/drawingml/2006/main">
              <a:ext uri="{FF2B5EF4-FFF2-40B4-BE49-F238E27FC236}">
                <a16:creationId xmlns:a16="http://schemas.microsoft.com/office/drawing/2014/main" id="{9273C5C0-F178-4038-836C-691CBCD96A55}"/>
              </a:ext>
            </a:extLst>
          </p:cNvPr>
          <p:cNvSpPr>
            <a:spLocks xmlns:a="http://schemas.openxmlformats.org/drawingml/2006/main" noGrp="1"/>
          </p:cNvSpPr>
          <p:nvPr/>
        </p:nvSpPr>
        <p:spPr>
          <a:xfrm xmlns:a="http://schemas.openxmlformats.org/drawingml/2006/main">
            <a:off x="5476875" y="4667250"/>
            <a:ext cx="1238250" cy="1000125"/>
          </a:xfrm>
          <a:prstGeom xmlns:a="http://schemas.openxmlformats.org/drawingml/2006/main" prst="can">
            <a:avLst/>
          </a:prstGeom>
          <a:solidFill xmlns:a="http://schemas.openxmlformats.org/drawingml/2006/main">
            <a:srgbClr val="FFFFFF"/>
          </a:solidFill>
          <a:ln xmlns:a="http://schemas.openxmlformats.org/drawingml/2006/main" w="13335">
            <a:solidFill>
              <a:srgbClr val="555555"/>
            </a:solidFill>
          </a:ln>
        </p:spPr>
      </p:sp>
      <p:sp>
        <p:nvSpPr>
          <p:cNvPr id="25" name="MongoDB">
            <a:extLst xmlns:a="http://schemas.openxmlformats.org/drawingml/2006/main">
              <a:ext uri="{FF2B5EF4-FFF2-40B4-BE49-F238E27FC236}">
                <a16:creationId xmlns:a16="http://schemas.microsoft.com/office/drawing/2014/main" id="{A59E49B7-1E12-495C-ABC4-1E427F5543A1}"/>
              </a:ext>
            </a:extLst>
          </p:cNvPr>
          <p:cNvSpPr>
            <a:spLocks xmlns:a="http://schemas.openxmlformats.org/drawingml/2006/main" noGrp="1"/>
          </p:cNvSpPr>
          <p:nvPr/>
        </p:nvSpPr>
        <p:spPr>
          <a:xfrm xmlns:a="http://schemas.openxmlformats.org/drawingml/2006/main">
            <a:off x="5534025" y="4886325"/>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11111"/>
                </a:solidFill>
                <a:latin typeface="Geist"/>
                <a:ea typeface="Geist"/>
                <a:cs typeface="Geist"/>
              </a:defRPr>
            </a:defPPr>
          </a:lstStyle>
          <a:p xmlns:a="http://schemas.openxmlformats.org/drawingml/2006/main">
            <a:pPr algn="ctr">
              <a:defRPr sz="1725" b="1">
                <a:solidFill>
                  <a:srgbClr val="111111"/>
                </a:solidFill>
                <a:latin typeface="Geist"/>
                <a:ea typeface="Geist"/>
                <a:cs typeface="Geist"/>
              </a:defRPr>
            </a:pPr>
            <a:r>
              <a:rPr sz="1725" b="1">
                <a:solidFill>
                  <a:srgbClr val="111111"/>
                </a:solidFill>
                <a:latin typeface="Geist"/>
                <a:ea typeface="Geist"/>
                <a:cs typeface="Geist"/>
              </a:rPr>
              <a:t>MongoDB</a:t>
            </a:r>
          </a:p>
        </p:txBody>
      </p:sp>
      <p:sp>
        <p:nvSpPr>
          <p:cNvPr id="26" name="documents">
            <a:extLst xmlns:a="http://schemas.openxmlformats.org/drawingml/2006/main">
              <a:ext uri="{FF2B5EF4-FFF2-40B4-BE49-F238E27FC236}">
                <a16:creationId xmlns:a16="http://schemas.microsoft.com/office/drawing/2014/main" id="{F009EAA9-3169-4635-9A9A-BE59B4797875}"/>
              </a:ext>
            </a:extLst>
          </p:cNvPr>
          <p:cNvSpPr>
            <a:spLocks xmlns:a="http://schemas.openxmlformats.org/drawingml/2006/main" noGrp="1"/>
          </p:cNvSpPr>
          <p:nvPr/>
        </p:nvSpPr>
        <p:spPr>
          <a:xfrm xmlns:a="http://schemas.openxmlformats.org/drawingml/2006/main">
            <a:off x="5534025" y="5257800"/>
            <a:ext cx="1123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555555"/>
                </a:solidFill>
                <a:latin typeface="Geist"/>
                <a:ea typeface="Geist"/>
                <a:cs typeface="Geist"/>
              </a:defRPr>
            </a:defPPr>
          </a:lstStyle>
          <a:p xmlns:a="http://schemas.openxmlformats.org/drawingml/2006/main">
            <a:pPr algn="ctr">
              <a:defRPr sz="1500" b="0">
                <a:solidFill>
                  <a:srgbClr val="555555"/>
                </a:solidFill>
                <a:latin typeface="Geist"/>
                <a:ea typeface="Geist"/>
                <a:cs typeface="Geist"/>
              </a:defRPr>
            </a:pPr>
            <a:r>
              <a:rPr sz="1500" b="0">
                <a:solidFill>
                  <a:srgbClr val="555555"/>
                </a:solidFill>
                <a:latin typeface="Geist"/>
                <a:ea typeface="Geist"/>
                <a:cs typeface="Geist"/>
              </a:rPr>
              <a:t>documents</a:t>
            </a:r>
          </a:p>
        </p:txBody>
      </p:sp>
      <p:sp>
        <p:nvSpPr>
          <p:cNvPr id="27" name="Python daily aggregation">
            <a:extLst xmlns:a="http://schemas.openxmlformats.org/drawingml/2006/main">
              <a:ext uri="{FF2B5EF4-FFF2-40B4-BE49-F238E27FC236}">
                <a16:creationId xmlns:a16="http://schemas.microsoft.com/office/drawing/2014/main" id="{2226D4BF-26C9-4120-B775-C261AB646061}"/>
              </a:ext>
            </a:extLst>
          </p:cNvPr>
          <p:cNvSpPr>
            <a:spLocks xmlns:a="http://schemas.openxmlformats.org/drawingml/2006/main" noGrp="1"/>
          </p:cNvSpPr>
          <p:nvPr/>
        </p:nvSpPr>
        <p:spPr>
          <a:xfrm xmlns:a="http://schemas.openxmlformats.org/drawingml/2006/main">
            <a:off x="7143750" y="4762500"/>
            <a:ext cx="1333500" cy="85725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3335">
            <a:solidFill>
              <a:srgbClr val="555555"/>
            </a:solidFill>
          </a:ln>
        </p:spPr>
      </p:sp>
      <p:sp>
        <p:nvSpPr>
          <p:cNvPr id="28" name="Daily ETL">
            <a:extLst xmlns:a="http://schemas.openxmlformats.org/drawingml/2006/main">
              <a:ext uri="{FF2B5EF4-FFF2-40B4-BE49-F238E27FC236}">
                <a16:creationId xmlns:a16="http://schemas.microsoft.com/office/drawing/2014/main" id="{F8F9D88F-527A-4628-A615-5036DD3BFC2E}"/>
              </a:ext>
            </a:extLst>
          </p:cNvPr>
          <p:cNvSpPr>
            <a:spLocks xmlns:a="http://schemas.openxmlformats.org/drawingml/2006/main" noGrp="1"/>
          </p:cNvSpPr>
          <p:nvPr/>
        </p:nvSpPr>
        <p:spPr>
          <a:xfrm xmlns:a="http://schemas.openxmlformats.org/drawingml/2006/main">
            <a:off x="7239000" y="4867275"/>
            <a:ext cx="1143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11111"/>
                </a:solidFill>
                <a:latin typeface="Geist"/>
                <a:ea typeface="Geist"/>
                <a:cs typeface="Geist"/>
              </a:defRPr>
            </a:defPPr>
          </a:lstStyle>
          <a:p xmlns:a="http://schemas.openxmlformats.org/drawingml/2006/main">
            <a:pPr algn="ctr">
              <a:defRPr sz="1725" b="1">
                <a:solidFill>
                  <a:srgbClr val="111111"/>
                </a:solidFill>
                <a:latin typeface="Geist"/>
                <a:ea typeface="Geist"/>
                <a:cs typeface="Geist"/>
              </a:defRPr>
            </a:pPr>
            <a:r>
              <a:rPr sz="1725" b="1">
                <a:solidFill>
                  <a:srgbClr val="111111"/>
                </a:solidFill>
                <a:latin typeface="Geist"/>
                <a:ea typeface="Geist"/>
                <a:cs typeface="Geist"/>
              </a:rPr>
              <a:t>Daily ETL</a:t>
            </a:r>
          </a:p>
        </p:txBody>
      </p:sp>
      <p:sp>
        <p:nvSpPr>
          <p:cNvPr id="29" name="daily metrics">
            <a:extLst xmlns:a="http://schemas.openxmlformats.org/drawingml/2006/main">
              <a:ext uri="{FF2B5EF4-FFF2-40B4-BE49-F238E27FC236}">
                <a16:creationId xmlns:a16="http://schemas.microsoft.com/office/drawing/2014/main" id="{7727DB95-EC6F-473E-B6E1-C63FB658572D}"/>
              </a:ext>
            </a:extLst>
          </p:cNvPr>
          <p:cNvSpPr>
            <a:spLocks xmlns:a="http://schemas.openxmlformats.org/drawingml/2006/main" noGrp="1"/>
          </p:cNvSpPr>
          <p:nvPr/>
        </p:nvSpPr>
        <p:spPr>
          <a:xfrm xmlns:a="http://schemas.openxmlformats.org/drawingml/2006/main">
            <a:off x="7229475" y="5257800"/>
            <a:ext cx="1162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A61955"/>
                </a:solidFill>
                <a:latin typeface="Geist"/>
                <a:ea typeface="Geist"/>
                <a:cs typeface="Geist"/>
              </a:defRPr>
            </a:defPPr>
          </a:lstStyle>
          <a:p xmlns:a="http://schemas.openxmlformats.org/drawingml/2006/main">
            <a:pPr algn="ctr">
              <a:defRPr sz="1500" b="0">
                <a:solidFill>
                  <a:srgbClr val="A61955"/>
                </a:solidFill>
                <a:latin typeface="Geist"/>
                <a:ea typeface="Geist"/>
                <a:cs typeface="Geist"/>
              </a:defRPr>
            </a:pPr>
            <a:r>
              <a:rPr sz="1500" b="0">
                <a:solidFill>
                  <a:srgbClr val="A61955"/>
                </a:solidFill>
                <a:latin typeface="Geist"/>
                <a:ea typeface="Geist"/>
                <a:cs typeface="Geist"/>
              </a:rPr>
              <a:t>daily metrics</a:t>
            </a:r>
          </a:p>
        </p:txBody>
      </p:sp>
      <p:sp>
        <p:nvSpPr>
          <p:cNvPr id="30" name="PostgreSQL analytics store">
            <a:extLst xmlns:a="http://schemas.openxmlformats.org/drawingml/2006/main">
              <a:ext uri="{FF2B5EF4-FFF2-40B4-BE49-F238E27FC236}">
                <a16:creationId xmlns:a16="http://schemas.microsoft.com/office/drawing/2014/main" id="{3B3BBE50-F4F0-4451-87F2-3F291A86C1DA}"/>
              </a:ext>
            </a:extLst>
          </p:cNvPr>
          <p:cNvSpPr>
            <a:spLocks xmlns:a="http://schemas.openxmlformats.org/drawingml/2006/main" noGrp="1"/>
          </p:cNvSpPr>
          <p:nvPr/>
        </p:nvSpPr>
        <p:spPr>
          <a:xfrm xmlns:a="http://schemas.openxmlformats.org/drawingml/2006/main">
            <a:off x="8763000" y="3238500"/>
            <a:ext cx="1524000" cy="1428750"/>
          </a:xfrm>
          <a:prstGeom xmlns:a="http://schemas.openxmlformats.org/drawingml/2006/main" prst="can">
            <a:avLst/>
          </a:prstGeom>
          <a:solidFill xmlns:a="http://schemas.openxmlformats.org/drawingml/2006/main">
            <a:srgbClr val="FFFFFF"/>
          </a:solidFill>
          <a:ln xmlns:a="http://schemas.openxmlformats.org/drawingml/2006/main" w="13335">
            <a:solidFill>
              <a:srgbClr val="A61955"/>
            </a:solidFill>
          </a:ln>
        </p:spPr>
      </p:sp>
      <p:sp>
        <p:nvSpPr>
          <p:cNvPr id="31" name="PostgreSQL">
            <a:extLst xmlns:a="http://schemas.openxmlformats.org/drawingml/2006/main">
              <a:ext uri="{FF2B5EF4-FFF2-40B4-BE49-F238E27FC236}">
                <a16:creationId xmlns:a16="http://schemas.microsoft.com/office/drawing/2014/main" id="{6478C3D3-D2A2-408A-802C-076972C33E3E}"/>
              </a:ext>
            </a:extLst>
          </p:cNvPr>
          <p:cNvSpPr>
            <a:spLocks xmlns:a="http://schemas.openxmlformats.org/drawingml/2006/main" noGrp="1"/>
          </p:cNvSpPr>
          <p:nvPr/>
        </p:nvSpPr>
        <p:spPr>
          <a:xfrm xmlns:a="http://schemas.openxmlformats.org/drawingml/2006/main">
            <a:off x="8867775" y="3543300"/>
            <a:ext cx="1314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A61955"/>
                </a:solidFill>
                <a:latin typeface="Geist"/>
                <a:ea typeface="Geist"/>
                <a:cs typeface="Geist"/>
              </a:defRPr>
            </a:defPPr>
          </a:lstStyle>
          <a:p xmlns:a="http://schemas.openxmlformats.org/drawingml/2006/main">
            <a:pPr algn="ctr">
              <a:defRPr sz="1725" b="1">
                <a:solidFill>
                  <a:srgbClr val="A61955"/>
                </a:solidFill>
                <a:latin typeface="Geist"/>
                <a:ea typeface="Geist"/>
                <a:cs typeface="Geist"/>
              </a:defRPr>
            </a:pPr>
            <a:r>
              <a:rPr sz="1725" b="1">
                <a:solidFill>
                  <a:srgbClr val="A61955"/>
                </a:solidFill>
                <a:latin typeface="Geist"/>
                <a:ea typeface="Geist"/>
                <a:cs typeface="Geist"/>
              </a:rPr>
              <a:t>PostgreSQL</a:t>
            </a:r>
          </a:p>
        </p:txBody>
      </p:sp>
      <p:sp>
        <p:nvSpPr>
          <p:cNvPr id="32" name="price_daily&#10;social_daily">
            <a:extLst xmlns:a="http://schemas.openxmlformats.org/drawingml/2006/main">
              <a:ext uri="{FF2B5EF4-FFF2-40B4-BE49-F238E27FC236}">
                <a16:creationId xmlns:a16="http://schemas.microsoft.com/office/drawing/2014/main" id="{5AD47AC3-9ABF-4A30-A2E6-4DEA3AF5E656}"/>
              </a:ext>
            </a:extLst>
          </p:cNvPr>
          <p:cNvSpPr>
            <a:spLocks xmlns:a="http://schemas.openxmlformats.org/drawingml/2006/main" noGrp="1"/>
          </p:cNvSpPr>
          <p:nvPr/>
        </p:nvSpPr>
        <p:spPr>
          <a:xfrm xmlns:a="http://schemas.openxmlformats.org/drawingml/2006/main">
            <a:off x="8896350" y="3981450"/>
            <a:ext cx="1257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111111"/>
                </a:solidFill>
                <a:latin typeface="Geist"/>
                <a:ea typeface="Geist"/>
                <a:cs typeface="Geist"/>
              </a:defRPr>
            </a:defPPr>
          </a:lstStyle>
          <a:p xmlns:a="http://schemas.openxmlformats.org/drawingml/2006/main">
            <a:pPr algn="ctr">
              <a:defRPr sz="1575" b="0">
                <a:solidFill>
                  <a:srgbClr val="111111"/>
                </a:solidFill>
                <a:latin typeface="Geist"/>
                <a:ea typeface="Geist"/>
                <a:cs typeface="Geist"/>
              </a:defRPr>
            </a:pPr>
            <a:r>
              <a:rPr sz="1575" b="0">
                <a:solidFill>
                  <a:srgbClr val="111111"/>
                </a:solidFill>
                <a:latin typeface="Geist"/>
                <a:ea typeface="Geist"/>
                <a:cs typeface="Geist"/>
              </a:rPr>
              <a:t>price_daily</a:t>
            </a:r>
          </a:p>
          <a:p xmlns:a="http://schemas.openxmlformats.org/drawingml/2006/main">
            <a:pPr algn="ctr">
              <a:defRPr sz="1575" b="0">
                <a:solidFill>
                  <a:srgbClr val="111111"/>
                </a:solidFill>
                <a:latin typeface="Geist"/>
                <a:ea typeface="Geist"/>
                <a:cs typeface="Geist"/>
              </a:defRPr>
            </a:pPr>
            <a:r>
              <a:rPr sz="1575" b="0">
                <a:solidFill>
                  <a:srgbClr val="111111"/>
                </a:solidFill>
                <a:latin typeface="Geist"/>
                <a:ea typeface="Geist"/>
                <a:cs typeface="Geist"/>
              </a:rPr>
              <a:t>social_daily</a:t>
            </a:r>
          </a:p>
        </p:txBody>
      </p:sp>
      <p:sp>
        <p:nvSpPr>
          <p:cNvPr id="33" name="JOIN: coin + day">
            <a:extLst xmlns:a="http://schemas.openxmlformats.org/drawingml/2006/main">
              <a:ext uri="{FF2B5EF4-FFF2-40B4-BE49-F238E27FC236}">
                <a16:creationId xmlns:a16="http://schemas.microsoft.com/office/drawing/2014/main" id="{0BC8C8DE-153E-4A2E-9204-7F44DD879778}"/>
              </a:ext>
            </a:extLst>
          </p:cNvPr>
          <p:cNvSpPr>
            <a:spLocks xmlns:a="http://schemas.openxmlformats.org/drawingml/2006/main" noGrp="1"/>
          </p:cNvSpPr>
          <p:nvPr/>
        </p:nvSpPr>
        <p:spPr>
          <a:xfrm xmlns:a="http://schemas.openxmlformats.org/drawingml/2006/main">
            <a:off x="8562975" y="4829175"/>
            <a:ext cx="1924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55555"/>
                </a:solidFill>
                <a:latin typeface="Geist"/>
                <a:ea typeface="Geist"/>
                <a:cs typeface="Geist"/>
              </a:defRPr>
            </a:defPPr>
          </a:lstStyle>
          <a:p xmlns:a="http://schemas.openxmlformats.org/drawingml/2006/main">
            <a:pPr algn="ctr">
              <a:defRPr sz="1575" b="0">
                <a:solidFill>
                  <a:srgbClr val="555555"/>
                </a:solidFill>
                <a:latin typeface="Geist"/>
                <a:ea typeface="Geist"/>
                <a:cs typeface="Geist"/>
              </a:defRPr>
            </a:pPr>
            <a:r>
              <a:rPr sz="1575" b="0">
                <a:solidFill>
                  <a:srgbClr val="555555"/>
                </a:solidFill>
                <a:latin typeface="Geist"/>
                <a:ea typeface="Geist"/>
                <a:cs typeface="Geist"/>
              </a:rPr>
              <a:t>JOIN: coin + day</a:t>
            </a:r>
          </a:p>
        </p:txBody>
      </p:sp>
      <p:sp>
        <p:nvSpPr>
          <p:cNvPr id="34" name="Dashboard screen">
            <a:extLst xmlns:a="http://schemas.openxmlformats.org/drawingml/2006/main">
              <a:ext uri="{FF2B5EF4-FFF2-40B4-BE49-F238E27FC236}">
                <a16:creationId xmlns:a16="http://schemas.microsoft.com/office/drawing/2014/main" id="{08227271-EB64-4FFE-A5E9-9C2D2C73F147}"/>
              </a:ext>
            </a:extLst>
          </p:cNvPr>
          <p:cNvSpPr>
            <a:spLocks xmlns:a="http://schemas.openxmlformats.org/drawingml/2006/main" noGrp="1"/>
          </p:cNvSpPr>
          <p:nvPr/>
        </p:nvSpPr>
        <p:spPr>
          <a:xfrm xmlns:a="http://schemas.openxmlformats.org/drawingml/2006/main">
            <a:off x="10668000" y="3429000"/>
            <a:ext cx="1238250" cy="933450"/>
          </a:xfrm>
          <a:prstGeom xmlns:a="http://schemas.openxmlformats.org/drawingml/2006/main" prst="rect">
            <a:avLst/>
          </a:prstGeom>
          <a:solidFill xmlns:a="http://schemas.openxmlformats.org/drawingml/2006/main">
            <a:srgbClr val="FFFFFF"/>
          </a:solidFill>
          <a:ln xmlns:a="http://schemas.openxmlformats.org/drawingml/2006/main" w="13335">
            <a:solidFill>
              <a:srgbClr val="555555"/>
            </a:solidFill>
          </a:ln>
        </p:spPr>
      </p:sp>
      <p:pic>
        <p:nvPicPr>
          <p:cNvPr id="35" name="">
            <a:extLst xmlns:a="http://schemas.openxmlformats.org/drawingml/2006/main">
              <a:ext uri="{FF2B5EF4-FFF2-40B4-BE49-F238E27FC236}">
                <a16:creationId xmlns:a16="http://schemas.microsoft.com/office/drawing/2014/main" id="{35B18187-B678-4A8F-A981-4A37A73AE6C6}"/>
              </a:ext>
            </a:extLst>
          </p:cNvPr>
          <p:cNvPicPr>
            <a:picLocks xmlns:a="http://schemas.openxmlformats.org/drawingml/2006/main" noChangeAspect="1"/>
          </p:cNvPicPr>
          <p:nvPr/>
        </p:nvPicPr>
        <p:blipFill>
          <a:blip xmlns:r="http://schemas.openxmlformats.org/officeDocument/2006/relationships" xmlns:a="http://schemas.openxmlformats.org/drawingml/2006/main" r:embed="R842cbbd6fea54ecc"/>
          <a:srcRect xmlns:a="http://schemas.openxmlformats.org/drawingml/2006/main" l="5625" t="32361" r="5625" b="18889"/>
          <a:stretch xmlns:a="http://schemas.openxmlformats.org/drawingml/2006/main"/>
        </p:blipFill>
        <p:spPr>
          <a:xfrm xmlns:a="http://schemas.openxmlformats.org/drawingml/2006/main">
            <a:off x="10715625" y="3486150"/>
            <a:ext cx="1143000" cy="762000"/>
          </a:xfrm>
          <a:prstGeom xmlns:a="http://schemas.openxmlformats.org/drawingml/2006/main" prst="rect">
            <a:avLst/>
          </a:prstGeom>
        </p:spPr>
      </p:pic>
      <p:cxnSp>
        <p:nvCxnSpPr>
          <p:cNvPr id="36" name="Batch data flow">
            <a:extLst xmlns:a="http://schemas.openxmlformats.org/drawingml/2006/main">
              <a:ext uri="{FF2B5EF4-FFF2-40B4-BE49-F238E27FC236}">
                <a16:creationId xmlns:a16="http://schemas.microsoft.com/office/drawing/2014/main" id="{7434D6AC-2FE5-4C73-9D96-6E9C6E5455AF}"/>
              </a:ext>
            </a:extLst>
          </p:cNvPr>
          <p:cNvCxnSpPr/>
          <p:nvPr/>
        </p:nvCxnSpPr>
        <p:spPr>
          <a:xfrm xmlns:a="http://schemas.openxmlformats.org/drawingml/2006/main">
            <a:off x="11287125" y="4362450"/>
            <a:ext cx="0" cy="161925"/>
          </a:xfrm>
          <a:prstGeom xmlns:a="http://schemas.openxmlformats.org/drawingml/2006/main" prst="straightConnector1">
            <a:avLst/>
          </a:prstGeom>
          <a:ln xmlns:a="http://schemas.openxmlformats.org/drawingml/2006/main" w="13335">
            <a:solidFill>
              <a:srgbClr val="555555"/>
            </a:solidFill>
            <a:prstDash val="solid"/>
          </a:ln>
        </p:spPr>
      </p:cxnSp>
      <p:cxnSp>
        <p:nvCxnSpPr>
          <p:cNvPr id="37" name="Batch data flow">
            <a:extLst xmlns:a="http://schemas.openxmlformats.org/drawingml/2006/main">
              <a:ext uri="{FF2B5EF4-FFF2-40B4-BE49-F238E27FC236}">
                <a16:creationId xmlns:a16="http://schemas.microsoft.com/office/drawing/2014/main" id="{7A6682A2-C599-4A57-B6DB-C8F6B81CE0A7}"/>
              </a:ext>
            </a:extLst>
          </p:cNvPr>
          <p:cNvCxnSpPr/>
          <p:nvPr/>
        </p:nvCxnSpPr>
        <p:spPr>
          <a:xfrm xmlns:a="http://schemas.openxmlformats.org/drawingml/2006/main">
            <a:off x="11039475" y="4524375"/>
            <a:ext cx="495300" cy="0"/>
          </a:xfrm>
          <a:prstGeom xmlns:a="http://schemas.openxmlformats.org/drawingml/2006/main" prst="straightConnector1">
            <a:avLst/>
          </a:prstGeom>
          <a:ln xmlns:a="http://schemas.openxmlformats.org/drawingml/2006/main" w="13335">
            <a:solidFill>
              <a:srgbClr val="555555"/>
            </a:solidFill>
            <a:prstDash val="solid"/>
          </a:ln>
        </p:spPr>
      </p:cxnSp>
      <p:sp>
        <p:nvSpPr>
          <p:cNvPr id="38" name="Dashboard">
            <a:extLst xmlns:a="http://schemas.openxmlformats.org/drawingml/2006/main">
              <a:ext uri="{FF2B5EF4-FFF2-40B4-BE49-F238E27FC236}">
                <a16:creationId xmlns:a16="http://schemas.microsoft.com/office/drawing/2014/main" id="{7A2146E2-6B00-4C39-9872-D898D3AF2500}"/>
              </a:ext>
            </a:extLst>
          </p:cNvPr>
          <p:cNvSpPr>
            <a:spLocks xmlns:a="http://schemas.openxmlformats.org/drawingml/2006/main" noGrp="1"/>
          </p:cNvSpPr>
          <p:nvPr/>
        </p:nvSpPr>
        <p:spPr>
          <a:xfrm xmlns:a="http://schemas.openxmlformats.org/drawingml/2006/main">
            <a:off x="10439400" y="4667250"/>
            <a:ext cx="1676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11111"/>
                </a:solidFill>
                <a:latin typeface="Geist"/>
                <a:ea typeface="Geist"/>
                <a:cs typeface="Geist"/>
              </a:defRPr>
            </a:defPPr>
          </a:lstStyle>
          <a:p xmlns:a="http://schemas.openxmlformats.org/drawingml/2006/main">
            <a:pPr algn="ctr">
              <a:defRPr sz="1725" b="1">
                <a:solidFill>
                  <a:srgbClr val="111111"/>
                </a:solidFill>
                <a:latin typeface="Geist"/>
                <a:ea typeface="Geist"/>
                <a:cs typeface="Geist"/>
              </a:defRPr>
            </a:pPr>
            <a:r>
              <a:rPr sz="1725" b="1">
                <a:solidFill>
                  <a:srgbClr val="111111"/>
                </a:solidFill>
                <a:latin typeface="Geist"/>
                <a:ea typeface="Geist"/>
                <a:cs typeface="Geist"/>
              </a:rPr>
              <a:t>Dashboard</a:t>
            </a:r>
          </a:p>
        </p:txBody>
      </p:sp>
      <p:sp>
        <p:nvSpPr>
          <p:cNvPr id="39" name="Streamlit + Plotly">
            <a:extLst xmlns:a="http://schemas.openxmlformats.org/drawingml/2006/main">
              <a:ext uri="{FF2B5EF4-FFF2-40B4-BE49-F238E27FC236}">
                <a16:creationId xmlns:a16="http://schemas.microsoft.com/office/drawing/2014/main" id="{1BAD9F8F-38BA-49E6-AFAE-E48ABED15880}"/>
              </a:ext>
            </a:extLst>
          </p:cNvPr>
          <p:cNvSpPr>
            <a:spLocks xmlns:a="http://schemas.openxmlformats.org/drawingml/2006/main" noGrp="1"/>
          </p:cNvSpPr>
          <p:nvPr/>
        </p:nvSpPr>
        <p:spPr>
          <a:xfrm xmlns:a="http://schemas.openxmlformats.org/drawingml/2006/main">
            <a:off x="10401300" y="50292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88" b="0">
                <a:solidFill>
                  <a:srgbClr val="555555"/>
                </a:solidFill>
                <a:latin typeface="Geist"/>
                <a:ea typeface="Geist"/>
                <a:cs typeface="Geist"/>
              </a:defRPr>
            </a:defPPr>
          </a:lstStyle>
          <a:p xmlns:a="http://schemas.openxmlformats.org/drawingml/2006/main">
            <a:pPr algn="ctr">
              <a:defRPr sz="1388" b="0">
                <a:solidFill>
                  <a:srgbClr val="555555"/>
                </a:solidFill>
                <a:latin typeface="Geist"/>
                <a:ea typeface="Geist"/>
                <a:cs typeface="Geist"/>
              </a:defRPr>
            </a:pPr>
            <a:r>
              <a:rPr sz="1388" b="0">
                <a:solidFill>
                  <a:srgbClr val="555555"/>
                </a:solidFill>
                <a:latin typeface="Geist"/>
                <a:ea typeface="Geist"/>
                <a:cs typeface="Geist"/>
              </a:rPr>
              <a:t>Streamlit + Plotly</a:t>
            </a:r>
          </a:p>
        </p:txBody>
      </p:sp>
      <p:cxnSp>
        <p:nvCxnSpPr>
          <p:cNvPr id="40" name="Batch data flow">
            <a:extLst xmlns:a="http://schemas.openxmlformats.org/drawingml/2006/main">
              <a:ext uri="{FF2B5EF4-FFF2-40B4-BE49-F238E27FC236}">
                <a16:creationId xmlns:a16="http://schemas.microsoft.com/office/drawing/2014/main" id="{B020358A-8ABF-45C5-9163-8168BB3E408A}"/>
              </a:ext>
            </a:extLst>
          </p:cNvPr>
          <p:cNvCxnSpPr/>
          <p:nvPr/>
        </p:nvCxnSpPr>
        <p:spPr>
          <a:xfrm xmlns:a="http://schemas.openxmlformats.org/drawingml/2006/main">
            <a:off x="2562225" y="2867025"/>
            <a:ext cx="15240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41" name="Batch data flow">
            <a:extLst xmlns:a="http://schemas.openxmlformats.org/drawingml/2006/main">
              <a:ext uri="{FF2B5EF4-FFF2-40B4-BE49-F238E27FC236}">
                <a16:creationId xmlns:a16="http://schemas.microsoft.com/office/drawing/2014/main" id="{311D18DE-5803-487A-ABAE-5584C2B1C7F5}"/>
              </a:ext>
            </a:extLst>
          </p:cNvPr>
          <p:cNvCxnSpPr/>
          <p:nvPr/>
        </p:nvCxnSpPr>
        <p:spPr>
          <a:xfrm xmlns:a="http://schemas.openxmlformats.org/drawingml/2006/main">
            <a:off x="2562225" y="4238625"/>
            <a:ext cx="15240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42" name="Batch data flow">
            <a:extLst xmlns:a="http://schemas.openxmlformats.org/drawingml/2006/main">
              <a:ext uri="{FF2B5EF4-FFF2-40B4-BE49-F238E27FC236}">
                <a16:creationId xmlns:a16="http://schemas.microsoft.com/office/drawing/2014/main" id="{264F300A-2D52-471B-99ED-2B2E467E5707}"/>
              </a:ext>
            </a:extLst>
          </p:cNvPr>
          <p:cNvCxnSpPr/>
          <p:nvPr/>
        </p:nvCxnSpPr>
        <p:spPr>
          <a:xfrm xmlns:a="http://schemas.openxmlformats.org/drawingml/2006/main">
            <a:off x="2562225" y="5172075"/>
            <a:ext cx="15240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43" name="Batch data flow">
            <a:extLst xmlns:a="http://schemas.openxmlformats.org/drawingml/2006/main">
              <a:ext uri="{FF2B5EF4-FFF2-40B4-BE49-F238E27FC236}">
                <a16:creationId xmlns:a16="http://schemas.microsoft.com/office/drawing/2014/main" id="{EE4C33C6-7C9A-4F24-B3B2-D5FB5862FA20}"/>
              </a:ext>
            </a:extLst>
          </p:cNvPr>
          <p:cNvCxnSpPr/>
          <p:nvPr/>
        </p:nvCxnSpPr>
        <p:spPr>
          <a:xfrm xmlns:a="http://schemas.openxmlformats.org/drawingml/2006/main">
            <a:off x="2714625" y="2867025"/>
            <a:ext cx="0" cy="2305050"/>
          </a:xfrm>
          <a:prstGeom xmlns:a="http://schemas.openxmlformats.org/drawingml/2006/main" prst="straightConnector1">
            <a:avLst/>
          </a:prstGeom>
          <a:ln xmlns:a="http://schemas.openxmlformats.org/drawingml/2006/main" w="17145">
            <a:solidFill>
              <a:srgbClr val="555555"/>
            </a:solidFill>
            <a:prstDash val="solid"/>
          </a:ln>
        </p:spPr>
      </p:cxnSp>
      <p:cxnSp>
        <p:nvCxnSpPr>
          <p:cNvPr id="44" name="Batch data flow">
            <a:extLst xmlns:a="http://schemas.openxmlformats.org/drawingml/2006/main">
              <a:ext uri="{FF2B5EF4-FFF2-40B4-BE49-F238E27FC236}">
                <a16:creationId xmlns:a16="http://schemas.microsoft.com/office/drawing/2014/main" id="{0DB01595-B274-4C9F-9A87-139332B476AB}"/>
              </a:ext>
            </a:extLst>
          </p:cNvPr>
          <p:cNvCxnSpPr/>
          <p:nvPr/>
        </p:nvCxnSpPr>
        <p:spPr>
          <a:xfrm xmlns:a="http://schemas.openxmlformats.org/drawingml/2006/main">
            <a:off x="2714625" y="3905250"/>
            <a:ext cx="23812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45" name="Batch data flow">
            <a:extLst xmlns:a="http://schemas.openxmlformats.org/drawingml/2006/main">
              <a:ext uri="{FF2B5EF4-FFF2-40B4-BE49-F238E27FC236}">
                <a16:creationId xmlns:a16="http://schemas.microsoft.com/office/drawing/2014/main" id="{136D074F-FBB1-448D-9AAF-925687CDC701}"/>
              </a:ext>
            </a:extLst>
          </p:cNvPr>
          <p:cNvCxnSpPr/>
          <p:nvPr/>
        </p:nvCxnSpPr>
        <p:spPr>
          <a:xfrm xmlns:a="http://schemas.openxmlformats.org/drawingml/2006/main">
            <a:off x="3905250" y="3905250"/>
            <a:ext cx="33337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46" name="Batch data flow">
            <a:extLst xmlns:a="http://schemas.openxmlformats.org/drawingml/2006/main">
              <a:ext uri="{FF2B5EF4-FFF2-40B4-BE49-F238E27FC236}">
                <a16:creationId xmlns:a16="http://schemas.microsoft.com/office/drawing/2014/main" id="{E21D3408-1D65-4975-9346-6E6F103735A0}"/>
              </a:ext>
            </a:extLst>
          </p:cNvPr>
          <p:cNvCxnSpPr/>
          <p:nvPr/>
        </p:nvCxnSpPr>
        <p:spPr>
          <a:xfrm xmlns:a="http://schemas.openxmlformats.org/drawingml/2006/main">
            <a:off x="5629275" y="3905250"/>
            <a:ext cx="22860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47" name="Batch data flow">
            <a:extLst xmlns:a="http://schemas.openxmlformats.org/drawingml/2006/main">
              <a:ext uri="{FF2B5EF4-FFF2-40B4-BE49-F238E27FC236}">
                <a16:creationId xmlns:a16="http://schemas.microsoft.com/office/drawing/2014/main" id="{77BFB978-3E47-4153-960F-A72DD52AA8D3}"/>
              </a:ext>
            </a:extLst>
          </p:cNvPr>
          <p:cNvCxnSpPr/>
          <p:nvPr/>
        </p:nvCxnSpPr>
        <p:spPr>
          <a:xfrm xmlns:a="http://schemas.openxmlformats.org/drawingml/2006/main">
            <a:off x="5857875" y="2524125"/>
            <a:ext cx="0" cy="1381125"/>
          </a:xfrm>
          <a:prstGeom xmlns:a="http://schemas.openxmlformats.org/drawingml/2006/main" prst="straightConnector1">
            <a:avLst/>
          </a:prstGeom>
          <a:ln xmlns:a="http://schemas.openxmlformats.org/drawingml/2006/main" w="17145">
            <a:solidFill>
              <a:srgbClr val="555555"/>
            </a:solidFill>
            <a:prstDash val="solid"/>
          </a:ln>
        </p:spPr>
      </p:cxnSp>
      <p:cxnSp>
        <p:nvCxnSpPr>
          <p:cNvPr id="48" name="Batch data flow">
            <a:extLst xmlns:a="http://schemas.openxmlformats.org/drawingml/2006/main">
              <a:ext uri="{FF2B5EF4-FFF2-40B4-BE49-F238E27FC236}">
                <a16:creationId xmlns:a16="http://schemas.microsoft.com/office/drawing/2014/main" id="{1D04A815-E2CC-44BC-8AA8-FE60D25B0119}"/>
              </a:ext>
            </a:extLst>
          </p:cNvPr>
          <p:cNvCxnSpPr/>
          <p:nvPr/>
        </p:nvCxnSpPr>
        <p:spPr>
          <a:xfrm xmlns:a="http://schemas.openxmlformats.org/drawingml/2006/main">
            <a:off x="5857875" y="2524125"/>
            <a:ext cx="3667125"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49" name="Batch data flow">
            <a:extLst xmlns:a="http://schemas.openxmlformats.org/drawingml/2006/main">
              <a:ext uri="{FF2B5EF4-FFF2-40B4-BE49-F238E27FC236}">
                <a16:creationId xmlns:a16="http://schemas.microsoft.com/office/drawing/2014/main" id="{4EF721DF-8061-4131-9A97-7C165EE3FB6E}"/>
              </a:ext>
            </a:extLst>
          </p:cNvPr>
          <p:cNvCxnSpPr/>
          <p:nvPr/>
        </p:nvCxnSpPr>
        <p:spPr>
          <a:xfrm xmlns:a="http://schemas.openxmlformats.org/drawingml/2006/main">
            <a:off x="9525000" y="2524125"/>
            <a:ext cx="0" cy="714375"/>
          </a:xfrm>
          <a:prstGeom xmlns:a="http://schemas.openxmlformats.org/drawingml/2006/main" prst="straightConnector1">
            <a:avLst/>
          </a:prstGeom>
          <a:ln xmlns:a="http://schemas.openxmlformats.org/drawingml/2006/main" w="17145">
            <a:solidFill>
              <a:srgbClr val="555555"/>
            </a:solidFill>
            <a:prstDash val="solid"/>
            <a:tailEnd type="arrow" w="sm" len="sm"/>
          </a:ln>
        </p:spPr>
      </p:cxnSp>
      <p:sp>
        <p:nvSpPr>
          <p:cNvPr id="50" name="Clean daily prices">
            <a:extLst xmlns:a="http://schemas.openxmlformats.org/drawingml/2006/main">
              <a:ext uri="{FF2B5EF4-FFF2-40B4-BE49-F238E27FC236}">
                <a16:creationId xmlns:a16="http://schemas.microsoft.com/office/drawing/2014/main" id="{AB178503-2D28-4F4D-B0D2-70462C94CB3D}"/>
              </a:ext>
            </a:extLst>
          </p:cNvPr>
          <p:cNvSpPr>
            <a:spLocks xmlns:a="http://schemas.openxmlformats.org/drawingml/2006/main" noGrp="1"/>
          </p:cNvSpPr>
          <p:nvPr/>
        </p:nvSpPr>
        <p:spPr>
          <a:xfrm xmlns:a="http://schemas.openxmlformats.org/drawingml/2006/main">
            <a:off x="6353175" y="2152650"/>
            <a:ext cx="2495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Clean daily prices</a:t>
            </a:r>
          </a:p>
        </p:txBody>
      </p:sp>
      <p:cxnSp>
        <p:nvCxnSpPr>
          <p:cNvPr id="51" name="Batch data flow">
            <a:extLst xmlns:a="http://schemas.openxmlformats.org/drawingml/2006/main">
              <a:ext uri="{FF2B5EF4-FFF2-40B4-BE49-F238E27FC236}">
                <a16:creationId xmlns:a16="http://schemas.microsoft.com/office/drawing/2014/main" id="{1E4766BB-67D1-4599-BF19-6BA6B69B641E}"/>
              </a:ext>
            </a:extLst>
          </p:cNvPr>
          <p:cNvCxnSpPr/>
          <p:nvPr/>
        </p:nvCxnSpPr>
        <p:spPr>
          <a:xfrm xmlns:a="http://schemas.openxmlformats.org/drawingml/2006/main">
            <a:off x="4933950" y="4429125"/>
            <a:ext cx="0" cy="762000"/>
          </a:xfrm>
          <a:prstGeom xmlns:a="http://schemas.openxmlformats.org/drawingml/2006/main" prst="straightConnector1">
            <a:avLst/>
          </a:prstGeom>
          <a:ln xmlns:a="http://schemas.openxmlformats.org/drawingml/2006/main" w="17145">
            <a:solidFill>
              <a:srgbClr val="555555"/>
            </a:solidFill>
            <a:prstDash val="solid"/>
          </a:ln>
        </p:spPr>
      </p:cxnSp>
      <p:cxnSp>
        <p:nvCxnSpPr>
          <p:cNvPr id="52" name="Batch data flow">
            <a:extLst xmlns:a="http://schemas.openxmlformats.org/drawingml/2006/main">
              <a:ext uri="{FF2B5EF4-FFF2-40B4-BE49-F238E27FC236}">
                <a16:creationId xmlns:a16="http://schemas.microsoft.com/office/drawing/2014/main" id="{99EAA1AC-88C8-4F96-A1F7-57DE1B36A1DD}"/>
              </a:ext>
            </a:extLst>
          </p:cNvPr>
          <p:cNvCxnSpPr/>
          <p:nvPr/>
        </p:nvCxnSpPr>
        <p:spPr>
          <a:xfrm xmlns:a="http://schemas.openxmlformats.org/drawingml/2006/main">
            <a:off x="4933950" y="5191125"/>
            <a:ext cx="54292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53" name="Batch data flow">
            <a:extLst xmlns:a="http://schemas.openxmlformats.org/drawingml/2006/main">
              <a:ext uri="{FF2B5EF4-FFF2-40B4-BE49-F238E27FC236}">
                <a16:creationId xmlns:a16="http://schemas.microsoft.com/office/drawing/2014/main" id="{95EC3157-7B83-45DE-8E24-300C124F6AC2}"/>
              </a:ext>
            </a:extLst>
          </p:cNvPr>
          <p:cNvCxnSpPr/>
          <p:nvPr/>
        </p:nvCxnSpPr>
        <p:spPr>
          <a:xfrm xmlns:a="http://schemas.openxmlformats.org/drawingml/2006/main">
            <a:off x="6715125" y="5191125"/>
            <a:ext cx="42862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54" name="Batch data flow">
            <a:extLst xmlns:a="http://schemas.openxmlformats.org/drawingml/2006/main">
              <a:ext uri="{FF2B5EF4-FFF2-40B4-BE49-F238E27FC236}">
                <a16:creationId xmlns:a16="http://schemas.microsoft.com/office/drawing/2014/main" id="{A362AC51-8F37-45AC-8590-1BD5FE4AC864}"/>
              </a:ext>
            </a:extLst>
          </p:cNvPr>
          <p:cNvCxnSpPr/>
          <p:nvPr/>
        </p:nvCxnSpPr>
        <p:spPr>
          <a:xfrm xmlns:a="http://schemas.openxmlformats.org/drawingml/2006/main">
            <a:off x="8477250" y="5191125"/>
            <a:ext cx="142875" cy="0"/>
          </a:xfrm>
          <a:prstGeom xmlns:a="http://schemas.openxmlformats.org/drawingml/2006/main" prst="straightConnector1">
            <a:avLst/>
          </a:prstGeom>
          <a:ln xmlns:a="http://schemas.openxmlformats.org/drawingml/2006/main" w="20955">
            <a:solidFill>
              <a:srgbClr val="A61955"/>
            </a:solidFill>
            <a:prstDash val="solid"/>
          </a:ln>
        </p:spPr>
      </p:cxnSp>
      <p:cxnSp>
        <p:nvCxnSpPr>
          <p:cNvPr id="55" name="Batch data flow">
            <a:extLst xmlns:a="http://schemas.openxmlformats.org/drawingml/2006/main">
              <a:ext uri="{FF2B5EF4-FFF2-40B4-BE49-F238E27FC236}">
                <a16:creationId xmlns:a16="http://schemas.microsoft.com/office/drawing/2014/main" id="{3DF48807-FC38-4CAC-8DF2-B46C24F3AF7A}"/>
              </a:ext>
            </a:extLst>
          </p:cNvPr>
          <p:cNvCxnSpPr/>
          <p:nvPr/>
        </p:nvCxnSpPr>
        <p:spPr>
          <a:xfrm xmlns:a="http://schemas.openxmlformats.org/drawingml/2006/main">
            <a:off x="8620125" y="3952875"/>
            <a:ext cx="0" cy="1238250"/>
          </a:xfrm>
          <a:prstGeom xmlns:a="http://schemas.openxmlformats.org/drawingml/2006/main" prst="straightConnector1">
            <a:avLst/>
          </a:prstGeom>
          <a:ln xmlns:a="http://schemas.openxmlformats.org/drawingml/2006/main" w="20955">
            <a:solidFill>
              <a:srgbClr val="A61955"/>
            </a:solidFill>
            <a:prstDash val="solid"/>
          </a:ln>
        </p:spPr>
      </p:cxnSp>
      <p:cxnSp>
        <p:nvCxnSpPr>
          <p:cNvPr id="56" name="Batch data flow">
            <a:extLst xmlns:a="http://schemas.openxmlformats.org/drawingml/2006/main">
              <a:ext uri="{FF2B5EF4-FFF2-40B4-BE49-F238E27FC236}">
                <a16:creationId xmlns:a16="http://schemas.microsoft.com/office/drawing/2014/main" id="{303DC2CC-E51E-4C25-BEFD-43347BCDE27E}"/>
              </a:ext>
            </a:extLst>
          </p:cNvPr>
          <p:cNvCxnSpPr/>
          <p:nvPr/>
        </p:nvCxnSpPr>
        <p:spPr>
          <a:xfrm xmlns:a="http://schemas.openxmlformats.org/drawingml/2006/main">
            <a:off x="8620125" y="3952875"/>
            <a:ext cx="142875" cy="0"/>
          </a:xfrm>
          <a:prstGeom xmlns:a="http://schemas.openxmlformats.org/drawingml/2006/main" prst="straightConnector1">
            <a:avLst/>
          </a:prstGeom>
          <a:ln xmlns:a="http://schemas.openxmlformats.org/drawingml/2006/main" w="20955">
            <a:solidFill>
              <a:srgbClr val="A61955"/>
            </a:solidFill>
            <a:prstDash val="solid"/>
            <a:tailEnd type="arrow" w="sm" len="sm"/>
          </a:ln>
        </p:spPr>
      </p:cxnSp>
      <p:cxnSp>
        <p:nvCxnSpPr>
          <p:cNvPr id="57" name="Dashboard read path">
            <a:extLst xmlns:a="http://schemas.openxmlformats.org/drawingml/2006/main">
              <a:ext uri="{FF2B5EF4-FFF2-40B4-BE49-F238E27FC236}">
                <a16:creationId xmlns:a16="http://schemas.microsoft.com/office/drawing/2014/main" id="{5CECDB39-C0A0-4A88-8B6A-29ADB16AFB68}"/>
              </a:ext>
            </a:extLst>
          </p:cNvPr>
          <p:cNvCxnSpPr/>
          <p:nvPr/>
        </p:nvCxnSpPr>
        <p:spPr>
          <a:xfrm xmlns:a="http://schemas.openxmlformats.org/drawingml/2006/main">
            <a:off x="10287000" y="3905250"/>
            <a:ext cx="381000" cy="0"/>
          </a:xfrm>
          <a:prstGeom xmlns:a="http://schemas.openxmlformats.org/drawingml/2006/main" prst="straightConnector1">
            <a:avLst/>
          </a:prstGeom>
          <a:ln xmlns:a="http://schemas.openxmlformats.org/drawingml/2006/main" w="17145">
            <a:solidFill>
              <a:srgbClr val="555555"/>
            </a:solidFill>
            <a:prstDash val="dash"/>
            <a:tailEnd type="arrow" w="sm" len="sm"/>
          </a:ln>
        </p:spPr>
      </p:cxnSp>
      <p:cxnSp>
        <p:nvCxnSpPr>
          <p:cNvPr id="58" name="Dashboard read path">
            <a:extLst xmlns:a="http://schemas.openxmlformats.org/drawingml/2006/main">
              <a:ext uri="{FF2B5EF4-FFF2-40B4-BE49-F238E27FC236}">
                <a16:creationId xmlns:a16="http://schemas.microsoft.com/office/drawing/2014/main" id="{AE4E939E-E98F-4F5A-AC4C-CAC50B6D3408}"/>
              </a:ext>
            </a:extLst>
          </p:cNvPr>
          <p:cNvCxnSpPr/>
          <p:nvPr/>
        </p:nvCxnSpPr>
        <p:spPr>
          <a:xfrm xmlns:a="http://schemas.openxmlformats.org/drawingml/2006/main">
            <a:off x="6096000" y="5667375"/>
            <a:ext cx="0" cy="381000"/>
          </a:xfrm>
          <a:prstGeom xmlns:a="http://schemas.openxmlformats.org/drawingml/2006/main" prst="straightConnector1">
            <a:avLst/>
          </a:prstGeom>
          <a:ln xmlns:a="http://schemas.openxmlformats.org/drawingml/2006/main" w="13335">
            <a:solidFill>
              <a:srgbClr val="555555"/>
            </a:solidFill>
            <a:prstDash val="dash"/>
          </a:ln>
        </p:spPr>
      </p:cxnSp>
      <p:cxnSp>
        <p:nvCxnSpPr>
          <p:cNvPr id="59" name="Dashboard read path">
            <a:extLst xmlns:a="http://schemas.openxmlformats.org/drawingml/2006/main">
              <a:ext uri="{FF2B5EF4-FFF2-40B4-BE49-F238E27FC236}">
                <a16:creationId xmlns:a16="http://schemas.microsoft.com/office/drawing/2014/main" id="{16E30B97-9DAE-476B-B19D-2A89F4530BF3}"/>
              </a:ext>
            </a:extLst>
          </p:cNvPr>
          <p:cNvCxnSpPr/>
          <p:nvPr/>
        </p:nvCxnSpPr>
        <p:spPr>
          <a:xfrm xmlns:a="http://schemas.openxmlformats.org/drawingml/2006/main">
            <a:off x="6096000" y="6048375"/>
            <a:ext cx="5905500" cy="0"/>
          </a:xfrm>
          <a:prstGeom xmlns:a="http://schemas.openxmlformats.org/drawingml/2006/main" prst="straightConnector1">
            <a:avLst/>
          </a:prstGeom>
          <a:ln xmlns:a="http://schemas.openxmlformats.org/drawingml/2006/main" w="13335">
            <a:solidFill>
              <a:srgbClr val="555555"/>
            </a:solidFill>
            <a:prstDash val="dash"/>
          </a:ln>
        </p:spPr>
      </p:cxnSp>
      <p:cxnSp>
        <p:nvCxnSpPr>
          <p:cNvPr id="60" name="Dashboard read path">
            <a:extLst xmlns:a="http://schemas.openxmlformats.org/drawingml/2006/main">
              <a:ext uri="{FF2B5EF4-FFF2-40B4-BE49-F238E27FC236}">
                <a16:creationId xmlns:a16="http://schemas.microsoft.com/office/drawing/2014/main" id="{793A1062-253E-4D28-8AED-E2A652B0C249}"/>
              </a:ext>
            </a:extLst>
          </p:cNvPr>
          <p:cNvCxnSpPr/>
          <p:nvPr/>
        </p:nvCxnSpPr>
        <p:spPr>
          <a:xfrm xmlns:a="http://schemas.openxmlformats.org/drawingml/2006/main">
            <a:off x="12001500" y="3905250"/>
            <a:ext cx="0" cy="2143125"/>
          </a:xfrm>
          <a:prstGeom xmlns:a="http://schemas.openxmlformats.org/drawingml/2006/main" prst="straightConnector1">
            <a:avLst/>
          </a:prstGeom>
          <a:ln xmlns:a="http://schemas.openxmlformats.org/drawingml/2006/main" w="13335">
            <a:solidFill>
              <a:srgbClr val="555555"/>
            </a:solidFill>
            <a:prstDash val="dash"/>
          </a:ln>
        </p:spPr>
      </p:cxnSp>
      <p:cxnSp>
        <p:nvCxnSpPr>
          <p:cNvPr id="61" name="Dashboard read path">
            <a:extLst xmlns:a="http://schemas.openxmlformats.org/drawingml/2006/main">
              <a:ext uri="{FF2B5EF4-FFF2-40B4-BE49-F238E27FC236}">
                <a16:creationId xmlns:a16="http://schemas.microsoft.com/office/drawing/2014/main" id="{5B7D23B3-4646-40E3-9AE8-8BBF8986B531}"/>
              </a:ext>
            </a:extLst>
          </p:cNvPr>
          <p:cNvCxnSpPr/>
          <p:nvPr/>
        </p:nvCxnSpPr>
        <p:spPr>
          <a:xfrm xmlns:a="http://schemas.openxmlformats.org/drawingml/2006/main">
            <a:off x="11906250" y="3905250"/>
            <a:ext cx="95250" cy="0"/>
          </a:xfrm>
          <a:prstGeom xmlns:a="http://schemas.openxmlformats.org/drawingml/2006/main" prst="straightConnector1">
            <a:avLst/>
          </a:prstGeom>
          <a:ln xmlns:a="http://schemas.openxmlformats.org/drawingml/2006/main" w="13335">
            <a:solidFill>
              <a:srgbClr val="555555"/>
            </a:solidFill>
            <a:prstDash val="dash"/>
            <a:headEnd type="arrow" w="sm" len="sm"/>
          </a:ln>
        </p:spPr>
      </p:cxnSp>
      <p:sp>
        <p:nvSpPr>
          <p:cNvPr id="62" name="Post details">
            <a:extLst xmlns:a="http://schemas.openxmlformats.org/drawingml/2006/main">
              <a:ext uri="{FF2B5EF4-FFF2-40B4-BE49-F238E27FC236}">
                <a16:creationId xmlns:a16="http://schemas.microsoft.com/office/drawing/2014/main" id="{58F8EEE6-4058-408E-8452-148CD10FB8BB}"/>
              </a:ext>
            </a:extLst>
          </p:cNvPr>
          <p:cNvSpPr>
            <a:spLocks xmlns:a="http://schemas.openxmlformats.org/drawingml/2006/main" noGrp="1"/>
          </p:cNvSpPr>
          <p:nvPr/>
        </p:nvSpPr>
        <p:spPr>
          <a:xfrm xmlns:a="http://schemas.openxmlformats.org/drawingml/2006/main">
            <a:off x="8982075" y="5724525"/>
            <a:ext cx="1628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Post details</a:t>
            </a:r>
          </a:p>
        </p:txBody>
      </p:sp>
      <p:sp>
        <p:nvSpPr>
          <p:cNvPr id="63" name="Solid: batch data flow     Dashed: dashboard reads     * Reddit: condi">
            <a:extLst xmlns:a="http://schemas.openxmlformats.org/drawingml/2006/main">
              <a:ext uri="{FF2B5EF4-FFF2-40B4-BE49-F238E27FC236}">
                <a16:creationId xmlns:a16="http://schemas.microsoft.com/office/drawing/2014/main" id="{9B427AFB-0E05-4872-9B70-A6B8E98C9AAD}"/>
              </a:ext>
            </a:extLst>
          </p:cNvPr>
          <p:cNvSpPr>
            <a:spLocks xmlns:a="http://schemas.openxmlformats.org/drawingml/2006/main" noGrp="1"/>
          </p:cNvSpPr>
          <p:nvPr/>
        </p:nvSpPr>
        <p:spPr>
          <a:xfrm xmlns:a="http://schemas.openxmlformats.org/drawingml/2006/main">
            <a:off x="685800" y="6334125"/>
            <a:ext cx="1014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defRPr sz="1163" b="0">
                <a:solidFill>
                  <a:srgbClr val="555555"/>
                </a:solidFill>
                <a:latin typeface="Geist"/>
                <a:ea typeface="Geist"/>
                <a:cs typeface="Geist"/>
              </a:defRPr>
            </a:pPr>
            <a:r>
              <a:rPr sz="1163" b="0">
                <a:solidFill>
                  <a:srgbClr val="555555"/>
                </a:solidFill>
                <a:latin typeface="Geist"/>
                <a:ea typeface="Geist"/>
                <a:cs typeface="Geist"/>
              </a:rPr>
              <a:t>Solid: batch data flow     Dashed: dashboard reads     * Reddit: conditional access</a:t>
            </a:r>
          </a:p>
        </p:txBody>
      </p:sp>
    </p:spTree>
    <p:extLst>
      <p:ext uri="{BB962C8B-B14F-4D97-AF65-F5344CB8AC3E}">
        <p14:creationId xmlns:p14="http://schemas.microsoft.com/office/powerpoint/2010/main" val="2479460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ta collection">
            <a:extLst xmlns:a="http://schemas.openxmlformats.org/drawingml/2006/main">
              <a:ext uri="{FF2B5EF4-FFF2-40B4-BE49-F238E27FC236}">
                <a16:creationId xmlns:a16="http://schemas.microsoft.com/office/drawing/2014/main" id="{B15BD8F4-1DE5-4039-9F5F-2B05649358AC}"/>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Data collection</a:t>
            </a:r>
          </a:p>
        </p:txBody>
      </p:sp>
      <p:sp>
        <p:nvSpPr>
          <p:cNvPr id="2" name="05">
            <a:extLst xmlns:a="http://schemas.openxmlformats.org/drawingml/2006/main">
              <a:ext uri="{FF2B5EF4-FFF2-40B4-BE49-F238E27FC236}">
                <a16:creationId xmlns:a16="http://schemas.microsoft.com/office/drawing/2014/main" id="{B607FCFF-2963-41A1-9716-F8B3B4435EE1}"/>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05</a:t>
            </a:r>
          </a:p>
        </p:txBody>
      </p:sp>
      <p:graphicFrame>
        <p:nvGraphicFramePr>
          <p:cNvPr id="3" name="">
            <a:extLst xmlns:a="http://schemas.openxmlformats.org/drawingml/2006/main">
              <a:ext uri="{FF2B5EF4-FFF2-40B4-BE49-F238E27FC236}">
                <a16:creationId xmlns:a16="http://schemas.microsoft.com/office/drawing/2014/main" id="{8C5B5831-A274-4536-9A55-5CF0707AE917}"/>
              </a:ext>
            </a:extLst>
          </p:cNvPr>
          <p:cNvGraphicFramePr/>
          <p:nvPr/>
        </p:nvGraphicFramePr>
        <p:xfrm>
          <a:off xmlns:a="http://schemas.openxmlformats.org/drawingml/2006/main" x="1371600" y="1600200"/>
          <a:ext xmlns:a="http://schemas.openxmlformats.org/drawingml/2006/main" cx="10134600" cy="3124200"/>
        </p:xfrm>
        <a:graphic xmlns:a="http://schemas.openxmlformats.org/drawingml/2006/main">
          <a:graphicData uri="http://schemas.openxmlformats.org/drawingml/2006/table">
            <a:tbl>
              <a:tblPr firstRow="1" bandRow="0"/>
              <a:tblGrid>
                <a:gridCol w="3143250"/>
                <a:gridCol w="3476625"/>
                <a:gridCol w="3514725"/>
              </a:tblGrid>
              <a:tr h="781050">
                <a:tc>
                  <a:txBody>
                    <a:bodyPr wrap="square" lIns="133350" tIns="133350" rIns="133350" bIns="133350">
                      <a:noAutofit/>
                    </a:bodyPr>
                    <a:lstStyle/>
                    <a:p>
                      <a:r>
                        <a:rPr sz="1650" b="1">
                          <a:solidFill>
                            <a:srgbClr val="111111"/>
                          </a:solidFill>
                          <a:latin typeface="Geist"/>
                          <a:ea typeface="Geist"/>
                          <a:cs typeface="Geist"/>
                        </a:rPr>
                        <a:t>Source</a:t>
                      </a:r>
                    </a:p>
                  </a:txBody>
                  <a:tcPr marL="91440" marR="91440" marT="45720" marB="45720" anchor="ctr">
                    <a:solidFill>
                      <a:srgbClr val="FFFFFF"/>
                    </a:solidFill>
                  </a:tcPr>
                </a:tc>
                <a:tc>
                  <a:txBody>
                    <a:bodyPr wrap="square" lIns="133350" tIns="133350" rIns="133350" bIns="133350">
                      <a:noAutofit/>
                    </a:bodyPr>
                    <a:lstStyle/>
                    <a:p>
                      <a:r>
                        <a:rPr sz="1650" b="1">
                          <a:solidFill>
                            <a:srgbClr val="111111"/>
                          </a:solidFill>
                          <a:latin typeface="Geist"/>
                          <a:ea typeface="Geist"/>
                          <a:cs typeface="Geist"/>
                        </a:rPr>
                        <a:t>Collection method</a:t>
                      </a:r>
                    </a:p>
                  </a:txBody>
                  <a:tcPr marL="91440" marR="91440" marT="45720" marB="45720" anchor="ctr">
                    <a:solidFill>
                      <a:srgbClr val="FFFFFF"/>
                    </a:solidFill>
                  </a:tcPr>
                </a:tc>
                <a:tc>
                  <a:txBody>
                    <a:bodyPr wrap="square" lIns="133350" tIns="133350" rIns="133350" bIns="133350">
                      <a:noAutofit/>
                    </a:bodyPr>
                    <a:lstStyle/>
                    <a:p>
                      <a:r>
                        <a:rPr sz="1650" b="1">
                          <a:solidFill>
                            <a:srgbClr val="111111"/>
                          </a:solidFill>
                          <a:latin typeface="Geist"/>
                          <a:ea typeface="Geist"/>
                          <a:cs typeface="Geist"/>
                        </a:rPr>
                        <a:t>Output</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CoinMarketCap</a:t>
                      </a:r>
                    </a:p>
                    <a:p>
                      <a:r>
                        <a:rPr sz="1800" b="0">
                          <a:solidFill>
                            <a:srgbClr val="111111"/>
                          </a:solidFill>
                          <a:latin typeface="Geist"/>
                          <a:ea typeface="Geist"/>
                          <a:cs typeface="Geist"/>
                        </a:rPr>
                        <a:t>Historical Data</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Web crawling</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Daily price CSV</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X via FxTwitter</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Third-party API</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Posts + reactions</a:t>
                      </a:r>
                    </a:p>
                    <a:p>
                      <a:r>
                        <a:rPr sz="1800" b="0">
                          <a:solidFill>
                            <a:srgbClr val="111111"/>
                          </a:solidFill>
                          <a:latin typeface="Geist"/>
                          <a:ea typeface="Geist"/>
                          <a:cs typeface="Geist"/>
                        </a:rPr>
                        <a:t>in JSON</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Reddit via</a:t>
                      </a:r>
                    </a:p>
                    <a:p>
                      <a:r>
                        <a:rPr sz="1800" b="0">
                          <a:solidFill>
                            <a:srgbClr val="111111"/>
                          </a:solidFill>
                          <a:latin typeface="Geist"/>
                          <a:ea typeface="Geist"/>
                          <a:cs typeface="Geist"/>
                        </a:rPr>
                        <a:t>Arctic Shift</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Archive API / files</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Posts + comments</a:t>
                      </a:r>
                    </a:p>
                  </a:txBody>
                  <a:tcPr marL="91440" marR="91440" marT="45720" marB="45720" anchor="ctr">
                    <a:solidFill>
                      <a:srgbClr val="FFFFFF"/>
                    </a:solidFill>
                  </a:tcPr>
                </a:tc>
              </a:tr>
            </a:tbl>
          </a:graphicData>
        </a:graphic>
      </p:graphicFrame>
      <p:pic>
        <p:nvPicPr>
          <p:cNvPr id="4" name="">
            <a:extLst xmlns:a="http://schemas.openxmlformats.org/drawingml/2006/main">
              <a:ext uri="{FF2B5EF4-FFF2-40B4-BE49-F238E27FC236}">
                <a16:creationId xmlns:a16="http://schemas.microsoft.com/office/drawing/2014/main" id="{C8A10517-6000-4B68-8652-E5149161C264}"/>
              </a:ext>
            </a:extLst>
          </p:cNvPr>
          <p:cNvPicPr>
            <a:picLocks xmlns:a="http://schemas.openxmlformats.org/drawingml/2006/main" noChangeAspect="1"/>
          </p:cNvPicPr>
          <p:nvPr/>
        </p:nvPicPr>
        <p:blipFill>
          <a:blip xmlns:r="http://schemas.openxmlformats.org/officeDocument/2006/relationships" xmlns:a="http://schemas.openxmlformats.org/drawingml/2006/main" r:embed="R721609b03cb94908">
            <a:extLst>
              <a:ext uri="{96DAC541-7B7A-43D3-8B79-37D633B846F1}">
                <asvg:svgBlip xmlns:asvg="http://schemas.microsoft.com/office/drawing/2016/SVG/main" r:embed="R50edf59651ea4180"/>
              </a:ext>
            </a:extLst>
          </a:blip>
          <a:stretch xmlns:a="http://schemas.openxmlformats.org/drawingml/2006/main"/>
        </p:blipFill>
        <p:spPr>
          <a:xfrm xmlns:a="http://schemas.openxmlformats.org/drawingml/2006/main">
            <a:off x="723900" y="2590800"/>
            <a:ext cx="400050" cy="4000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FE9121C-91A5-49BB-94F2-185AB5401F27}"/>
              </a:ext>
            </a:extLst>
          </p:cNvPr>
          <p:cNvPicPr>
            <a:picLocks xmlns:a="http://schemas.openxmlformats.org/drawingml/2006/main" noChangeAspect="1"/>
          </p:cNvPicPr>
          <p:nvPr/>
        </p:nvPicPr>
        <p:blipFill>
          <a:blip xmlns:r="http://schemas.openxmlformats.org/officeDocument/2006/relationships" xmlns:a="http://schemas.openxmlformats.org/drawingml/2006/main" r:embed="R4f408c94de8848db">
            <a:extLst>
              <a:ext uri="{96DAC541-7B7A-43D3-8B79-37D633B846F1}">
                <asvg:svgBlip xmlns:asvg="http://schemas.microsoft.com/office/drawing/2016/SVG/main" r:embed="Ra8aefc32e31c43cf"/>
              </a:ext>
            </a:extLst>
          </a:blip>
          <a:stretch xmlns:a="http://schemas.openxmlformats.org/drawingml/2006/main"/>
        </p:blipFill>
        <p:spPr>
          <a:xfrm xmlns:a="http://schemas.openxmlformats.org/drawingml/2006/main">
            <a:off x="723900" y="3371850"/>
            <a:ext cx="400050" cy="4000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C21A4DB-B334-4F8D-AAE0-6A273696401F}"/>
              </a:ext>
            </a:extLst>
          </p:cNvPr>
          <p:cNvPicPr>
            <a:picLocks xmlns:a="http://schemas.openxmlformats.org/drawingml/2006/main" noChangeAspect="1"/>
          </p:cNvPicPr>
          <p:nvPr/>
        </p:nvPicPr>
        <p:blipFill>
          <a:blip xmlns:r="http://schemas.openxmlformats.org/officeDocument/2006/relationships" xmlns:a="http://schemas.openxmlformats.org/drawingml/2006/main" r:embed="Rd1d1c7af70b34f1f">
            <a:extLst>
              <a:ext uri="{96DAC541-7B7A-43D3-8B79-37D633B846F1}">
                <asvg:svgBlip xmlns:asvg="http://schemas.microsoft.com/office/drawing/2016/SVG/main" r:embed="R18990332e59349d2"/>
              </a:ext>
            </a:extLst>
          </a:blip>
          <a:stretch xmlns:a="http://schemas.openxmlformats.org/drawingml/2006/main"/>
        </p:blipFill>
        <p:spPr>
          <a:xfrm xmlns:a="http://schemas.openxmlformats.org/drawingml/2006/main">
            <a:off x="723900" y="4152900"/>
            <a:ext cx="400050" cy="400050"/>
          </a:xfrm>
          <a:prstGeom xmlns:a="http://schemas.openxmlformats.org/drawingml/2006/main" prst="rect">
            <a:avLst/>
          </a:prstGeom>
        </p:spPr>
      </p:pic>
      <p:sp>
        <p:nvSpPr>
          <p:cNvPr id="7" name="Daily social batches, with a seven-day overlap.">
            <a:extLst xmlns:a="http://schemas.openxmlformats.org/drawingml/2006/main">
              <a:ext uri="{FF2B5EF4-FFF2-40B4-BE49-F238E27FC236}">
                <a16:creationId xmlns:a16="http://schemas.microsoft.com/office/drawing/2014/main" id="{AEC284EC-D027-4EB3-80DF-A890C79D22AA}"/>
              </a:ext>
            </a:extLst>
          </p:cNvPr>
          <p:cNvSpPr>
            <a:spLocks xmlns:a="http://schemas.openxmlformats.org/drawingml/2006/main" noGrp="1"/>
          </p:cNvSpPr>
          <p:nvPr/>
        </p:nvSpPr>
        <p:spPr>
          <a:xfrm xmlns:a="http://schemas.openxmlformats.org/drawingml/2006/main">
            <a:off x="695325" y="505777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buNone/>
              <a:defRPr sz="2175" b="1">
                <a:solidFill>
                  <a:srgbClr val="111111"/>
                </a:solidFill>
                <a:latin typeface="Geist"/>
                <a:ea typeface="Geist"/>
                <a:cs typeface="Geist"/>
              </a:defRPr>
            </a:pPr>
            <a:r>
              <a:rPr sz="2175" b="1">
                <a:solidFill>
                  <a:srgbClr val="111111"/>
                </a:solidFill>
                <a:latin typeface="Geist"/>
                <a:ea typeface="Geist"/>
                <a:cs typeface="Geist"/>
              </a:rPr>
              <a:t>Daily social batches, with a seven-day overlap.</a:t>
            </a:r>
          </a:p>
        </p:txBody>
      </p:sp>
      <p:sp>
        <p:nvSpPr>
          <p:cNvPr id="8" name="Project websites: crawl links and contract details to verify">
            <a:extLst xmlns:a="http://schemas.openxmlformats.org/drawingml/2006/main">
              <a:ext uri="{FF2B5EF4-FFF2-40B4-BE49-F238E27FC236}">
                <a16:creationId xmlns:a16="http://schemas.microsoft.com/office/drawing/2014/main" id="{F3EFE7FE-ADCB-4335-8D64-11D4A72FDC1C}"/>
              </a:ext>
            </a:extLst>
          </p:cNvPr>
          <p:cNvSpPr>
            <a:spLocks xmlns:a="http://schemas.openxmlformats.org/drawingml/2006/main" noGrp="1"/>
          </p:cNvSpPr>
          <p:nvPr/>
        </p:nvSpPr>
        <p:spPr>
          <a:xfrm xmlns:a="http://schemas.openxmlformats.org/drawingml/2006/main">
            <a:off x="695325" y="560070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Project websites: crawl links and contract details to verify sources.</a:t>
            </a:r>
          </a:p>
        </p:txBody>
      </p:sp>
      <p:sp>
        <p:nvSpPr>
          <p:cNvPr id="9" name="Reddit awaits access conditions. Price refresh needs new CSV">
            <a:extLst xmlns:a="http://schemas.openxmlformats.org/drawingml/2006/main">
              <a:ext uri="{FF2B5EF4-FFF2-40B4-BE49-F238E27FC236}">
                <a16:creationId xmlns:a16="http://schemas.microsoft.com/office/drawing/2014/main" id="{909FEA8B-55FF-4071-9E56-99D6257B968E}"/>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Reddit awaits access conditions. Price refresh needs new CSVs or restoration of the team crawler.</a:t>
            </a:r>
          </a:p>
        </p:txBody>
      </p:sp>
      <p:sp>
        <p:nvSpPr>
          <p:cNvPr id="11" name="14,773 price rows">
            <a:extLst xmlns:a="http://schemas.openxmlformats.org/drawingml/2006/main">
              <a:ext uri="{FF2B5EF4-FFF2-40B4-BE49-F238E27FC236}">
                <a16:creationId xmlns:a16="http://schemas.microsoft.com/office/drawing/2014/main" id="{273A7EED-4CB8-47FD-824E-7DB99AC35A2F}"/>
              </a:ext>
            </a:extLst>
          </p:cNvPr>
          <p:cNvSpPr>
            <a:spLocks xmlns:a="http://schemas.openxmlformats.org/drawingml/2006/main" noGrp="1"/>
          </p:cNvSpPr>
          <p:nvPr/>
        </p:nvSpPr>
        <p:spPr>
          <a:xfrm xmlns:a="http://schemas.openxmlformats.org/drawingml/2006/main">
            <a:off x="685800" y="116205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A61955"/>
                </a:solidFill>
                <a:latin typeface="Geist"/>
                <a:ea typeface="Geist"/>
                <a:cs typeface="Geist"/>
              </a:defRPr>
            </a:defPPr>
          </a:lstStyle>
          <a:p xmlns:a="http://schemas.openxmlformats.org/drawingml/2006/main">
            <a:pPr algn="l">
              <a:defRPr sz="1950" b="1">
                <a:solidFill>
                  <a:srgbClr val="A61955"/>
                </a:solidFill>
                <a:latin typeface="Geist"/>
                <a:ea typeface="Geist"/>
                <a:cs typeface="Geist"/>
              </a:defRPr>
            </a:pPr>
            <a:r>
              <a:rPr sz="1950" b="1">
                <a:solidFill>
                  <a:srgbClr val="A61955"/>
                </a:solidFill>
                <a:latin typeface="Geist"/>
                <a:ea typeface="Geist"/>
                <a:cs typeface="Geist"/>
              </a:rPr>
              <a:t>14,773 price rows</a:t>
            </a:r>
          </a:p>
        </p:txBody>
      </p:sp>
      <p:sp>
        <p:nvSpPr>
          <p:cNvPr id="12" name="10 coins · social collection planned">
            <a:extLst xmlns:a="http://schemas.openxmlformats.org/drawingml/2006/main">
              <a:ext uri="{FF2B5EF4-FFF2-40B4-BE49-F238E27FC236}">
                <a16:creationId xmlns:a16="http://schemas.microsoft.com/office/drawing/2014/main" id="{D032DF09-9365-4273-B91E-39BE9E7D73AD}"/>
              </a:ext>
            </a:extLst>
          </p:cNvPr>
          <p:cNvSpPr>
            <a:spLocks xmlns:a="http://schemas.openxmlformats.org/drawingml/2006/main" noGrp="1"/>
          </p:cNvSpPr>
          <p:nvPr/>
        </p:nvSpPr>
        <p:spPr>
          <a:xfrm xmlns:a="http://schemas.openxmlformats.org/drawingml/2006/main">
            <a:off x="3476625" y="1200150"/>
            <a:ext cx="8020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defRPr sz="1800" b="0">
                <a:solidFill>
                  <a:srgbClr val="555555"/>
                </a:solidFill>
                <a:latin typeface="Geist"/>
                <a:ea typeface="Geist"/>
                <a:cs typeface="Geist"/>
              </a:defRPr>
            </a:pPr>
            <a:r>
              <a:rPr sz="1800" b="0">
                <a:solidFill>
                  <a:srgbClr val="555555"/>
                </a:solidFill>
                <a:latin typeface="Geist"/>
                <a:ea typeface="Geist"/>
                <a:cs typeface="Geist"/>
              </a:rPr>
              <a:t>10 coins · social collection planned</a:t>
            </a:r>
          </a:p>
        </p:txBody>
      </p:sp>
    </p:spTree>
    <p:extLst>
      <p:ext uri="{BB962C8B-B14F-4D97-AF65-F5344CB8AC3E}">
        <p14:creationId xmlns:p14="http://schemas.microsoft.com/office/powerpoint/2010/main" val="16947484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324891C0-F076-47CC-9AB4-9C032AACB65D}"/>
              </a:ext>
            </a:extLst>
          </p:cNvPr>
          <p:cNvCxnSpPr>
            <a:stCxn xmlns:a="http://schemas.openxmlformats.org/drawingml/2006/main" id="7" idx="3"/>
            <a:endCxn xmlns:a="http://schemas.openxmlformats.org/drawingml/2006/main" id="10" idx="1"/>
          </p:cNvCxnSpPr>
          <p:nvPr/>
        </p:nvCxnSpPr>
        <p:spPr>
          <a:xfrm xmlns:a="http://schemas.openxmlformats.org/drawingml/2006/main">
            <a:off x="7696200" y="3405188"/>
            <a:ext cx="476250" cy="0"/>
          </a:xfrm>
          <a:prstGeom xmlns:a="http://schemas.openxmlformats.org/drawingml/2006/main" prst="straightConnector1">
            <a:avLst/>
          </a:prstGeom>
          <a:ln xmlns:a="http://schemas.openxmlformats.org/drawingml/2006/main" w="14288">
            <a:solidFill>
              <a:srgbClr val="555555"/>
            </a:solidFill>
            <a:tailEnd type="arrow" w="sm" len="sm"/>
          </a:ln>
        </p:spPr>
      </p:cxnSp>
      <p:cxnSp>
        <p:nvCxnSpPr>
          <p:cNvPr id="13" name="">
            <a:extLst xmlns:a="http://schemas.openxmlformats.org/drawingml/2006/main">
              <a:ext uri="{FF2B5EF4-FFF2-40B4-BE49-F238E27FC236}">
                <a16:creationId xmlns:a16="http://schemas.microsoft.com/office/drawing/2014/main" id="{C1FE1271-48B0-4922-BF00-AD0C58ACF310}"/>
              </a:ext>
            </a:extLst>
          </p:cNvPr>
          <p:cNvCxnSpPr>
            <a:stCxn xmlns:a="http://schemas.openxmlformats.org/drawingml/2006/main" id="4" idx="3"/>
            <a:endCxn xmlns:a="http://schemas.openxmlformats.org/drawingml/2006/main" id="7" idx="1"/>
          </p:cNvCxnSpPr>
          <p:nvPr/>
        </p:nvCxnSpPr>
        <p:spPr>
          <a:xfrm xmlns:a="http://schemas.openxmlformats.org/drawingml/2006/main">
            <a:off x="3829050" y="3405188"/>
            <a:ext cx="476250" cy="0"/>
          </a:xfrm>
          <a:prstGeom xmlns:a="http://schemas.openxmlformats.org/drawingml/2006/main" prst="straightConnector1">
            <a:avLst/>
          </a:prstGeom>
          <a:ln xmlns:a="http://schemas.openxmlformats.org/drawingml/2006/main" w="14288">
            <a:solidFill>
              <a:srgbClr val="555555"/>
            </a:solidFill>
            <a:tailEnd type="arrow" w="sm" len="sm"/>
          </a:ln>
        </p:spPr>
      </p:cxnSp>
      <p:sp>
        <p:nvSpPr>
          <p:cNvPr id="20" name="Data preprocessing">
            <a:extLst xmlns:a="http://schemas.openxmlformats.org/drawingml/2006/main">
              <a:ext uri="{FF2B5EF4-FFF2-40B4-BE49-F238E27FC236}">
                <a16:creationId xmlns:a16="http://schemas.microsoft.com/office/drawing/2014/main" id="{FED37CD5-D484-42F0-8541-5B67B4C18860}"/>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Data preprocessing</a:t>
            </a:r>
          </a:p>
        </p:txBody>
      </p:sp>
      <p:sp>
        <p:nvSpPr>
          <p:cNvPr id="2" name="06">
            <a:extLst xmlns:a="http://schemas.openxmlformats.org/drawingml/2006/main">
              <a:ext uri="{FF2B5EF4-FFF2-40B4-BE49-F238E27FC236}">
                <a16:creationId xmlns:a16="http://schemas.microsoft.com/office/drawing/2014/main" id="{9F5B87EA-1622-492F-9B88-066D62D13F4B}"/>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06</a:t>
            </a:r>
          </a:p>
        </p:txBody>
      </p:sp>
      <p:sp>
        <p:nvSpPr>
          <p:cNvPr id="3" name="From raw posts to daily features.">
            <a:extLst xmlns:a="http://schemas.openxmlformats.org/drawingml/2006/main">
              <a:ext uri="{FF2B5EF4-FFF2-40B4-BE49-F238E27FC236}">
                <a16:creationId xmlns:a16="http://schemas.microsoft.com/office/drawing/2014/main" id="{4ED78196-9A2F-455A-B270-15AE65D66C39}"/>
              </a:ext>
            </a:extLst>
          </p:cNvPr>
          <p:cNvSpPr>
            <a:spLocks xmlns:a="http://schemas.openxmlformats.org/drawingml/2006/main" noGrp="1"/>
          </p:cNvSpPr>
          <p:nvPr/>
        </p:nvSpPr>
        <p:spPr>
          <a:xfrm xmlns:a="http://schemas.openxmlformats.org/drawingml/2006/main">
            <a:off x="695325" y="11906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55555"/>
                </a:solidFill>
                <a:latin typeface="Geist"/>
                <a:ea typeface="Geist"/>
                <a:cs typeface="Geist"/>
              </a:defRPr>
            </a:defPPr>
          </a:lstStyle>
          <a:p xmlns:a="http://schemas.openxmlformats.org/drawingml/2006/main">
            <a:pPr algn="l">
              <a:buNone/>
              <a:defRPr sz="2175" b="0">
                <a:solidFill>
                  <a:srgbClr val="555555"/>
                </a:solidFill>
                <a:latin typeface="Geist"/>
                <a:ea typeface="Geist"/>
                <a:cs typeface="Geist"/>
              </a:defRPr>
            </a:pPr>
            <a:r>
              <a:rPr sz="2175" b="0">
                <a:solidFill>
                  <a:srgbClr val="555555"/>
                </a:solidFill>
                <a:latin typeface="Geist"/>
                <a:ea typeface="Geist"/>
                <a:cs typeface="Geist"/>
              </a:rPr>
              <a:t>From raw posts to daily features.</a:t>
            </a:r>
          </a:p>
        </p:txBody>
      </p:sp>
      <p:sp>
        <p:nvSpPr>
          <p:cNvPr id="4" name="Raw JSON">
            <a:extLst xmlns:a="http://schemas.openxmlformats.org/drawingml/2006/main">
              <a:ext uri="{FF2B5EF4-FFF2-40B4-BE49-F238E27FC236}">
                <a16:creationId xmlns:a16="http://schemas.microsoft.com/office/drawing/2014/main" id="{1B3CAE67-8BB2-4CF0-9762-3DB0E76C040D}"/>
              </a:ext>
            </a:extLst>
          </p:cNvPr>
          <p:cNvSpPr>
            <a:spLocks xmlns:a="http://schemas.openxmlformats.org/drawingml/2006/main" noGrp="1"/>
          </p:cNvSpPr>
          <p:nvPr/>
        </p:nvSpPr>
        <p:spPr>
          <a:xfrm xmlns:a="http://schemas.openxmlformats.org/drawingml/2006/main">
            <a:off x="685800" y="2143125"/>
            <a:ext cx="3143250" cy="2524125"/>
          </a:xfrm>
          <a:prstGeom xmlns:a="http://schemas.openxmlformats.org/drawingml/2006/main" prst="roundRect">
            <a:avLst>
              <a:gd name="adj" fmla="val 2264"/>
            </a:avLst>
          </a:prstGeom>
          <a:solidFill xmlns:a="http://schemas.openxmlformats.org/drawingml/2006/main">
            <a:srgbClr val="FFFFFF"/>
          </a:solidFill>
          <a:ln xmlns:a="http://schemas.openxmlformats.org/drawingml/2006/main" w="9525">
            <a:solidFill>
              <a:srgbClr val="DDDDDD"/>
            </a:solidFill>
          </a:ln>
        </p:spPr>
      </p:sp>
      <p:sp>
        <p:nvSpPr>
          <p:cNvPr id="5" name="Raw JSON">
            <a:extLst xmlns:a="http://schemas.openxmlformats.org/drawingml/2006/main">
              <a:ext uri="{FF2B5EF4-FFF2-40B4-BE49-F238E27FC236}">
                <a16:creationId xmlns:a16="http://schemas.microsoft.com/office/drawing/2014/main" id="{17176D15-7BA9-4450-AF36-F0C479D4F0BA}"/>
              </a:ext>
            </a:extLst>
          </p:cNvPr>
          <p:cNvSpPr>
            <a:spLocks xmlns:a="http://schemas.openxmlformats.org/drawingml/2006/main" noGrp="1"/>
          </p:cNvSpPr>
          <p:nvPr/>
        </p:nvSpPr>
        <p:spPr>
          <a:xfrm xmlns:a="http://schemas.openxmlformats.org/drawingml/2006/main">
            <a:off x="876300" y="231457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1111"/>
                </a:solidFill>
                <a:latin typeface="Geist"/>
                <a:ea typeface="Geist"/>
                <a:cs typeface="Geist"/>
              </a:defRPr>
            </a:defPPr>
          </a:lstStyle>
          <a:p xmlns:a="http://schemas.openxmlformats.org/drawingml/2006/main">
            <a:pPr algn="l">
              <a:buNone/>
              <a:defRPr sz="2025" b="1">
                <a:solidFill>
                  <a:srgbClr val="111111"/>
                </a:solidFill>
                <a:latin typeface="Geist"/>
                <a:ea typeface="Geist"/>
                <a:cs typeface="Geist"/>
              </a:defRPr>
            </a:pPr>
            <a:r>
              <a:rPr sz="2025" b="1">
                <a:solidFill>
                  <a:srgbClr val="111111"/>
                </a:solidFill>
                <a:latin typeface="Geist"/>
                <a:ea typeface="Geist"/>
                <a:cs typeface="Geist"/>
              </a:rPr>
              <a:t>Raw JSON</a:t>
            </a:r>
          </a:p>
        </p:txBody>
      </p:sp>
      <p:sp>
        <p:nvSpPr>
          <p:cNvPr id="6" name="{&#10;  &quot;id&quot;: &quot;&lt;post_id&gt;&quot;,&#10;  &quot;text&quot;: &quot;$DOGE…&quot;,&#10;  &quot;created_at&quot;: &quot;">
            <a:extLst xmlns:a="http://schemas.openxmlformats.org/drawingml/2006/main">
              <a:ext uri="{FF2B5EF4-FFF2-40B4-BE49-F238E27FC236}">
                <a16:creationId xmlns:a16="http://schemas.microsoft.com/office/drawing/2014/main" id="{15B3AB9C-422F-4BAF-BCF3-FE6F7999E2BF}"/>
              </a:ext>
            </a:extLst>
          </p:cNvPr>
          <p:cNvSpPr>
            <a:spLocks xmlns:a="http://schemas.openxmlformats.org/drawingml/2006/main" noGrp="1"/>
          </p:cNvSpPr>
          <p:nvPr/>
        </p:nvSpPr>
        <p:spPr>
          <a:xfrm xmlns:a="http://schemas.openxmlformats.org/drawingml/2006/main">
            <a:off x="876300" y="2828925"/>
            <a:ext cx="27622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55555"/>
                </a:solidFill>
                <a:latin typeface="Geist Mono"/>
                <a:ea typeface="Geist Mono"/>
                <a:cs typeface="Geist Mono"/>
              </a:defRPr>
            </a:defPPr>
          </a:lstStyle>
          <a:p xmlns:a="http://schemas.openxmlformats.org/drawingml/2006/main">
            <a:pPr algn="l">
              <a:buNone/>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a:t>
            </a:r>
          </a:p>
          <a:p xmlns:a="http://schemas.openxmlformats.org/drawingml/2006/main">
            <a:pPr algn="l">
              <a:buNone/>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  "id": "&lt;post_id&gt;",</a:t>
            </a:r>
          </a:p>
          <a:p xmlns:a="http://schemas.openxmlformats.org/drawingml/2006/main">
            <a:pPr algn="l">
              <a:buNone/>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  "text": "$DOGE…",</a:t>
            </a:r>
          </a:p>
          <a:p xmlns:a="http://schemas.openxmlformats.org/drawingml/2006/main">
            <a:pPr algn="l">
              <a:buNone/>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  "created_at": "&lt;UTC&gt;",</a:t>
            </a:r>
          </a:p>
          <a:p xmlns:a="http://schemas.openxmlformats.org/drawingml/2006/main">
            <a:pPr algn="l">
              <a:buNone/>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  "likes": null</a:t>
            </a:r>
          </a:p>
          <a:p xmlns:a="http://schemas.openxmlformats.org/drawingml/2006/main">
            <a:pPr algn="l">
              <a:buNone/>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a:t>
            </a:r>
          </a:p>
        </p:txBody>
      </p:sp>
      <p:sp>
        <p:nvSpPr>
          <p:cNvPr id="7" name="Standardize">
            <a:extLst xmlns:a="http://schemas.openxmlformats.org/drawingml/2006/main">
              <a:ext uri="{FF2B5EF4-FFF2-40B4-BE49-F238E27FC236}">
                <a16:creationId xmlns:a16="http://schemas.microsoft.com/office/drawing/2014/main" id="{1ADE7257-3B57-4BDE-96CE-BFEB3B2A9CB3}"/>
              </a:ext>
            </a:extLst>
          </p:cNvPr>
          <p:cNvSpPr>
            <a:spLocks xmlns:a="http://schemas.openxmlformats.org/drawingml/2006/main" noGrp="1"/>
          </p:cNvSpPr>
          <p:nvPr/>
        </p:nvSpPr>
        <p:spPr>
          <a:xfrm xmlns:a="http://schemas.openxmlformats.org/drawingml/2006/main">
            <a:off x="4305300" y="2143125"/>
            <a:ext cx="3390900" cy="2524125"/>
          </a:xfrm>
          <a:prstGeom xmlns:a="http://schemas.openxmlformats.org/drawingml/2006/main" prst="roundRect">
            <a:avLst>
              <a:gd name="adj" fmla="val 2264"/>
            </a:avLst>
          </a:prstGeom>
          <a:solidFill xmlns:a="http://schemas.openxmlformats.org/drawingml/2006/main">
            <a:srgbClr val="FFFFFF"/>
          </a:solidFill>
          <a:ln xmlns:a="http://schemas.openxmlformats.org/drawingml/2006/main" w="9525">
            <a:solidFill>
              <a:srgbClr val="DDDDDD"/>
            </a:solidFill>
          </a:ln>
        </p:spPr>
      </p:sp>
      <p:sp>
        <p:nvSpPr>
          <p:cNvPr id="8" name="Standardize">
            <a:extLst xmlns:a="http://schemas.openxmlformats.org/drawingml/2006/main">
              <a:ext uri="{FF2B5EF4-FFF2-40B4-BE49-F238E27FC236}">
                <a16:creationId xmlns:a16="http://schemas.microsoft.com/office/drawing/2014/main" id="{1F052AB4-27A7-4F81-80D1-EBB2AFA7C3DF}"/>
              </a:ext>
            </a:extLst>
          </p:cNvPr>
          <p:cNvSpPr>
            <a:spLocks xmlns:a="http://schemas.openxmlformats.org/drawingml/2006/main" noGrp="1"/>
          </p:cNvSpPr>
          <p:nvPr/>
        </p:nvSpPr>
        <p:spPr>
          <a:xfrm xmlns:a="http://schemas.openxmlformats.org/drawingml/2006/main">
            <a:off x="4495800" y="2314575"/>
            <a:ext cx="300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1111"/>
                </a:solidFill>
                <a:latin typeface="Geist"/>
                <a:ea typeface="Geist"/>
                <a:cs typeface="Geist"/>
              </a:defRPr>
            </a:defPPr>
          </a:lstStyle>
          <a:p xmlns:a="http://schemas.openxmlformats.org/drawingml/2006/main">
            <a:pPr algn="l">
              <a:buNone/>
              <a:defRPr sz="2025" b="1">
                <a:solidFill>
                  <a:srgbClr val="111111"/>
                </a:solidFill>
                <a:latin typeface="Geist"/>
                <a:ea typeface="Geist"/>
                <a:cs typeface="Geist"/>
              </a:defRPr>
            </a:pPr>
            <a:r>
              <a:rPr sz="2025" b="1">
                <a:solidFill>
                  <a:srgbClr val="111111"/>
                </a:solidFill>
                <a:latin typeface="Geist"/>
                <a:ea typeface="Geist"/>
                <a:cs typeface="Geist"/>
              </a:rPr>
              <a:t>Standardize</a:t>
            </a:r>
          </a:p>
        </p:txBody>
      </p:sp>
      <p:sp>
        <p:nvSpPr>
          <p:cNvPr id="9" name="Stable post ID&#10;UTC timestamp&#10;Language + repost flag&#10;Verified">
            <a:extLst xmlns:a="http://schemas.openxmlformats.org/drawingml/2006/main">
              <a:ext uri="{FF2B5EF4-FFF2-40B4-BE49-F238E27FC236}">
                <a16:creationId xmlns:a16="http://schemas.microsoft.com/office/drawing/2014/main" id="{1FCA8433-18C1-402C-B2FC-AD87F6960D33}"/>
              </a:ext>
            </a:extLst>
          </p:cNvPr>
          <p:cNvSpPr>
            <a:spLocks xmlns:a="http://schemas.openxmlformats.org/drawingml/2006/main" noGrp="1"/>
          </p:cNvSpPr>
          <p:nvPr/>
        </p:nvSpPr>
        <p:spPr>
          <a:xfrm xmlns:a="http://schemas.openxmlformats.org/drawingml/2006/main">
            <a:off x="4495800" y="2828925"/>
            <a:ext cx="30099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Stable post ID</a:t>
            </a:r>
          </a:p>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UTC timestamp</a:t>
            </a:r>
          </a:p>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Language + repost flag</a:t>
            </a:r>
          </a:p>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Verified coin match</a:t>
            </a:r>
          </a:p>
        </p:txBody>
      </p:sp>
      <p:sp>
        <p:nvSpPr>
          <p:cNvPr id="10" name="Daily features">
            <a:extLst xmlns:a="http://schemas.openxmlformats.org/drawingml/2006/main">
              <a:ext uri="{FF2B5EF4-FFF2-40B4-BE49-F238E27FC236}">
                <a16:creationId xmlns:a16="http://schemas.microsoft.com/office/drawing/2014/main" id="{9BFB73BF-4DA2-443E-9785-4E4279331916}"/>
              </a:ext>
            </a:extLst>
          </p:cNvPr>
          <p:cNvSpPr>
            <a:spLocks xmlns:a="http://schemas.openxmlformats.org/drawingml/2006/main" noGrp="1"/>
          </p:cNvSpPr>
          <p:nvPr/>
        </p:nvSpPr>
        <p:spPr>
          <a:xfrm xmlns:a="http://schemas.openxmlformats.org/drawingml/2006/main">
            <a:off x="8172450" y="2143125"/>
            <a:ext cx="3333750" cy="2524125"/>
          </a:xfrm>
          <a:prstGeom xmlns:a="http://schemas.openxmlformats.org/drawingml/2006/main" prst="roundRect">
            <a:avLst>
              <a:gd name="adj" fmla="val 2264"/>
            </a:avLst>
          </a:prstGeom>
          <a:solidFill xmlns:a="http://schemas.openxmlformats.org/drawingml/2006/main">
            <a:srgbClr val="FFFFFF"/>
          </a:solidFill>
          <a:ln xmlns:a="http://schemas.openxmlformats.org/drawingml/2006/main" w="9525">
            <a:solidFill>
              <a:srgbClr val="DDDDDD"/>
            </a:solidFill>
          </a:ln>
        </p:spPr>
      </p:sp>
      <p:sp>
        <p:nvSpPr>
          <p:cNvPr id="11" name="Daily features">
            <a:extLst xmlns:a="http://schemas.openxmlformats.org/drawingml/2006/main">
              <a:ext uri="{FF2B5EF4-FFF2-40B4-BE49-F238E27FC236}">
                <a16:creationId xmlns:a16="http://schemas.microsoft.com/office/drawing/2014/main" id="{99FDAA5D-772D-4C42-8E07-F5D9E04187CC}"/>
              </a:ext>
            </a:extLst>
          </p:cNvPr>
          <p:cNvSpPr>
            <a:spLocks xmlns:a="http://schemas.openxmlformats.org/drawingml/2006/main" noGrp="1"/>
          </p:cNvSpPr>
          <p:nvPr/>
        </p:nvSpPr>
        <p:spPr>
          <a:xfrm xmlns:a="http://schemas.openxmlformats.org/drawingml/2006/main">
            <a:off x="8362950" y="2314575"/>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1111"/>
                </a:solidFill>
                <a:latin typeface="Geist"/>
                <a:ea typeface="Geist"/>
                <a:cs typeface="Geist"/>
              </a:defRPr>
            </a:defPPr>
          </a:lstStyle>
          <a:p xmlns:a="http://schemas.openxmlformats.org/drawingml/2006/main">
            <a:pPr algn="l">
              <a:buNone/>
              <a:defRPr sz="2025" b="1">
                <a:solidFill>
                  <a:srgbClr val="111111"/>
                </a:solidFill>
                <a:latin typeface="Geist"/>
                <a:ea typeface="Geist"/>
                <a:cs typeface="Geist"/>
              </a:defRPr>
            </a:pPr>
            <a:r>
              <a:rPr sz="2025" b="1">
                <a:solidFill>
                  <a:srgbClr val="111111"/>
                </a:solidFill>
                <a:latin typeface="Geist"/>
                <a:ea typeface="Geist"/>
                <a:cs typeface="Geist"/>
              </a:rPr>
              <a:t>Daily features</a:t>
            </a:r>
          </a:p>
        </p:txBody>
      </p:sp>
      <p:sp>
        <p:nvSpPr>
          <p:cNvPr id="12" name="Coin + UTC date&#10;Observed post count&#10;Mean sentiment&#10;Coverage ">
            <a:extLst xmlns:a="http://schemas.openxmlformats.org/drawingml/2006/main">
              <a:ext uri="{FF2B5EF4-FFF2-40B4-BE49-F238E27FC236}">
                <a16:creationId xmlns:a16="http://schemas.microsoft.com/office/drawing/2014/main" id="{748D7A2D-0214-48CD-BF76-A4CED75331A0}"/>
              </a:ext>
            </a:extLst>
          </p:cNvPr>
          <p:cNvSpPr>
            <a:spLocks xmlns:a="http://schemas.openxmlformats.org/drawingml/2006/main" noGrp="1"/>
          </p:cNvSpPr>
          <p:nvPr/>
        </p:nvSpPr>
        <p:spPr>
          <a:xfrm xmlns:a="http://schemas.openxmlformats.org/drawingml/2006/main">
            <a:off x="8362950" y="2828925"/>
            <a:ext cx="2952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Coin + UTC date</a:t>
            </a:r>
          </a:p>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Observed post count</a:t>
            </a:r>
          </a:p>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Mean sentiment</a:t>
            </a:r>
          </a:p>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Coverage status</a:t>
            </a:r>
          </a:p>
        </p:txBody>
      </p:sp>
      <p:sp>
        <p:nvSpPr>
          <p:cNvPr id="15" name="Price checks">
            <a:extLst xmlns:a="http://schemas.openxmlformats.org/drawingml/2006/main">
              <a:ext uri="{FF2B5EF4-FFF2-40B4-BE49-F238E27FC236}">
                <a16:creationId xmlns:a16="http://schemas.microsoft.com/office/drawing/2014/main" id="{D71D367A-DEF2-4D4A-A5CC-E961638D2C53}"/>
              </a:ext>
            </a:extLst>
          </p:cNvPr>
          <p:cNvSpPr>
            <a:spLocks xmlns:a="http://schemas.openxmlformats.org/drawingml/2006/main" noGrp="1"/>
          </p:cNvSpPr>
          <p:nvPr/>
        </p:nvSpPr>
        <p:spPr>
          <a:xfrm xmlns:a="http://schemas.openxmlformats.org/drawingml/2006/main">
            <a:off x="704850" y="5105400"/>
            <a:ext cx="213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buNone/>
              <a:defRPr sz="1950" b="1">
                <a:solidFill>
                  <a:srgbClr val="111111"/>
                </a:solidFill>
                <a:latin typeface="Geist"/>
                <a:ea typeface="Geist"/>
                <a:cs typeface="Geist"/>
              </a:defRPr>
            </a:pPr>
            <a:r>
              <a:rPr sz="1950" b="1">
                <a:solidFill>
                  <a:srgbClr val="111111"/>
                </a:solidFill>
                <a:latin typeface="Geist"/>
                <a:ea typeface="Geist"/>
                <a:cs typeface="Geist"/>
              </a:rPr>
              <a:t>Price checks</a:t>
            </a:r>
          </a:p>
        </p:txBody>
      </p:sp>
      <p:sp>
        <p:nvSpPr>
          <p:cNvPr id="16" name="Duplicate days, OHLC rules, missing or zero values">
            <a:extLst xmlns:a="http://schemas.openxmlformats.org/drawingml/2006/main">
              <a:ext uri="{FF2B5EF4-FFF2-40B4-BE49-F238E27FC236}">
                <a16:creationId xmlns:a16="http://schemas.microsoft.com/office/drawing/2014/main" id="{302CB089-5C46-4538-B173-543722203E50}"/>
              </a:ext>
            </a:extLst>
          </p:cNvPr>
          <p:cNvSpPr>
            <a:spLocks xmlns:a="http://schemas.openxmlformats.org/drawingml/2006/main" noGrp="1"/>
          </p:cNvSpPr>
          <p:nvPr/>
        </p:nvSpPr>
        <p:spPr>
          <a:xfrm xmlns:a="http://schemas.openxmlformats.org/drawingml/2006/main">
            <a:off x="2952750" y="5124450"/>
            <a:ext cx="852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a:ea typeface="Geist"/>
                <a:cs typeface="Geist"/>
              </a:defRPr>
            </a:defPPr>
          </a:lstStyle>
          <a:p xmlns:a="http://schemas.openxmlformats.org/drawingml/2006/main">
            <a:pPr algn="l">
              <a:buNone/>
              <a:defRPr sz="1875" b="0">
                <a:solidFill>
                  <a:srgbClr val="555555"/>
                </a:solidFill>
                <a:latin typeface="Geist"/>
                <a:ea typeface="Geist"/>
                <a:cs typeface="Geist"/>
              </a:defRPr>
            </a:pPr>
            <a:r>
              <a:rPr sz="1875" b="0">
                <a:solidFill>
                  <a:srgbClr val="555555"/>
                </a:solidFill>
                <a:latin typeface="Geist"/>
                <a:ea typeface="Geist"/>
                <a:cs typeface="Geist"/>
              </a:rPr>
              <a:t>Duplicate days, OHLC rules, missing or zero values</a:t>
            </a:r>
          </a:p>
        </p:txBody>
      </p:sp>
      <p:sp>
        <p:nvSpPr>
          <p:cNvPr id="17" name="NULL ≠ 0">
            <a:extLst xmlns:a="http://schemas.openxmlformats.org/drawingml/2006/main">
              <a:ext uri="{FF2B5EF4-FFF2-40B4-BE49-F238E27FC236}">
                <a16:creationId xmlns:a16="http://schemas.microsoft.com/office/drawing/2014/main" id="{6FE2DE40-E735-4E58-A166-5EAF02AF7189}"/>
              </a:ext>
            </a:extLst>
          </p:cNvPr>
          <p:cNvSpPr>
            <a:spLocks xmlns:a="http://schemas.openxmlformats.org/drawingml/2006/main" noGrp="1"/>
          </p:cNvSpPr>
          <p:nvPr/>
        </p:nvSpPr>
        <p:spPr>
          <a:xfrm xmlns:a="http://schemas.openxmlformats.org/drawingml/2006/main">
            <a:off x="704850" y="5676900"/>
            <a:ext cx="2266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A61955"/>
                </a:solidFill>
                <a:latin typeface="Geist Mono"/>
                <a:ea typeface="Geist Mono"/>
                <a:cs typeface="Geist Mono"/>
              </a:defRPr>
            </a:defPPr>
          </a:lstStyle>
          <a:p xmlns:a="http://schemas.openxmlformats.org/drawingml/2006/main">
            <a:pPr algn="l">
              <a:buNone/>
              <a:defRPr sz="2250" b="1">
                <a:solidFill>
                  <a:srgbClr val="A61955"/>
                </a:solidFill>
                <a:latin typeface="Geist Mono"/>
                <a:ea typeface="Geist Mono"/>
                <a:cs typeface="Geist Mono"/>
              </a:defRPr>
            </a:pPr>
            <a:r>
              <a:rPr sz="2250" b="1">
                <a:solidFill>
                  <a:srgbClr val="A61955"/>
                </a:solidFill>
                <a:latin typeface="Geist Mono"/>
                <a:ea typeface="Geist Mono"/>
                <a:cs typeface="Geist Mono"/>
              </a:rPr>
              <a:t>NULL ≠ 0</a:t>
            </a:r>
          </a:p>
        </p:txBody>
      </p:sp>
      <p:sp>
        <p:nvSpPr>
          <p:cNvPr id="18" name="Collection failure stays missing.">
            <a:extLst xmlns:a="http://schemas.openxmlformats.org/drawingml/2006/main">
              <a:ext uri="{FF2B5EF4-FFF2-40B4-BE49-F238E27FC236}">
                <a16:creationId xmlns:a16="http://schemas.microsoft.com/office/drawing/2014/main" id="{0740BD6F-FF70-4623-96DB-475A0E5978EE}"/>
              </a:ext>
            </a:extLst>
          </p:cNvPr>
          <p:cNvSpPr>
            <a:spLocks xmlns:a="http://schemas.openxmlformats.org/drawingml/2006/main" noGrp="1"/>
          </p:cNvSpPr>
          <p:nvPr/>
        </p:nvSpPr>
        <p:spPr>
          <a:xfrm xmlns:a="http://schemas.openxmlformats.org/drawingml/2006/main">
            <a:off x="2952750" y="5686425"/>
            <a:ext cx="8524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11111"/>
                </a:solidFill>
                <a:latin typeface="Geist"/>
                <a:ea typeface="Geist"/>
                <a:cs typeface="Geist"/>
              </a:defRPr>
            </a:defPPr>
          </a:lstStyle>
          <a:p xmlns:a="http://schemas.openxmlformats.org/drawingml/2006/main">
            <a:pPr algn="l">
              <a:buNone/>
              <a:defRPr sz="2100" b="0">
                <a:solidFill>
                  <a:srgbClr val="111111"/>
                </a:solidFill>
                <a:latin typeface="Geist"/>
                <a:ea typeface="Geist"/>
                <a:cs typeface="Geist"/>
              </a:defRPr>
            </a:pPr>
            <a:r>
              <a:rPr sz="2100" b="0">
                <a:solidFill>
                  <a:srgbClr val="111111"/>
                </a:solidFill>
                <a:latin typeface="Geist"/>
                <a:ea typeface="Geist"/>
                <a:cs typeface="Geist"/>
              </a:rPr>
              <a:t>Collection failure stays missing.</a:t>
            </a:r>
          </a:p>
        </p:txBody>
      </p:sp>
      <p:sp>
        <p:nvSpPr>
          <p:cNvPr id="19" name="Schema illustration. Sentiment uses supported English text. ">
            <a:extLst xmlns:a="http://schemas.openxmlformats.org/drawingml/2006/main">
              <a:ext uri="{FF2B5EF4-FFF2-40B4-BE49-F238E27FC236}">
                <a16:creationId xmlns:a16="http://schemas.microsoft.com/office/drawing/2014/main" id="{233345F3-323E-4039-B433-6E6A2A2A6E12}"/>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Schema illustration. Sentiment uses supported English text. Preserve raw inputs for replay.</a:t>
            </a:r>
          </a:p>
        </p:txBody>
      </p:sp>
    </p:spTree>
    <p:extLst>
      <p:ext uri="{BB962C8B-B14F-4D97-AF65-F5344CB8AC3E}">
        <p14:creationId xmlns:p14="http://schemas.microsoft.com/office/powerpoint/2010/main" val="11026350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Why two databases?">
            <a:extLst xmlns:a="http://schemas.openxmlformats.org/drawingml/2006/main">
              <a:ext uri="{FF2B5EF4-FFF2-40B4-BE49-F238E27FC236}">
                <a16:creationId xmlns:a16="http://schemas.microsoft.com/office/drawing/2014/main" id="{D5631E69-9B70-4919-878A-5C1E67251D0B}"/>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Why two databases?</a:t>
            </a:r>
          </a:p>
        </p:txBody>
      </p:sp>
      <p:sp>
        <p:nvSpPr>
          <p:cNvPr id="2" name="07">
            <a:extLst xmlns:a="http://schemas.openxmlformats.org/drawingml/2006/main">
              <a:ext uri="{FF2B5EF4-FFF2-40B4-BE49-F238E27FC236}">
                <a16:creationId xmlns:a16="http://schemas.microsoft.com/office/drawing/2014/main" id="{A072B582-2814-4848-8E71-D636BFAA19C7}"/>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07</a:t>
            </a:r>
          </a:p>
        </p:txBody>
      </p:sp>
      <p:sp>
        <p:nvSpPr>
          <p:cNvPr id="3" name="PostgreSQL can also store JSON.">
            <a:extLst xmlns:a="http://schemas.openxmlformats.org/drawingml/2006/main">
              <a:ext uri="{FF2B5EF4-FFF2-40B4-BE49-F238E27FC236}">
                <a16:creationId xmlns:a16="http://schemas.microsoft.com/office/drawing/2014/main" id="{186D33AC-F770-46E0-BDF0-51505890002F}"/>
              </a:ext>
            </a:extLst>
          </p:cNvPr>
          <p:cNvSpPr>
            <a:spLocks xmlns:a="http://schemas.openxmlformats.org/drawingml/2006/main" noGrp="1"/>
          </p:cNvSpPr>
          <p:nvPr/>
        </p:nvSpPr>
        <p:spPr>
          <a:xfrm xmlns:a="http://schemas.openxmlformats.org/drawingml/2006/main">
            <a:off x="695325" y="1238250"/>
            <a:ext cx="1081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555555"/>
                </a:solidFill>
                <a:latin typeface="Geist"/>
                <a:ea typeface="Geist"/>
                <a:cs typeface="Geist"/>
              </a:defRPr>
            </a:defPPr>
          </a:lstStyle>
          <a:p xmlns:a="http://schemas.openxmlformats.org/drawingml/2006/main">
            <a:pPr algn="l">
              <a:defRPr sz="2325" b="0">
                <a:solidFill>
                  <a:srgbClr val="555555"/>
                </a:solidFill>
                <a:latin typeface="Geist"/>
                <a:ea typeface="Geist"/>
                <a:cs typeface="Geist"/>
              </a:defRPr>
            </a:pPr>
            <a:r>
              <a:rPr sz="2325" b="0">
                <a:solidFill>
                  <a:srgbClr val="555555"/>
                </a:solidFill>
                <a:latin typeface="Geist"/>
                <a:ea typeface="Geist"/>
                <a:cs typeface="Geist"/>
              </a:rPr>
              <a:t>PostgreSQL can also store JSON.</a:t>
            </a:r>
          </a:p>
        </p:txBody>
      </p:sp>
      <p:pic>
        <p:nvPicPr>
          <p:cNvPr id="4" name="">
            <a:extLst xmlns:a="http://schemas.openxmlformats.org/drawingml/2006/main">
              <a:ext uri="{FF2B5EF4-FFF2-40B4-BE49-F238E27FC236}">
                <a16:creationId xmlns:a16="http://schemas.microsoft.com/office/drawing/2014/main" id="{366DC11E-C979-449D-B173-F392C216457B}"/>
              </a:ext>
            </a:extLst>
          </p:cNvPr>
          <p:cNvPicPr>
            <a:picLocks xmlns:a="http://schemas.openxmlformats.org/drawingml/2006/main" noChangeAspect="1"/>
          </p:cNvPicPr>
          <p:nvPr/>
        </p:nvPicPr>
        <p:blipFill>
          <a:blip xmlns:r="http://schemas.openxmlformats.org/officeDocument/2006/relationships" xmlns:a="http://schemas.openxmlformats.org/drawingml/2006/main" r:embed="R4d468a274aa64949">
            <a:extLst>
              <a:ext uri="{96DAC541-7B7A-43D3-8B79-37D633B846F1}">
                <asvg:svgBlip xmlns:asvg="http://schemas.microsoft.com/office/drawing/2016/SVG/main" r:embed="R24a1418e46eb4a92"/>
              </a:ext>
            </a:extLst>
          </a:blip>
          <a:stretch xmlns:a="http://schemas.openxmlformats.org/drawingml/2006/main"/>
        </p:blipFill>
        <p:spPr>
          <a:xfrm xmlns:a="http://schemas.openxmlformats.org/drawingml/2006/main">
            <a:off x="704850" y="2181225"/>
            <a:ext cx="447675" cy="447675"/>
          </a:xfrm>
          <a:prstGeom xmlns:a="http://schemas.openxmlformats.org/drawingml/2006/main" prst="rect">
            <a:avLst/>
          </a:prstGeom>
        </p:spPr>
      </p:pic>
      <p:sp>
        <p:nvSpPr>
          <p:cNvPr id="5" name="MongoDB">
            <a:extLst xmlns:a="http://schemas.openxmlformats.org/drawingml/2006/main">
              <a:ext uri="{FF2B5EF4-FFF2-40B4-BE49-F238E27FC236}">
                <a16:creationId xmlns:a16="http://schemas.microsoft.com/office/drawing/2014/main" id="{FFAC798C-78A0-4F61-A8AE-1B98FED3FECA}"/>
              </a:ext>
            </a:extLst>
          </p:cNvPr>
          <p:cNvSpPr>
            <a:spLocks xmlns:a="http://schemas.openxmlformats.org/drawingml/2006/main" noGrp="1"/>
          </p:cNvSpPr>
          <p:nvPr/>
        </p:nvSpPr>
        <p:spPr>
          <a:xfrm xmlns:a="http://schemas.openxmlformats.org/drawingml/2006/main">
            <a:off x="1371600" y="2200275"/>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11111"/>
                </a:solidFill>
                <a:latin typeface="Geist"/>
                <a:ea typeface="Geist"/>
                <a:cs typeface="Geist"/>
              </a:defRPr>
            </a:defPPr>
          </a:lstStyle>
          <a:p xmlns:a="http://schemas.openxmlformats.org/drawingml/2006/main">
            <a:pPr algn="l">
              <a:defRPr sz="2700" b="1">
                <a:solidFill>
                  <a:srgbClr val="111111"/>
                </a:solidFill>
                <a:latin typeface="Geist"/>
                <a:ea typeface="Geist"/>
                <a:cs typeface="Geist"/>
              </a:defRPr>
            </a:pPr>
            <a:r>
              <a:rPr sz="2700" b="1">
                <a:solidFill>
                  <a:srgbClr val="111111"/>
                </a:solidFill>
                <a:latin typeface="Geist"/>
                <a:ea typeface="Geist"/>
                <a:cs typeface="Geist"/>
              </a:rPr>
              <a:t>MongoDB</a:t>
            </a:r>
          </a:p>
        </p:txBody>
      </p:sp>
      <p:pic>
        <p:nvPicPr>
          <p:cNvPr id="6" name="">
            <a:extLst xmlns:a="http://schemas.openxmlformats.org/drawingml/2006/main">
              <a:ext uri="{FF2B5EF4-FFF2-40B4-BE49-F238E27FC236}">
                <a16:creationId xmlns:a16="http://schemas.microsoft.com/office/drawing/2014/main" id="{8F5A6212-66C7-4571-852B-87C350D7DD06}"/>
              </a:ext>
            </a:extLst>
          </p:cNvPr>
          <p:cNvPicPr>
            <a:picLocks xmlns:a="http://schemas.openxmlformats.org/drawingml/2006/main" noChangeAspect="1"/>
          </p:cNvPicPr>
          <p:nvPr/>
        </p:nvPicPr>
        <p:blipFill>
          <a:blip xmlns:r="http://schemas.openxmlformats.org/officeDocument/2006/relationships" xmlns:a="http://schemas.openxmlformats.org/drawingml/2006/main" r:embed="R41523624caef4793">
            <a:extLst>
              <a:ext uri="{96DAC541-7B7A-43D3-8B79-37D633B846F1}">
                <asvg:svgBlip xmlns:asvg="http://schemas.microsoft.com/office/drawing/2016/SVG/main" r:embed="Rd164fd8c317a4276"/>
              </a:ext>
            </a:extLst>
          </a:blip>
          <a:stretch xmlns:a="http://schemas.openxmlformats.org/drawingml/2006/main"/>
        </p:blipFill>
        <p:spPr>
          <a:xfrm xmlns:a="http://schemas.openxmlformats.org/drawingml/2006/main">
            <a:off x="6867525" y="2181225"/>
            <a:ext cx="447675" cy="447675"/>
          </a:xfrm>
          <a:prstGeom xmlns:a="http://schemas.openxmlformats.org/drawingml/2006/main" prst="rect">
            <a:avLst/>
          </a:prstGeom>
        </p:spPr>
      </p:pic>
      <p:sp>
        <p:nvSpPr>
          <p:cNvPr id="7" name="PostgreSQL">
            <a:extLst xmlns:a="http://schemas.openxmlformats.org/drawingml/2006/main">
              <a:ext uri="{FF2B5EF4-FFF2-40B4-BE49-F238E27FC236}">
                <a16:creationId xmlns:a16="http://schemas.microsoft.com/office/drawing/2014/main" id="{2637E0B1-99F1-488B-B592-8B65D7326B53}"/>
              </a:ext>
            </a:extLst>
          </p:cNvPr>
          <p:cNvSpPr>
            <a:spLocks xmlns:a="http://schemas.openxmlformats.org/drawingml/2006/main" noGrp="1"/>
          </p:cNvSpPr>
          <p:nvPr/>
        </p:nvSpPr>
        <p:spPr>
          <a:xfrm xmlns:a="http://schemas.openxmlformats.org/drawingml/2006/main">
            <a:off x="7534275" y="2200275"/>
            <a:ext cx="3981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11111"/>
                </a:solidFill>
                <a:latin typeface="Geist"/>
                <a:ea typeface="Geist"/>
                <a:cs typeface="Geist"/>
              </a:defRPr>
            </a:defPPr>
          </a:lstStyle>
          <a:p xmlns:a="http://schemas.openxmlformats.org/drawingml/2006/main">
            <a:pPr algn="l">
              <a:defRPr sz="2700" b="1">
                <a:solidFill>
                  <a:srgbClr val="111111"/>
                </a:solidFill>
                <a:latin typeface="Geist"/>
                <a:ea typeface="Geist"/>
                <a:cs typeface="Geist"/>
              </a:defRPr>
            </a:pPr>
            <a:r>
              <a:rPr sz="2700" b="1">
                <a:solidFill>
                  <a:srgbClr val="111111"/>
                </a:solidFill>
                <a:latin typeface="Geist"/>
                <a:ea typeface="Geist"/>
                <a:cs typeface="Geist"/>
              </a:rPr>
              <a:t>PostgreSQL</a:t>
            </a:r>
          </a:p>
        </p:txBody>
      </p:sp>
      <p:sp>
        <p:nvSpPr>
          <p:cNvPr id="8" name="Social documents">
            <a:extLst xmlns:a="http://schemas.openxmlformats.org/drawingml/2006/main">
              <a:ext uri="{FF2B5EF4-FFF2-40B4-BE49-F238E27FC236}">
                <a16:creationId xmlns:a16="http://schemas.microsoft.com/office/drawing/2014/main" id="{45CE1DE8-D420-4349-AE04-3CFD6C3BCCB7}"/>
              </a:ext>
            </a:extLst>
          </p:cNvPr>
          <p:cNvSpPr>
            <a:spLocks xmlns:a="http://schemas.openxmlformats.org/drawingml/2006/main" noGrp="1"/>
          </p:cNvSpPr>
          <p:nvPr/>
        </p:nvSpPr>
        <p:spPr>
          <a:xfrm xmlns:a="http://schemas.openxmlformats.org/drawingml/2006/main">
            <a:off x="704850" y="29622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Social documents</a:t>
            </a:r>
          </a:p>
        </p:txBody>
      </p:sp>
      <p:sp>
        <p:nvSpPr>
          <p:cNvPr id="9" name="Relational analytics">
            <a:extLst xmlns:a="http://schemas.openxmlformats.org/drawingml/2006/main">
              <a:ext uri="{FF2B5EF4-FFF2-40B4-BE49-F238E27FC236}">
                <a16:creationId xmlns:a16="http://schemas.microsoft.com/office/drawing/2014/main" id="{3A393742-4E34-46E3-A85B-A086448FEE3C}"/>
              </a:ext>
            </a:extLst>
          </p:cNvPr>
          <p:cNvSpPr>
            <a:spLocks xmlns:a="http://schemas.openxmlformats.org/drawingml/2006/main" noGrp="1"/>
          </p:cNvSpPr>
          <p:nvPr/>
        </p:nvSpPr>
        <p:spPr>
          <a:xfrm xmlns:a="http://schemas.openxmlformats.org/drawingml/2006/main">
            <a:off x="6877050" y="2962275"/>
            <a:ext cx="4629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Relational analytics</a:t>
            </a:r>
          </a:p>
        </p:txBody>
      </p:sp>
      <p:sp>
        <p:nvSpPr>
          <p:cNvPr id="10" name="Platform-specific fields&#10;Post and comment details&#10;Reaction observation">
            <a:extLst xmlns:a="http://schemas.openxmlformats.org/drawingml/2006/main">
              <a:ext uri="{FF2B5EF4-FFF2-40B4-BE49-F238E27FC236}">
                <a16:creationId xmlns:a16="http://schemas.microsoft.com/office/drawing/2014/main" id="{C7A39177-B8EA-4EDF-8DC1-2AC7A023D40C}"/>
              </a:ext>
            </a:extLst>
          </p:cNvPr>
          <p:cNvSpPr>
            <a:spLocks xmlns:a="http://schemas.openxmlformats.org/drawingml/2006/main" noGrp="1"/>
          </p:cNvSpPr>
          <p:nvPr/>
        </p:nvSpPr>
        <p:spPr>
          <a:xfrm xmlns:a="http://schemas.openxmlformats.org/drawingml/2006/main">
            <a:off x="704850" y="3543300"/>
            <a:ext cx="4953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55555"/>
                </a:solidFill>
                <a:latin typeface="Geist"/>
                <a:ea typeface="Geist"/>
                <a:cs typeface="Geist"/>
              </a:defRPr>
            </a:defPPr>
          </a:lstStyle>
          <a:p xmlns:a="http://schemas.openxmlformats.org/drawingml/2006/main">
            <a:pPr algn="l">
              <a:defRPr sz="2025" b="0">
                <a:solidFill>
                  <a:srgbClr val="555555"/>
                </a:solidFill>
                <a:latin typeface="Geist"/>
                <a:ea typeface="Geist"/>
                <a:cs typeface="Geist"/>
              </a:defRPr>
            </a:pPr>
            <a:r>
              <a:rPr sz="2025" b="0">
                <a:solidFill>
                  <a:srgbClr val="555555"/>
                </a:solidFill>
                <a:latin typeface="Geist"/>
                <a:ea typeface="Geist"/>
                <a:cs typeface="Geist"/>
              </a:rPr>
              <a:t>Platform-specific fields</a:t>
            </a:r>
          </a:p>
          <a:p xmlns:a="http://schemas.openxmlformats.org/drawingml/2006/main">
            <a:pPr algn="l">
              <a:defRPr sz="2025" b="0">
                <a:solidFill>
                  <a:srgbClr val="555555"/>
                </a:solidFill>
                <a:latin typeface="Geist"/>
                <a:ea typeface="Geist"/>
                <a:cs typeface="Geist"/>
              </a:defRPr>
            </a:pPr>
            <a:r>
              <a:rPr sz="2025" b="0">
                <a:solidFill>
                  <a:srgbClr val="555555"/>
                </a:solidFill>
                <a:latin typeface="Geist"/>
                <a:ea typeface="Geist"/>
                <a:cs typeface="Geist"/>
              </a:rPr>
              <a:t>Post and comment details</a:t>
            </a:r>
          </a:p>
          <a:p xmlns:a="http://schemas.openxmlformats.org/drawingml/2006/main">
            <a:pPr algn="l">
              <a:defRPr sz="2025" b="0">
                <a:solidFill>
                  <a:srgbClr val="555555"/>
                </a:solidFill>
                <a:latin typeface="Geist"/>
                <a:ea typeface="Geist"/>
                <a:cs typeface="Geist"/>
              </a:defRPr>
            </a:pPr>
            <a:r>
              <a:rPr sz="2025" b="0">
                <a:solidFill>
                  <a:srgbClr val="555555"/>
                </a:solidFill>
                <a:latin typeface="Geist"/>
                <a:ea typeface="Geist"/>
                <a:cs typeface="Geist"/>
              </a:rPr>
              <a:t>Reaction observations</a:t>
            </a:r>
          </a:p>
        </p:txBody>
      </p:sp>
      <p:sp>
        <p:nvSpPr>
          <p:cNvPr id="11" name="Keys and constraints&#10;Prices and daily features&#10;SQL joins and aggregati">
            <a:extLst xmlns:a="http://schemas.openxmlformats.org/drawingml/2006/main">
              <a:ext uri="{FF2B5EF4-FFF2-40B4-BE49-F238E27FC236}">
                <a16:creationId xmlns:a16="http://schemas.microsoft.com/office/drawing/2014/main" id="{2958691D-66AA-4DC9-82FF-AD99BB54F343}"/>
              </a:ext>
            </a:extLst>
          </p:cNvPr>
          <p:cNvSpPr>
            <a:spLocks xmlns:a="http://schemas.openxmlformats.org/drawingml/2006/main" noGrp="1"/>
          </p:cNvSpPr>
          <p:nvPr/>
        </p:nvSpPr>
        <p:spPr>
          <a:xfrm xmlns:a="http://schemas.openxmlformats.org/drawingml/2006/main">
            <a:off x="6877050" y="3543300"/>
            <a:ext cx="46291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55555"/>
                </a:solidFill>
                <a:latin typeface="Geist"/>
                <a:ea typeface="Geist"/>
                <a:cs typeface="Geist"/>
              </a:defRPr>
            </a:defPPr>
          </a:lstStyle>
          <a:p xmlns:a="http://schemas.openxmlformats.org/drawingml/2006/main">
            <a:pPr algn="l">
              <a:defRPr sz="2025" b="0">
                <a:solidFill>
                  <a:srgbClr val="555555"/>
                </a:solidFill>
                <a:latin typeface="Geist"/>
                <a:ea typeface="Geist"/>
                <a:cs typeface="Geist"/>
              </a:defRPr>
            </a:pPr>
            <a:r>
              <a:rPr sz="2025" b="0">
                <a:solidFill>
                  <a:srgbClr val="555555"/>
                </a:solidFill>
                <a:latin typeface="Geist"/>
                <a:ea typeface="Geist"/>
                <a:cs typeface="Geist"/>
              </a:rPr>
              <a:t>Keys and constraints</a:t>
            </a:r>
          </a:p>
          <a:p xmlns:a="http://schemas.openxmlformats.org/drawingml/2006/main">
            <a:pPr algn="l">
              <a:defRPr sz="2025" b="0">
                <a:solidFill>
                  <a:srgbClr val="555555"/>
                </a:solidFill>
                <a:latin typeface="Geist"/>
                <a:ea typeface="Geist"/>
                <a:cs typeface="Geist"/>
              </a:defRPr>
            </a:pPr>
            <a:r>
              <a:rPr sz="2025" b="0">
                <a:solidFill>
                  <a:srgbClr val="555555"/>
                </a:solidFill>
                <a:latin typeface="Geist"/>
                <a:ea typeface="Geist"/>
                <a:cs typeface="Geist"/>
              </a:rPr>
              <a:t>Prices and daily features</a:t>
            </a:r>
          </a:p>
          <a:p xmlns:a="http://schemas.openxmlformats.org/drawingml/2006/main">
            <a:pPr algn="l">
              <a:defRPr sz="2025" b="0">
                <a:solidFill>
                  <a:srgbClr val="555555"/>
                </a:solidFill>
                <a:latin typeface="Geist"/>
                <a:ea typeface="Geist"/>
                <a:cs typeface="Geist"/>
              </a:defRPr>
            </a:pPr>
            <a:r>
              <a:rPr sz="2025" b="0">
                <a:solidFill>
                  <a:srgbClr val="555555"/>
                </a:solidFill>
                <a:latin typeface="Geist"/>
                <a:ea typeface="Geist"/>
                <a:cs typeface="Geist"/>
              </a:rPr>
              <a:t>SQL joins and aggregation</a:t>
            </a:r>
          </a:p>
        </p:txBody>
      </p:sp>
      <p:cxnSp>
        <p:nvCxnSpPr>
          <p:cNvPr id="12" name="Batch data flow">
            <a:extLst xmlns:a="http://schemas.openxmlformats.org/drawingml/2006/main">
              <a:ext uri="{FF2B5EF4-FFF2-40B4-BE49-F238E27FC236}">
                <a16:creationId xmlns:a16="http://schemas.microsoft.com/office/drawing/2014/main" id="{7D598786-1006-4E3C-A75A-92AEE9EB43EB}"/>
              </a:ext>
            </a:extLst>
          </p:cNvPr>
          <p:cNvCxnSpPr/>
          <p:nvPr/>
        </p:nvCxnSpPr>
        <p:spPr>
          <a:xfrm xmlns:a="http://schemas.openxmlformats.org/drawingml/2006/main">
            <a:off x="685800" y="5143500"/>
            <a:ext cx="10820400" cy="0"/>
          </a:xfrm>
          <a:prstGeom xmlns:a="http://schemas.openxmlformats.org/drawingml/2006/main" prst="straightConnector1">
            <a:avLst/>
          </a:prstGeom>
          <a:ln xmlns:a="http://schemas.openxmlformats.org/drawingml/2006/main" w="9525">
            <a:solidFill>
              <a:srgbClr val="D5D5D5"/>
            </a:solidFill>
            <a:prstDash val="solid"/>
          </a:ln>
        </p:spPr>
      </p:cxnSp>
      <p:sp>
        <p:nvSpPr>
          <p:cNvPr id="13" name="Document model → ETL → relational model">
            <a:extLst xmlns:a="http://schemas.openxmlformats.org/drawingml/2006/main">
              <a:ext uri="{FF2B5EF4-FFF2-40B4-BE49-F238E27FC236}">
                <a16:creationId xmlns:a16="http://schemas.microsoft.com/office/drawing/2014/main" id="{1D3558F7-D127-47EF-9B06-5BE1CFD1CE2A}"/>
              </a:ext>
            </a:extLst>
          </p:cNvPr>
          <p:cNvSpPr>
            <a:spLocks xmlns:a="http://schemas.openxmlformats.org/drawingml/2006/main" noGrp="1"/>
          </p:cNvSpPr>
          <p:nvPr/>
        </p:nvSpPr>
        <p:spPr>
          <a:xfrm xmlns:a="http://schemas.openxmlformats.org/drawingml/2006/main">
            <a:off x="704850" y="5372100"/>
            <a:ext cx="108013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A61955"/>
                </a:solidFill>
                <a:latin typeface="Geist"/>
                <a:ea typeface="Geist"/>
                <a:cs typeface="Geist"/>
              </a:defRPr>
            </a:defPPr>
          </a:lstStyle>
          <a:p xmlns:a="http://schemas.openxmlformats.org/drawingml/2006/main">
            <a:pPr algn="l">
              <a:defRPr sz="2400" b="1">
                <a:solidFill>
                  <a:srgbClr val="A61955"/>
                </a:solidFill>
                <a:latin typeface="Geist"/>
                <a:ea typeface="Geist"/>
                <a:cs typeface="Geist"/>
              </a:defRPr>
            </a:pPr>
            <a:r>
              <a:rPr sz="2400" b="1">
                <a:solidFill>
                  <a:srgbClr val="A61955"/>
                </a:solidFill>
                <a:latin typeface="Geist"/>
                <a:ea typeface="Geist"/>
                <a:cs typeface="Geist"/>
              </a:rPr>
              <a:t>Document model → ETL → relational model</a:t>
            </a:r>
          </a:p>
        </p:txBody>
      </p:sp>
      <p:sp>
        <p:nvSpPr>
          <p:cNvPr id="14" name="Model both SQL and NoSQL; keep social documents separate from analytic">
            <a:extLst xmlns:a="http://schemas.openxmlformats.org/drawingml/2006/main">
              <a:ext uri="{FF2B5EF4-FFF2-40B4-BE49-F238E27FC236}">
                <a16:creationId xmlns:a16="http://schemas.microsoft.com/office/drawing/2014/main" id="{E6F4A8BA-978B-4522-AB24-548E48E4D014}"/>
              </a:ext>
            </a:extLst>
          </p:cNvPr>
          <p:cNvSpPr>
            <a:spLocks xmlns:a="http://schemas.openxmlformats.org/drawingml/2006/main" noGrp="1"/>
          </p:cNvSpPr>
          <p:nvPr/>
        </p:nvSpPr>
        <p:spPr>
          <a:xfrm xmlns:a="http://schemas.openxmlformats.org/drawingml/2006/main">
            <a:off x="704850" y="58864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1111"/>
                </a:solidFill>
                <a:latin typeface="Geist"/>
                <a:ea typeface="Geist"/>
                <a:cs typeface="Geist"/>
              </a:defRPr>
            </a:defPPr>
          </a:lstStyle>
          <a:p xmlns:a="http://schemas.openxmlformats.org/drawingml/2006/main">
            <a:pPr algn="l">
              <a:defRPr sz="1725" b="0">
                <a:solidFill>
                  <a:srgbClr val="111111"/>
                </a:solidFill>
                <a:latin typeface="Geist"/>
                <a:ea typeface="Geist"/>
                <a:cs typeface="Geist"/>
              </a:defRPr>
            </a:pPr>
            <a:r>
              <a:rPr sz="1725" b="0">
                <a:solidFill>
                  <a:srgbClr val="111111"/>
                </a:solidFill>
                <a:latin typeface="Geist"/>
                <a:ea typeface="Geist"/>
                <a:cs typeface="Geist"/>
              </a:rPr>
              <a:t>Model both SQL and NoSQL; keep social documents separate from analytical tables.</a:t>
            </a:r>
          </a:p>
        </p:txBody>
      </p:sp>
      <p:sp>
        <p:nvSpPr>
          <p:cNvPr id="15" name="Trade-off: two databases, indexes, backups and consistency checks.">
            <a:extLst xmlns:a="http://schemas.openxmlformats.org/drawingml/2006/main">
              <a:ext uri="{FF2B5EF4-FFF2-40B4-BE49-F238E27FC236}">
                <a16:creationId xmlns:a16="http://schemas.microsoft.com/office/drawing/2014/main" id="{43825BC2-D214-44B6-87BF-87FBCA011C5C}"/>
              </a:ext>
            </a:extLst>
          </p:cNvPr>
          <p:cNvSpPr>
            <a:spLocks xmlns:a="http://schemas.openxmlformats.org/drawingml/2006/main" noGrp="1"/>
          </p:cNvSpPr>
          <p:nvPr/>
        </p:nvSpPr>
        <p:spPr>
          <a:xfrm xmlns:a="http://schemas.openxmlformats.org/drawingml/2006/main">
            <a:off x="685800" y="63341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defRPr sz="1163" b="0">
                <a:solidFill>
                  <a:srgbClr val="555555"/>
                </a:solidFill>
                <a:latin typeface="Geist"/>
                <a:ea typeface="Geist"/>
                <a:cs typeface="Geist"/>
              </a:defRPr>
            </a:pPr>
            <a:r>
              <a:rPr sz="1163" b="0">
                <a:solidFill>
                  <a:srgbClr val="555555"/>
                </a:solidFill>
                <a:latin typeface="Geist"/>
                <a:ea typeface="Geist"/>
                <a:cs typeface="Geist"/>
              </a:rPr>
              <a:t>Trade-off: two databases, indexes, backups and consistency checks.</a:t>
            </a:r>
          </a:p>
        </p:txBody>
      </p:sp>
    </p:spTree>
    <p:extLst>
      <p:ext uri="{BB962C8B-B14F-4D97-AF65-F5344CB8AC3E}">
        <p14:creationId xmlns:p14="http://schemas.microsoft.com/office/powerpoint/2010/main" val="19325503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Dashboard &amp; expected outcome">
            <a:extLst xmlns:a="http://schemas.openxmlformats.org/drawingml/2006/main">
              <a:ext uri="{FF2B5EF4-FFF2-40B4-BE49-F238E27FC236}">
                <a16:creationId xmlns:a16="http://schemas.microsoft.com/office/drawing/2014/main" id="{AE26A3EB-C5B9-47F8-B0E2-4E39EEB195D3}"/>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Dashboard &amp; expected outcome</a:t>
            </a:r>
          </a:p>
        </p:txBody>
      </p:sp>
      <p:sp>
        <p:nvSpPr>
          <p:cNvPr id="2" name="08">
            <a:extLst xmlns:a="http://schemas.openxmlformats.org/drawingml/2006/main">
              <a:ext uri="{FF2B5EF4-FFF2-40B4-BE49-F238E27FC236}">
                <a16:creationId xmlns:a16="http://schemas.microsoft.com/office/drawing/2014/main" id="{6DBAFD44-984F-4E98-AD90-5B5D90EFD35F}"/>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08</a:t>
            </a:r>
          </a:p>
        </p:txBody>
      </p:sp>
      <p:sp>
        <p:nvSpPr>
          <p:cNvPr id="14" name="Dashboard concept frame">
            <a:extLst xmlns:a="http://schemas.openxmlformats.org/drawingml/2006/main">
              <a:ext uri="{FF2B5EF4-FFF2-40B4-BE49-F238E27FC236}">
                <a16:creationId xmlns:a16="http://schemas.microsoft.com/office/drawing/2014/main" id="{7C0C1A00-75C3-4ED0-BD89-2D67CC41C190}"/>
              </a:ext>
            </a:extLst>
          </p:cNvPr>
          <p:cNvSpPr>
            <a:spLocks xmlns:a="http://schemas.openxmlformats.org/drawingml/2006/main" noGrp="1"/>
          </p:cNvSpPr>
          <p:nvPr/>
        </p:nvSpPr>
        <p:spPr>
          <a:xfrm xmlns:a="http://schemas.openxmlformats.org/drawingml/2006/main">
            <a:off x="685800" y="2219325"/>
            <a:ext cx="10820400" cy="3343275"/>
          </a:xfrm>
          <a:prstGeom xmlns:a="http://schemas.openxmlformats.org/drawingml/2006/main" prst="roundRect">
            <a:avLst>
              <a:gd name="adj" fmla="val 2279"/>
            </a:avLst>
          </a:prstGeom>
          <a:solidFill xmlns:a="http://schemas.openxmlformats.org/drawingml/2006/main">
            <a:srgbClr val="FFFFFF"/>
          </a:solidFill>
          <a:ln xmlns:a="http://schemas.openxmlformats.org/drawingml/2006/main" w="9525">
            <a:solidFill>
              <a:srgbClr val="DDDDDD"/>
            </a:solidFill>
          </a:ln>
        </p:spPr>
      </p:sp>
      <p:sp>
        <p:nvSpPr>
          <p:cNvPr id="15" name="DOGE">
            <a:extLst xmlns:a="http://schemas.openxmlformats.org/drawingml/2006/main">
              <a:ext uri="{FF2B5EF4-FFF2-40B4-BE49-F238E27FC236}">
                <a16:creationId xmlns:a16="http://schemas.microsoft.com/office/drawing/2014/main" id="{31B496C4-70B9-4443-9124-1FFC0DD724F5}"/>
              </a:ext>
            </a:extLst>
          </p:cNvPr>
          <p:cNvSpPr>
            <a:spLocks xmlns:a="http://schemas.openxmlformats.org/drawingml/2006/main" noGrp="1"/>
          </p:cNvSpPr>
          <p:nvPr/>
        </p:nvSpPr>
        <p:spPr>
          <a:xfrm xmlns:a="http://schemas.openxmlformats.org/drawingml/2006/main">
            <a:off x="923925" y="239077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buNone/>
              <a:defRPr sz="1950" b="1">
                <a:solidFill>
                  <a:srgbClr val="111111"/>
                </a:solidFill>
                <a:latin typeface="Geist"/>
                <a:ea typeface="Geist"/>
                <a:cs typeface="Geist"/>
              </a:defRPr>
            </a:pPr>
            <a:r>
              <a:rPr sz="1950" b="1">
                <a:solidFill>
                  <a:srgbClr val="111111"/>
                </a:solidFill>
                <a:latin typeface="Geist"/>
                <a:ea typeface="Geist"/>
                <a:cs typeface="Geist"/>
              </a:rPr>
              <a:t>DOGE</a:t>
            </a:r>
          </a:p>
        </p:txBody>
      </p:sp>
      <p:sp>
        <p:nvSpPr>
          <p:cNvPr id="16" name="2026 Q3">
            <a:extLst xmlns:a="http://schemas.openxmlformats.org/drawingml/2006/main">
              <a:ext uri="{FF2B5EF4-FFF2-40B4-BE49-F238E27FC236}">
                <a16:creationId xmlns:a16="http://schemas.microsoft.com/office/drawing/2014/main" id="{088A0E8D-248E-4AA2-8115-175CDD4E4163}"/>
              </a:ext>
            </a:extLst>
          </p:cNvPr>
          <p:cNvSpPr>
            <a:spLocks xmlns:a="http://schemas.openxmlformats.org/drawingml/2006/main" noGrp="1"/>
          </p:cNvSpPr>
          <p:nvPr/>
        </p:nvSpPr>
        <p:spPr>
          <a:xfrm xmlns:a="http://schemas.openxmlformats.org/drawingml/2006/main">
            <a:off x="2724150" y="2428875"/>
            <a:ext cx="3000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Mono"/>
                <a:ea typeface="Geist Mono"/>
                <a:cs typeface="Geist Mono"/>
              </a:defRPr>
            </a:defPPr>
          </a:lstStyle>
          <a:p xmlns:a="http://schemas.openxmlformats.org/drawingml/2006/main">
            <a:pPr algn="l">
              <a:buNone/>
              <a:defRPr sz="1650" b="0">
                <a:solidFill>
                  <a:srgbClr val="555555"/>
                </a:solidFill>
                <a:latin typeface="Geist Mono"/>
                <a:ea typeface="Geist Mono"/>
                <a:cs typeface="Geist Mono"/>
              </a:defRPr>
            </a:pPr>
            <a:r>
              <a:rPr sz="1650" b="0">
                <a:solidFill>
                  <a:srgbClr val="555555"/>
                </a:solidFill>
                <a:latin typeface="Geist Mono"/>
                <a:ea typeface="Geist Mono"/>
                <a:cs typeface="Geist Mono"/>
              </a:rPr>
              <a:t>2026 Q3</a:t>
            </a:r>
          </a:p>
        </p:txBody>
      </p:sp>
      <p:sp>
        <p:nvSpPr>
          <p:cNvPr id="17" name="Concept preview">
            <a:extLst xmlns:a="http://schemas.openxmlformats.org/drawingml/2006/main">
              <a:ext uri="{FF2B5EF4-FFF2-40B4-BE49-F238E27FC236}">
                <a16:creationId xmlns:a16="http://schemas.microsoft.com/office/drawing/2014/main" id="{71731F0B-01D1-42C0-ABA5-A711B5FA40A8}"/>
              </a:ext>
            </a:extLst>
          </p:cNvPr>
          <p:cNvSpPr>
            <a:spLocks xmlns:a="http://schemas.openxmlformats.org/drawingml/2006/main" noGrp="1"/>
          </p:cNvSpPr>
          <p:nvPr/>
        </p:nvSpPr>
        <p:spPr>
          <a:xfrm xmlns:a="http://schemas.openxmlformats.org/drawingml/2006/main">
            <a:off x="8601075" y="2438400"/>
            <a:ext cx="2647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55555"/>
                </a:solidFill>
                <a:latin typeface="Geist Mono"/>
                <a:ea typeface="Geist Mono"/>
                <a:cs typeface="Geist Mono"/>
              </a:defRPr>
            </a:defPPr>
          </a:lstStyle>
          <a:p xmlns:a="http://schemas.openxmlformats.org/drawingml/2006/main">
            <a:pPr algn="r">
              <a:buNone/>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Concept preview</a:t>
            </a:r>
          </a:p>
        </p:txBody>
      </p:sp>
      <p:graphicFrame>
        <p:nvGraphicFramePr>
          <p:cNvPr id="18" name="Chart">
            <a:extLst xmlns:a="http://schemas.openxmlformats.org/drawingml/2006/main">
              <a:ext uri="{FF2B5EF4-FFF2-40B4-BE49-F238E27FC236}">
                <a16:creationId xmlns:a16="http://schemas.microsoft.com/office/drawing/2014/main" id="{817E881C-4521-4918-A65D-2A661EF24FE3}"/>
              </a:ext>
            </a:extLst>
          </p:cNvPr>
          <p:cNvGraphicFramePr/>
          <p:nvPr/>
        </p:nvGraphicFramePr>
        <p:xfrm>
          <a:off xmlns:a="http://schemas.openxmlformats.org/drawingml/2006/main" x="885825" y="2981325"/>
          <a:ext xmlns:a="http://schemas.openxmlformats.org/drawingml/2006/main" cx="6238875" cy="2266950"/>
        </p:xfrm>
        <a:graphic xmlns:a="http://schemas.openxmlformats.org/drawingml/2006/main">
          <a:graphicData uri="http://schemas.openxmlformats.org/drawingml/2006/chart">
            <c:chart xmlns:r="http://schemas.openxmlformats.org/officeDocument/2006/relationships" xmlns:c="http://schemas.openxmlformats.org/drawingml/2006/chart" r:id="Rdb174c75d24a483c"/>
          </a:graphicData>
        </a:graphic>
      </p:graphicFrame>
      <p:sp>
        <p:nvSpPr>
          <p:cNvPr id="19" name="Social activity">
            <a:extLst xmlns:a="http://schemas.openxmlformats.org/drawingml/2006/main">
              <a:ext uri="{FF2B5EF4-FFF2-40B4-BE49-F238E27FC236}">
                <a16:creationId xmlns:a16="http://schemas.microsoft.com/office/drawing/2014/main" id="{4CB20277-C7E0-4E0E-891C-B1C43ED7901F}"/>
              </a:ext>
            </a:extLst>
          </p:cNvPr>
          <p:cNvSpPr>
            <a:spLocks xmlns:a="http://schemas.openxmlformats.org/drawingml/2006/main" noGrp="1"/>
          </p:cNvSpPr>
          <p:nvPr/>
        </p:nvSpPr>
        <p:spPr>
          <a:xfrm xmlns:a="http://schemas.openxmlformats.org/drawingml/2006/main">
            <a:off x="7781925" y="3095625"/>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buNone/>
              <a:defRPr sz="2175" b="1">
                <a:solidFill>
                  <a:srgbClr val="111111"/>
                </a:solidFill>
                <a:latin typeface="Geist"/>
                <a:ea typeface="Geist"/>
                <a:cs typeface="Geist"/>
              </a:defRPr>
            </a:pPr>
            <a:r>
              <a:rPr sz="2175" b="1">
                <a:solidFill>
                  <a:srgbClr val="111111"/>
                </a:solidFill>
                <a:latin typeface="Geist"/>
                <a:ea typeface="Geist"/>
                <a:cs typeface="Geist"/>
              </a:rPr>
              <a:t>Social activity</a:t>
            </a:r>
          </a:p>
        </p:txBody>
      </p:sp>
      <p:sp>
        <p:nvSpPr>
          <p:cNvPr id="20" name="Awaiting eligible&#10;collection">
            <a:extLst xmlns:a="http://schemas.openxmlformats.org/drawingml/2006/main">
              <a:ext uri="{FF2B5EF4-FFF2-40B4-BE49-F238E27FC236}">
                <a16:creationId xmlns:a16="http://schemas.microsoft.com/office/drawing/2014/main" id="{A2883691-27C8-47DE-A353-9151B00F49B9}"/>
              </a:ext>
            </a:extLst>
          </p:cNvPr>
          <p:cNvSpPr>
            <a:spLocks xmlns:a="http://schemas.openxmlformats.org/drawingml/2006/main" noGrp="1"/>
          </p:cNvSpPr>
          <p:nvPr/>
        </p:nvSpPr>
        <p:spPr>
          <a:xfrm xmlns:a="http://schemas.openxmlformats.org/drawingml/2006/main">
            <a:off x="7791450" y="3695700"/>
            <a:ext cx="3362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55555"/>
                </a:solidFill>
                <a:latin typeface="Geist"/>
                <a:ea typeface="Geist"/>
                <a:cs typeface="Geist"/>
              </a:defRPr>
            </a:defPPr>
          </a:lstStyle>
          <a:p xmlns:a="http://schemas.openxmlformats.org/drawingml/2006/main">
            <a:pPr algn="l">
              <a:buNone/>
              <a:defRPr sz="2250" b="0">
                <a:solidFill>
                  <a:srgbClr val="555555"/>
                </a:solidFill>
                <a:latin typeface="Geist"/>
                <a:ea typeface="Geist"/>
                <a:cs typeface="Geist"/>
              </a:defRPr>
            </a:pPr>
            <a:r>
              <a:rPr sz="2250" b="0">
                <a:solidFill>
                  <a:srgbClr val="555555"/>
                </a:solidFill>
                <a:latin typeface="Geist"/>
                <a:ea typeface="Geist"/>
                <a:cs typeface="Geist"/>
              </a:rPr>
              <a:t>Awaiting eligible</a:t>
            </a:r>
          </a:p>
          <a:p xmlns:a="http://schemas.openxmlformats.org/drawingml/2006/main">
            <a:pPr algn="l">
              <a:buNone/>
              <a:defRPr sz="2250" b="0">
                <a:solidFill>
                  <a:srgbClr val="555555"/>
                </a:solidFill>
                <a:latin typeface="Geist"/>
                <a:ea typeface="Geist"/>
                <a:cs typeface="Geist"/>
              </a:defRPr>
            </a:pPr>
            <a:r>
              <a:rPr sz="2250" b="0">
                <a:solidFill>
                  <a:srgbClr val="555555"/>
                </a:solidFill>
                <a:latin typeface="Geist"/>
                <a:ea typeface="Geist"/>
                <a:cs typeface="Geist"/>
              </a:rPr>
              <a:t>collection</a:t>
            </a:r>
          </a:p>
        </p:txBody>
      </p:sp>
      <p:sp>
        <p:nvSpPr>
          <p:cNvPr id="21" name="Coverage: unavailable">
            <a:extLst xmlns:a="http://schemas.openxmlformats.org/drawingml/2006/main">
              <a:ext uri="{FF2B5EF4-FFF2-40B4-BE49-F238E27FC236}">
                <a16:creationId xmlns:a16="http://schemas.microsoft.com/office/drawing/2014/main" id="{108A9B05-CA04-487C-95B6-AA1010F39EA0}"/>
              </a:ext>
            </a:extLst>
          </p:cNvPr>
          <p:cNvSpPr>
            <a:spLocks xmlns:a="http://schemas.openxmlformats.org/drawingml/2006/main" noGrp="1"/>
          </p:cNvSpPr>
          <p:nvPr/>
        </p:nvSpPr>
        <p:spPr>
          <a:xfrm xmlns:a="http://schemas.openxmlformats.org/drawingml/2006/main">
            <a:off x="7791450" y="4857750"/>
            <a:ext cx="3362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61955"/>
                </a:solidFill>
                <a:latin typeface="Geist Mono"/>
                <a:ea typeface="Geist Mono"/>
                <a:cs typeface="Geist Mono"/>
              </a:defRPr>
            </a:defPPr>
          </a:lstStyle>
          <a:p xmlns:a="http://schemas.openxmlformats.org/drawingml/2006/main">
            <a:pPr algn="l">
              <a:buNone/>
              <a:defRPr sz="1425" b="0">
                <a:solidFill>
                  <a:srgbClr val="A61955"/>
                </a:solidFill>
                <a:latin typeface="Geist Mono"/>
                <a:ea typeface="Geist Mono"/>
                <a:cs typeface="Geist Mono"/>
              </a:defRPr>
            </a:pPr>
            <a:r>
              <a:rPr sz="1425" b="0">
                <a:solidFill>
                  <a:srgbClr val="A61955"/>
                </a:solidFill>
                <a:latin typeface="Geist Mono"/>
                <a:ea typeface="Geist Mono"/>
                <a:cs typeface="Geist Mono"/>
              </a:rPr>
              <a:t>Coverage: unavailable</a:t>
            </a:r>
          </a:p>
        </p:txBody>
      </p:sp>
      <p:sp>
        <p:nvSpPr>
          <p:cNvPr id="22" name="Compare time series">
            <a:extLst xmlns:a="http://schemas.openxmlformats.org/drawingml/2006/main">
              <a:ext uri="{FF2B5EF4-FFF2-40B4-BE49-F238E27FC236}">
                <a16:creationId xmlns:a16="http://schemas.microsoft.com/office/drawing/2014/main" id="{255AF873-2348-4E1E-853D-9C1002580464}"/>
              </a:ext>
            </a:extLst>
          </p:cNvPr>
          <p:cNvSpPr>
            <a:spLocks xmlns:a="http://schemas.openxmlformats.org/drawingml/2006/main" noGrp="1"/>
          </p:cNvSpPr>
          <p:nvPr/>
        </p:nvSpPr>
        <p:spPr>
          <a:xfrm xmlns:a="http://schemas.openxmlformats.org/drawingml/2006/main">
            <a:off x="704850" y="5810250"/>
            <a:ext cx="3533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buNone/>
              <a:defRPr sz="1950" b="1">
                <a:solidFill>
                  <a:srgbClr val="111111"/>
                </a:solidFill>
                <a:latin typeface="Geist"/>
                <a:ea typeface="Geist"/>
                <a:cs typeface="Geist"/>
              </a:defRPr>
            </a:pPr>
            <a:r>
              <a:rPr sz="1950" b="1">
                <a:solidFill>
                  <a:srgbClr val="111111"/>
                </a:solidFill>
                <a:latin typeface="Geist"/>
                <a:ea typeface="Geist"/>
                <a:cs typeface="Geist"/>
              </a:rPr>
              <a:t>Compare time series</a:t>
            </a:r>
          </a:p>
        </p:txBody>
      </p:sp>
      <p:sp>
        <p:nvSpPr>
          <p:cNvPr id="23" name="Inspect posts">
            <a:extLst xmlns:a="http://schemas.openxmlformats.org/drawingml/2006/main">
              <a:ext uri="{FF2B5EF4-FFF2-40B4-BE49-F238E27FC236}">
                <a16:creationId xmlns:a16="http://schemas.microsoft.com/office/drawing/2014/main" id="{C4764674-2240-4F8C-826E-029B03C7984A}"/>
              </a:ext>
            </a:extLst>
          </p:cNvPr>
          <p:cNvSpPr>
            <a:spLocks xmlns:a="http://schemas.openxmlformats.org/drawingml/2006/main" noGrp="1"/>
          </p:cNvSpPr>
          <p:nvPr/>
        </p:nvSpPr>
        <p:spPr>
          <a:xfrm xmlns:a="http://schemas.openxmlformats.org/drawingml/2006/main">
            <a:off x="4572000" y="5810250"/>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buNone/>
              <a:defRPr sz="1950" b="1">
                <a:solidFill>
                  <a:srgbClr val="111111"/>
                </a:solidFill>
                <a:latin typeface="Geist"/>
                <a:ea typeface="Geist"/>
                <a:cs typeface="Geist"/>
              </a:defRPr>
            </a:pPr>
            <a:r>
              <a:rPr sz="1950" b="1">
                <a:solidFill>
                  <a:srgbClr val="111111"/>
                </a:solidFill>
                <a:latin typeface="Geist"/>
                <a:ea typeface="Geist"/>
                <a:cs typeface="Geist"/>
              </a:rPr>
              <a:t>Inspect posts</a:t>
            </a:r>
          </a:p>
        </p:txBody>
      </p:sp>
      <p:sp>
        <p:nvSpPr>
          <p:cNvPr id="24" name="Check coverage">
            <a:extLst xmlns:a="http://schemas.openxmlformats.org/drawingml/2006/main">
              <a:ext uri="{FF2B5EF4-FFF2-40B4-BE49-F238E27FC236}">
                <a16:creationId xmlns:a16="http://schemas.microsoft.com/office/drawing/2014/main" id="{8C510812-38C0-4A58-8896-04F9BA781CB1}"/>
              </a:ext>
            </a:extLst>
          </p:cNvPr>
          <p:cNvSpPr>
            <a:spLocks xmlns:a="http://schemas.openxmlformats.org/drawingml/2006/main" noGrp="1"/>
          </p:cNvSpPr>
          <p:nvPr/>
        </p:nvSpPr>
        <p:spPr>
          <a:xfrm xmlns:a="http://schemas.openxmlformats.org/drawingml/2006/main">
            <a:off x="8315325" y="5810250"/>
            <a:ext cx="319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buNone/>
              <a:defRPr sz="1950" b="1">
                <a:solidFill>
                  <a:srgbClr val="111111"/>
                </a:solidFill>
                <a:latin typeface="Geist"/>
                <a:ea typeface="Geist"/>
                <a:cs typeface="Geist"/>
              </a:defRPr>
            </a:pPr>
            <a:r>
              <a:rPr sz="1950" b="1">
                <a:solidFill>
                  <a:srgbClr val="111111"/>
                </a:solidFill>
                <a:latin typeface="Geist"/>
                <a:ea typeface="Geist"/>
                <a:cs typeface="Geist"/>
              </a:rPr>
              <a:t>Check coverage</a:t>
            </a:r>
          </a:p>
        </p:txBody>
      </p:sp>
      <p:sp>
        <p:nvSpPr>
          <p:cNvPr id="25" name="Streamlit + Plotly. Charts query PostgreSQL. Post details qu">
            <a:extLst xmlns:a="http://schemas.openxmlformats.org/drawingml/2006/main">
              <a:ext uri="{FF2B5EF4-FFF2-40B4-BE49-F238E27FC236}">
                <a16:creationId xmlns:a16="http://schemas.microsoft.com/office/drawing/2014/main" id="{2A3BBDE5-0D64-484E-A224-221D28F5E644}"/>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Streamlit + Plotly. Charts query PostgreSQL. Post details query MongoDB. DOGE prices use supplied data.</a:t>
            </a:r>
          </a:p>
        </p:txBody>
      </p:sp>
      <p:sp>
        <p:nvSpPr>
          <p:cNvPr id="27" name="Price and social context, on one timeline.">
            <a:extLst xmlns:a="http://schemas.openxmlformats.org/drawingml/2006/main">
              <a:ext uri="{FF2B5EF4-FFF2-40B4-BE49-F238E27FC236}">
                <a16:creationId xmlns:a16="http://schemas.microsoft.com/office/drawing/2014/main" id="{5F76C73B-EE40-4D95-919D-F8BBB62C0DAE}"/>
              </a:ext>
            </a:extLst>
          </p:cNvPr>
          <p:cNvSpPr>
            <a:spLocks xmlns:a="http://schemas.openxmlformats.org/drawingml/2006/main" noGrp="1"/>
          </p:cNvSpPr>
          <p:nvPr/>
        </p:nvSpPr>
        <p:spPr>
          <a:xfrm xmlns:a="http://schemas.openxmlformats.org/drawingml/2006/main">
            <a:off x="695325" y="13620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55555"/>
                </a:solidFill>
                <a:latin typeface="Geist"/>
                <a:ea typeface="Geist"/>
                <a:cs typeface="Geist"/>
              </a:defRPr>
            </a:defPPr>
          </a:lstStyle>
          <a:p xmlns:a="http://schemas.openxmlformats.org/drawingml/2006/main">
            <a:pPr algn="l">
              <a:defRPr sz="2175" b="0">
                <a:solidFill>
                  <a:srgbClr val="555555"/>
                </a:solidFill>
                <a:latin typeface="Geist"/>
                <a:ea typeface="Geist"/>
                <a:cs typeface="Geist"/>
              </a:defRPr>
            </a:pPr>
            <a:r>
              <a:rPr sz="2175" b="0">
                <a:solidFill>
                  <a:srgbClr val="555555"/>
                </a:solidFill>
                <a:latin typeface="Geist"/>
                <a:ea typeface="Geist"/>
                <a:cs typeface="Geist"/>
              </a:rPr>
              <a:t>Price and social context, on one timeline.</a:t>
            </a:r>
          </a:p>
        </p:txBody>
      </p:sp>
    </p:spTree>
    <p:extLst>
      <p:ext uri="{BB962C8B-B14F-4D97-AF65-F5344CB8AC3E}">
        <p14:creationId xmlns:p14="http://schemas.microsoft.com/office/powerpoint/2010/main" val="945316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2026-10-15T03:04:28.4630000Z</dcterms:created>
  <dcterms:modified xsi:type="dcterms:W3CDTF">2026-10-15T03:04:28.4640000Z</dcterms:modified>
</coreProperties>
</file>