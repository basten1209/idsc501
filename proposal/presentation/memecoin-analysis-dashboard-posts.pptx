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Override PartName="/ppt/slides/charts/ideation-chart1.xml" ContentType="application/vnd.openxmlformats-officedocument.drawingml.chart+xml"/>
  <Override PartName="/ppt/slides/charts/ideation-chart2.xml" ContentType="application/vnd.openxmlformats-officedocument.drawingml.chart+xml"/>
  <Override PartName="/ppt/slides/charts/ideation-chart3.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44e82f6e29fc414d" /><Relationship Type="http://schemas.openxmlformats.org/officeDocument/2006/relationships/extended-properties" Target="/docProps/app.xml" Id="R2596391d060d42d4" /><Relationship Type="http://schemas.openxmlformats.org/officeDocument/2006/relationships/officeDocument" Target="/ppt/presentation.xml" Id="R68bbdf665ba94a0a" /></Relationships>
</file>

<file path=ppt/presentation.xml><?xml version="1.0" encoding="utf-8"?>
<p:presentation xmlns:p="http://schemas.openxmlformats.org/presentationml/2006/main">
  <p:sldMasterIdLst>
    <p:sldMasterId xmlns:r="http://schemas.openxmlformats.org/officeDocument/2006/relationships" id="2147483648" r:id="R1a2e8fc0063e49d3"/>
  </p:sldMasterIdLst>
  <p:notesMasterIdLst>
    <p:notesMasterId xmlns:r="http://schemas.openxmlformats.org/officeDocument/2006/relationships" r:id="R8762e99d069a4ffb"/>
  </p:notesMasterIdLst>
  <p:sldIdLst>
    <p:sldId xmlns:r="http://schemas.openxmlformats.org/officeDocument/2006/relationships" id="256" r:id="Rc02c6f75e8b1469d"/>
    <p:sldId xmlns:r="http://schemas.openxmlformats.org/officeDocument/2006/relationships" id="257" r:id="R1e2233075dae4ee8"/>
    <p:sldId xmlns:r="http://schemas.openxmlformats.org/officeDocument/2006/relationships" id="258" r:id="Reca237912c0d4427"/>
    <p:sldId xmlns:r="http://schemas.openxmlformats.org/officeDocument/2006/relationships" id="259" r:id="R949685981f244c14"/>
    <p:sldId xmlns:r="http://schemas.openxmlformats.org/officeDocument/2006/relationships" id="260" r:id="Rc495cc950ab04d15"/>
    <p:sldId xmlns:r="http://schemas.openxmlformats.org/officeDocument/2006/relationships" id="261" r:id="R8eb67ad3c07d4eb3"/>
    <p:sldId xmlns:r="http://schemas.openxmlformats.org/officeDocument/2006/relationships" id="262" r:id="R0b195f3d3a924c32"/>
    <p:sldId xmlns:r="http://schemas.openxmlformats.org/officeDocument/2006/relationships" id="263" r:id="R3e02c858adee47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f1b41969b44c61" /><Relationship Type="http://schemas.openxmlformats.org/officeDocument/2006/relationships/slideMaster" Target="/ppt/slideMasters/slideMaster1.xml" Id="R1a2e8fc0063e49d3" /><Relationship Type="http://schemas.openxmlformats.org/officeDocument/2006/relationships/notesMaster" Target="/ppt/notesMasters/notesMaster1.xml" Id="R8762e99d069a4ffb" /><Relationship Type="http://schemas.openxmlformats.org/officeDocument/2006/relationships/presProps" Target="/ppt/presProps.xml" Id="R5cdeb49ce3e04e88" /><Relationship Type="http://schemas.openxmlformats.org/officeDocument/2006/relationships/tableStyles" Target="/ppt/tableStyles.xml" Id="Rc16983210ea246ae" /><Relationship Type="http://schemas.openxmlformats.org/officeDocument/2006/relationships/slide" Target="/ppt/slides/slide1.xml" Id="Rc02c6f75e8b1469d" /><Relationship Type="http://schemas.openxmlformats.org/officeDocument/2006/relationships/slide" Target="/ppt/slides/slide2.xml" Id="R1e2233075dae4ee8" /><Relationship Type="http://schemas.openxmlformats.org/officeDocument/2006/relationships/slide" Target="/ppt/slides/slide3.xml" Id="Reca237912c0d4427" /><Relationship Type="http://schemas.openxmlformats.org/officeDocument/2006/relationships/slide" Target="/ppt/slides/slide4.xml" Id="R949685981f244c14" /><Relationship Type="http://schemas.openxmlformats.org/officeDocument/2006/relationships/slide" Target="/ppt/slides/slide5.xml" Id="Rc495cc950ab04d15" /><Relationship Type="http://schemas.openxmlformats.org/officeDocument/2006/relationships/slide" Target="/ppt/slides/slide6.xml" Id="R8eb67ad3c07d4eb3" /><Relationship Type="http://schemas.openxmlformats.org/officeDocument/2006/relationships/slide" Target="/ppt/slides/slide7.xml" Id="R0b195f3d3a924c32" /><Relationship Type="http://schemas.openxmlformats.org/officeDocument/2006/relationships/slide" Target="/ppt/slides/slide8.xml" Id="R3e02c858adee47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bd22f9729b4a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98deab41134c25" /><Relationship Type="http://schemas.openxmlformats.org/officeDocument/2006/relationships/notesMaster" Target="/ppt/notesMasters/notesMaster1.xml" Id="R04daba22f666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fe16df8ee4326" /><Relationship Type="http://schemas.openxmlformats.org/officeDocument/2006/relationships/notesMaster" Target="/ppt/notesMasters/notesMaster1.xml" Id="R8a4908bfe8394b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3ba17fc4cd4309" /><Relationship Type="http://schemas.openxmlformats.org/officeDocument/2006/relationships/notesMaster" Target="/ppt/notesMasters/notesMaster1.xml" Id="Rf8ff7ebee18642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a7e7b7a264e31" /><Relationship Type="http://schemas.openxmlformats.org/officeDocument/2006/relationships/notesMaster" Target="/ppt/notesMasters/notesMaster1.xml" Id="R4da2c7d670ef40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8cf73601b94941" /><Relationship Type="http://schemas.openxmlformats.org/officeDocument/2006/relationships/notesMaster" Target="/ppt/notesMasters/notesMaster1.xml" Id="R355ef5a1d96644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3a114d63a745e2" /><Relationship Type="http://schemas.openxmlformats.org/officeDocument/2006/relationships/notesMaster" Target="/ppt/notesMasters/notesMaster1.xml" Id="Rbca1a0f72f07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acced03a6463a" /><Relationship Type="http://schemas.openxmlformats.org/officeDocument/2006/relationships/notesMaster" Target="/ppt/notesMasters/notesMaster1.xml" Id="Rfeb84ec2d3564f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e1adc995849b1" /><Relationship Type="http://schemas.openxmlformats.org/officeDocument/2006/relationships/notesMaster" Target="/ppt/notesMasters/notesMaster1.xml" Id="R938f703426ae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가격과 소셜 데이터를 함께 사용해 다음 날 가격 방향을 예측하는 Meme Coin Analysis Dashboard를 제안합니다.</a:t>
            </a:r>
          </a:p>
          <a:p xmlns:a="http://schemas.openxmlformats.org/drawingml/2006/main">
            <a:r>
              <a:t/>
            </a:r>
          </a:p>
          <a:p xmlns:a="http://schemas.openxmlformats.org/drawingml/2006/main">
            <a:r>
              <a:t>Sources</a:t>
            </a:r>
          </a:p>
          <a:p xmlns:a="http://schemas.openxmlformats.org/drawingml/2006/main">
            <a:r>
              <a:t>proposal/project-proposal.md</a:t>
            </a:r>
          </a:p>
          <a:p xmlns:a="http://schemas.openxmlformats.org/drawingml/2006/main">
            <a:r>
              <a:t>https://icons8.com/icons/set/doge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주제 선정 이유와 데이터 수집 방법을 먼저 설명하겠습니다. 이어서 전체 예측 파이프라인과 입력 전처리, 두 데이터베이스의 역할, 최종 대시보드를 보여 드리겠습니다.</a:t>
            </a:r>
          </a:p>
          <a:p xmlns:a="http://schemas.openxmlformats.org/drawingml/2006/main">
            <a:r>
              <a:t/>
            </a:r>
          </a:p>
          <a:p xmlns:a="http://schemas.openxmlformats.org/drawingml/2006/main">
            <a:r>
              <a:t>Sources</a:t>
            </a:r>
          </a:p>
          <a:p xmlns:a="http://schemas.openxmlformats.org/drawingml/2006/main">
            <a:r>
              <a:t>lecturenote/1_overview.html</a:t>
            </a:r>
          </a:p>
          <a:p xmlns:a="http://schemas.openxmlformats.org/drawingml/2006/main">
            <a:r>
              <a:t>proposal/presentation/slide-outline.md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밈코인은 소셜 게시와 가격 급등이 맞물리는 사례가 있습니다. 머스크가 Doge를 게시한 구간에서 DOGE는 약 한 시간에 28.9%, 트럼프가 Truth Social에서 토큰을 언급한 구간에서 TRUMP는 9.0% 올랐습니다.</a:t>
            </a:r>
          </a:p>
          <a:p xmlns:a="http://schemas.openxmlformats.org/drawingml/2006/main">
            <a:r>
              <a:t>그런데 우리가 사면 이런 표정이 됩니다. 오른쪽은 실제 되돌림 차트지만, 저희 거래 기록은 아닙니다.</a:t>
            </a:r>
          </a:p>
          <a:p xmlns:a="http://schemas.openxmlformats.org/drawingml/2006/main">
            <a:r>
              <a:t>이 두 사건만으로 인과관계나 예측력을 주장하진 않습니다. 대신 가격과 소셜을 함께 쓰면 다음 날 방향 예측에 도움이 되는지, 가격만 쓴 결과와 비교하겠습니다.</a:t>
            </a:r>
          </a:p>
          <a:p xmlns:a="http://schemas.openxmlformats.org/drawingml/2006/main">
            <a:r>
              <a:t/>
            </a:r>
          </a:p>
          <a:p xmlns:a="http://schemas.openxmlformats.org/drawingml/2006/main">
            <a:r>
              <a:t>Sources</a:t>
            </a:r>
          </a:p>
          <a:p xmlns:a="http://schemas.openxmlformats.org/drawingml/2006/main">
            <a:r>
              <a:t>https://x.com/elonmusk/status/1357231313376456708 — exact text: Doge; 2021-02-04 07:35:35 UTC, checked via https://api.fxtwitter.com/status/1357231313376456708</a:t>
            </a:r>
          </a:p>
          <a:p xmlns:a="http://schemas.openxmlformats.org/drawingml/2006/main">
            <a:r>
              <a:t>https://www.presidency.ucsb.edu/documents/truth-social-posts-march-23-2025 — Trump excerpt and 08:33 Pacific = 15:33 UTC on 2025-03-23; primary post https://truthsocial.com/@realDonaldTrump/posts/114212473050636851. Decrypt reports a conflicting time; archive time used.</a:t>
            </a:r>
          </a:p>
          <a:p xmlns:a="http://schemas.openxmlformats.org/drawingml/2006/main">
            <a:r>
              <a:t>https://data.binance.vision/data/spot/daily/klines/DOGEUSDT/1m/DOGEUSDT-1m-2021-02-04.zip</a:t>
            </a:r>
          </a:p>
          <a:p xmlns:a="http://schemas.openxmlformats.org/drawingml/2006/main">
            <a:r>
              <a:t>https://data.binance.vision/data/spot/daily/klines/TRUMPUSDT/1m/TRUMPUSDT-1m-2025-03-23.zip</a:t>
            </a:r>
          </a:p>
          <a:p xmlns:a="http://schemas.openxmlformats.org/drawingml/2006/main">
            <a:r>
              <a:t>https://github.com/binance/binance-public-data — column definitions and millisecond/microsecond timestamp units. Source ZIP SHA-256 checksums verified.</a:t>
            </a:r>
          </a:p>
          <a:p xmlns:a="http://schemas.openxmlformats.org/drawingml/2006/main">
            <a:r>
              <a:t>Returns: last close in the 60-minute window / last close before the post minute - 1. DOGE 0.0528923 / 0.0410273 - 1 = +28.919768%; TRUMP 11.97 / 10.98 - 1 = +9.016393%. Windows start at 07:35 and 15:33 UTC respectively; aligned to minute, not exact second. Event plots include the preceding 30 minutes, with minute-end offsets on the X axis. Axes differ. These selected windows do not isolate causality; Musk posted multiple related tweets.</a:t>
            </a:r>
          </a:p>
          <a:p xmlns:a="http://schemas.openxmlformats.org/drawingml/2006/main">
            <a:r>
              <a:t>Downward chart: TRUMP / USDT minute closes on 23 Mar 2025, 16:09–17:09 UTC, 61 observations, first 12.34 and last 11.86. Illustrates a pullback, not an actual team trade. Meme artwork is not evidence.</a:t>
            </a:r>
          </a:p>
          <a:p xmlns:a="http://schemas.openxmlformats.org/drawingml/2006/main">
            <a:r>
              <a:t>https://www.redbubble.com/i/poster/Frog-funny-meme-pepe-crying-reaction-sad-icon-by-UniqueDesignOK/152477286.LVTDI — monochrome crying Pepe, artist UniqueDesignOK; presentation crops outer product setting, retains artwork.</a:t>
            </a:r>
          </a:p>
          <a:p xmlns:a="http://schemas.openxmlformats.org/drawingml/2006/main">
            <a:r>
              <a:t>https://ih1.redbubble.net/image.5248600290.7286/fposter,small,wall_texture,square_product,600x600.u2.jpg</a:t>
            </a:r>
          </a:p>
          <a:p xmlns:a="http://schemas.openxmlformats.org/drawingml/2006/main">
            <a:r>
              <a:t>Binance event data and Truth Social are slide-3 ideation evidence only. Planned daily CMC / X / conditional Reddit pipeline and five forecast assets remain as specified.</a:t>
            </a:r>
          </a:p>
          <a:p xmlns:a="http://schemas.openxmlformats.org/drawingml/2006/main">
            <a:r>
              <a:t>architecture/prediction-design.md</a:t>
            </a:r>
          </a:p>
          <a:p xmlns:a="http://schemas.openxmlformats.org/drawingml/2006/main">
            <a:r>
              <a:t/>
            </a:r>
          </a:p>
          <a:p xmlns:a="http://schemas.openxmlformats.org/drawingml/2006/main">
            <a:r>
              <a:t>Historical screenshot sources (verified 2026-10-15)</a:t>
            </a:r>
          </a:p>
          <a:p xmlns:a="http://schemas.openxmlformats.org/drawingml/2006/main">
            <a:r>
              <a:t>Elon Musk: https://fabiandablander.com/assets/img/Doge-2.png; mirrored at https://knowyourmeme.com/photos/2933658-meme-coins and https://i.kym-cdn.com/photos/images/original/002/933/658/83c.png. Slide crops the lower-left Doge reply, retains account, date, reply context, full Doge text and reaction row. Text matched against the FxTwitter response for post 1357231313376456708. This is an existing screenshot, not a fresh capture by the project.</a:t>
            </a:r>
          </a:p>
          <a:p xmlns:a="http://schemas.openxmlformats.org/drawingml/2006/main">
            <a:r>
              <a:t>Donald Trump: https://www.theblock.co/post/347641/trump-boosts-trump-memecoin-by-400-million-with-truth-social-post-sending-price-careening ; original image https://www.tbstat.com/wp/uploads/2025/03/Screenshot-2025-03-23-at-1.56.42%E2%80%AFPM.png. Full post image retained. Visible time 11:33 AM corresponds to 15:33 UTC if EDT, consistent with the UCSB archive. Screenshot itself does not state a timezone, so the chart uses the independently verified archive time.</a:t>
            </a:r>
          </a:p>
          <a:p xmlns:a="http://schemas.openxmlformats.org/drawingml/2006/main">
            <a:r>
              <a:t>Original screenshot colors retained for evidence fidelity. Enlarged quotations below are presentation callouts, not alterations of the image. Reaction counts are capture-time observations, not values used in the model or event-return calculation. Native chart values and the evaluation scope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가격은 팀원이 CoinMarketCap Historical Data 페이지를 크롤링해 CSV로 전달했고, 10개 코인 14,773행을 확보했습니다. 소셜은 수집 예정입니다.</a:t>
            </a:r>
          </a:p>
          <a:p xmlns:a="http://schemas.openxmlformats.org/drawingml/2006/main">
            <a:r>
              <a:t>X는 DOGE, SHIB, PEPE, BONK, SPX의 선정 계정을 FxTwitter API로 조회합니다. Reddit은 조건이 충족될 때 Arctic Shift API나 아카이브로 수집합니다. MemeChain은 수집할 사이트와 채널을 찾을 때 참고한 자료이며, 그 데이터셋을 적재하는 것은 아닙니다.</a:t>
            </a:r>
          </a:p>
          <a:p xmlns:a="http://schemas.openxmlformats.org/drawingml/2006/main">
            <a:r>
              <a:t>소셜은 매일 수집하고 최근 7일을 다시 확인합니다. 최신 예측을 발행하려면 10월 7일까지인 기존 가격도 갱신해야 합니다. 이를 위해 새 CSV를 받거나 팀원의 CMC 크롤러를 복원해야 합니다. 선정 계정의 활동을 전체 X의 관심도로 표현하지 않겠습니다.</a:t>
            </a:r>
          </a:p>
          <a:p xmlns:a="http://schemas.openxmlformats.org/drawingml/2006/main">
            <a:r>
              <a:t/>
            </a:r>
          </a:p>
          <a:p xmlns:a="http://schemas.openxmlformats.org/drawingml/2006/main">
            <a:r>
              <a:t>Sources</a:t>
            </a:r>
          </a:p>
          <a:p xmlns:a="http://schemas.openxmlformats.org/drawingml/2006/main">
            <a:r>
              <a:t>proposal/evidence-and-references.md</a:t>
            </a:r>
          </a:p>
          <a:p xmlns:a="http://schemas.openxmlformats.org/drawingml/2006/main">
            <a:r>
              <a:t>architecture/ingestion-and-archiving.md</a:t>
            </a:r>
          </a:p>
          <a:p xmlns:a="http://schemas.openxmlformats.org/drawingml/2006/main">
            <a:r>
              <a:t>https://docs.fxembed.com/api/introduction/</a:t>
            </a:r>
          </a:p>
          <a:p xmlns:a="http://schemas.openxmlformats.org/drawingml/2006/main">
            <a:r>
              <a:t>https://github.com/ArthurHeitmann/arctic_shift</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80초</a:t>
            </a:r>
          </a:p>
          <a:p xmlns:a="http://schemas.openxmlformats.org/drawingml/2006/main">
            <a:r>
              <a:t/>
            </a:r>
          </a:p>
          <a:p xmlns:a="http://schemas.openxmlformats.org/drawingml/2006/main">
            <a:r>
              <a:t>이 그림은 수집부터 예측, 평가까지의 흐름입니다. 위쪽에서 CMC 가격 CSV를 검증해 PostgreSQL에 저장하고, 아래쪽에서는 X·Reddit JSON을 표준화해 MongoDB에 문서와 관측 이력으로 저장합니다. 원본 파일 보관은 재처리용 보조 기능으로 유지합니다.</a:t>
            </a:r>
          </a:p>
          <a:p xmlns:a="http://schemas.openxmlformats.org/drawingml/2006/main">
            <a:r>
              <a:t>Python이 두 저장소에서 가격 이력과 소셜 기록을 읽어 수치 특성을 계산하고 입력 시점을 고정합니다. OpenAI API는 이 입력으로 다음 종가의 상승·하락과 근거를 생성합니다. 스키마와 근거를 검증한 결과는 PostgreSQL의 별도 예측 테이블에 저장합니다.</a:t>
            </a:r>
          </a:p>
          <a:p xmlns:a="http://schemas.openxmlformats.org/drawingml/2006/main">
            <a:r>
              <a:t>오른쪽 대시보드는 저장된 가격과 예측을 보여주고, 게시물 상세는 MongoDB에서 읽습니다. 다음 날 종가가 들어오면 원 예측과 비교합니다. 아래 점선은 오류 검토 결과를 다음 버전의 입력이나 프롬프트에 반영하는 피드백이며 자동 재학습은 아닙니다. API 호출은 일별 배치이고 화면 갱신마다 호출하지 않습니다.</a:t>
            </a:r>
          </a:p>
          <a:p xmlns:a="http://schemas.openxmlformats.org/drawingml/2006/main">
            <a:r>
              <a:t/>
            </a:r>
          </a:p>
          <a:p xmlns:a="http://schemas.openxmlformats.org/drawingml/2006/main">
            <a:r>
              <a:t>Sources</a:t>
            </a:r>
          </a:p>
          <a:p xmlns:a="http://schemas.openxmlformats.org/drawingml/2006/main">
            <a:r>
              <a:t>.context/attachments/yYZEUO/IMG_8630.HEIC: user whiteboard</a:t>
            </a:r>
          </a:p>
          <a:p xmlns:a="http://schemas.openxmlformats.org/drawingml/2006/main">
            <a:r>
              <a:t>architecture/system-design.md</a:t>
            </a:r>
          </a:p>
          <a:p xmlns:a="http://schemas.openxmlformats.org/drawingml/2006/main">
            <a:r>
              <a:t>architecture/prediction-design.md</a:t>
            </a:r>
          </a:p>
          <a:p xmlns:a="http://schemas.openxmlformats.org/drawingml/2006/main">
            <a:r>
              <a:t>https://developers.openai.com/api/docs/guides/structured-outputs</a:t>
            </a:r>
          </a:p>
          <a:p xmlns:a="http://schemas.openxmlformats.org/drawingml/2006/main">
            <a:r>
              <a:t>https://github.com/simple-icons/simple-icons</a:t>
            </a:r>
          </a:p>
          <a:p xmlns:a="http://schemas.openxmlformats.org/drawingml/2006/main">
            <a:r>
              <a:t>https://icons8.com/icon/35007/doge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입력은 가격 특성, 소셜 특성, 그리고 이들을 고정한 스냅샷으로 구성합니다. Python이 최근 31개 종가로 수익률과 변동성을 계산하고, 소셜은 최근 7일의 활동량과 감성, 제한된 수의 게시물 본문을 사용합니다. 코인 연결, 중복 제거, UTC 정규화, 품질 검증을 먼저 수행합니다.</a:t>
            </a:r>
          </a:p>
          <a:p xmlns:a="http://schemas.openxmlformats.org/drawingml/2006/main">
            <a:r>
              <a:t>중요한 기준은 예측할 때 실제로 알고 있던 정보입니다. 예를 들어 오늘 처음 받은 과거 게시물을 과거에도 알고 있었다고 처리하지 않습니다. 나중에 늘어난 좋아요도 이전 예측에 넣지 않습니다.</a:t>
            </a:r>
          </a:p>
          <a:p xmlns:a="http://schemas.openxmlformats.org/drawingml/2006/main">
            <a:r>
              <a:t>UTC 하루가 끝난 후 3시에 입력을 동결하고 3시 15분까지 해당 날짜 종가 방향을 발행합니다. 닫힌 하루까지의 사건만 사용합니다. 가격이 낡았거나 소셜이 누락되면 fusion을 보류하고, 가격 전용 결과는 별도로 구분합니다.</a:t>
            </a:r>
          </a:p>
          <a:p xmlns:a="http://schemas.openxmlformats.org/drawingml/2006/main">
            <a:r>
              <a:t/>
            </a:r>
          </a:p>
          <a:p xmlns:a="http://schemas.openxmlformats.org/drawingml/2006/main">
            <a:r>
              <a:t>Sources</a:t>
            </a:r>
          </a:p>
          <a:p xmlns:a="http://schemas.openxmlformats.org/drawingml/2006/main">
            <a:r>
              <a:t>architecture/prediction-design.md, sections 1–3</a:t>
            </a:r>
          </a:p>
          <a:p xmlns:a="http://schemas.openxmlformats.org/drawingml/2006/main">
            <a:r>
              <a:t>architecture/data-model.md</a:t>
            </a:r>
          </a:p>
          <a:p xmlns:a="http://schemas.openxmlformats.org/drawingml/2006/main">
            <a:r>
              <a:t>https://otexts.com/fpp3/toolbox.html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PostgreSQL도 JSON을 지원하지만, 이번 프로젝트는 문서형 모델과 관계형 모델의 역할을 나누어 구현합니다. MongoDB는 플랫폼마다 다른 게시물 구조와 관측 이력, 모델 요청·응답 문서를 저장합니다. PostgreSQL은 코인과 가격, 일별 특성, 예측 방향과 실제 결과를 관계와 제약조건으로 관리합니다.</a:t>
            </a:r>
          </a:p>
          <a:p xmlns:a="http://schemas.openxmlformats.org/drawingml/2006/main">
            <a:r>
              <a:t>각 예측은 당시 입력 snapshot과 모델·프롬프트 버전에 연결합니다. 다음 날 실제 가격이 들어오면 outcome을 추가하고 원 예측은 수정하지 않습니다. 소셜은 먼저 일별로 집계한 뒤 가격과 결합해 가격 행이 중복되지 않게 합니다.</a:t>
            </a:r>
          </a:p>
          <a:p xmlns:a="http://schemas.openxmlformats.org/drawingml/2006/main">
            <a:r>
              <a:t>두 DB의 백업과 일관성을 관리하는 비용은 있지만, SQL과 NoSQL 사이 ETL과 추적 가능한 예측을 보여 줄 수 있습니다.</a:t>
            </a:r>
          </a:p>
          <a:p xmlns:a="http://schemas.openxmlformats.org/drawingml/2006/main">
            <a:r>
              <a:t/>
            </a:r>
          </a:p>
          <a:p xmlns:a="http://schemas.openxmlformats.org/drawingml/2006/main">
            <a:r>
              <a:t>Sources</a:t>
            </a:r>
          </a:p>
          <a:p xmlns:a="http://schemas.openxmlformats.org/drawingml/2006/main">
            <a:r>
              <a:t>architecture/system-design.md, sections 3–4</a:t>
            </a:r>
          </a:p>
          <a:p xmlns:a="http://schemas.openxmlformats.org/drawingml/2006/main">
            <a:r>
              <a:t>architecture/data-model.md</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마지막으로 구현할 대시보드의 목업입니다. 왼쪽에서 코인을 고르고 가격과 기준 날짜를 확인합니다. 오른쪽에는 다음 종가의 상승·하락 예측과 대상일, 짧은 판단 근거를 표시합니다. 관련 주제와 게시물을 확인하고, 밈 이미지도 맥락으로 볼 수 있습니다. 이미지는 초기 예측의 입력에는 포함하지 않습니다.</a:t>
            </a:r>
          </a:p>
          <a:p xmlns:a="http://schemas.openxmlformats.org/drawingml/2006/main">
            <a:r>
              <a:t>이 화면의 가격 차트와 가격 숫자는 제공된 DOGE 자료입니다. UP 예측과 주제·근거는 화면 구성을 보여 주는 예시이며 실제 모델 결과는 아닙니다.</a:t>
            </a:r>
          </a:p>
          <a:p xmlns:a="http://schemas.openxmlformats.org/drawingml/2006/main">
            <a:r>
              <a:t>아래에는 앞으로 발행할 예측과 실제 결과를 쌓습니다. 직전 방향 기준선, 가격 전용 모델, 가격·소셜 모델을 같은 코인·날짜로 비교해 소셜 정보가 도움이 되는지 평가하겠습니다. 실제 표본 수와 실패·보류도 함께 공개합니다.</a:t>
            </a:r>
          </a:p>
          <a:p xmlns:a="http://schemas.openxmlformats.org/drawingml/2006/main">
            <a:r>
              <a:t/>
            </a:r>
          </a:p>
          <a:p xmlns:a="http://schemas.openxmlformats.org/drawingml/2006/main">
            <a:r>
              <a:t>Sources</a:t>
            </a:r>
          </a:p>
          <a:p xmlns:a="http://schemas.openxmlformats.org/drawingml/2006/main">
            <a:r>
              <a:t>.context/attachments/ogAuZF/memecoin_price.zip: Dogecoin.csv, 92 Q3 2026 closes; 2026-09-30 close 0.0944721408 USD; day-over-day change 0.6562627897%</a:t>
            </a:r>
          </a:p>
          <a:p xmlns:a="http://schemas.openxmlformats.org/drawingml/2006/main">
            <a:r>
              <a:t>architecture/prediction-design.md</a:t>
            </a:r>
          </a:p>
          <a:p xmlns:a="http://schemas.openxmlformats.org/drawingml/2006/main">
            <a:r>
              <a:t>https://icons8.com/icon/35007/doge</a:t>
            </a:r>
          </a:p>
          <a:p xmlns:a="http://schemas.openxmlformats.org/drawingml/2006/main">
            <a:r>
              <a:t>https://img.icons8.com/win10/1200/doge.jpg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9250ff20042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8bd8f7915e4e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e2c3040399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13a029a8bd45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96e15cb4274d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f774f69d564c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d05d3ed2942d8" /><Relationship Type="http://schemas.openxmlformats.org/officeDocument/2006/relationships/slideLayout" Target="/ppt/slideLayouts/slideLayout1.xml" Id="R78054c0de64f4102" /><Relationship Type="http://schemas.openxmlformats.org/officeDocument/2006/relationships/slideLayout" Target="/ppt/slideLayouts/slideLayout2.xml" Id="R6ebb7c706320474c" /><Relationship Type="http://schemas.openxmlformats.org/officeDocument/2006/relationships/slideLayout" Target="/ppt/slideLayouts/slideLayout3.xml" Id="R65d5c919dcc84046" /><Relationship Type="http://schemas.openxmlformats.org/officeDocument/2006/relationships/slideLayout" Target="/ppt/slideLayouts/slideLayout4.xml" Id="Ree02987ac6314725" /><Relationship Type="http://schemas.openxmlformats.org/officeDocument/2006/relationships/slideLayout" Target="/ppt/slideLayouts/slideLayout5.xml" Id="R0c60492da0a04788" /><Relationship Type="http://schemas.openxmlformats.org/officeDocument/2006/relationships/slideLayout" Target="/ppt/slideLayouts/slideLayout6.xml" Id="R5ab38374609243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54c0de64f4102"/>
    <p:sldLayoutId xmlns:r="http://schemas.openxmlformats.org/officeDocument/2006/relationships" id="2147483650" r:id="R6ebb7c706320474c"/>
    <p:sldLayoutId xmlns:r="http://schemas.openxmlformats.org/officeDocument/2006/relationships" id="2147483651" r:id="R65d5c919dcc84046"/>
    <p:sldLayoutId xmlns:r="http://schemas.openxmlformats.org/officeDocument/2006/relationships" id="2147483652" r:id="Ree02987ac6314725"/>
    <p:sldLayoutId xmlns:r="http://schemas.openxmlformats.org/officeDocument/2006/relationships" id="2147483653" r:id="R0c60492da0a04788"/>
    <p:sldLayoutId xmlns:r="http://schemas.openxmlformats.org/officeDocument/2006/relationships" id="2147483654" r:id="R5ab38374609243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03fcaf4f404558" /><Relationship Type="http://schemas.openxmlformats.org/officeDocument/2006/relationships/image" Target="/ppt/media/image.jpeg" Id="Rd4b1a6719adc44ce" /><Relationship Type="http://schemas.openxmlformats.org/officeDocument/2006/relationships/notesSlide" Target="/ppt/notesSlides/notesSlide1.xml" Id="Rbfc6520b9b84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1ec150423b46d6" /><Relationship Type="http://schemas.openxmlformats.org/officeDocument/2006/relationships/notesSlide" Target="/ppt/notesSlides/notesSlide2.xml" Id="Raa25c42610db41ed" /></Relationships>
</file>

<file path=ppt/slides/_rels/slide3.xml.rels><?xml version='1.0' encoding='utf-8'?>
<Relationships xmlns="http://schemas.openxmlformats.org/package/2006/relationships"><Relationship Type="http://schemas.openxmlformats.org/officeDocument/2006/relationships/slideLayout" Target="/ppt/slideLayouts/slideLayout6.xml" Id="R093c39f970984399" /><Relationship Type="http://schemas.openxmlformats.org/officeDocument/2006/relationships/chart" Target="/ppt/slides/charts/ideation-chart1.xml" Id="R65e7f1aff8a74267" /><Relationship Type="http://schemas.openxmlformats.org/officeDocument/2006/relationships/chart" Target="/ppt/slides/charts/ideation-chart2.xml" Id="R3f29daffdfc449a1" /><Relationship Type="http://schemas.openxmlformats.org/officeDocument/2006/relationships/image" Target="/ppt/media/captures-image2.jpeg" Id="R4a987038566d4e97" /><Relationship Type="http://schemas.openxmlformats.org/officeDocument/2006/relationships/chart" Target="/ppt/slides/charts/ideation-chart3.xml" Id="Re2b8618ec0144afb" /><Relationship Type="http://schemas.openxmlformats.org/officeDocument/2006/relationships/image" Target="/ppt/media/captures-image.png" Id="R9f80d8d278e9482b" /><Relationship Type="http://schemas.openxmlformats.org/officeDocument/2006/relationships/image" Target="/ppt/media/captures-image2.png" Id="R04ca7e8ff7314b92" /><Relationship Type="http://schemas.openxmlformats.org/officeDocument/2006/relationships/notesSlide" Target="/ppt/notesSlides/notesSlide3.xml" Id="Rb48bd8a219cc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996c4ebff647e1" /><Relationship Type="http://schemas.openxmlformats.org/officeDocument/2006/relationships/image" Target="/ppt/media/image.png" Id="R1c92b5ee569d4295" /><Relationship Type="http://schemas.openxmlformats.org/officeDocument/2006/relationships/image" Target="/ppt/media/image.svg" Id="R752ef67ca6fb4098" /><Relationship Type="http://schemas.openxmlformats.org/officeDocument/2006/relationships/image" Target="/ppt/media/image2.png" Id="R5964872322da46b4" /><Relationship Type="http://schemas.openxmlformats.org/officeDocument/2006/relationships/image" Target="/ppt/media/image2.svg" Id="Rebc0791371984819" /><Relationship Type="http://schemas.openxmlformats.org/officeDocument/2006/relationships/image" Target="/ppt/media/image3.png" Id="R89af9b8d70884752" /><Relationship Type="http://schemas.openxmlformats.org/officeDocument/2006/relationships/image" Target="/ppt/media/image3.svg" Id="R5b4c08bcb5684992" /><Relationship Type="http://schemas.openxmlformats.org/officeDocument/2006/relationships/notesSlide" Target="/ppt/notesSlides/notesSlide4.xml" Id="Rf513d955ae684d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a5ef47d7124bd8" /><Relationship Type="http://schemas.openxmlformats.org/officeDocument/2006/relationships/image" Target="/ppt/media/image4.png" Id="R703819fec4544493" /><Relationship Type="http://schemas.openxmlformats.org/officeDocument/2006/relationships/image" Target="/ppt/media/image4.svg" Id="R4bc67e13455f4569" /><Relationship Type="http://schemas.openxmlformats.org/officeDocument/2006/relationships/image" Target="/ppt/media/image5.png" Id="R55b3afba190a49a4" /><Relationship Type="http://schemas.openxmlformats.org/officeDocument/2006/relationships/image" Target="/ppt/media/image5.svg" Id="R8cd93d3d40f94816" /><Relationship Type="http://schemas.openxmlformats.org/officeDocument/2006/relationships/image" Target="/ppt/media/image6.png" Id="R19a00ce17fab4494" /><Relationship Type="http://schemas.openxmlformats.org/officeDocument/2006/relationships/image" Target="/ppt/media/image6.svg" Id="Rc613c3f1016a473c" /><Relationship Type="http://schemas.openxmlformats.org/officeDocument/2006/relationships/image" Target="/ppt/media/image7.png" Id="R829c43905b084d7f" /><Relationship Type="http://schemas.openxmlformats.org/officeDocument/2006/relationships/notesSlide" Target="/ppt/notesSlides/notesSlide5.xml" Id="Rf15176985e5642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1ab7d797ca4d83" /><Relationship Type="http://schemas.openxmlformats.org/officeDocument/2006/relationships/notesSlide" Target="/ppt/notesSlides/notesSlide6.xml" Id="Rcb8fd35fad4647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8279d77484e1a" /><Relationship Type="http://schemas.openxmlformats.org/officeDocument/2006/relationships/image" Target="/ppt/media/image8.png" Id="R7cc8bf7625704691" /><Relationship Type="http://schemas.openxmlformats.org/officeDocument/2006/relationships/image" Target="/ppt/media/image7.svg" Id="Rfd8b02e9d4804c71" /><Relationship Type="http://schemas.openxmlformats.org/officeDocument/2006/relationships/image" Target="/ppt/media/image9.png" Id="R1a584c57f8cd44cf" /><Relationship Type="http://schemas.openxmlformats.org/officeDocument/2006/relationships/image" Target="/ppt/media/image8.svg" Id="R3b127ec14dae4313" /><Relationship Type="http://schemas.openxmlformats.org/officeDocument/2006/relationships/notesSlide" Target="/ppt/notesSlides/notesSlide7.xml" Id="Rc9aa57d3addb49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057596218c4449" /><Relationship Type="http://schemas.openxmlformats.org/officeDocument/2006/relationships/chart" Target="/ppt/slides/charts/chart2.xml" Id="R55cb470145ce45f8" /><Relationship Type="http://schemas.openxmlformats.org/officeDocument/2006/relationships/image" Target="/ppt/media/image2.jpeg" Id="Rcba9b6ea2e7d49c0" /><Relationship Type="http://schemas.openxmlformats.org/officeDocument/2006/relationships/notesSlide" Target="/ppt/notesSlides/notesSlide8.xml" Id="Raf271dbba959441a" /></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ideation-chart1.xml.rels><Relationships xmlns="http://schemas.openxmlformats.org/package/2006/relationships"><Relationship Id="rIdChartSnapshot1" Type="http://schemas.openxmlformats.org/officeDocument/2006/relationships/package" Target="../../embeddings/chart-data-snapshot-001.xlsx"/></Relationships>
</file>

<file path=ppt/slides/charts/_rels/ideation-chart2.xml.rels><Relationships xmlns="http://schemas.openxmlformats.org/package/2006/relationships"><Relationship Id="rIdChartSnapshot1" Type="http://schemas.openxmlformats.org/officeDocument/2006/relationships/package" Target="../../embeddings/chart-data-snapshot-003.xlsx"/></Relationships>
</file>

<file path=ppt/slides/charts/_rels/ideation-chart3.xml.rels><Relationships xmlns="http://schemas.openxmlformats.org/package/2006/relationships"><Relationship Id="rIdChartSnapshot1" Type="http://schemas.openxmlformats.org/officeDocument/2006/relationships/package" Target="../../embeddings/chart-data-snapshot-004.xlsx"/></Relationships>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ideation-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DOGEUSDT minute close / pre-post close - 1</c:v>
          </c:tx>
          <c:spPr>
            <a:ln xmlns:a="http://schemas.openxmlformats.org/drawingml/2006/main" w="20003">
              <a:solidFill>
                <a:srgbClr val="111111"/>
              </a:solidFill>
            </a:ln>
          </c:spPr>
          <c:marker>
            <c:symbol val="none"/>
          </c:marker>
          <c:xVal>
            <c:numRef>
              <c:f>'Chart Data'!$A$2:$A$91</c:f>
              <c:numCache>
                <c:formatCode>General</c:formatCode>
                <c:ptCount val="90"/>
                <c:pt idx="0">
                  <c:v>-29</c:v>
                </c:pt>
                <c:pt idx="1">
                  <c:v>-28</c:v>
                </c:pt>
                <c:pt idx="2">
                  <c:v>-27</c:v>
                </c:pt>
                <c:pt idx="3">
                  <c:v>-26</c:v>
                </c:pt>
                <c:pt idx="4">
                  <c:v>-25</c:v>
                </c:pt>
                <c:pt idx="5">
                  <c:v>-24</c:v>
                </c:pt>
                <c:pt idx="6">
                  <c:v>-23</c:v>
                </c:pt>
                <c:pt idx="7">
                  <c:v>-22</c:v>
                </c:pt>
                <c:pt idx="8">
                  <c:v>-21</c:v>
                </c:pt>
                <c:pt idx="9">
                  <c:v>-20</c:v>
                </c:pt>
                <c:pt idx="10">
                  <c:v>-19</c:v>
                </c:pt>
                <c:pt idx="11">
                  <c:v>-18</c:v>
                </c:pt>
                <c:pt idx="12">
                  <c:v>-17</c:v>
                </c:pt>
                <c:pt idx="13">
                  <c:v>-16</c:v>
                </c:pt>
                <c:pt idx="14">
                  <c:v>-15</c:v>
                </c:pt>
                <c:pt idx="15">
                  <c:v>-14</c:v>
                </c:pt>
                <c:pt idx="16">
                  <c:v>-13</c:v>
                </c:pt>
                <c:pt idx="17">
                  <c:v>-12</c:v>
                </c:pt>
                <c:pt idx="18">
                  <c:v>-11</c:v>
                </c:pt>
                <c:pt idx="19">
                  <c:v>-10</c:v>
                </c:pt>
                <c:pt idx="20">
                  <c:v>-9</c:v>
                </c:pt>
                <c:pt idx="21">
                  <c:v>-8</c:v>
                </c:pt>
                <c:pt idx="22">
                  <c:v>-7</c:v>
                </c:pt>
                <c:pt idx="23">
                  <c:v>-6</c:v>
                </c:pt>
                <c:pt idx="24">
                  <c:v>-5</c:v>
                </c:pt>
                <c:pt idx="25">
                  <c:v>-4</c:v>
                </c:pt>
                <c:pt idx="26">
                  <c:v>-3</c:v>
                </c:pt>
                <c:pt idx="27">
                  <c:v>-2</c:v>
                </c:pt>
                <c:pt idx="28">
                  <c:v>-1</c:v>
                </c:pt>
                <c:pt idx="29">
                  <c:v>0</c:v>
                </c:pt>
                <c:pt idx="30">
                  <c:v>1</c:v>
                </c:pt>
                <c:pt idx="31">
                  <c:v>2</c:v>
                </c:pt>
                <c:pt idx="32">
                  <c:v>3</c:v>
                </c:pt>
                <c:pt idx="33">
                  <c:v>4</c:v>
                </c:pt>
                <c:pt idx="34">
                  <c:v>5</c:v>
                </c:pt>
                <c:pt idx="35">
                  <c:v>6</c:v>
                </c:pt>
                <c:pt idx="36">
                  <c:v>7</c:v>
                </c:pt>
                <c:pt idx="37">
                  <c:v>8</c:v>
                </c:pt>
                <c:pt idx="38">
                  <c:v>9</c:v>
                </c:pt>
                <c:pt idx="39">
                  <c:v>10</c:v>
                </c:pt>
                <c:pt idx="40">
                  <c:v>11</c:v>
                </c:pt>
                <c:pt idx="41">
                  <c:v>12</c:v>
                </c:pt>
                <c:pt idx="42">
                  <c:v>13</c:v>
                </c:pt>
                <c:pt idx="43">
                  <c:v>14</c:v>
                </c:pt>
                <c:pt idx="44">
                  <c:v>15</c:v>
                </c:pt>
                <c:pt idx="45">
                  <c:v>16</c:v>
                </c:pt>
                <c:pt idx="46">
                  <c:v>17</c:v>
                </c:pt>
                <c:pt idx="47">
                  <c:v>18</c:v>
                </c:pt>
                <c:pt idx="48">
                  <c:v>19</c:v>
                </c:pt>
                <c:pt idx="49">
                  <c:v>20</c:v>
                </c:pt>
                <c:pt idx="50">
                  <c:v>21</c:v>
                </c:pt>
                <c:pt idx="51">
                  <c:v>22</c:v>
                </c:pt>
                <c:pt idx="52">
                  <c:v>23</c:v>
                </c:pt>
                <c:pt idx="53">
                  <c:v>24</c:v>
                </c:pt>
                <c:pt idx="54">
                  <c:v>25</c:v>
                </c:pt>
                <c:pt idx="55">
                  <c:v>26</c:v>
                </c:pt>
                <c:pt idx="56">
                  <c:v>27</c:v>
                </c:pt>
                <c:pt idx="57">
                  <c:v>28</c:v>
                </c:pt>
                <c:pt idx="58">
                  <c:v>29</c:v>
                </c:pt>
                <c:pt idx="59">
                  <c:v>30</c:v>
                </c:pt>
                <c:pt idx="60">
                  <c:v>31</c:v>
                </c:pt>
                <c:pt idx="61">
                  <c:v>32</c:v>
                </c:pt>
                <c:pt idx="62">
                  <c:v>33</c:v>
                </c:pt>
                <c:pt idx="63">
                  <c:v>34</c:v>
                </c:pt>
                <c:pt idx="64">
                  <c:v>35</c:v>
                </c:pt>
                <c:pt idx="65">
                  <c:v>36</c:v>
                </c:pt>
                <c:pt idx="66">
                  <c:v>37</c:v>
                </c:pt>
                <c:pt idx="67">
                  <c:v>38</c:v>
                </c:pt>
                <c:pt idx="68">
                  <c:v>39</c:v>
                </c:pt>
                <c:pt idx="69">
                  <c:v>40</c:v>
                </c:pt>
                <c:pt idx="70">
                  <c:v>41</c:v>
                </c:pt>
                <c:pt idx="71">
                  <c:v>42</c:v>
                </c:pt>
                <c:pt idx="72">
                  <c:v>43</c:v>
                </c:pt>
                <c:pt idx="73">
                  <c:v>44</c:v>
                </c:pt>
                <c:pt idx="74">
                  <c:v>45</c:v>
                </c:pt>
                <c:pt idx="75">
                  <c:v>46</c:v>
                </c:pt>
                <c:pt idx="76">
                  <c:v>47</c:v>
                </c:pt>
                <c:pt idx="77">
                  <c:v>48</c:v>
                </c:pt>
                <c:pt idx="78">
                  <c:v>49</c:v>
                </c:pt>
                <c:pt idx="79">
                  <c:v>50</c:v>
                </c:pt>
                <c:pt idx="80">
                  <c:v>51</c:v>
                </c:pt>
                <c:pt idx="81">
                  <c:v>52</c:v>
                </c:pt>
                <c:pt idx="82">
                  <c:v>53</c:v>
                </c:pt>
                <c:pt idx="83">
                  <c:v>54</c:v>
                </c:pt>
                <c:pt idx="84">
                  <c:v>55</c:v>
                </c:pt>
                <c:pt idx="85">
                  <c:v>56</c:v>
                </c:pt>
                <c:pt idx="86">
                  <c:v>57</c:v>
                </c:pt>
                <c:pt idx="87">
                  <c:v>58</c:v>
                </c:pt>
                <c:pt idx="88">
                  <c:v>59</c:v>
                </c:pt>
                <c:pt idx="89">
                  <c:v>60</c:v>
                </c:pt>
              </c:numCache>
            </c:numRef>
          </c:xVal>
          <c:yVal>
            <c:numRef>
              <c:f>'Chart Data'!$B$2:$B$91</c:f>
              <c:numCache>
                <c:formatCode>0%</c:formatCode>
                <c:ptCount val="90"/>
                <c:pt idx="0">
                  <c:v>-0.0259193269</c:v>
                </c:pt>
                <c:pt idx="1">
                  <c:v>-0.0252344171</c:v>
                </c:pt>
                <c:pt idx="2">
                  <c:v>-0.0246981888</c:v>
                </c:pt>
                <c:pt idx="3">
                  <c:v>-0.024754249</c:v>
                </c:pt>
                <c:pt idx="4">
                  <c:v>-0.0170788719</c:v>
                </c:pt>
                <c:pt idx="5">
                  <c:v>-0.0104150163</c:v>
                </c:pt>
                <c:pt idx="6">
                  <c:v>-0.0079849271</c:v>
                </c:pt>
                <c:pt idx="7">
                  <c:v>-0.0130937205</c:v>
                </c:pt>
                <c:pt idx="8">
                  <c:v>-0.0066102327</c:v>
                </c:pt>
                <c:pt idx="9">
                  <c:v>0.0015355629</c:v>
                </c:pt>
                <c:pt idx="10">
                  <c:v>-0.0095789876</c:v>
                </c:pt>
                <c:pt idx="11">
                  <c:v>-0.0109341828</c:v>
                </c:pt>
                <c:pt idx="12">
                  <c:v>-0.0118847694</c:v>
                </c:pt>
                <c:pt idx="13">
                  <c:v>-0.0070538398</c:v>
                </c:pt>
                <c:pt idx="14">
                  <c:v>-0.0129182276</c:v>
                </c:pt>
                <c:pt idx="15">
                  <c:v>-0.012823169</c:v>
                </c:pt>
                <c:pt idx="16">
                  <c:v>-0.0117068391</c:v>
                </c:pt>
                <c:pt idx="17">
                  <c:v>-0.0076583153</c:v>
                </c:pt>
                <c:pt idx="18">
                  <c:v>-0.0055645875</c:v>
                </c:pt>
                <c:pt idx="19">
                  <c:v>-0.0120090769</c:v>
                </c:pt>
                <c:pt idx="20">
                  <c:v>-0.0060398808</c:v>
                </c:pt>
                <c:pt idx="21">
                  <c:v>-0.0021717247</c:v>
                </c:pt>
                <c:pt idx="22">
                  <c:v>-0.0093986199</c:v>
                </c:pt>
                <c:pt idx="23">
                  <c:v>-0.0053330343</c:v>
                </c:pt>
                <c:pt idx="24">
                  <c:v>-0.0067613516</c:v>
                </c:pt>
                <c:pt idx="25">
                  <c:v>-0.0040753352</c:v>
                </c:pt>
                <c:pt idx="26">
                  <c:v>-0.0047017474</c:v>
                </c:pt>
                <c:pt idx="27">
                  <c:v>-0.0016549956</c:v>
                </c:pt>
                <c:pt idx="28">
                  <c:v>-0.0006654106</c:v>
                </c:pt>
                <c:pt idx="29">
                  <c:v>0</c:v>
                </c:pt>
                <c:pt idx="30">
                  <c:v>0.0072025212</c:v>
                </c:pt>
                <c:pt idx="31">
                  <c:v>0.0298654798</c:v>
                </c:pt>
                <c:pt idx="32">
                  <c:v>0.0422547913</c:v>
                </c:pt>
                <c:pt idx="33">
                  <c:v>0.0661900734</c:v>
                </c:pt>
                <c:pt idx="34">
                  <c:v>0.0846436397</c:v>
                </c:pt>
                <c:pt idx="35">
                  <c:v>0.0731147309</c:v>
                </c:pt>
                <c:pt idx="36">
                  <c:v>0.0919631562</c:v>
                </c:pt>
                <c:pt idx="37">
                  <c:v>0.1101071725</c:v>
                </c:pt>
                <c:pt idx="38">
                  <c:v>0.1428512235</c:v>
                </c:pt>
                <c:pt idx="39">
                  <c:v>0.1413741582</c:v>
                </c:pt>
                <c:pt idx="40">
                  <c:v>0.1589210111</c:v>
                </c:pt>
                <c:pt idx="41">
                  <c:v>0.1675323504</c:v>
                </c:pt>
                <c:pt idx="42">
                  <c:v>0.2093386599</c:v>
                </c:pt>
                <c:pt idx="43">
                  <c:v>0.2651088422</c:v>
                </c:pt>
                <c:pt idx="44">
                  <c:v>0.1410841074</c:v>
                </c:pt>
                <c:pt idx="45">
                  <c:v>0.1221113746</c:v>
                </c:pt>
                <c:pt idx="46">
                  <c:v>0.1512017608</c:v>
                </c:pt>
                <c:pt idx="47">
                  <c:v>0.172611895</c:v>
                </c:pt>
                <c:pt idx="48">
                  <c:v>0.205490003</c:v>
                </c:pt>
                <c:pt idx="49">
                  <c:v>0.1784031608</c:v>
                </c:pt>
                <c:pt idx="50">
                  <c:v>0.1825833043</c:v>
                </c:pt>
                <c:pt idx="51">
                  <c:v>0.174973737</c:v>
                </c:pt>
                <c:pt idx="52">
                  <c:v>0.192866701</c:v>
                </c:pt>
                <c:pt idx="53">
                  <c:v>0.2537700507</c:v>
                </c:pt>
                <c:pt idx="54">
                  <c:v>0.2440960044</c:v>
                </c:pt>
                <c:pt idx="55">
                  <c:v>0.3405707907</c:v>
                </c:pt>
                <c:pt idx="56">
                  <c:v>0.3336924438</c:v>
                </c:pt>
                <c:pt idx="57">
                  <c:v>0.3301703987</c:v>
                </c:pt>
                <c:pt idx="58">
                  <c:v>0.3866059916</c:v>
                </c:pt>
                <c:pt idx="59">
                  <c:v>0.4234424395</c:v>
                </c:pt>
                <c:pt idx="60">
                  <c:v>0.4232742588</c:v>
                </c:pt>
                <c:pt idx="61">
                  <c:v>0.4380668482</c:v>
                </c:pt>
                <c:pt idx="62">
                  <c:v>0.3983201429</c:v>
                </c:pt>
                <c:pt idx="63">
                  <c:v>0.3400833104</c:v>
                </c:pt>
                <c:pt idx="64">
                  <c:v>0.27369337</c:v>
                </c:pt>
                <c:pt idx="65">
                  <c:v>0.3162577113</c:v>
                </c:pt>
                <c:pt idx="66">
                  <c:v>0.3701632815</c:v>
                </c:pt>
                <c:pt idx="67">
                  <c:v>0.3206352843</c:v>
                </c:pt>
                <c:pt idx="68">
                  <c:v>0.3309771786</c:v>
                </c:pt>
                <c:pt idx="69">
                  <c:v>0.3558386733</c:v>
                </c:pt>
                <c:pt idx="70">
                  <c:v>0.346608234</c:v>
                </c:pt>
                <c:pt idx="71">
                  <c:v>0.4182239631</c:v>
                </c:pt>
                <c:pt idx="72">
                  <c:v>0.4094736919</c:v>
                </c:pt>
                <c:pt idx="73">
                  <c:v>0.4478115791</c:v>
                </c:pt>
                <c:pt idx="74">
                  <c:v>0.4345082421</c:v>
                </c:pt>
                <c:pt idx="75">
                  <c:v>0.4345643023</c:v>
                </c:pt>
                <c:pt idx="76">
                  <c:v>0.4258871532</c:v>
                </c:pt>
                <c:pt idx="77">
                  <c:v>0.3950515876</c:v>
                </c:pt>
                <c:pt idx="78">
                  <c:v>0.4157085648</c:v>
                </c:pt>
                <c:pt idx="79">
                  <c:v>0.4134661555</c:v>
                </c:pt>
                <c:pt idx="80">
                  <c:v>0.3913004268</c:v>
                </c:pt>
                <c:pt idx="81">
                  <c:v>0.3599676313</c:v>
                </c:pt>
                <c:pt idx="82">
                  <c:v>0.4238348612</c:v>
                </c:pt>
                <c:pt idx="83">
                  <c:v>0.4055689748</c:v>
                </c:pt>
                <c:pt idx="84">
                  <c:v>0.4036994879</c:v>
                </c:pt>
                <c:pt idx="85">
                  <c:v>0.3969795721</c:v>
                </c:pt>
                <c:pt idx="86">
                  <c:v>0.3844269547</c:v>
                </c:pt>
                <c:pt idx="87">
                  <c:v>0.3853166063</c:v>
                </c:pt>
                <c:pt idx="88">
                  <c:v>0.3376459089</c:v>
                </c:pt>
                <c:pt idx="89">
                  <c:v>0.2891976806</c:v>
                </c:pt>
              </c:numCache>
            </c:numRef>
          </c:yVal>
        </c:ser>
        <c:ser>
          <c:idx val="1"/>
          <c:order val="1"/>
          <c:tx>
            <c:v>Post minute</c:v>
          </c:tx>
          <c:spPr>
            <a:ln xmlns:a="http://schemas.openxmlformats.org/drawingml/2006/main" w="14288">
              <a:solidFill>
                <a:srgbClr val="A61955"/>
              </a:solidFill>
              <a:prstDash val="dash"/>
            </a:ln>
          </c:spPr>
          <c:marker>
            <c:symbol val="none"/>
          </c:marker>
          <c:xVal>
            <c:numRef>
              <c:f>'Chart Data'!$C$2:$C$3</c:f>
              <c:numCache>
                <c:formatCode>General</c:formatCode>
                <c:ptCount val="2"/>
                <c:pt idx="0">
                  <c:v>0</c:v>
                </c:pt>
                <c:pt idx="1">
                  <c:v>0</c:v>
                </c:pt>
              </c:numCache>
            </c:numRef>
          </c:xVal>
          <c:yVal>
            <c:numRef>
              <c:f>'Chart Data'!$D$2:$D$3</c:f>
              <c:numCache>
                <c:formatCode>0%</c:formatCode>
                <c:ptCount val="2"/>
                <c:pt idx="0">
                  <c:v>-0.1</c:v>
                </c:pt>
                <c:pt idx="1">
                  <c:v>0.5</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1"/>
        </c:scaling>
        <c:delete val="0"/>
        <c:axPos val="l"/>
        <c:majorGridlines>
          <c:spPr>
            <a:ln xmlns:a="http://schemas.openxmlformats.org/drawingml/2006/main" w="5715">
              <a:solidFill>
                <a:srgbClr val="E5E5E5"/>
              </a:solidFill>
            </a:ln>
          </c:spPr>
        </c:majorGridlines>
        <c:numFmt formatCode="0%"/>
        <c:majorTickMark val="none"/>
        <c:minorTickMark val="none"/>
        <c:tickLblPos val="low"/>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50112"/>
        <c:majorUnit val="0.2"/>
      </c:valAx>
      <c:valAx>
        <c:axId val="48650112"/>
        <c:scaling>
          <c:orientation val="minMax"/>
          <c:max val="60"/>
          <c:min val="-30"/>
        </c:scaling>
        <c:delete val="0"/>
        <c:axPos val="b"/>
        <c:numFmt formatCode="+0;-0;&quot;Post&quot;"/>
        <c:majorTickMark val="none"/>
        <c:minorTickMark val="none"/>
        <c:tickLblPos val="low"/>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ideation-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TRUMPUSDT minute close / pre-post close - 1</c:v>
          </c:tx>
          <c:spPr>
            <a:ln xmlns:a="http://schemas.openxmlformats.org/drawingml/2006/main" w="20003">
              <a:solidFill>
                <a:srgbClr val="111111"/>
              </a:solidFill>
            </a:ln>
          </c:spPr>
          <c:marker>
            <c:symbol val="none"/>
          </c:marker>
          <c:xVal>
            <c:numRef>
              <c:f>'Chart Data'!$A$2:$A$91</c:f>
              <c:numCache>
                <c:formatCode>General</c:formatCode>
                <c:ptCount val="90"/>
                <c:pt idx="0">
                  <c:v>-29</c:v>
                </c:pt>
                <c:pt idx="1">
                  <c:v>-28</c:v>
                </c:pt>
                <c:pt idx="2">
                  <c:v>-27</c:v>
                </c:pt>
                <c:pt idx="3">
                  <c:v>-26</c:v>
                </c:pt>
                <c:pt idx="4">
                  <c:v>-25</c:v>
                </c:pt>
                <c:pt idx="5">
                  <c:v>-24</c:v>
                </c:pt>
                <c:pt idx="6">
                  <c:v>-23</c:v>
                </c:pt>
                <c:pt idx="7">
                  <c:v>-22</c:v>
                </c:pt>
                <c:pt idx="8">
                  <c:v>-21</c:v>
                </c:pt>
                <c:pt idx="9">
                  <c:v>-20</c:v>
                </c:pt>
                <c:pt idx="10">
                  <c:v>-19</c:v>
                </c:pt>
                <c:pt idx="11">
                  <c:v>-18</c:v>
                </c:pt>
                <c:pt idx="12">
                  <c:v>-17</c:v>
                </c:pt>
                <c:pt idx="13">
                  <c:v>-16</c:v>
                </c:pt>
                <c:pt idx="14">
                  <c:v>-15</c:v>
                </c:pt>
                <c:pt idx="15">
                  <c:v>-14</c:v>
                </c:pt>
                <c:pt idx="16">
                  <c:v>-13</c:v>
                </c:pt>
                <c:pt idx="17">
                  <c:v>-12</c:v>
                </c:pt>
                <c:pt idx="18">
                  <c:v>-11</c:v>
                </c:pt>
                <c:pt idx="19">
                  <c:v>-10</c:v>
                </c:pt>
                <c:pt idx="20">
                  <c:v>-9</c:v>
                </c:pt>
                <c:pt idx="21">
                  <c:v>-8</c:v>
                </c:pt>
                <c:pt idx="22">
                  <c:v>-7</c:v>
                </c:pt>
                <c:pt idx="23">
                  <c:v>-6</c:v>
                </c:pt>
                <c:pt idx="24">
                  <c:v>-5</c:v>
                </c:pt>
                <c:pt idx="25">
                  <c:v>-4</c:v>
                </c:pt>
                <c:pt idx="26">
                  <c:v>-3</c:v>
                </c:pt>
                <c:pt idx="27">
                  <c:v>-2</c:v>
                </c:pt>
                <c:pt idx="28">
                  <c:v>-1</c:v>
                </c:pt>
                <c:pt idx="29">
                  <c:v>0</c:v>
                </c:pt>
                <c:pt idx="30">
                  <c:v>1</c:v>
                </c:pt>
                <c:pt idx="31">
                  <c:v>2</c:v>
                </c:pt>
                <c:pt idx="32">
                  <c:v>3</c:v>
                </c:pt>
                <c:pt idx="33">
                  <c:v>4</c:v>
                </c:pt>
                <c:pt idx="34">
                  <c:v>5</c:v>
                </c:pt>
                <c:pt idx="35">
                  <c:v>6</c:v>
                </c:pt>
                <c:pt idx="36">
                  <c:v>7</c:v>
                </c:pt>
                <c:pt idx="37">
                  <c:v>8</c:v>
                </c:pt>
                <c:pt idx="38">
                  <c:v>9</c:v>
                </c:pt>
                <c:pt idx="39">
                  <c:v>10</c:v>
                </c:pt>
                <c:pt idx="40">
                  <c:v>11</c:v>
                </c:pt>
                <c:pt idx="41">
                  <c:v>12</c:v>
                </c:pt>
                <c:pt idx="42">
                  <c:v>13</c:v>
                </c:pt>
                <c:pt idx="43">
                  <c:v>14</c:v>
                </c:pt>
                <c:pt idx="44">
                  <c:v>15</c:v>
                </c:pt>
                <c:pt idx="45">
                  <c:v>16</c:v>
                </c:pt>
                <c:pt idx="46">
                  <c:v>17</c:v>
                </c:pt>
                <c:pt idx="47">
                  <c:v>18</c:v>
                </c:pt>
                <c:pt idx="48">
                  <c:v>19</c:v>
                </c:pt>
                <c:pt idx="49">
                  <c:v>20</c:v>
                </c:pt>
                <c:pt idx="50">
                  <c:v>21</c:v>
                </c:pt>
                <c:pt idx="51">
                  <c:v>22</c:v>
                </c:pt>
                <c:pt idx="52">
                  <c:v>23</c:v>
                </c:pt>
                <c:pt idx="53">
                  <c:v>24</c:v>
                </c:pt>
                <c:pt idx="54">
                  <c:v>25</c:v>
                </c:pt>
                <c:pt idx="55">
                  <c:v>26</c:v>
                </c:pt>
                <c:pt idx="56">
                  <c:v>27</c:v>
                </c:pt>
                <c:pt idx="57">
                  <c:v>28</c:v>
                </c:pt>
                <c:pt idx="58">
                  <c:v>29</c:v>
                </c:pt>
                <c:pt idx="59">
                  <c:v>30</c:v>
                </c:pt>
                <c:pt idx="60">
                  <c:v>31</c:v>
                </c:pt>
                <c:pt idx="61">
                  <c:v>32</c:v>
                </c:pt>
                <c:pt idx="62">
                  <c:v>33</c:v>
                </c:pt>
                <c:pt idx="63">
                  <c:v>34</c:v>
                </c:pt>
                <c:pt idx="64">
                  <c:v>35</c:v>
                </c:pt>
                <c:pt idx="65">
                  <c:v>36</c:v>
                </c:pt>
                <c:pt idx="66">
                  <c:v>37</c:v>
                </c:pt>
                <c:pt idx="67">
                  <c:v>38</c:v>
                </c:pt>
                <c:pt idx="68">
                  <c:v>39</c:v>
                </c:pt>
                <c:pt idx="69">
                  <c:v>40</c:v>
                </c:pt>
                <c:pt idx="70">
                  <c:v>41</c:v>
                </c:pt>
                <c:pt idx="71">
                  <c:v>42</c:v>
                </c:pt>
                <c:pt idx="72">
                  <c:v>43</c:v>
                </c:pt>
                <c:pt idx="73">
                  <c:v>44</c:v>
                </c:pt>
                <c:pt idx="74">
                  <c:v>45</c:v>
                </c:pt>
                <c:pt idx="75">
                  <c:v>46</c:v>
                </c:pt>
                <c:pt idx="76">
                  <c:v>47</c:v>
                </c:pt>
                <c:pt idx="77">
                  <c:v>48</c:v>
                </c:pt>
                <c:pt idx="78">
                  <c:v>49</c:v>
                </c:pt>
                <c:pt idx="79">
                  <c:v>50</c:v>
                </c:pt>
                <c:pt idx="80">
                  <c:v>51</c:v>
                </c:pt>
                <c:pt idx="81">
                  <c:v>52</c:v>
                </c:pt>
                <c:pt idx="82">
                  <c:v>53</c:v>
                </c:pt>
                <c:pt idx="83">
                  <c:v>54</c:v>
                </c:pt>
                <c:pt idx="84">
                  <c:v>55</c:v>
                </c:pt>
                <c:pt idx="85">
                  <c:v>56</c:v>
                </c:pt>
                <c:pt idx="86">
                  <c:v>57</c:v>
                </c:pt>
                <c:pt idx="87">
                  <c:v>58</c:v>
                </c:pt>
                <c:pt idx="88">
                  <c:v>59</c:v>
                </c:pt>
                <c:pt idx="89">
                  <c:v>60</c:v>
                </c:pt>
              </c:numCache>
            </c:numRef>
          </c:xVal>
          <c:yVal>
            <c:numRef>
              <c:f>'Chart Data'!$B$2:$B$91</c:f>
              <c:numCache>
                <c:formatCode>0%</c:formatCode>
                <c:ptCount val="90"/>
                <c:pt idx="0">
                  <c:v>-0.0027322404</c:v>
                </c:pt>
                <c:pt idx="1">
                  <c:v>-0.0018214936</c:v>
                </c:pt>
                <c:pt idx="2">
                  <c:v>-0.0018214936</c:v>
                </c:pt>
                <c:pt idx="3">
                  <c:v>-0.0009107468</c:v>
                </c:pt>
                <c:pt idx="4">
                  <c:v>-0.0009107468</c:v>
                </c:pt>
                <c:pt idx="5">
                  <c:v>-0.0009107468</c:v>
                </c:pt>
                <c:pt idx="6">
                  <c:v>-0.0009107468</c:v>
                </c:pt>
                <c:pt idx="7">
                  <c:v>-0.0009107468</c:v>
                </c:pt>
                <c:pt idx="8">
                  <c:v>-0.0009107468</c:v>
                </c:pt>
                <c:pt idx="9">
                  <c:v>0.0009107468</c:v>
                </c:pt>
                <c:pt idx="10">
                  <c:v>0</c:v>
                </c:pt>
                <c:pt idx="11">
                  <c:v>-0.0018214936</c:v>
                </c:pt>
                <c:pt idx="12">
                  <c:v>-0.0009107468</c:v>
                </c:pt>
                <c:pt idx="13">
                  <c:v>0</c:v>
                </c:pt>
                <c:pt idx="14">
                  <c:v>0</c:v>
                </c:pt>
                <c:pt idx="15">
                  <c:v>0.0009107468</c:v>
                </c:pt>
                <c:pt idx="16">
                  <c:v>0.0009107468</c:v>
                </c:pt>
                <c:pt idx="17">
                  <c:v>0.0018214936</c:v>
                </c:pt>
                <c:pt idx="18">
                  <c:v>0.0018214936</c:v>
                </c:pt>
                <c:pt idx="19">
                  <c:v>0.0027322404</c:v>
                </c:pt>
                <c:pt idx="20">
                  <c:v>0.0027322404</c:v>
                </c:pt>
                <c:pt idx="21">
                  <c:v>0.0018214936</c:v>
                </c:pt>
                <c:pt idx="22">
                  <c:v>0.0018214936</c:v>
                </c:pt>
                <c:pt idx="23">
                  <c:v>0.0018214936</c:v>
                </c:pt>
                <c:pt idx="24">
                  <c:v>0</c:v>
                </c:pt>
                <c:pt idx="25">
                  <c:v>0</c:v>
                </c:pt>
                <c:pt idx="26">
                  <c:v>0</c:v>
                </c:pt>
                <c:pt idx="27">
                  <c:v>-0.0009107468</c:v>
                </c:pt>
                <c:pt idx="28">
                  <c:v>-0.0009107468</c:v>
                </c:pt>
                <c:pt idx="29">
                  <c:v>0</c:v>
                </c:pt>
                <c:pt idx="30">
                  <c:v>0.0218579235</c:v>
                </c:pt>
                <c:pt idx="31">
                  <c:v>0.0336976321</c:v>
                </c:pt>
                <c:pt idx="32">
                  <c:v>0.0683060109</c:v>
                </c:pt>
                <c:pt idx="33">
                  <c:v>0.1047358834</c:v>
                </c:pt>
                <c:pt idx="34">
                  <c:v>0.1174863388</c:v>
                </c:pt>
                <c:pt idx="35">
                  <c:v>0.106557377</c:v>
                </c:pt>
                <c:pt idx="36">
                  <c:v>0.1056466302</c:v>
                </c:pt>
                <c:pt idx="37">
                  <c:v>0.0928961749</c:v>
                </c:pt>
                <c:pt idx="38">
                  <c:v>0.0928961749</c:v>
                </c:pt>
                <c:pt idx="39">
                  <c:v>0.0810564663</c:v>
                </c:pt>
                <c:pt idx="40">
                  <c:v>0.0719489982</c:v>
                </c:pt>
                <c:pt idx="41">
                  <c:v>0.0765027322</c:v>
                </c:pt>
                <c:pt idx="42">
                  <c:v>0.1074681239</c:v>
                </c:pt>
                <c:pt idx="43">
                  <c:v>0.1001821494</c:v>
                </c:pt>
                <c:pt idx="44">
                  <c:v>0.1083788707</c:v>
                </c:pt>
                <c:pt idx="45">
                  <c:v>0.1120218579</c:v>
                </c:pt>
                <c:pt idx="46">
                  <c:v>0.1038251366</c:v>
                </c:pt>
                <c:pt idx="47">
                  <c:v>0.102003643</c:v>
                </c:pt>
                <c:pt idx="48">
                  <c:v>0.0928961749</c:v>
                </c:pt>
                <c:pt idx="49">
                  <c:v>0.1047358834</c:v>
                </c:pt>
                <c:pt idx="50">
                  <c:v>0.0974499089</c:v>
                </c:pt>
                <c:pt idx="51">
                  <c:v>0.1010928962</c:v>
                </c:pt>
                <c:pt idx="52">
                  <c:v>0.1083788707</c:v>
                </c:pt>
                <c:pt idx="53">
                  <c:v>0.1102003643</c:v>
                </c:pt>
                <c:pt idx="54">
                  <c:v>0.1038251366</c:v>
                </c:pt>
                <c:pt idx="55">
                  <c:v>0.1056466302</c:v>
                </c:pt>
                <c:pt idx="56">
                  <c:v>0.1029143898</c:v>
                </c:pt>
                <c:pt idx="57">
                  <c:v>0.106557377</c:v>
                </c:pt>
                <c:pt idx="58">
                  <c:v>0.0919854281</c:v>
                </c:pt>
                <c:pt idx="59">
                  <c:v>0.0883424408</c:v>
                </c:pt>
                <c:pt idx="60">
                  <c:v>0.0928961749</c:v>
                </c:pt>
                <c:pt idx="61">
                  <c:v>0.0919854281</c:v>
                </c:pt>
                <c:pt idx="62">
                  <c:v>0.1010928962</c:v>
                </c:pt>
                <c:pt idx="63">
                  <c:v>0.1010928962</c:v>
                </c:pt>
                <c:pt idx="64">
                  <c:v>0.1083788707</c:v>
                </c:pt>
                <c:pt idx="65">
                  <c:v>0.1129326047</c:v>
                </c:pt>
                <c:pt idx="66">
                  <c:v>0.1238615665</c:v>
                </c:pt>
                <c:pt idx="67">
                  <c:v>0.116575592</c:v>
                </c:pt>
                <c:pt idx="68">
                  <c:v>0.1092896175</c:v>
                </c:pt>
                <c:pt idx="69">
                  <c:v>0.1102003643</c:v>
                </c:pt>
                <c:pt idx="70">
                  <c:v>0.1092896175</c:v>
                </c:pt>
                <c:pt idx="71">
                  <c:v>0.1111111111</c:v>
                </c:pt>
                <c:pt idx="72">
                  <c:v>0.1001821494</c:v>
                </c:pt>
                <c:pt idx="73">
                  <c:v>0.1083788707</c:v>
                </c:pt>
                <c:pt idx="74">
                  <c:v>0.1083788707</c:v>
                </c:pt>
                <c:pt idx="75">
                  <c:v>0.1083788707</c:v>
                </c:pt>
                <c:pt idx="76">
                  <c:v>0.106557377</c:v>
                </c:pt>
                <c:pt idx="77">
                  <c:v>0.1092896175</c:v>
                </c:pt>
                <c:pt idx="78">
                  <c:v>0.1174863388</c:v>
                </c:pt>
                <c:pt idx="79">
                  <c:v>0.1120218579</c:v>
                </c:pt>
                <c:pt idx="80">
                  <c:v>0.1156648452</c:v>
                </c:pt>
                <c:pt idx="81">
                  <c:v>0.1129326047</c:v>
                </c:pt>
                <c:pt idx="82">
                  <c:v>0.1038251366</c:v>
                </c:pt>
                <c:pt idx="83">
                  <c:v>0.1056466302</c:v>
                </c:pt>
                <c:pt idx="84">
                  <c:v>0.1074681239</c:v>
                </c:pt>
                <c:pt idx="85">
                  <c:v>0.1047358834</c:v>
                </c:pt>
                <c:pt idx="86">
                  <c:v>0.102003643</c:v>
                </c:pt>
                <c:pt idx="87">
                  <c:v>0.0983606557</c:v>
                </c:pt>
                <c:pt idx="88">
                  <c:v>0.0928961749</c:v>
                </c:pt>
                <c:pt idx="89">
                  <c:v>0.0901639344</c:v>
                </c:pt>
              </c:numCache>
            </c:numRef>
          </c:yVal>
        </c:ser>
        <c:ser>
          <c:idx val="1"/>
          <c:order val="1"/>
          <c:tx>
            <c:v>Post minute</c:v>
          </c:tx>
          <c:spPr>
            <a:ln xmlns:a="http://schemas.openxmlformats.org/drawingml/2006/main" w="14288">
              <a:solidFill>
                <a:srgbClr val="A61955"/>
              </a:solidFill>
              <a:prstDash val="dash"/>
            </a:ln>
          </c:spPr>
          <c:marker>
            <c:symbol val="none"/>
          </c:marker>
          <c:xVal>
            <c:numRef>
              <c:f>'Chart Data'!$C$2:$C$3</c:f>
              <c:numCache>
                <c:formatCode>General</c:formatCode>
                <c:ptCount val="2"/>
                <c:pt idx="0">
                  <c:v>0</c:v>
                </c:pt>
                <c:pt idx="1">
                  <c:v>0</c:v>
                </c:pt>
              </c:numCache>
            </c:numRef>
          </c:xVal>
          <c:yVal>
            <c:numRef>
              <c:f>'Chart Data'!$D$2:$D$3</c:f>
              <c:numCache>
                <c:formatCode>0%</c:formatCode>
                <c:ptCount val="2"/>
                <c:pt idx="0">
                  <c:v>-0.05</c:v>
                </c:pt>
                <c:pt idx="1">
                  <c:v>0.15</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5"/>
          <c:min val="-0.05"/>
        </c:scaling>
        <c:delete val="0"/>
        <c:axPos val="l"/>
        <c:majorGridlines>
          <c:spPr>
            <a:ln xmlns:a="http://schemas.openxmlformats.org/drawingml/2006/main" w="5715">
              <a:solidFill>
                <a:srgbClr val="E5E5E5"/>
              </a:solidFill>
            </a:ln>
          </c:spPr>
        </c:majorGridlines>
        <c:numFmt formatCode="0%"/>
        <c:majorTickMark val="none"/>
        <c:minorTickMark val="none"/>
        <c:tickLblPos val="low"/>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50112"/>
        <c:majorUnit val="0.05"/>
      </c:valAx>
      <c:valAx>
        <c:axId val="48650112"/>
        <c:scaling>
          <c:orientation val="minMax"/>
          <c:max val="60"/>
          <c:min val="-30"/>
        </c:scaling>
        <c:delete val="0"/>
        <c:axPos val="b"/>
        <c:numFmt formatCode="+0;-0;&quot;Post&quot;"/>
        <c:majorTickMark val="none"/>
        <c:minorTickMark val="none"/>
        <c:tickLblPos val="low"/>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ideation-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TRUMP / USDT close</c:v>
          </c:tx>
          <c:spPr>
            <a:ln xmlns:a="http://schemas.openxmlformats.org/drawingml/2006/main" w="19050">
              <a:solidFill>
                <a:srgbClr val="111111"/>
              </a:solidFill>
            </a:ln>
          </c:spPr>
          <c:marker>
            <c:symbol val="none"/>
          </c:marker>
          <c:xVal>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'Chart Data'!$B$2:$B$62</c:f>
              <c:numCache>
                <c:formatCode>0.0</c:formatCode>
                <c:ptCount val="61"/>
                <c:pt idx="0">
                  <c:v>12.34</c:v>
                </c:pt>
                <c:pt idx="1">
                  <c:v>12.26</c:v>
                </c:pt>
                <c:pt idx="2">
                  <c:v>12.18</c:v>
                </c:pt>
                <c:pt idx="3">
                  <c:v>12.19</c:v>
                </c:pt>
                <c:pt idx="4">
                  <c:v>12.18</c:v>
                </c:pt>
                <c:pt idx="5">
                  <c:v>12.2</c:v>
                </c:pt>
                <c:pt idx="6">
                  <c:v>12.08</c:v>
                </c:pt>
                <c:pt idx="7">
                  <c:v>12.17</c:v>
                </c:pt>
                <c:pt idx="8">
                  <c:v>12.17</c:v>
                </c:pt>
                <c:pt idx="9">
                  <c:v>12.17</c:v>
                </c:pt>
                <c:pt idx="10">
                  <c:v>12.15</c:v>
                </c:pt>
                <c:pt idx="11">
                  <c:v>12.18</c:v>
                </c:pt>
                <c:pt idx="12">
                  <c:v>12.27</c:v>
                </c:pt>
                <c:pt idx="13">
                  <c:v>12.21</c:v>
                </c:pt>
                <c:pt idx="14">
                  <c:v>12.25</c:v>
                </c:pt>
                <c:pt idx="15">
                  <c:v>12.22</c:v>
                </c:pt>
                <c:pt idx="16">
                  <c:v>12.12</c:v>
                </c:pt>
                <c:pt idx="17">
                  <c:v>12.14</c:v>
                </c:pt>
                <c:pt idx="18">
                  <c:v>12.16</c:v>
                </c:pt>
                <c:pt idx="19">
                  <c:v>12.13</c:v>
                </c:pt>
                <c:pt idx="20">
                  <c:v>12.1</c:v>
                </c:pt>
                <c:pt idx="21">
                  <c:v>12.06</c:v>
                </c:pt>
                <c:pt idx="22">
                  <c:v>12</c:v>
                </c:pt>
                <c:pt idx="23">
                  <c:v>11.97</c:v>
                </c:pt>
                <c:pt idx="24">
                  <c:v>11.96</c:v>
                </c:pt>
                <c:pt idx="25">
                  <c:v>11.93</c:v>
                </c:pt>
                <c:pt idx="26">
                  <c:v>11.98</c:v>
                </c:pt>
                <c:pt idx="27">
                  <c:v>11.98</c:v>
                </c:pt>
                <c:pt idx="28">
                  <c:v>11.89</c:v>
                </c:pt>
                <c:pt idx="29">
                  <c:v>11.92</c:v>
                </c:pt>
                <c:pt idx="30">
                  <c:v>11.86</c:v>
                </c:pt>
                <c:pt idx="31">
                  <c:v>11.87</c:v>
                </c:pt>
                <c:pt idx="32">
                  <c:v>11.86</c:v>
                </c:pt>
                <c:pt idx="33">
                  <c:v>11.89</c:v>
                </c:pt>
                <c:pt idx="34">
                  <c:v>11.93</c:v>
                </c:pt>
                <c:pt idx="35">
                  <c:v>11.94</c:v>
                </c:pt>
                <c:pt idx="36">
                  <c:v>11.99</c:v>
                </c:pt>
                <c:pt idx="37">
                  <c:v>11.99</c:v>
                </c:pt>
                <c:pt idx="38">
                  <c:v>12</c:v>
                </c:pt>
                <c:pt idx="39">
                  <c:v>12.02</c:v>
                </c:pt>
                <c:pt idx="40">
                  <c:v>11.99</c:v>
                </c:pt>
                <c:pt idx="41">
                  <c:v>11.98</c:v>
                </c:pt>
                <c:pt idx="42">
                  <c:v>11.98</c:v>
                </c:pt>
                <c:pt idx="43">
                  <c:v>11.97</c:v>
                </c:pt>
                <c:pt idx="44">
                  <c:v>11.93</c:v>
                </c:pt>
                <c:pt idx="45">
                  <c:v>11.91</c:v>
                </c:pt>
                <c:pt idx="46">
                  <c:v>11.92</c:v>
                </c:pt>
                <c:pt idx="47">
                  <c:v>11.94</c:v>
                </c:pt>
                <c:pt idx="48">
                  <c:v>11.91</c:v>
                </c:pt>
                <c:pt idx="49">
                  <c:v>11.89</c:v>
                </c:pt>
                <c:pt idx="50">
                  <c:v>11.88</c:v>
                </c:pt>
                <c:pt idx="51">
                  <c:v>11.93</c:v>
                </c:pt>
                <c:pt idx="52">
                  <c:v>11.93</c:v>
                </c:pt>
                <c:pt idx="53">
                  <c:v>11.88</c:v>
                </c:pt>
                <c:pt idx="54">
                  <c:v>11.84</c:v>
                </c:pt>
                <c:pt idx="55">
                  <c:v>11.86</c:v>
                </c:pt>
                <c:pt idx="56">
                  <c:v>11.86</c:v>
                </c:pt>
                <c:pt idx="57">
                  <c:v>11.83</c:v>
                </c:pt>
                <c:pt idx="58">
                  <c:v>11.83</c:v>
                </c:pt>
                <c:pt idx="59">
                  <c:v>11.86</c:v>
                </c:pt>
                <c:pt idx="60">
                  <c:v>11.86</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12.4"/>
          <c:min val="11.8"/>
        </c:scaling>
        <c:delete val="0"/>
        <c:axPos val="l"/>
        <c:numFmt formatCode="0.0"/>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a:solidFill>
                  <a:srgbClr val="555555"/>
                </a:solidFill>
                <a:latin typeface="Geist"/>
                <a:ea typeface="Geist"/>
                <a:cs typeface="Geist"/>
              </a:defRPr>
            </a:pPr>
          </a:p>
        </c:txPr>
        <c:crossAx val="48650112"/>
        <c:majorUnit val="0.6"/>
      </c:valAx>
      <c:valAx>
        <c:axId val="48650112"/>
        <c:scaling>
          <c:orientation val="minMax"/>
          <c:max val="60"/>
          <c:min val="0"/>
        </c:scaling>
        <c:delete val="0"/>
        <c:axPos val="b"/>
        <c:numFmt formatCode="0&quot;m&quot;"/>
        <c:majorTickMark val="none"/>
        <c:minorTickMark val="none"/>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050">
                <a:solidFill>
                  <a:srgbClr val="555555"/>
                </a:solidFill>
                <a:latin typeface="Geist"/>
                <a:ea typeface="Geist"/>
                <a:cs typeface="Geist"/>
              </a:defRPr>
            </a:pPr>
          </a:p>
        </c:txPr>
        <c:crossAx val="48672768"/>
        <c:majorUnit val="6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buNone/>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buNone/>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7C4D6B88-EB5C-4917-98C2-D6A469EB03E3}"/>
              </a:ext>
            </a:extLst>
          </p:cNvPr>
          <p:cNvPicPr>
            <a:picLocks xmlns:a="http://schemas.openxmlformats.org/drawingml/2006/main" noChangeAspect="1"/>
          </p:cNvPicPr>
          <p:nvPr/>
        </p:nvPicPr>
        <p:blipFill>
          <a:blip xmlns:r="http://schemas.openxmlformats.org/officeDocument/2006/relationships" xmlns:a="http://schemas.openxmlformats.org/drawingml/2006/main" r:embed="Rd4b1a6719adc44ce"/>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buNone/>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B47C37CA-101E-418C-84BC-9A94C0843539}"/>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EC67684E-0031-4F74-8968-3D7DCF90E03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02</a:t>
            </a:r>
          </a:p>
        </p:txBody>
      </p:sp>
      <p:sp>
        <p:nvSpPr>
          <p:cNvPr id="3" name="01">
            <a:extLst xmlns:a="http://schemas.openxmlformats.org/drawingml/2006/main">
              <a:ext uri="{FF2B5EF4-FFF2-40B4-BE49-F238E27FC236}">
                <a16:creationId xmlns:a16="http://schemas.microsoft.com/office/drawing/2014/main" id="{959BCFCC-2C1D-45B6-ACC0-38B9F953A23C}"/>
              </a:ext>
            </a:extLst>
          </p:cNvPr>
          <p:cNvSpPr>
            <a:spLocks xmlns:a="http://schemas.openxmlformats.org/drawingml/2006/main" noGrp="1"/>
          </p:cNvSpPr>
          <p:nvPr/>
        </p:nvSpPr>
        <p:spPr>
          <a:xfrm xmlns:a="http://schemas.openxmlformats.org/drawingml/2006/main">
            <a:off x="704850" y="1724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60BD018B-1438-495D-BE01-FEFC16026BFC}"/>
              </a:ext>
            </a:extLst>
          </p:cNvPr>
          <p:cNvSpPr>
            <a:spLocks xmlns:a="http://schemas.openxmlformats.org/drawingml/2006/main" noGrp="1"/>
          </p:cNvSpPr>
          <p:nvPr/>
        </p:nvSpPr>
        <p:spPr>
          <a:xfrm xmlns:a="http://schemas.openxmlformats.org/drawingml/2006/main">
            <a:off x="1828800" y="16954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Ideation</a:t>
            </a:r>
          </a:p>
        </p:txBody>
      </p:sp>
      <p:sp>
        <p:nvSpPr>
          <p:cNvPr id="5" name="Why predict meme coin prices?">
            <a:extLst xmlns:a="http://schemas.openxmlformats.org/drawingml/2006/main">
              <a:ext uri="{FF2B5EF4-FFF2-40B4-BE49-F238E27FC236}">
                <a16:creationId xmlns:a16="http://schemas.microsoft.com/office/drawing/2014/main" id="{D191383F-021C-4421-B0B3-923E84413DDE}"/>
              </a:ext>
            </a:extLst>
          </p:cNvPr>
          <p:cNvSpPr>
            <a:spLocks xmlns:a="http://schemas.openxmlformats.org/drawingml/2006/main" noGrp="1"/>
          </p:cNvSpPr>
          <p:nvPr/>
        </p:nvSpPr>
        <p:spPr>
          <a:xfrm xmlns:a="http://schemas.openxmlformats.org/drawingml/2006/main">
            <a:off x="7762875" y="17430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Why predict meme coin prices?</a:t>
            </a:r>
          </a:p>
        </p:txBody>
      </p:sp>
      <p:cxnSp>
        <p:nvCxnSpPr>
          <p:cNvPr id="6" name="Data flow">
            <a:extLst xmlns:a="http://schemas.openxmlformats.org/drawingml/2006/main">
              <a:ext uri="{FF2B5EF4-FFF2-40B4-BE49-F238E27FC236}">
                <a16:creationId xmlns:a16="http://schemas.microsoft.com/office/drawing/2014/main" id="{9FCAAB89-358D-4823-8253-DA3B900FC112}"/>
              </a:ext>
            </a:extLst>
          </p:cNvPr>
          <p:cNvCxnSpPr/>
          <p:nvPr/>
        </p:nvCxnSpPr>
        <p:spPr>
          <a:xfrm xmlns:a="http://schemas.openxmlformats.org/drawingml/2006/main">
            <a:off x="1828800" y="23907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7" name="02">
            <a:extLst xmlns:a="http://schemas.openxmlformats.org/drawingml/2006/main">
              <a:ext uri="{FF2B5EF4-FFF2-40B4-BE49-F238E27FC236}">
                <a16:creationId xmlns:a16="http://schemas.microsoft.com/office/drawing/2014/main" id="{E640B5D3-7D81-41BE-A870-05846EE12EF1}"/>
              </a:ext>
            </a:extLst>
          </p:cNvPr>
          <p:cNvSpPr>
            <a:spLocks xmlns:a="http://schemas.openxmlformats.org/drawingml/2006/main" noGrp="1"/>
          </p:cNvSpPr>
          <p:nvPr/>
        </p:nvSpPr>
        <p:spPr>
          <a:xfrm xmlns:a="http://schemas.openxmlformats.org/drawingml/2006/main">
            <a:off x="704850" y="27527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D655A41E-8C06-4703-83D8-702CAB35B358}"/>
              </a:ext>
            </a:extLst>
          </p:cNvPr>
          <p:cNvSpPr>
            <a:spLocks xmlns:a="http://schemas.openxmlformats.org/drawingml/2006/main" noGrp="1"/>
          </p:cNvSpPr>
          <p:nvPr/>
        </p:nvSpPr>
        <p:spPr>
          <a:xfrm xmlns:a="http://schemas.openxmlformats.org/drawingml/2006/main">
            <a:off x="1828800" y="27241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 collection</a:t>
            </a:r>
          </a:p>
        </p:txBody>
      </p:sp>
      <p:sp>
        <p:nvSpPr>
          <p:cNvPr id="9" name="Crawling, APIs and source coverage">
            <a:extLst xmlns:a="http://schemas.openxmlformats.org/drawingml/2006/main">
              <a:ext uri="{FF2B5EF4-FFF2-40B4-BE49-F238E27FC236}">
                <a16:creationId xmlns:a16="http://schemas.microsoft.com/office/drawing/2014/main" id="{54093CEF-B202-492D-B548-1E5A15EB936F}"/>
              </a:ext>
            </a:extLst>
          </p:cNvPr>
          <p:cNvSpPr>
            <a:spLocks xmlns:a="http://schemas.openxmlformats.org/drawingml/2006/main" noGrp="1"/>
          </p:cNvSpPr>
          <p:nvPr/>
        </p:nvSpPr>
        <p:spPr>
          <a:xfrm xmlns:a="http://schemas.openxmlformats.org/drawingml/2006/main">
            <a:off x="7762875" y="27717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Crawling, APIs and source coverage</a:t>
            </a:r>
          </a:p>
        </p:txBody>
      </p:sp>
      <p:cxnSp>
        <p:nvCxnSpPr>
          <p:cNvPr id="10" name="Data flow">
            <a:extLst xmlns:a="http://schemas.openxmlformats.org/drawingml/2006/main">
              <a:ext uri="{FF2B5EF4-FFF2-40B4-BE49-F238E27FC236}">
                <a16:creationId xmlns:a16="http://schemas.microsoft.com/office/drawing/2014/main" id="{D9EBF4A6-85CD-4096-A7D8-03BCF30557D8}"/>
              </a:ext>
            </a:extLst>
          </p:cNvPr>
          <p:cNvCxnSpPr/>
          <p:nvPr/>
        </p:nvCxnSpPr>
        <p:spPr>
          <a:xfrm xmlns:a="http://schemas.openxmlformats.org/drawingml/2006/main">
            <a:off x="1828800" y="34194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03">
            <a:extLst xmlns:a="http://schemas.openxmlformats.org/drawingml/2006/main">
              <a:ext uri="{FF2B5EF4-FFF2-40B4-BE49-F238E27FC236}">
                <a16:creationId xmlns:a16="http://schemas.microsoft.com/office/drawing/2014/main" id="{6D84DE97-FFC3-4BBC-910A-4EDED094AD7B}"/>
              </a:ext>
            </a:extLst>
          </p:cNvPr>
          <p:cNvSpPr>
            <a:spLocks xmlns:a="http://schemas.openxmlformats.org/drawingml/2006/main" noGrp="1"/>
          </p:cNvSpPr>
          <p:nvPr/>
        </p:nvSpPr>
        <p:spPr>
          <a:xfrm xmlns:a="http://schemas.openxmlformats.org/drawingml/2006/main">
            <a:off x="704850" y="37814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03</a:t>
            </a:r>
          </a:p>
        </p:txBody>
      </p:sp>
      <p:sp>
        <p:nvSpPr>
          <p:cNvPr id="12" name="Pipeline &amp; preprocessing">
            <a:extLst xmlns:a="http://schemas.openxmlformats.org/drawingml/2006/main">
              <a:ext uri="{FF2B5EF4-FFF2-40B4-BE49-F238E27FC236}">
                <a16:creationId xmlns:a16="http://schemas.microsoft.com/office/drawing/2014/main" id="{B0B49933-3727-4FE9-9482-354EDF5D1820}"/>
              </a:ext>
            </a:extLst>
          </p:cNvPr>
          <p:cNvSpPr>
            <a:spLocks xmlns:a="http://schemas.openxmlformats.org/drawingml/2006/main" noGrp="1"/>
          </p:cNvSpPr>
          <p:nvPr/>
        </p:nvSpPr>
        <p:spPr>
          <a:xfrm xmlns:a="http://schemas.openxmlformats.org/drawingml/2006/main">
            <a:off x="1828800" y="37528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Pipeline &amp; preprocessing</a:t>
            </a:r>
          </a:p>
        </p:txBody>
      </p:sp>
      <p:sp>
        <p:nvSpPr>
          <p:cNvPr id="13" name="Frozen inputs for the model">
            <a:extLst xmlns:a="http://schemas.openxmlformats.org/drawingml/2006/main">
              <a:ext uri="{FF2B5EF4-FFF2-40B4-BE49-F238E27FC236}">
                <a16:creationId xmlns:a16="http://schemas.microsoft.com/office/drawing/2014/main" id="{0388138B-5CF7-48F3-B2F6-966649E81F7A}"/>
              </a:ext>
            </a:extLst>
          </p:cNvPr>
          <p:cNvSpPr>
            <a:spLocks xmlns:a="http://schemas.openxmlformats.org/drawingml/2006/main" noGrp="1"/>
          </p:cNvSpPr>
          <p:nvPr/>
        </p:nvSpPr>
        <p:spPr>
          <a:xfrm xmlns:a="http://schemas.openxmlformats.org/drawingml/2006/main">
            <a:off x="7762875" y="38004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Frozen inputs for the model</a:t>
            </a:r>
          </a:p>
        </p:txBody>
      </p:sp>
      <p:cxnSp>
        <p:nvCxnSpPr>
          <p:cNvPr id="14" name="Data flow">
            <a:extLst xmlns:a="http://schemas.openxmlformats.org/drawingml/2006/main">
              <a:ext uri="{FF2B5EF4-FFF2-40B4-BE49-F238E27FC236}">
                <a16:creationId xmlns:a16="http://schemas.microsoft.com/office/drawing/2014/main" id="{7160429F-CFA4-456D-B0E7-B2BD9085DD71}"/>
              </a:ext>
            </a:extLst>
          </p:cNvPr>
          <p:cNvCxnSpPr/>
          <p:nvPr/>
        </p:nvCxnSpPr>
        <p:spPr>
          <a:xfrm xmlns:a="http://schemas.openxmlformats.org/drawingml/2006/main">
            <a:off x="1828800" y="44481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5" name="04">
            <a:extLst xmlns:a="http://schemas.openxmlformats.org/drawingml/2006/main">
              <a:ext uri="{FF2B5EF4-FFF2-40B4-BE49-F238E27FC236}">
                <a16:creationId xmlns:a16="http://schemas.microsoft.com/office/drawing/2014/main" id="{BA8B2C28-7F2A-4C02-99E3-152A70C3EF8E}"/>
              </a:ext>
            </a:extLst>
          </p:cNvPr>
          <p:cNvSpPr>
            <a:spLocks xmlns:a="http://schemas.openxmlformats.org/drawingml/2006/main" noGrp="1"/>
          </p:cNvSpPr>
          <p:nvPr/>
        </p:nvSpPr>
        <p:spPr>
          <a:xfrm xmlns:a="http://schemas.openxmlformats.org/drawingml/2006/main">
            <a:off x="704850" y="4810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04</a:t>
            </a:r>
          </a:p>
        </p:txBody>
      </p:sp>
      <p:sp>
        <p:nvSpPr>
          <p:cNvPr id="16" name="Database &amp; dashboard">
            <a:extLst xmlns:a="http://schemas.openxmlformats.org/drawingml/2006/main">
              <a:ext uri="{FF2B5EF4-FFF2-40B4-BE49-F238E27FC236}">
                <a16:creationId xmlns:a16="http://schemas.microsoft.com/office/drawing/2014/main" id="{F423E24F-A834-4411-8D9B-CA5752746FD9}"/>
              </a:ext>
            </a:extLst>
          </p:cNvPr>
          <p:cNvSpPr>
            <a:spLocks xmlns:a="http://schemas.openxmlformats.org/drawingml/2006/main" noGrp="1"/>
          </p:cNvSpPr>
          <p:nvPr/>
        </p:nvSpPr>
        <p:spPr>
          <a:xfrm xmlns:a="http://schemas.openxmlformats.org/drawingml/2006/main">
            <a:off x="1828800" y="47815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Database &amp; dashboard</a:t>
            </a:r>
          </a:p>
        </p:txBody>
      </p:sp>
      <p:sp>
        <p:nvSpPr>
          <p:cNvPr id="17" name="Predictions, evidence and results">
            <a:extLst xmlns:a="http://schemas.openxmlformats.org/drawingml/2006/main">
              <a:ext uri="{FF2B5EF4-FFF2-40B4-BE49-F238E27FC236}">
                <a16:creationId xmlns:a16="http://schemas.microsoft.com/office/drawing/2014/main" id="{26CA00E5-9858-40C9-A063-17609D728E97}"/>
              </a:ext>
            </a:extLst>
          </p:cNvPr>
          <p:cNvSpPr>
            <a:spLocks xmlns:a="http://schemas.openxmlformats.org/drawingml/2006/main" noGrp="1"/>
          </p:cNvSpPr>
          <p:nvPr/>
        </p:nvSpPr>
        <p:spPr>
          <a:xfrm xmlns:a="http://schemas.openxmlformats.org/drawingml/2006/main">
            <a:off x="7762875" y="48291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Predictions, evidence and results</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Why meme coins?">
            <a:extLst xmlns:a="http://schemas.openxmlformats.org/drawingml/2006/main">
              <a:ext uri="{FF2B5EF4-FFF2-40B4-BE49-F238E27FC236}">
                <a16:creationId xmlns:a16="http://schemas.microsoft.com/office/drawing/2014/main" id="{78ADE560-A272-4364-826C-BEF0E8C18666}"/>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When they post">
            <a:extLst xmlns:a="http://schemas.openxmlformats.org/drawingml/2006/main">
              <a:ext uri="{FF2B5EF4-FFF2-40B4-BE49-F238E27FC236}">
                <a16:creationId xmlns:a16="http://schemas.microsoft.com/office/drawing/2014/main" id="{F4353B7A-309D-4870-930A-AFCFD2F9D945}"/>
              </a:ext>
            </a:extLst>
          </p:cNvPr>
          <p:cNvSpPr>
            <a:spLocks xmlns:a="http://schemas.openxmlformats.org/drawingml/2006/main" noGrp="1"/>
          </p:cNvSpPr>
          <p:nvPr/>
        </p:nvSpPr>
        <p:spPr>
          <a:xfrm xmlns:a="http://schemas.openxmlformats.org/drawingml/2006/main">
            <a:off x="685800" y="1362075"/>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buNone/>
              <a:defRPr sz="2325" b="1">
                <a:solidFill>
                  <a:srgbClr val="111111"/>
                </a:solidFill>
                <a:latin typeface="Geist"/>
                <a:ea typeface="Geist"/>
                <a:cs typeface="Geist"/>
              </a:defRPr>
            </a:pPr>
            <a:r>
              <a:rPr sz="2325" b="1">
                <a:solidFill>
                  <a:srgbClr val="111111"/>
                </a:solidFill>
                <a:latin typeface="Geist"/>
                <a:ea typeface="Geist"/>
                <a:cs typeface="Geist"/>
              </a:rPr>
              <a:t>When they post</a:t>
            </a:r>
          </a:p>
        </p:txBody>
      </p:sp>
      <p:sp>
        <p:nvSpPr>
          <p:cNvPr id="3" name="When we buy…">
            <a:extLst xmlns:a="http://schemas.openxmlformats.org/drawingml/2006/main">
              <a:ext uri="{FF2B5EF4-FFF2-40B4-BE49-F238E27FC236}">
                <a16:creationId xmlns:a16="http://schemas.microsoft.com/office/drawing/2014/main" id="{4BDF7291-9592-43FA-A0AD-78D21AF6DC86}"/>
              </a:ext>
            </a:extLst>
          </p:cNvPr>
          <p:cNvSpPr>
            <a:spLocks xmlns:a="http://schemas.openxmlformats.org/drawingml/2006/main" noGrp="1"/>
          </p:cNvSpPr>
          <p:nvPr/>
        </p:nvSpPr>
        <p:spPr>
          <a:xfrm xmlns:a="http://schemas.openxmlformats.org/drawingml/2006/main">
            <a:off x="8353425" y="1362075"/>
            <a:ext cx="3171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buNone/>
              <a:defRPr sz="2325" b="1">
                <a:solidFill>
                  <a:srgbClr val="A61955"/>
                </a:solidFill>
                <a:latin typeface="Geist"/>
                <a:ea typeface="Geist"/>
                <a:cs typeface="Geist"/>
              </a:defRPr>
            </a:pPr>
            <a:r>
              <a:rPr sz="2325" b="1">
                <a:solidFill>
                  <a:srgbClr val="A61955"/>
                </a:solidFill>
                <a:latin typeface="Geist"/>
                <a:ea typeface="Geist"/>
                <a:cs typeface="Geist"/>
              </a:rPr>
              <a:t>When we buy…</a:t>
            </a:r>
          </a:p>
        </p:txBody>
      </p:sp>
      <p:sp>
        <p:nvSpPr>
          <p:cNvPr id="4" name="">
            <a:extLst xmlns:a="http://schemas.openxmlformats.org/drawingml/2006/main">
              <a:ext uri="{FF2B5EF4-FFF2-40B4-BE49-F238E27FC236}">
                <a16:creationId xmlns:a16="http://schemas.microsoft.com/office/drawing/2014/main" id="{43692F38-D133-4809-B58A-FA55CF5B1040}"/>
              </a:ext>
            </a:extLst>
          </p:cNvPr>
          <p:cNvSpPr>
            <a:spLocks xmlns:a="http://schemas.openxmlformats.org/drawingml/2006/main" noGrp="1"/>
          </p:cNvSpPr>
          <p:nvPr/>
        </p:nvSpPr>
        <p:spPr>
          <a:xfrm xmlns:a="http://schemas.openxmlformats.org/drawingml/2006/main">
            <a:off x="7953375" y="1419225"/>
            <a:ext cx="0" cy="3971925"/>
          </a:xfrm>
          <a:prstGeom xmlns:a="http://schemas.openxmlformats.org/drawingml/2006/main" prst="line">
            <a:avLst/>
          </a:prstGeom>
          <a:noFill xmlns:a="http://schemas.openxmlformats.org/drawingml/2006/main"/>
          <a:ln xmlns:a="http://schemas.openxmlformats.org/drawingml/2006/main" w="9525">
            <a:solidFill>
              <a:srgbClr val="D5D5D5"/>
            </a:solidFill>
          </a:ln>
        </p:spPr>
      </p:sp>
      <p:graphicFrame>
        <p:nvGraphicFramePr>
          <p:cNvPr id="10" name="Chart">
            <a:extLst xmlns:a="http://schemas.openxmlformats.org/drawingml/2006/main">
              <a:ext uri="{FF2B5EF4-FFF2-40B4-BE49-F238E27FC236}">
                <a16:creationId xmlns:a16="http://schemas.microsoft.com/office/drawing/2014/main" id="{DE7A7DC5-6BFA-4414-B928-9FF9C8B9E3C8}"/>
              </a:ext>
            </a:extLst>
          </p:cNvPr>
          <p:cNvGraphicFramePr/>
          <p:nvPr/>
        </p:nvGraphicFramePr>
        <p:xfrm>
          <a:off xmlns:a="http://schemas.openxmlformats.org/drawingml/2006/main" x="4171950" y="2276475"/>
          <a:ext xmlns:a="http://schemas.openxmlformats.org/drawingml/2006/main" cx="3476625" cy="1457325"/>
        </p:xfrm>
        <a:graphic xmlns:a="http://schemas.openxmlformats.org/drawingml/2006/main">
          <a:graphicData uri="http://schemas.openxmlformats.org/drawingml/2006/chart">
            <c:chart xmlns:r="http://schemas.openxmlformats.org/officeDocument/2006/relationships" xmlns:c="http://schemas.openxmlformats.org/drawingml/2006/chart" r:id="R65e7f1aff8a74267"/>
          </a:graphicData>
        </a:graphic>
      </p:graphicFrame>
      <p:sp>
        <p:nvSpPr>
          <p:cNvPr id="11" name="">
            <a:extLst xmlns:a="http://schemas.openxmlformats.org/drawingml/2006/main">
              <a:ext uri="{FF2B5EF4-FFF2-40B4-BE49-F238E27FC236}">
                <a16:creationId xmlns:a16="http://schemas.microsoft.com/office/drawing/2014/main" id="{35D6350B-0024-4AB4-B272-FA9D325279AE}"/>
              </a:ext>
            </a:extLst>
          </p:cNvPr>
          <p:cNvSpPr>
            <a:spLocks xmlns:a="http://schemas.openxmlformats.org/drawingml/2006/main" noGrp="1"/>
          </p:cNvSpPr>
          <p:nvPr/>
        </p:nvSpPr>
        <p:spPr>
          <a:xfrm xmlns:a="http://schemas.openxmlformats.org/drawingml/2006/main">
            <a:off x="685800" y="3829050"/>
            <a:ext cx="6962775" cy="0"/>
          </a:xfrm>
          <a:prstGeom xmlns:a="http://schemas.openxmlformats.org/drawingml/2006/main" prst="line">
            <a:avLst/>
          </a:prstGeom>
          <a:noFill xmlns:a="http://schemas.openxmlformats.org/drawingml/2006/main"/>
          <a:ln xmlns:a="http://schemas.openxmlformats.org/drawingml/2006/main" w="9525">
            <a:solidFill>
              <a:srgbClr val="D5D5D5"/>
            </a:solidFill>
          </a:ln>
        </p:spPr>
      </p:sp>
      <p:graphicFrame>
        <p:nvGraphicFramePr>
          <p:cNvPr id="17" name="Chart">
            <a:extLst xmlns:a="http://schemas.openxmlformats.org/drawingml/2006/main">
              <a:ext uri="{FF2B5EF4-FFF2-40B4-BE49-F238E27FC236}">
                <a16:creationId xmlns:a16="http://schemas.microsoft.com/office/drawing/2014/main" id="{6D6758C2-D46D-4D31-A18B-C96078CAC749}"/>
              </a:ext>
            </a:extLst>
          </p:cNvPr>
          <p:cNvGraphicFramePr/>
          <p:nvPr/>
        </p:nvGraphicFramePr>
        <p:xfrm>
          <a:off xmlns:a="http://schemas.openxmlformats.org/drawingml/2006/main" x="4171950" y="4267200"/>
          <a:ext xmlns:a="http://schemas.openxmlformats.org/drawingml/2006/main" cx="3476625" cy="1457325"/>
        </p:xfrm>
        <a:graphic xmlns:a="http://schemas.openxmlformats.org/drawingml/2006/main">
          <a:graphicData uri="http://schemas.openxmlformats.org/drawingml/2006/chart">
            <c:chart xmlns:r="http://schemas.openxmlformats.org/officeDocument/2006/relationships" xmlns:c="http://schemas.openxmlformats.org/drawingml/2006/chart" r:id="R3f29daffdfc449a1"/>
          </a:graphicData>
        </a:graphic>
      </p:graphicFrame>
      <p:pic>
        <p:nvPicPr>
          <p:cNvPr id="18" name="">
            <a:extLst xmlns:a="http://schemas.openxmlformats.org/drawingml/2006/main">
              <a:ext uri="{FF2B5EF4-FFF2-40B4-BE49-F238E27FC236}">
                <a16:creationId xmlns:a16="http://schemas.microsoft.com/office/drawing/2014/main" id="{EDF2AD6D-D2F7-4FFB-8D63-F2B535F521E0}"/>
              </a:ext>
            </a:extLst>
          </p:cNvPr>
          <p:cNvPicPr>
            <a:picLocks xmlns:a="http://schemas.openxmlformats.org/drawingml/2006/main" noChangeAspect="1"/>
          </p:cNvPicPr>
          <p:nvPr/>
        </p:nvPicPr>
        <p:blipFill>
          <a:blip xmlns:r="http://schemas.openxmlformats.org/officeDocument/2006/relationships" xmlns:a="http://schemas.openxmlformats.org/drawingml/2006/main" r:embed="R4a987038566d4e97"/>
          <a:srcRect xmlns:a="http://schemas.openxmlformats.org/drawingml/2006/main" l="15300" t="21000" r="15800" b="19000"/>
          <a:stretch xmlns:a="http://schemas.openxmlformats.org/drawingml/2006/main"/>
        </p:blipFill>
        <p:spPr>
          <a:xfrm xmlns:a="http://schemas.openxmlformats.org/drawingml/2006/main">
            <a:off x="8562975" y="1924050"/>
            <a:ext cx="2828925" cy="2219325"/>
          </a:xfrm>
          <a:prstGeom xmlns:a="http://schemas.openxmlformats.org/drawingml/2006/main" prst="rect">
            <a:avLst/>
          </a:prstGeom>
        </p:spPr>
      </p:pic>
      <p:sp>
        <p:nvSpPr>
          <p:cNvPr id="19" name="TRUMP after the spike">
            <a:extLst xmlns:a="http://schemas.openxmlformats.org/drawingml/2006/main">
              <a:ext uri="{FF2B5EF4-FFF2-40B4-BE49-F238E27FC236}">
                <a16:creationId xmlns:a16="http://schemas.microsoft.com/office/drawing/2014/main" id="{C63C2B83-4831-400A-8388-58B8F8BCD39B}"/>
              </a:ext>
            </a:extLst>
          </p:cNvPr>
          <p:cNvSpPr>
            <a:spLocks xmlns:a="http://schemas.openxmlformats.org/drawingml/2006/main" noGrp="1"/>
          </p:cNvSpPr>
          <p:nvPr/>
        </p:nvSpPr>
        <p:spPr>
          <a:xfrm xmlns:a="http://schemas.openxmlformats.org/drawingml/2006/main">
            <a:off x="8353425" y="42767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11111"/>
                </a:solidFill>
                <a:latin typeface="Geist"/>
                <a:ea typeface="Geist"/>
                <a:cs typeface="Geist"/>
              </a:defRPr>
            </a:defPPr>
          </a:lstStyle>
          <a:p xmlns:a="http://schemas.openxmlformats.org/drawingml/2006/main">
            <a:pPr algn="l">
              <a:buNone/>
              <a:defRPr sz="1500" b="1">
                <a:solidFill>
                  <a:srgbClr val="111111"/>
                </a:solidFill>
                <a:latin typeface="Geist"/>
                <a:ea typeface="Geist"/>
                <a:cs typeface="Geist"/>
              </a:defRPr>
            </a:pPr>
            <a:r>
              <a:rPr sz="1500" b="1">
                <a:solidFill>
                  <a:srgbClr val="111111"/>
                </a:solidFill>
                <a:latin typeface="Geist"/>
                <a:ea typeface="Geist"/>
                <a:cs typeface="Geist"/>
              </a:rPr>
              <a:t>TRUMP after the spike</a:t>
            </a:r>
          </a:p>
        </p:txBody>
      </p:sp>
      <p:graphicFrame>
        <p:nvGraphicFramePr>
          <p:cNvPr id="20" name="Chart">
            <a:extLst xmlns:a="http://schemas.openxmlformats.org/drawingml/2006/main">
              <a:ext uri="{FF2B5EF4-FFF2-40B4-BE49-F238E27FC236}">
                <a16:creationId xmlns:a16="http://schemas.microsoft.com/office/drawing/2014/main" id="{2D2688C7-AD69-405F-912C-8C598B8CE638}"/>
              </a:ext>
            </a:extLst>
          </p:cNvPr>
          <p:cNvGraphicFramePr/>
          <p:nvPr/>
        </p:nvGraphicFramePr>
        <p:xfrm>
          <a:off xmlns:a="http://schemas.openxmlformats.org/drawingml/2006/main" x="8305800" y="4572000"/>
          <a:ext xmlns:a="http://schemas.openxmlformats.org/drawingml/2006/main" cx="3219450" cy="876300"/>
        </p:xfrm>
        <a:graphic xmlns:a="http://schemas.openxmlformats.org/drawingml/2006/main">
          <a:graphicData uri="http://schemas.openxmlformats.org/drawingml/2006/chart">
            <c:chart xmlns:r="http://schemas.openxmlformats.org/officeDocument/2006/relationships" xmlns:c="http://schemas.openxmlformats.org/drawingml/2006/chart" r:id="Re2b8618ec0144afb"/>
          </a:graphicData>
        </a:graphic>
      </p:graphicFrame>
      <p:sp>
        <p:nvSpPr>
          <p:cNvPr id="21" name="16:09–17:09 UTC, 23 Mar 2025. USDT.&#10;Meme caption, not our trade.">
            <a:extLst xmlns:a="http://schemas.openxmlformats.org/drawingml/2006/main">
              <a:ext uri="{FF2B5EF4-FFF2-40B4-BE49-F238E27FC236}">
                <a16:creationId xmlns:a16="http://schemas.microsoft.com/office/drawing/2014/main" id="{1548A0E9-9A5C-4620-B55C-061087064759}"/>
              </a:ext>
            </a:extLst>
          </p:cNvPr>
          <p:cNvSpPr>
            <a:spLocks xmlns:a="http://schemas.openxmlformats.org/drawingml/2006/main" noGrp="1"/>
          </p:cNvSpPr>
          <p:nvPr/>
        </p:nvSpPr>
        <p:spPr>
          <a:xfrm xmlns:a="http://schemas.openxmlformats.org/drawingml/2006/main">
            <a:off x="8353425" y="5476875"/>
            <a:ext cx="3181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55555"/>
                </a:solidFill>
                <a:latin typeface="Geist"/>
                <a:ea typeface="Geist"/>
                <a:cs typeface="Geist"/>
              </a:defRPr>
            </a:defPPr>
          </a:lstStyle>
          <a:p xmlns:a="http://schemas.openxmlformats.org/drawingml/2006/main">
            <a:pPr algn="l">
              <a:buNone/>
              <a:defRPr sz="1013" b="0">
                <a:solidFill>
                  <a:srgbClr val="555555"/>
                </a:solidFill>
                <a:latin typeface="Geist"/>
                <a:ea typeface="Geist"/>
                <a:cs typeface="Geist"/>
              </a:defRPr>
            </a:pPr>
            <a:r>
              <a:rPr sz="1013" b="0">
                <a:solidFill>
                  <a:srgbClr val="555555"/>
                </a:solidFill>
                <a:latin typeface="Geist"/>
                <a:ea typeface="Geist"/>
                <a:cs typeface="Geist"/>
              </a:rPr>
              <a:t>16:09–17:09 UTC, 23 Mar 2025. USDT.</a:t>
            </a:r>
          </a:p>
          <a:p xmlns:a="http://schemas.openxmlformats.org/drawingml/2006/main">
            <a:pPr algn="l">
              <a:buNone/>
              <a:defRPr sz="1013" b="0">
                <a:solidFill>
                  <a:srgbClr val="555555"/>
                </a:solidFill>
                <a:latin typeface="Geist"/>
                <a:ea typeface="Geist"/>
                <a:cs typeface="Geist"/>
              </a:defRPr>
            </a:pPr>
            <a:r>
              <a:rPr sz="1013" b="0">
                <a:solidFill>
                  <a:srgbClr val="555555"/>
                </a:solidFill>
                <a:latin typeface="Geist"/>
                <a:ea typeface="Geist"/>
                <a:cs typeface="Geist"/>
              </a:rPr>
              <a:t>Meme caption, not our trade.</a:t>
            </a:r>
          </a:p>
        </p:txBody>
      </p:sp>
      <p:sp>
        <p:nvSpPr>
          <p:cNvPr id="22" name="Can prices + posts predict the next move?">
            <a:extLst xmlns:a="http://schemas.openxmlformats.org/drawingml/2006/main">
              <a:ext uri="{FF2B5EF4-FFF2-40B4-BE49-F238E27FC236}">
                <a16:creationId xmlns:a16="http://schemas.microsoft.com/office/drawing/2014/main" id="{2CE48EE2-1383-4022-AED2-F42D7A32442D}"/>
              </a:ext>
            </a:extLst>
          </p:cNvPr>
          <p:cNvSpPr>
            <a:spLocks xmlns:a="http://schemas.openxmlformats.org/drawingml/2006/main" noGrp="1"/>
          </p:cNvSpPr>
          <p:nvPr/>
        </p:nvSpPr>
        <p:spPr>
          <a:xfrm xmlns:a="http://schemas.openxmlformats.org/drawingml/2006/main">
            <a:off x="685800" y="58769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61955"/>
                </a:solidFill>
                <a:latin typeface="Geist"/>
                <a:ea typeface="Geist"/>
                <a:cs typeface="Geist"/>
              </a:defRPr>
            </a:defPPr>
          </a:lstStyle>
          <a:p xmlns:a="http://schemas.openxmlformats.org/drawingml/2006/main">
            <a:pPr algn="l">
              <a:buNone/>
              <a:defRPr sz="2625" b="1">
                <a:solidFill>
                  <a:srgbClr val="A61955"/>
                </a:solidFill>
                <a:latin typeface="Geist"/>
                <a:ea typeface="Geist"/>
                <a:cs typeface="Geist"/>
              </a:defRPr>
            </a:pPr>
            <a:r>
              <a:rPr sz="2625" b="1">
                <a:solidFill>
                  <a:srgbClr val="A61955"/>
                </a:solidFill>
                <a:latin typeface="Geist"/>
                <a:ea typeface="Geist"/>
                <a:cs typeface="Geist"/>
              </a:rPr>
              <a:t>Can prices + posts predict the next move?</a:t>
            </a:r>
          </a:p>
        </p:txBody>
      </p:sp>
      <p:sp>
        <p:nvSpPr>
          <p:cNvPr id="24" name="03">
            <a:extLst xmlns:a="http://schemas.openxmlformats.org/drawingml/2006/main">
              <a:ext uri="{FF2B5EF4-FFF2-40B4-BE49-F238E27FC236}">
                <a16:creationId xmlns:a16="http://schemas.microsoft.com/office/drawing/2014/main" id="{DD875651-3968-4E4E-B51A-08666988AD11}"/>
              </a:ext>
            </a:extLst>
          </p:cNvPr>
          <p:cNvSpPr>
            <a:spLocks xmlns:a="http://schemas.openxmlformats.org/drawingml/2006/main" noGrp="1"/>
          </p:cNvSpPr>
          <p:nvPr/>
        </p:nvSpPr>
        <p:spPr>
          <a:xfrm xmlns:a="http://schemas.openxmlformats.org/drawingml/2006/main">
            <a:off x="11096625" y="6438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buNone/>
              <a:defRPr sz="1200" b="0">
                <a:solidFill>
                  <a:srgbClr val="555555"/>
                </a:solidFill>
                <a:latin typeface="Geist"/>
                <a:ea typeface="Geist"/>
                <a:cs typeface="Geist"/>
              </a:defRPr>
            </a:pPr>
            <a:r>
              <a:rPr sz="1200" b="0">
                <a:solidFill>
                  <a:srgbClr val="555555"/>
                </a:solidFill>
                <a:latin typeface="Geist"/>
                <a:ea typeface="Geist"/>
                <a:cs typeface="Geist"/>
              </a:rPr>
              <a:t>03</a:t>
            </a:r>
          </a:p>
        </p:txBody>
      </p:sp>
      <p:sp>
        <p:nvSpPr>
          <p:cNvPr id="26" name="X / 04 Feb 2021">
            <a:extLst xmlns:a="http://schemas.openxmlformats.org/drawingml/2006/main">
              <a:ext uri="{FF2B5EF4-FFF2-40B4-BE49-F238E27FC236}">
                <a16:creationId xmlns:a16="http://schemas.microsoft.com/office/drawing/2014/main" id="{9C191051-4B9A-4CBB-B1B7-4A4624A91243}"/>
              </a:ext>
            </a:extLst>
          </p:cNvPr>
          <p:cNvSpPr>
            <a:spLocks xmlns:a="http://schemas.openxmlformats.org/drawingml/2006/main" noGrp="1"/>
          </p:cNvSpPr>
          <p:nvPr/>
        </p:nvSpPr>
        <p:spPr>
          <a:xfrm xmlns:a="http://schemas.openxmlformats.org/drawingml/2006/main">
            <a:off x="685800" y="1943100"/>
            <a:ext cx="3257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a:ea typeface="Geist"/>
                <a:cs typeface="Geist"/>
              </a:defRPr>
            </a:defPPr>
          </a:lstStyle>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X / 04 Feb 2021</a:t>
            </a:r>
          </a:p>
        </p:txBody>
      </p:sp>
      <p:pic>
        <p:nvPicPr>
          <p:cNvPr id="27" name="">
            <a:extLst xmlns:a="http://schemas.openxmlformats.org/drawingml/2006/main">
              <a:ext uri="{FF2B5EF4-FFF2-40B4-BE49-F238E27FC236}">
                <a16:creationId xmlns:a16="http://schemas.microsoft.com/office/drawing/2014/main" id="{B9AFCD6F-64AE-40B1-BE44-D0AF1089CBDC}"/>
              </a:ext>
            </a:extLst>
          </p:cNvPr>
          <p:cNvPicPr>
            <a:picLocks xmlns:a="http://schemas.openxmlformats.org/drawingml/2006/main" noChangeAspect="1"/>
          </p:cNvPicPr>
          <p:nvPr/>
        </p:nvPicPr>
        <p:blipFill>
          <a:blip xmlns:r="http://schemas.openxmlformats.org/officeDocument/2006/relationships" xmlns:a="http://schemas.openxmlformats.org/drawingml/2006/main" r:embed="R9f80d8d278e9482b"/>
          <a:srcRect xmlns:a="http://schemas.openxmlformats.org/drawingml/2006/main" l="0" t="87834" r="52840" b="2540"/>
          <a:stretch xmlns:a="http://schemas.openxmlformats.org/drawingml/2006/main"/>
        </p:blipFill>
        <p:spPr>
          <a:xfrm xmlns:a="http://schemas.openxmlformats.org/drawingml/2006/main">
            <a:off x="685800" y="2324100"/>
            <a:ext cx="3333750" cy="676275"/>
          </a:xfrm>
          <a:prstGeom xmlns:a="http://schemas.openxmlformats.org/drawingml/2006/main" prst="rect">
            <a:avLst/>
          </a:prstGeom>
        </p:spPr>
      </p:pic>
      <p:sp>
        <p:nvSpPr>
          <p:cNvPr id="28" name="“Doge”">
            <a:extLst xmlns:a="http://schemas.openxmlformats.org/drawingml/2006/main">
              <a:ext uri="{FF2B5EF4-FFF2-40B4-BE49-F238E27FC236}">
                <a16:creationId xmlns:a16="http://schemas.microsoft.com/office/drawing/2014/main" id="{F757FF6C-5B66-465C-9104-EF7CC6C40C8A}"/>
              </a:ext>
            </a:extLst>
          </p:cNvPr>
          <p:cNvSpPr>
            <a:spLocks xmlns:a="http://schemas.openxmlformats.org/drawingml/2006/main" noGrp="1"/>
          </p:cNvSpPr>
          <p:nvPr/>
        </p:nvSpPr>
        <p:spPr>
          <a:xfrm xmlns:a="http://schemas.openxmlformats.org/drawingml/2006/main">
            <a:off x="685800" y="31146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defRPr sz="2325" b="1">
                <a:solidFill>
                  <a:srgbClr val="A61955"/>
                </a:solidFill>
                <a:latin typeface="Geist"/>
                <a:ea typeface="Geist"/>
                <a:cs typeface="Geist"/>
              </a:defRPr>
            </a:pPr>
            <a:r>
              <a:rPr sz="2325" b="1">
                <a:solidFill>
                  <a:srgbClr val="A61955"/>
                </a:solidFill>
                <a:latin typeface="Geist"/>
                <a:ea typeface="Geist"/>
                <a:cs typeface="Geist"/>
              </a:rPr>
              <a:t>“Doge”</a:t>
            </a:r>
          </a:p>
        </p:txBody>
      </p:sp>
      <p:sp>
        <p:nvSpPr>
          <p:cNvPr id="29" name="Capture: Dablander / Know Your Meme">
            <a:extLst xmlns:a="http://schemas.openxmlformats.org/drawingml/2006/main">
              <a:ext uri="{FF2B5EF4-FFF2-40B4-BE49-F238E27FC236}">
                <a16:creationId xmlns:a16="http://schemas.microsoft.com/office/drawing/2014/main" id="{D89BD398-7A0C-426A-8244-F4CF42F2AA33}"/>
              </a:ext>
            </a:extLst>
          </p:cNvPr>
          <p:cNvSpPr>
            <a:spLocks xmlns:a="http://schemas.openxmlformats.org/drawingml/2006/main" noGrp="1"/>
          </p:cNvSpPr>
          <p:nvPr/>
        </p:nvSpPr>
        <p:spPr>
          <a:xfrm xmlns:a="http://schemas.openxmlformats.org/drawingml/2006/main">
            <a:off x="685800" y="356235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55555"/>
                </a:solidFill>
                <a:latin typeface="Geist"/>
                <a:ea typeface="Geist"/>
                <a:cs typeface="Geist"/>
              </a:defRPr>
            </a:defPPr>
          </a:lstStyle>
          <a:p xmlns:a="http://schemas.openxmlformats.org/drawingml/2006/main">
            <a:pPr algn="l">
              <a:defRPr sz="975" b="0">
                <a:solidFill>
                  <a:srgbClr val="555555"/>
                </a:solidFill>
                <a:latin typeface="Geist"/>
                <a:ea typeface="Geist"/>
                <a:cs typeface="Geist"/>
              </a:defRPr>
            </a:pPr>
            <a:r>
              <a:rPr sz="975" b="0">
                <a:solidFill>
                  <a:srgbClr val="555555"/>
                </a:solidFill>
                <a:latin typeface="Geist"/>
                <a:ea typeface="Geist"/>
                <a:cs typeface="Geist"/>
              </a:rPr>
              <a:t>Capture: Dablander / Know Your Meme</a:t>
            </a:r>
          </a:p>
        </p:txBody>
      </p:sp>
      <p:sp>
        <p:nvSpPr>
          <p:cNvPr id="30" name="DOGE / USDT">
            <a:extLst xmlns:a="http://schemas.openxmlformats.org/drawingml/2006/main">
              <a:ext uri="{FF2B5EF4-FFF2-40B4-BE49-F238E27FC236}">
                <a16:creationId xmlns:a16="http://schemas.microsoft.com/office/drawing/2014/main" id="{8DFD2EB1-D26C-49CF-9C1A-4D33DCED9DAC}"/>
              </a:ext>
            </a:extLst>
          </p:cNvPr>
          <p:cNvSpPr>
            <a:spLocks xmlns:a="http://schemas.openxmlformats.org/drawingml/2006/main" noGrp="1"/>
          </p:cNvSpPr>
          <p:nvPr/>
        </p:nvSpPr>
        <p:spPr>
          <a:xfrm xmlns:a="http://schemas.openxmlformats.org/drawingml/2006/main">
            <a:off x="4238625" y="19431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Mono"/>
                <a:ea typeface="Geist Mono"/>
                <a:cs typeface="Geist Mono"/>
              </a:defRPr>
            </a:defPPr>
          </a:lstStyle>
          <a:p xmlns:a="http://schemas.openxmlformats.org/drawingml/2006/main">
            <a:pPr algn="l">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DOGE / USDT</a:t>
            </a:r>
          </a:p>
        </p:txBody>
      </p:sp>
      <p:sp>
        <p:nvSpPr>
          <p:cNvPr id="31" name="+28.9% in 60 min">
            <a:extLst xmlns:a="http://schemas.openxmlformats.org/drawingml/2006/main">
              <a:ext uri="{FF2B5EF4-FFF2-40B4-BE49-F238E27FC236}">
                <a16:creationId xmlns:a16="http://schemas.microsoft.com/office/drawing/2014/main" id="{27DC62A0-4A55-4244-B447-0FA271FE30CB}"/>
              </a:ext>
            </a:extLst>
          </p:cNvPr>
          <p:cNvSpPr>
            <a:spLocks xmlns:a="http://schemas.openxmlformats.org/drawingml/2006/main" noGrp="1"/>
          </p:cNvSpPr>
          <p:nvPr/>
        </p:nvSpPr>
        <p:spPr>
          <a:xfrm xmlns:a="http://schemas.openxmlformats.org/drawingml/2006/main">
            <a:off x="5857875" y="1933575"/>
            <a:ext cx="179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1">
                <a:solidFill>
                  <a:srgbClr val="A61955"/>
                </a:solidFill>
                <a:latin typeface="Geist"/>
                <a:ea typeface="Geist"/>
                <a:cs typeface="Geist"/>
              </a:defRPr>
            </a:defPPr>
          </a:lstStyle>
          <a:p xmlns:a="http://schemas.openxmlformats.org/drawingml/2006/main">
            <a:pPr algn="r">
              <a:defRPr sz="1500" b="1">
                <a:solidFill>
                  <a:srgbClr val="A61955"/>
                </a:solidFill>
                <a:latin typeface="Geist"/>
                <a:ea typeface="Geist"/>
                <a:cs typeface="Geist"/>
              </a:defRPr>
            </a:pPr>
            <a:r>
              <a:rPr sz="1500" b="1">
                <a:solidFill>
                  <a:srgbClr val="A61955"/>
                </a:solidFill>
                <a:latin typeface="Geist"/>
                <a:ea typeface="Geist"/>
                <a:cs typeface="Geist"/>
              </a:rPr>
              <a:t>+28.9% in 60 min</a:t>
            </a:r>
          </a:p>
        </p:txBody>
      </p:sp>
      <p:sp>
        <p:nvSpPr>
          <p:cNvPr id="32" name="Truth Social / 23 Mar 2025">
            <a:extLst xmlns:a="http://schemas.openxmlformats.org/drawingml/2006/main">
              <a:ext uri="{FF2B5EF4-FFF2-40B4-BE49-F238E27FC236}">
                <a16:creationId xmlns:a16="http://schemas.microsoft.com/office/drawing/2014/main" id="{A8DE6FBE-FACE-4C47-82DE-B5C9610F7959}"/>
              </a:ext>
            </a:extLst>
          </p:cNvPr>
          <p:cNvSpPr>
            <a:spLocks xmlns:a="http://schemas.openxmlformats.org/drawingml/2006/main" noGrp="1"/>
          </p:cNvSpPr>
          <p:nvPr/>
        </p:nvSpPr>
        <p:spPr>
          <a:xfrm xmlns:a="http://schemas.openxmlformats.org/drawingml/2006/main">
            <a:off x="685800" y="3952875"/>
            <a:ext cx="3371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a:ea typeface="Geist"/>
                <a:cs typeface="Geist"/>
              </a:defRPr>
            </a:defPPr>
          </a:lstStyle>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Truth Social / 23 Mar 2025</a:t>
            </a:r>
          </a:p>
        </p:txBody>
      </p:sp>
      <p:pic>
        <p:nvPicPr>
          <p:cNvPr id="33" name="">
            <a:extLst xmlns:a="http://schemas.openxmlformats.org/drawingml/2006/main">
              <a:ext uri="{FF2B5EF4-FFF2-40B4-BE49-F238E27FC236}">
                <a16:creationId xmlns:a16="http://schemas.microsoft.com/office/drawing/2014/main" id="{C6DF8516-19D0-4076-9F59-D466908ADFB1}"/>
              </a:ext>
            </a:extLst>
          </p:cNvPr>
          <p:cNvPicPr>
            <a:picLocks xmlns:a="http://schemas.openxmlformats.org/drawingml/2006/main" noChangeAspect="1"/>
          </p:cNvPicPr>
          <p:nvPr/>
        </p:nvPicPr>
        <p:blipFill>
          <a:blip xmlns:r="http://schemas.openxmlformats.org/officeDocument/2006/relationships" xmlns:a="http://schemas.openxmlformats.org/drawingml/2006/main" r:embed="R04ca7e8ff7314b92"/>
          <a:stretch xmlns:a="http://schemas.openxmlformats.org/drawingml/2006/main"/>
        </p:blipFill>
        <p:spPr>
          <a:xfrm xmlns:a="http://schemas.openxmlformats.org/drawingml/2006/main">
            <a:off x="685800" y="4296500"/>
            <a:ext cx="3333750" cy="1074875"/>
          </a:xfrm>
          <a:prstGeom xmlns:a="http://schemas.openxmlformats.org/drawingml/2006/main" prst="rect">
            <a:avLst/>
          </a:prstGeom>
        </p:spPr>
      </p:pic>
      <p:sp>
        <p:nvSpPr>
          <p:cNvPr id="34" name="“I LOVE $TRUMP”">
            <a:extLst xmlns:a="http://schemas.openxmlformats.org/drawingml/2006/main">
              <a:ext uri="{FF2B5EF4-FFF2-40B4-BE49-F238E27FC236}">
                <a16:creationId xmlns:a16="http://schemas.microsoft.com/office/drawing/2014/main" id="{060B0BFF-8160-4BBD-A642-092DAA161859}"/>
              </a:ext>
            </a:extLst>
          </p:cNvPr>
          <p:cNvSpPr>
            <a:spLocks xmlns:a="http://schemas.openxmlformats.org/drawingml/2006/main" noGrp="1"/>
          </p:cNvSpPr>
          <p:nvPr/>
        </p:nvSpPr>
        <p:spPr>
          <a:xfrm xmlns:a="http://schemas.openxmlformats.org/drawingml/2006/main">
            <a:off x="685800" y="5372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61955"/>
                </a:solidFill>
                <a:latin typeface="Geist"/>
                <a:ea typeface="Geist"/>
                <a:cs typeface="Geist"/>
              </a:defRPr>
            </a:defPPr>
          </a:lstStyle>
          <a:p xmlns:a="http://schemas.openxmlformats.org/drawingml/2006/main">
            <a:pPr algn="l">
              <a:defRPr sz="1875" b="1">
                <a:solidFill>
                  <a:srgbClr val="A61955"/>
                </a:solidFill>
                <a:latin typeface="Geist"/>
                <a:ea typeface="Geist"/>
                <a:cs typeface="Geist"/>
              </a:defRPr>
            </a:pPr>
            <a:r>
              <a:rPr sz="1875" b="1">
                <a:solidFill>
                  <a:srgbClr val="A61955"/>
                </a:solidFill>
                <a:latin typeface="Geist"/>
                <a:ea typeface="Geist"/>
                <a:cs typeface="Geist"/>
              </a:rPr>
              <a:t>“I LOVE $TRUMP”</a:t>
            </a:r>
          </a:p>
        </p:txBody>
      </p:sp>
      <p:sp>
        <p:nvSpPr>
          <p:cNvPr id="35" name="TRUMP / USDT">
            <a:extLst xmlns:a="http://schemas.openxmlformats.org/drawingml/2006/main">
              <a:ext uri="{FF2B5EF4-FFF2-40B4-BE49-F238E27FC236}">
                <a16:creationId xmlns:a16="http://schemas.microsoft.com/office/drawing/2014/main" id="{6485DBEA-5941-4728-B419-469C8B9B352E}"/>
              </a:ext>
            </a:extLst>
          </p:cNvPr>
          <p:cNvSpPr>
            <a:spLocks xmlns:a="http://schemas.openxmlformats.org/drawingml/2006/main" noGrp="1"/>
          </p:cNvSpPr>
          <p:nvPr/>
        </p:nvSpPr>
        <p:spPr>
          <a:xfrm xmlns:a="http://schemas.openxmlformats.org/drawingml/2006/main">
            <a:off x="4238625" y="39338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Mono"/>
                <a:ea typeface="Geist Mono"/>
                <a:cs typeface="Geist Mono"/>
              </a:defRPr>
            </a:defPPr>
          </a:lstStyle>
          <a:p xmlns:a="http://schemas.openxmlformats.org/drawingml/2006/main">
            <a:pPr algn="l">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TRUMP / USDT</a:t>
            </a:r>
          </a:p>
        </p:txBody>
      </p:sp>
      <p:sp>
        <p:nvSpPr>
          <p:cNvPr id="36" name="+9.0% in 60 min">
            <a:extLst xmlns:a="http://schemas.openxmlformats.org/drawingml/2006/main">
              <a:ext uri="{FF2B5EF4-FFF2-40B4-BE49-F238E27FC236}">
                <a16:creationId xmlns:a16="http://schemas.microsoft.com/office/drawing/2014/main" id="{0AB58975-D763-4551-98A7-9EE9AD551670}"/>
              </a:ext>
            </a:extLst>
          </p:cNvPr>
          <p:cNvSpPr>
            <a:spLocks xmlns:a="http://schemas.openxmlformats.org/drawingml/2006/main" noGrp="1"/>
          </p:cNvSpPr>
          <p:nvPr/>
        </p:nvSpPr>
        <p:spPr>
          <a:xfrm xmlns:a="http://schemas.openxmlformats.org/drawingml/2006/main">
            <a:off x="5857875" y="3924300"/>
            <a:ext cx="179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1">
                <a:solidFill>
                  <a:srgbClr val="A61955"/>
                </a:solidFill>
                <a:latin typeface="Geist"/>
                <a:ea typeface="Geist"/>
                <a:cs typeface="Geist"/>
              </a:defRPr>
            </a:defPPr>
          </a:lstStyle>
          <a:p xmlns:a="http://schemas.openxmlformats.org/drawingml/2006/main">
            <a:pPr algn="r">
              <a:defRPr sz="1500" b="1">
                <a:solidFill>
                  <a:srgbClr val="A61955"/>
                </a:solidFill>
                <a:latin typeface="Geist"/>
                <a:ea typeface="Geist"/>
                <a:cs typeface="Geist"/>
              </a:defRPr>
            </a:pPr>
            <a:r>
              <a:rPr sz="1500" b="1">
                <a:solidFill>
                  <a:srgbClr val="A61955"/>
                </a:solidFill>
                <a:latin typeface="Geist"/>
                <a:ea typeface="Geist"/>
                <a:cs typeface="Geist"/>
              </a:rPr>
              <a:t>+9.0% in 60 min</a:t>
            </a:r>
          </a:p>
        </p:txBody>
      </p:sp>
      <p:sp>
        <p:nvSpPr>
          <p:cNvPr id="37" name="Binance 1m; X: minutes. Selected events, not causal proof. Captures: K">
            <a:extLst xmlns:a="http://schemas.openxmlformats.org/drawingml/2006/main">
              <a:ext uri="{FF2B5EF4-FFF2-40B4-BE49-F238E27FC236}">
                <a16:creationId xmlns:a16="http://schemas.microsoft.com/office/drawing/2014/main" id="{5958F38F-D48A-4573-9CE9-D7D11AEF3AE2}"/>
              </a:ext>
            </a:extLst>
          </p:cNvPr>
          <p:cNvSpPr>
            <a:spLocks xmlns:a="http://schemas.openxmlformats.org/drawingml/2006/main" noGrp="1"/>
          </p:cNvSpPr>
          <p:nvPr/>
        </p:nvSpPr>
        <p:spPr>
          <a:xfrm xmlns:a="http://schemas.openxmlformats.org/drawingml/2006/main">
            <a:off x="685800" y="6438900"/>
            <a:ext cx="10334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55555"/>
                </a:solidFill>
                <a:latin typeface="Geist"/>
                <a:ea typeface="Geist"/>
                <a:cs typeface="Geist"/>
              </a:defRPr>
            </a:defPPr>
          </a:lstStyle>
          <a:p xmlns:a="http://schemas.openxmlformats.org/drawingml/2006/main">
            <a:pPr algn="l">
              <a:defRPr sz="1013" b="0">
                <a:solidFill>
                  <a:srgbClr val="555555"/>
                </a:solidFill>
                <a:latin typeface="Geist"/>
                <a:ea typeface="Geist"/>
                <a:cs typeface="Geist"/>
              </a:defRPr>
            </a:pPr>
            <a:r>
              <a:rPr sz="1013" b="0">
                <a:solidFill>
                  <a:srgbClr val="555555"/>
                </a:solidFill>
                <a:latin typeface="Geist"/>
                <a:ea typeface="Geist"/>
                <a:cs typeface="Geist"/>
              </a:rPr>
              <a:t>Binance 1m; X: minutes. Selected events, not causal proof. Captures: KYM / The Block. Art: UniqueDesignOK.</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04</a:t>
            </a:r>
          </a:p>
        </p:txBody>
      </p:sp>
      <p:graphicFrame>
        <p:nvGraphicFramePr>
          <p:cNvPr id="3" name="">
            <a:extLst xmlns:a="http://schemas.openxmlformats.org/drawingml/2006/main">
              <a:ext uri="{FF2B5EF4-FFF2-40B4-BE49-F238E27FC236}">
                <a16:creationId xmlns:a16="http://schemas.microsoft.com/office/drawing/2014/main" id="{E40B816A-53BA-47EF-853D-AA8150C8A7D0}"/>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A2C69473-B163-4C34-96A7-99DD31A3D4E4}"/>
              </a:ext>
            </a:extLst>
          </p:cNvPr>
          <p:cNvPicPr>
            <a:picLocks xmlns:a="http://schemas.openxmlformats.org/drawingml/2006/main" noChangeAspect="1"/>
          </p:cNvPicPr>
          <p:nvPr/>
        </p:nvPicPr>
        <p:blipFill>
          <a:blip xmlns:r="http://schemas.openxmlformats.org/officeDocument/2006/relationships" xmlns:a="http://schemas.openxmlformats.org/drawingml/2006/main" r:embed="R1c92b5ee569d4295">
            <a:extLst>
              <a:ext uri="{96DAC541-7B7A-43D3-8B79-37D633B846F1}">
                <asvg:svgBlip xmlns:asvg="http://schemas.microsoft.com/office/drawing/2016/SVG/main" r:embed="R752ef67ca6fb4098"/>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F2499AE-A320-4995-BEDB-EAFB83C3F224}"/>
              </a:ext>
            </a:extLst>
          </p:cNvPr>
          <p:cNvPicPr>
            <a:picLocks xmlns:a="http://schemas.openxmlformats.org/drawingml/2006/main" noChangeAspect="1"/>
          </p:cNvPicPr>
          <p:nvPr/>
        </p:nvPicPr>
        <p:blipFill>
          <a:blip xmlns:r="http://schemas.openxmlformats.org/officeDocument/2006/relationships" xmlns:a="http://schemas.openxmlformats.org/drawingml/2006/main" r:embed="R5964872322da46b4">
            <a:extLst>
              <a:ext uri="{96DAC541-7B7A-43D3-8B79-37D633B846F1}">
                <asvg:svgBlip xmlns:asvg="http://schemas.microsoft.com/office/drawing/2016/SVG/main" r:embed="Rebc0791371984819"/>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4503901-4F6A-4398-B93A-C8EE684F846B}"/>
              </a:ext>
            </a:extLst>
          </p:cNvPr>
          <p:cNvPicPr>
            <a:picLocks xmlns:a="http://schemas.openxmlformats.org/drawingml/2006/main" noChangeAspect="1"/>
          </p:cNvPicPr>
          <p:nvPr/>
        </p:nvPicPr>
        <p:blipFill>
          <a:blip xmlns:r="http://schemas.openxmlformats.org/officeDocument/2006/relationships" xmlns:a="http://schemas.openxmlformats.org/drawingml/2006/main" r:embed="R89af9b8d70884752">
            <a:extLst>
              <a:ext uri="{96DAC541-7B7A-43D3-8B79-37D633B846F1}">
                <asvg:svgBlip xmlns:asvg="http://schemas.microsoft.com/office/drawing/2016/SVG/main" r:embed="R5b4c08bcb5684992"/>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
        <p:nvSpPr>
          <p:cNvPr id="11" name="14,773 price rows">
            <a:extLst xmlns:a="http://schemas.openxmlformats.org/drawingml/2006/main">
              <a:ext uri="{FF2B5EF4-FFF2-40B4-BE49-F238E27FC236}">
                <a16:creationId xmlns:a16="http://schemas.microsoft.com/office/drawing/2014/main" id="{273A7EED-4CB8-47FD-824E-7DB99AC35A2F}"/>
              </a:ext>
            </a:extLst>
          </p:cNvPr>
          <p:cNvSpPr>
            <a:spLocks xmlns:a="http://schemas.openxmlformats.org/drawingml/2006/main" noGrp="1"/>
          </p:cNvSpPr>
          <p:nvPr/>
        </p:nvSpPr>
        <p:spPr>
          <a:xfrm xmlns:a="http://schemas.openxmlformats.org/drawingml/2006/main">
            <a:off x="685800" y="11620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1955"/>
                </a:solidFill>
                <a:latin typeface="Geist"/>
                <a:ea typeface="Geist"/>
                <a:cs typeface="Geist"/>
              </a:defRPr>
            </a:defPPr>
          </a:lstStyle>
          <a:p xmlns:a="http://schemas.openxmlformats.org/drawingml/2006/main">
            <a:pPr algn="l">
              <a:buNone/>
              <a:defRPr sz="1950" b="1">
                <a:solidFill>
                  <a:srgbClr val="A61955"/>
                </a:solidFill>
                <a:latin typeface="Geist"/>
                <a:ea typeface="Geist"/>
                <a:cs typeface="Geist"/>
              </a:defRPr>
            </a:pPr>
            <a:r>
              <a:rPr sz="1950" b="1">
                <a:solidFill>
                  <a:srgbClr val="A61955"/>
                </a:solidFill>
                <a:latin typeface="Geist"/>
                <a:ea typeface="Geist"/>
                <a:cs typeface="Geist"/>
              </a:rPr>
              <a:t>14,773 price rows</a:t>
            </a:r>
          </a:p>
        </p:txBody>
      </p:sp>
      <p:sp>
        <p:nvSpPr>
          <p:cNvPr id="12" name="10 coins · social collection planned">
            <a:extLst xmlns:a="http://schemas.openxmlformats.org/drawingml/2006/main">
              <a:ext uri="{FF2B5EF4-FFF2-40B4-BE49-F238E27FC236}">
                <a16:creationId xmlns:a16="http://schemas.microsoft.com/office/drawing/2014/main" id="{D032DF09-9365-4273-B91E-39BE9E7D73AD}"/>
              </a:ext>
            </a:extLst>
          </p:cNvPr>
          <p:cNvSpPr>
            <a:spLocks xmlns:a="http://schemas.openxmlformats.org/drawingml/2006/main" noGrp="1"/>
          </p:cNvSpPr>
          <p:nvPr/>
        </p:nvSpPr>
        <p:spPr>
          <a:xfrm xmlns:a="http://schemas.openxmlformats.org/drawingml/2006/main">
            <a:off x="3476625" y="1200150"/>
            <a:ext cx="8020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10 coins · social collection planned</a:t>
            </a:r>
          </a:p>
        </p:txBody>
      </p:sp>
    </p:spTree>
    <p:extLst>
      <p:ext uri="{BB962C8B-B14F-4D97-AF65-F5344CB8AC3E}">
        <p14:creationId xmlns:p14="http://schemas.microsoft.com/office/powerpoint/2010/main" val="16947484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Data pipeline">
            <a:extLst xmlns:a="http://schemas.openxmlformats.org/drawingml/2006/main">
              <a:ext uri="{FF2B5EF4-FFF2-40B4-BE49-F238E27FC236}">
                <a16:creationId xmlns:a16="http://schemas.microsoft.com/office/drawing/2014/main" id="{B132CF47-EAB7-42F4-A9C3-F464126646A7}"/>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pipeline</a:t>
            </a:r>
          </a:p>
        </p:txBody>
      </p:sp>
      <p:sp>
        <p:nvSpPr>
          <p:cNvPr id="2" name="05">
            <a:extLst xmlns:a="http://schemas.openxmlformats.org/drawingml/2006/main">
              <a:ext uri="{FF2B5EF4-FFF2-40B4-BE49-F238E27FC236}">
                <a16:creationId xmlns:a16="http://schemas.microsoft.com/office/drawing/2014/main" id="{8046D575-4D4B-4FEE-AD2F-D325270BB2B0}"/>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05</a:t>
            </a:r>
          </a:p>
        </p:txBody>
      </p:sp>
      <p:sp>
        <p:nvSpPr>
          <p:cNvPr id="3" name="Next UTC close: UP or DOWN">
            <a:extLst xmlns:a="http://schemas.openxmlformats.org/drawingml/2006/main">
              <a:ext uri="{FF2B5EF4-FFF2-40B4-BE49-F238E27FC236}">
                <a16:creationId xmlns:a16="http://schemas.microsoft.com/office/drawing/2014/main" id="{D96705CA-83C5-48FF-B7AE-FB6A1F3D894F}"/>
              </a:ext>
            </a:extLst>
          </p:cNvPr>
          <p:cNvSpPr>
            <a:spLocks xmlns:a="http://schemas.openxmlformats.org/drawingml/2006/main" noGrp="1"/>
          </p:cNvSpPr>
          <p:nvPr/>
        </p:nvSpPr>
        <p:spPr>
          <a:xfrm xmlns:a="http://schemas.openxmlformats.org/drawingml/2006/main">
            <a:off x="685800" y="11811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Next UTC close: UP or DOWN</a:t>
            </a:r>
          </a:p>
        </p:txBody>
      </p:sp>
      <p:pic>
        <p:nvPicPr>
          <p:cNvPr id="4" name="">
            <a:extLst xmlns:a="http://schemas.openxmlformats.org/drawingml/2006/main">
              <a:ext uri="{FF2B5EF4-FFF2-40B4-BE49-F238E27FC236}">
                <a16:creationId xmlns:a16="http://schemas.microsoft.com/office/drawing/2014/main" id="{4BE4E7DE-DED0-49F1-B3BD-96B3FC873844}"/>
              </a:ext>
            </a:extLst>
          </p:cNvPr>
          <p:cNvPicPr>
            <a:picLocks xmlns:a="http://schemas.openxmlformats.org/drawingml/2006/main" noChangeAspect="1"/>
          </p:cNvPicPr>
          <p:nvPr/>
        </p:nvPicPr>
        <p:blipFill>
          <a:blip xmlns:r="http://schemas.openxmlformats.org/officeDocument/2006/relationships" xmlns:a="http://schemas.openxmlformats.org/drawingml/2006/main" r:embed="R703819fec4544493">
            <a:extLst>
              <a:ext uri="{96DAC541-7B7A-43D3-8B79-37D633B846F1}">
                <asvg:svgBlip xmlns:asvg="http://schemas.microsoft.com/office/drawing/2016/SVG/main" r:embed="R4bc67e13455f4569"/>
              </a:ext>
            </a:extLst>
          </a:blip>
          <a:stretch xmlns:a="http://schemas.openxmlformats.org/drawingml/2006/main"/>
        </p:blipFill>
        <p:spPr>
          <a:xfrm xmlns:a="http://schemas.openxmlformats.org/drawingml/2006/main">
            <a:off x="685800" y="2143125"/>
            <a:ext cx="342900" cy="342900"/>
          </a:xfrm>
          <a:prstGeom xmlns:a="http://schemas.openxmlformats.org/drawingml/2006/main" prst="rect">
            <a:avLst/>
          </a:prstGeom>
        </p:spPr>
      </p:pic>
      <p:sp>
        <p:nvSpPr>
          <p:cNvPr id="5" name="CMC">
            <a:extLst xmlns:a="http://schemas.openxmlformats.org/drawingml/2006/main">
              <a:ext uri="{FF2B5EF4-FFF2-40B4-BE49-F238E27FC236}">
                <a16:creationId xmlns:a16="http://schemas.microsoft.com/office/drawing/2014/main" id="{2DB0D879-B1C4-4A55-B78D-03FF2EE0A9BA}"/>
              </a:ext>
            </a:extLst>
          </p:cNvPr>
          <p:cNvSpPr>
            <a:spLocks xmlns:a="http://schemas.openxmlformats.org/drawingml/2006/main" noGrp="1"/>
          </p:cNvSpPr>
          <p:nvPr/>
        </p:nvSpPr>
        <p:spPr>
          <a:xfrm xmlns:a="http://schemas.openxmlformats.org/drawingml/2006/main">
            <a:off x="1143000" y="2162175"/>
            <a:ext cx="1047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CMC</a:t>
            </a:r>
          </a:p>
        </p:txBody>
      </p:sp>
      <p:sp>
        <p:nvSpPr>
          <p:cNvPr id="6" name="Web crawl">
            <a:extLst xmlns:a="http://schemas.openxmlformats.org/drawingml/2006/main">
              <a:ext uri="{FF2B5EF4-FFF2-40B4-BE49-F238E27FC236}">
                <a16:creationId xmlns:a16="http://schemas.microsoft.com/office/drawing/2014/main" id="{396C2CB1-9F1E-44D6-9C17-505FC385B34A}"/>
              </a:ext>
            </a:extLst>
          </p:cNvPr>
          <p:cNvSpPr>
            <a:spLocks xmlns:a="http://schemas.openxmlformats.org/drawingml/2006/main" noGrp="1"/>
          </p:cNvSpPr>
          <p:nvPr/>
        </p:nvSpPr>
        <p:spPr>
          <a:xfrm xmlns:a="http://schemas.openxmlformats.org/drawingml/2006/main">
            <a:off x="685800" y="2600325"/>
            <a:ext cx="1476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Web crawl</a:t>
            </a:r>
          </a:p>
        </p:txBody>
      </p:sp>
      <p:sp>
        <p:nvSpPr>
          <p:cNvPr id="7" name="CSV validation">
            <a:extLst xmlns:a="http://schemas.openxmlformats.org/drawingml/2006/main">
              <a:ext uri="{FF2B5EF4-FFF2-40B4-BE49-F238E27FC236}">
                <a16:creationId xmlns:a16="http://schemas.microsoft.com/office/drawing/2014/main" id="{5C5F72AE-784E-4FCD-8F6D-1B1DA741C090}"/>
              </a:ext>
            </a:extLst>
          </p:cNvPr>
          <p:cNvSpPr>
            <a:spLocks xmlns:a="http://schemas.openxmlformats.org/drawingml/2006/main" noGrp="1"/>
          </p:cNvSpPr>
          <p:nvPr/>
        </p:nvSpPr>
        <p:spPr>
          <a:xfrm xmlns:a="http://schemas.openxmlformats.org/drawingml/2006/main">
            <a:off x="2428875" y="2190750"/>
            <a:ext cx="1266825" cy="742950"/>
          </a:xfrm>
          <a:prstGeom xmlns:a="http://schemas.openxmlformats.org/drawingml/2006/main" prst="roundRect">
            <a:avLst>
              <a:gd name="adj" fmla="val 7692"/>
            </a:avLst>
          </a:prstGeom>
          <a:noFill xmlns:a="http://schemas.openxmlformats.org/drawingml/2006/main"/>
          <a:ln xmlns:a="http://schemas.openxmlformats.org/drawingml/2006/main" w="12859">
            <a:solidFill>
              <a:srgbClr val="D5D5D5"/>
            </a:solidFill>
          </a:ln>
        </p:spPr>
      </p:sp>
      <p:sp>
        <p:nvSpPr>
          <p:cNvPr id="8" name="CSV">
            <a:extLst xmlns:a="http://schemas.openxmlformats.org/drawingml/2006/main">
              <a:ext uri="{FF2B5EF4-FFF2-40B4-BE49-F238E27FC236}">
                <a16:creationId xmlns:a16="http://schemas.microsoft.com/office/drawing/2014/main" id="{1ECDC04E-6F15-4A4A-B61F-839B253CAC49}"/>
              </a:ext>
            </a:extLst>
          </p:cNvPr>
          <p:cNvSpPr>
            <a:spLocks xmlns:a="http://schemas.openxmlformats.org/drawingml/2006/main" noGrp="1"/>
          </p:cNvSpPr>
          <p:nvPr/>
        </p:nvSpPr>
        <p:spPr>
          <a:xfrm xmlns:a="http://schemas.openxmlformats.org/drawingml/2006/main">
            <a:off x="2590800" y="2305050"/>
            <a:ext cx="942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1111"/>
                </a:solidFill>
                <a:latin typeface="Geist"/>
                <a:ea typeface="Geist"/>
                <a:cs typeface="Geist"/>
              </a:defRPr>
            </a:defPPr>
          </a:lstStyle>
          <a:p xmlns:a="http://schemas.openxmlformats.org/drawingml/2006/main">
            <a:pPr algn="ctr">
              <a:defRPr sz="1875" b="1">
                <a:solidFill>
                  <a:srgbClr val="111111"/>
                </a:solidFill>
                <a:latin typeface="Geist"/>
                <a:ea typeface="Geist"/>
                <a:cs typeface="Geist"/>
              </a:defRPr>
            </a:pPr>
            <a:r>
              <a:rPr sz="1875" b="1">
                <a:solidFill>
                  <a:srgbClr val="111111"/>
                </a:solidFill>
                <a:latin typeface="Geist"/>
                <a:ea typeface="Geist"/>
                <a:cs typeface="Geist"/>
              </a:rPr>
              <a:t>CSV</a:t>
            </a:r>
          </a:p>
        </p:txBody>
      </p:sp>
      <p:sp>
        <p:nvSpPr>
          <p:cNvPr id="9" name="validate">
            <a:extLst xmlns:a="http://schemas.openxmlformats.org/drawingml/2006/main">
              <a:ext uri="{FF2B5EF4-FFF2-40B4-BE49-F238E27FC236}">
                <a16:creationId xmlns:a16="http://schemas.microsoft.com/office/drawing/2014/main" id="{F095DD1F-4EA2-423A-9799-5231F2743AE5}"/>
              </a:ext>
            </a:extLst>
          </p:cNvPr>
          <p:cNvSpPr>
            <a:spLocks xmlns:a="http://schemas.openxmlformats.org/drawingml/2006/main" noGrp="1"/>
          </p:cNvSpPr>
          <p:nvPr/>
        </p:nvSpPr>
        <p:spPr>
          <a:xfrm xmlns:a="http://schemas.openxmlformats.org/drawingml/2006/main">
            <a:off x="2562225" y="262890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validate</a:t>
            </a:r>
          </a:p>
        </p:txBody>
      </p:sp>
      <p:pic>
        <p:nvPicPr>
          <p:cNvPr id="10" name="">
            <a:extLst xmlns:a="http://schemas.openxmlformats.org/drawingml/2006/main">
              <a:ext uri="{FF2B5EF4-FFF2-40B4-BE49-F238E27FC236}">
                <a16:creationId xmlns:a16="http://schemas.microsoft.com/office/drawing/2014/main" id="{BED6D50C-ECA6-4F2D-9D92-B79B48FD6FE7}"/>
              </a:ext>
            </a:extLst>
          </p:cNvPr>
          <p:cNvPicPr>
            <a:picLocks xmlns:a="http://schemas.openxmlformats.org/drawingml/2006/main" noChangeAspect="1"/>
          </p:cNvPicPr>
          <p:nvPr/>
        </p:nvPicPr>
        <p:blipFill>
          <a:blip xmlns:r="http://schemas.openxmlformats.org/officeDocument/2006/relationships" xmlns:a="http://schemas.openxmlformats.org/drawingml/2006/main" r:embed="R55b3afba190a49a4">
            <a:extLst>
              <a:ext uri="{96DAC541-7B7A-43D3-8B79-37D633B846F1}">
                <asvg:svgBlip xmlns:asvg="http://schemas.microsoft.com/office/drawing/2016/SVG/main" r:embed="R8cd93d3d40f94816"/>
              </a:ext>
            </a:extLst>
          </a:blip>
          <a:stretch xmlns:a="http://schemas.openxmlformats.org/drawingml/2006/main"/>
        </p:blipFill>
        <p:spPr>
          <a:xfrm xmlns:a="http://schemas.openxmlformats.org/drawingml/2006/main">
            <a:off x="685800" y="4219575"/>
            <a:ext cx="295275" cy="295275"/>
          </a:xfrm>
          <a:prstGeom xmlns:a="http://schemas.openxmlformats.org/drawingml/2006/main" prst="rect">
            <a:avLst/>
          </a:prstGeom>
        </p:spPr>
      </p:pic>
      <p:sp>
        <p:nvSpPr>
          <p:cNvPr id="11" name="FxTwitter">
            <a:extLst xmlns:a="http://schemas.openxmlformats.org/drawingml/2006/main">
              <a:ext uri="{FF2B5EF4-FFF2-40B4-BE49-F238E27FC236}">
                <a16:creationId xmlns:a16="http://schemas.microsoft.com/office/drawing/2014/main" id="{5BD52885-DE9D-45DC-8904-2984188142D9}"/>
              </a:ext>
            </a:extLst>
          </p:cNvPr>
          <p:cNvSpPr>
            <a:spLocks xmlns:a="http://schemas.openxmlformats.org/drawingml/2006/main" noGrp="1"/>
          </p:cNvSpPr>
          <p:nvPr/>
        </p:nvSpPr>
        <p:spPr>
          <a:xfrm xmlns:a="http://schemas.openxmlformats.org/drawingml/2006/main">
            <a:off x="1123950" y="42195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Geist"/>
                <a:ea typeface="Geist"/>
                <a:cs typeface="Geist"/>
              </a:defRPr>
            </a:defPPr>
          </a:lstStyle>
          <a:p xmlns:a="http://schemas.openxmlformats.org/drawingml/2006/main">
            <a:pPr algn="l">
              <a:defRPr sz="1650" b="0">
                <a:solidFill>
                  <a:srgbClr val="111111"/>
                </a:solidFill>
                <a:latin typeface="Geist"/>
                <a:ea typeface="Geist"/>
                <a:cs typeface="Geist"/>
              </a:defRPr>
            </a:pPr>
            <a:r>
              <a:rPr sz="1650" b="0">
                <a:solidFill>
                  <a:srgbClr val="111111"/>
                </a:solidFill>
                <a:latin typeface="Geist"/>
                <a:ea typeface="Geist"/>
                <a:cs typeface="Geist"/>
              </a:rPr>
              <a:t>FxTwitter</a:t>
            </a:r>
          </a:p>
        </p:txBody>
      </p:sp>
      <p:pic>
        <p:nvPicPr>
          <p:cNvPr id="12" name="">
            <a:extLst xmlns:a="http://schemas.openxmlformats.org/drawingml/2006/main">
              <a:ext uri="{FF2B5EF4-FFF2-40B4-BE49-F238E27FC236}">
                <a16:creationId xmlns:a16="http://schemas.microsoft.com/office/drawing/2014/main" id="{E0388F95-DD51-4AAB-B609-A3BCF6D01060}"/>
              </a:ext>
            </a:extLst>
          </p:cNvPr>
          <p:cNvPicPr>
            <a:picLocks xmlns:a="http://schemas.openxmlformats.org/drawingml/2006/main" noChangeAspect="1"/>
          </p:cNvPicPr>
          <p:nvPr/>
        </p:nvPicPr>
        <p:blipFill>
          <a:blip xmlns:r="http://schemas.openxmlformats.org/officeDocument/2006/relationships" xmlns:a="http://schemas.openxmlformats.org/drawingml/2006/main" r:embed="R19a00ce17fab4494">
            <a:extLst>
              <a:ext uri="{96DAC541-7B7A-43D3-8B79-37D633B846F1}">
                <asvg:svgBlip xmlns:asvg="http://schemas.microsoft.com/office/drawing/2016/SVG/main" r:embed="Rc613c3f1016a473c"/>
              </a:ext>
            </a:extLst>
          </a:blip>
          <a:stretch xmlns:a="http://schemas.openxmlformats.org/drawingml/2006/main"/>
        </p:blipFill>
        <p:spPr>
          <a:xfrm xmlns:a="http://schemas.openxmlformats.org/drawingml/2006/main">
            <a:off x="685800" y="4953000"/>
            <a:ext cx="295275" cy="295275"/>
          </a:xfrm>
          <a:prstGeom xmlns:a="http://schemas.openxmlformats.org/drawingml/2006/main" prst="rect">
            <a:avLst/>
          </a:prstGeom>
        </p:spPr>
      </p:pic>
      <p:sp>
        <p:nvSpPr>
          <p:cNvPr id="13" name="Arctic Shift*">
            <a:extLst xmlns:a="http://schemas.openxmlformats.org/drawingml/2006/main">
              <a:ext uri="{FF2B5EF4-FFF2-40B4-BE49-F238E27FC236}">
                <a16:creationId xmlns:a16="http://schemas.microsoft.com/office/drawing/2014/main" id="{DDC613ED-90C9-477A-B1A8-9CFB511A2A8C}"/>
              </a:ext>
            </a:extLst>
          </p:cNvPr>
          <p:cNvSpPr>
            <a:spLocks xmlns:a="http://schemas.openxmlformats.org/drawingml/2006/main" noGrp="1"/>
          </p:cNvSpPr>
          <p:nvPr/>
        </p:nvSpPr>
        <p:spPr>
          <a:xfrm xmlns:a="http://schemas.openxmlformats.org/drawingml/2006/main">
            <a:off x="1123950" y="4953000"/>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11111"/>
                </a:solidFill>
                <a:latin typeface="Geist"/>
                <a:ea typeface="Geist"/>
                <a:cs typeface="Geist"/>
              </a:defRPr>
            </a:defPPr>
          </a:lstStyle>
          <a:p xmlns:a="http://schemas.openxmlformats.org/drawingml/2006/main">
            <a:pPr algn="l">
              <a:defRPr sz="1575" b="0">
                <a:solidFill>
                  <a:srgbClr val="111111"/>
                </a:solidFill>
                <a:latin typeface="Geist"/>
                <a:ea typeface="Geist"/>
                <a:cs typeface="Geist"/>
              </a:defRPr>
            </a:pPr>
            <a:r>
              <a:rPr sz="1575" b="0">
                <a:solidFill>
                  <a:srgbClr val="111111"/>
                </a:solidFill>
                <a:latin typeface="Geist"/>
                <a:ea typeface="Geist"/>
                <a:cs typeface="Geist"/>
              </a:rPr>
              <a:t>Arctic Shift*</a:t>
            </a:r>
          </a:p>
        </p:txBody>
      </p:sp>
      <p:sp>
        <p:nvSpPr>
          <p:cNvPr id="14" name="JSON ingestion">
            <a:extLst xmlns:a="http://schemas.openxmlformats.org/drawingml/2006/main">
              <a:ext uri="{FF2B5EF4-FFF2-40B4-BE49-F238E27FC236}">
                <a16:creationId xmlns:a16="http://schemas.microsoft.com/office/drawing/2014/main" id="{436CC877-EDD0-419E-93F9-E2224483ED03}"/>
              </a:ext>
            </a:extLst>
          </p:cNvPr>
          <p:cNvSpPr>
            <a:spLocks xmlns:a="http://schemas.openxmlformats.org/drawingml/2006/main" noGrp="1"/>
          </p:cNvSpPr>
          <p:nvPr/>
        </p:nvSpPr>
        <p:spPr>
          <a:xfrm xmlns:a="http://schemas.openxmlformats.org/drawingml/2006/main">
            <a:off x="2667000" y="4286250"/>
            <a:ext cx="809625" cy="952500"/>
          </a:xfrm>
          <a:prstGeom xmlns:a="http://schemas.openxmlformats.org/drawingml/2006/main" prst="foldedCorner">
            <a:avLst/>
          </a:prstGeom>
          <a:noFill xmlns:a="http://schemas.openxmlformats.org/drawingml/2006/main"/>
          <a:ln xmlns:a="http://schemas.openxmlformats.org/drawingml/2006/main" w="12859">
            <a:solidFill>
              <a:srgbClr val="D5D5D5"/>
            </a:solidFill>
          </a:ln>
        </p:spPr>
      </p:sp>
      <p:sp>
        <p:nvSpPr>
          <p:cNvPr id="15" name="JSON">
            <a:extLst xmlns:a="http://schemas.openxmlformats.org/drawingml/2006/main">
              <a:ext uri="{FF2B5EF4-FFF2-40B4-BE49-F238E27FC236}">
                <a16:creationId xmlns:a16="http://schemas.microsoft.com/office/drawing/2014/main" id="{7D1DA131-2D44-44A2-84AC-C360F2ACB5B0}"/>
              </a:ext>
            </a:extLst>
          </p:cNvPr>
          <p:cNvSpPr>
            <a:spLocks xmlns:a="http://schemas.openxmlformats.org/drawingml/2006/main" noGrp="1"/>
          </p:cNvSpPr>
          <p:nvPr/>
        </p:nvSpPr>
        <p:spPr>
          <a:xfrm xmlns:a="http://schemas.openxmlformats.org/drawingml/2006/main">
            <a:off x="2733675" y="4572000"/>
            <a:ext cx="676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JSON</a:t>
            </a:r>
          </a:p>
        </p:txBody>
      </p:sp>
      <p:sp>
        <p:nvSpPr>
          <p:cNvPr id="16" name="MongoDB source documents">
            <a:extLst xmlns:a="http://schemas.openxmlformats.org/drawingml/2006/main">
              <a:ext uri="{FF2B5EF4-FFF2-40B4-BE49-F238E27FC236}">
                <a16:creationId xmlns:a16="http://schemas.microsoft.com/office/drawing/2014/main" id="{8B8EC627-E628-4EDD-8745-16A5AA1349F0}"/>
              </a:ext>
            </a:extLst>
          </p:cNvPr>
          <p:cNvSpPr>
            <a:spLocks xmlns:a="http://schemas.openxmlformats.org/drawingml/2006/main" noGrp="1"/>
          </p:cNvSpPr>
          <p:nvPr/>
        </p:nvSpPr>
        <p:spPr>
          <a:xfrm xmlns:a="http://schemas.openxmlformats.org/drawingml/2006/main">
            <a:off x="3905250" y="4286250"/>
            <a:ext cx="1476375" cy="10668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17" name="MongoDB">
            <a:extLst xmlns:a="http://schemas.openxmlformats.org/drawingml/2006/main">
              <a:ext uri="{FF2B5EF4-FFF2-40B4-BE49-F238E27FC236}">
                <a16:creationId xmlns:a16="http://schemas.microsoft.com/office/drawing/2014/main" id="{6E0F4918-121B-41D6-BFC8-E0DDFBD59107}"/>
              </a:ext>
            </a:extLst>
          </p:cNvPr>
          <p:cNvSpPr>
            <a:spLocks xmlns:a="http://schemas.openxmlformats.org/drawingml/2006/main" noGrp="1"/>
          </p:cNvSpPr>
          <p:nvPr/>
        </p:nvSpPr>
        <p:spPr>
          <a:xfrm xmlns:a="http://schemas.openxmlformats.org/drawingml/2006/main">
            <a:off x="3981450" y="4514850"/>
            <a:ext cx="1323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MongoDB</a:t>
            </a:r>
          </a:p>
        </p:txBody>
      </p:sp>
      <p:sp>
        <p:nvSpPr>
          <p:cNvPr id="18" name="posts + history">
            <a:extLst xmlns:a="http://schemas.openxmlformats.org/drawingml/2006/main">
              <a:ext uri="{FF2B5EF4-FFF2-40B4-BE49-F238E27FC236}">
                <a16:creationId xmlns:a16="http://schemas.microsoft.com/office/drawing/2014/main" id="{7BBFFB5E-B646-4401-A6BE-E1C1C6B36F34}"/>
              </a:ext>
            </a:extLst>
          </p:cNvPr>
          <p:cNvSpPr>
            <a:spLocks xmlns:a="http://schemas.openxmlformats.org/drawingml/2006/main" noGrp="1"/>
          </p:cNvSpPr>
          <p:nvPr/>
        </p:nvSpPr>
        <p:spPr>
          <a:xfrm xmlns:a="http://schemas.openxmlformats.org/drawingml/2006/main">
            <a:off x="3962400" y="4914900"/>
            <a:ext cx="1362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posts + history</a:t>
            </a:r>
          </a:p>
        </p:txBody>
      </p:sp>
      <p:sp>
        <p:nvSpPr>
          <p:cNvPr id="19" name="Frozen model input construction">
            <a:extLst xmlns:a="http://schemas.openxmlformats.org/drawingml/2006/main">
              <a:ext uri="{FF2B5EF4-FFF2-40B4-BE49-F238E27FC236}">
                <a16:creationId xmlns:a16="http://schemas.microsoft.com/office/drawing/2014/main" id="{9670320A-FC75-4962-B857-ED761F897AEC}"/>
              </a:ext>
            </a:extLst>
          </p:cNvPr>
          <p:cNvSpPr>
            <a:spLocks xmlns:a="http://schemas.openxmlformats.org/drawingml/2006/main" noGrp="1"/>
          </p:cNvSpPr>
          <p:nvPr/>
        </p:nvSpPr>
        <p:spPr>
          <a:xfrm xmlns:a="http://schemas.openxmlformats.org/drawingml/2006/main">
            <a:off x="5953125" y="4095750"/>
            <a:ext cx="1381125"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555555"/>
            </a:solidFill>
          </a:ln>
        </p:spPr>
      </p:sp>
      <p:sp>
        <p:nvSpPr>
          <p:cNvPr id="20" name="Python">
            <a:extLst xmlns:a="http://schemas.openxmlformats.org/drawingml/2006/main">
              <a:ext uri="{FF2B5EF4-FFF2-40B4-BE49-F238E27FC236}">
                <a16:creationId xmlns:a16="http://schemas.microsoft.com/office/drawing/2014/main" id="{26AFA8C6-050A-4D35-98F2-310D64A26082}"/>
              </a:ext>
            </a:extLst>
          </p:cNvPr>
          <p:cNvSpPr>
            <a:spLocks xmlns:a="http://schemas.openxmlformats.org/drawingml/2006/main" noGrp="1"/>
          </p:cNvSpPr>
          <p:nvPr/>
        </p:nvSpPr>
        <p:spPr>
          <a:xfrm xmlns:a="http://schemas.openxmlformats.org/drawingml/2006/main">
            <a:off x="6048375" y="4200525"/>
            <a:ext cx="1190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Python</a:t>
            </a:r>
          </a:p>
        </p:txBody>
      </p:sp>
      <p:sp>
        <p:nvSpPr>
          <p:cNvPr id="21" name="features&#10;frozen inputs">
            <a:extLst xmlns:a="http://schemas.openxmlformats.org/drawingml/2006/main">
              <a:ext uri="{FF2B5EF4-FFF2-40B4-BE49-F238E27FC236}">
                <a16:creationId xmlns:a16="http://schemas.microsoft.com/office/drawing/2014/main" id="{3BB5FB5B-193B-4453-B8BF-682660658CD5}"/>
              </a:ext>
            </a:extLst>
          </p:cNvPr>
          <p:cNvSpPr>
            <a:spLocks xmlns:a="http://schemas.openxmlformats.org/drawingml/2006/main" noGrp="1"/>
          </p:cNvSpPr>
          <p:nvPr/>
        </p:nvSpPr>
        <p:spPr>
          <a:xfrm xmlns:a="http://schemas.openxmlformats.org/drawingml/2006/main">
            <a:off x="6048375" y="4533900"/>
            <a:ext cx="119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features</a:t>
            </a:r>
          </a:p>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frozen inputs</a:t>
            </a:r>
          </a:p>
        </p:txBody>
      </p:sp>
      <p:sp>
        <p:nvSpPr>
          <p:cNvPr id="22" name="Direction inference">
            <a:extLst xmlns:a="http://schemas.openxmlformats.org/drawingml/2006/main">
              <a:ext uri="{FF2B5EF4-FFF2-40B4-BE49-F238E27FC236}">
                <a16:creationId xmlns:a16="http://schemas.microsoft.com/office/drawing/2014/main" id="{0AD6F045-0290-4D51-99B0-C4DC9A00065A}"/>
              </a:ext>
            </a:extLst>
          </p:cNvPr>
          <p:cNvSpPr>
            <a:spLocks xmlns:a="http://schemas.openxmlformats.org/drawingml/2006/main" noGrp="1"/>
          </p:cNvSpPr>
          <p:nvPr/>
        </p:nvSpPr>
        <p:spPr>
          <a:xfrm xmlns:a="http://schemas.openxmlformats.org/drawingml/2006/main">
            <a:off x="7667625" y="4095750"/>
            <a:ext cx="1524000"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A61955"/>
            </a:solidFill>
          </a:ln>
        </p:spPr>
      </p:sp>
      <p:sp>
        <p:nvSpPr>
          <p:cNvPr id="23" name="OpenAI API">
            <a:extLst xmlns:a="http://schemas.openxmlformats.org/drawingml/2006/main">
              <a:ext uri="{FF2B5EF4-FFF2-40B4-BE49-F238E27FC236}">
                <a16:creationId xmlns:a16="http://schemas.microsoft.com/office/drawing/2014/main" id="{2A60344E-944A-420D-ADB5-0A1CFBDE4D39}"/>
              </a:ext>
            </a:extLst>
          </p:cNvPr>
          <p:cNvSpPr>
            <a:spLocks xmlns:a="http://schemas.openxmlformats.org/drawingml/2006/main" noGrp="1"/>
          </p:cNvSpPr>
          <p:nvPr/>
        </p:nvSpPr>
        <p:spPr>
          <a:xfrm xmlns:a="http://schemas.openxmlformats.org/drawingml/2006/main">
            <a:off x="7762875" y="422910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A61955"/>
                </a:solidFill>
                <a:latin typeface="Geist"/>
                <a:ea typeface="Geist"/>
                <a:cs typeface="Geist"/>
              </a:defRPr>
            </a:defPPr>
          </a:lstStyle>
          <a:p xmlns:a="http://schemas.openxmlformats.org/drawingml/2006/main">
            <a:pPr algn="ctr">
              <a:defRPr sz="1800" b="1">
                <a:solidFill>
                  <a:srgbClr val="A61955"/>
                </a:solidFill>
                <a:latin typeface="Geist"/>
                <a:ea typeface="Geist"/>
                <a:cs typeface="Geist"/>
              </a:defRPr>
            </a:pPr>
            <a:r>
              <a:rPr sz="1800" b="1">
                <a:solidFill>
                  <a:srgbClr val="A61955"/>
                </a:solidFill>
                <a:latin typeface="Geist"/>
                <a:ea typeface="Geist"/>
                <a:cs typeface="Geist"/>
              </a:rPr>
              <a:t>OpenAI API</a:t>
            </a:r>
          </a:p>
        </p:txBody>
      </p:sp>
      <p:sp>
        <p:nvSpPr>
          <p:cNvPr id="24" name="UP / DOWN&#10;+ rationale">
            <a:extLst xmlns:a="http://schemas.openxmlformats.org/drawingml/2006/main">
              <a:ext uri="{FF2B5EF4-FFF2-40B4-BE49-F238E27FC236}">
                <a16:creationId xmlns:a16="http://schemas.microsoft.com/office/drawing/2014/main" id="{86BC60AE-1942-4111-A486-EF07AD28DF29}"/>
              </a:ext>
            </a:extLst>
          </p:cNvPr>
          <p:cNvSpPr>
            <a:spLocks xmlns:a="http://schemas.openxmlformats.org/drawingml/2006/main" noGrp="1"/>
          </p:cNvSpPr>
          <p:nvPr/>
        </p:nvSpPr>
        <p:spPr>
          <a:xfrm xmlns:a="http://schemas.openxmlformats.org/drawingml/2006/main">
            <a:off x="7781925" y="4572000"/>
            <a:ext cx="129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11111"/>
                </a:solidFill>
                <a:latin typeface="Geist"/>
                <a:ea typeface="Geist"/>
                <a:cs typeface="Geist"/>
              </a:defRPr>
            </a:defPPr>
          </a:lstStyle>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UP / DOWN</a:t>
            </a:r>
          </a:p>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 rationale</a:t>
            </a:r>
          </a:p>
        </p:txBody>
      </p:sp>
      <p:sp>
        <p:nvSpPr>
          <p:cNvPr id="25" name="Relational price and prediction storage">
            <a:extLst xmlns:a="http://schemas.openxmlformats.org/drawingml/2006/main">
              <a:ext uri="{FF2B5EF4-FFF2-40B4-BE49-F238E27FC236}">
                <a16:creationId xmlns:a16="http://schemas.microsoft.com/office/drawing/2014/main" id="{1FB8FE57-665B-4B10-A8F0-C93ADF363B3C}"/>
              </a:ext>
            </a:extLst>
          </p:cNvPr>
          <p:cNvSpPr>
            <a:spLocks xmlns:a="http://schemas.openxmlformats.org/drawingml/2006/main" noGrp="1"/>
          </p:cNvSpPr>
          <p:nvPr/>
        </p:nvSpPr>
        <p:spPr>
          <a:xfrm xmlns:a="http://schemas.openxmlformats.org/drawingml/2006/main">
            <a:off x="8953500" y="1952625"/>
            <a:ext cx="1571625" cy="16383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26" name="PostgreSQL">
            <a:extLst xmlns:a="http://schemas.openxmlformats.org/drawingml/2006/main">
              <a:ext uri="{FF2B5EF4-FFF2-40B4-BE49-F238E27FC236}">
                <a16:creationId xmlns:a16="http://schemas.microsoft.com/office/drawing/2014/main" id="{712D42C1-B123-4195-9E49-6B1842C2E655}"/>
              </a:ext>
            </a:extLst>
          </p:cNvPr>
          <p:cNvSpPr>
            <a:spLocks xmlns:a="http://schemas.openxmlformats.org/drawingml/2006/main" noGrp="1"/>
          </p:cNvSpPr>
          <p:nvPr/>
        </p:nvSpPr>
        <p:spPr>
          <a:xfrm xmlns:a="http://schemas.openxmlformats.org/drawingml/2006/main">
            <a:off x="9039225" y="2295525"/>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PostgreSQL</a:t>
            </a:r>
          </a:p>
        </p:txBody>
      </p:sp>
      <p:sp>
        <p:nvSpPr>
          <p:cNvPr id="27" name="prices&#10;predictions&#10;outcomes">
            <a:extLst xmlns:a="http://schemas.openxmlformats.org/drawingml/2006/main">
              <a:ext uri="{FF2B5EF4-FFF2-40B4-BE49-F238E27FC236}">
                <a16:creationId xmlns:a16="http://schemas.microsoft.com/office/drawing/2014/main" id="{E4477237-28EC-48EF-9828-6EC72C7C65E8}"/>
              </a:ext>
            </a:extLst>
          </p:cNvPr>
          <p:cNvSpPr>
            <a:spLocks xmlns:a="http://schemas.openxmlformats.org/drawingml/2006/main" noGrp="1"/>
          </p:cNvSpPr>
          <p:nvPr/>
        </p:nvSpPr>
        <p:spPr>
          <a:xfrm xmlns:a="http://schemas.openxmlformats.org/drawingml/2006/main">
            <a:off x="9067800" y="2695575"/>
            <a:ext cx="1343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55555"/>
                </a:solidFill>
                <a:latin typeface="Geist"/>
                <a:ea typeface="Geist"/>
                <a:cs typeface="Geist"/>
              </a:defRPr>
            </a:defPPr>
          </a:lstStyle>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prices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predictions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outcomes</a:t>
            </a:r>
          </a:p>
        </p:txBody>
      </p:sp>
      <p:sp>
        <p:nvSpPr>
          <p:cNvPr id="28" name="Dashboard preview frame">
            <a:extLst xmlns:a="http://schemas.openxmlformats.org/drawingml/2006/main">
              <a:ext uri="{FF2B5EF4-FFF2-40B4-BE49-F238E27FC236}">
                <a16:creationId xmlns:a16="http://schemas.microsoft.com/office/drawing/2014/main" id="{117AC59D-CF6A-4291-8184-DE9B78E39B69}"/>
              </a:ext>
            </a:extLst>
          </p:cNvPr>
          <p:cNvSpPr>
            <a:spLocks xmlns:a="http://schemas.openxmlformats.org/drawingml/2006/main" noGrp="1"/>
          </p:cNvSpPr>
          <p:nvPr/>
        </p:nvSpPr>
        <p:spPr>
          <a:xfrm xmlns:a="http://schemas.openxmlformats.org/drawingml/2006/main">
            <a:off x="10839450" y="2266950"/>
            <a:ext cx="1066800" cy="819150"/>
          </a:xfrm>
          <a:prstGeom xmlns:a="http://schemas.openxmlformats.org/drawingml/2006/main" prst="rect">
            <a:avLst/>
          </a:prstGeom>
          <a:noFill xmlns:a="http://schemas.openxmlformats.org/drawingml/2006/main"/>
          <a:ln xmlns:a="http://schemas.openxmlformats.org/drawingml/2006/main" w="12859">
            <a:solidFill>
              <a:srgbClr val="D5D5D5"/>
            </a:solidFill>
          </a:ln>
        </p:spPr>
      </p:sp>
      <p:pic>
        <p:nvPicPr>
          <p:cNvPr id="29" name="">
            <a:extLst xmlns:a="http://schemas.openxmlformats.org/drawingml/2006/main">
              <a:ext uri="{FF2B5EF4-FFF2-40B4-BE49-F238E27FC236}">
                <a16:creationId xmlns:a16="http://schemas.microsoft.com/office/drawing/2014/main" id="{9FA85A83-91C5-4AEB-978A-016E797FC6A7}"/>
              </a:ext>
            </a:extLst>
          </p:cNvPr>
          <p:cNvPicPr>
            <a:picLocks xmlns:a="http://schemas.openxmlformats.org/drawingml/2006/main" noChangeAspect="1"/>
          </p:cNvPicPr>
          <p:nvPr/>
        </p:nvPicPr>
        <p:blipFill>
          <a:blip xmlns:r="http://schemas.openxmlformats.org/officeDocument/2006/relationships" xmlns:a="http://schemas.openxmlformats.org/drawingml/2006/main" r:embed="R829c43905b084d7f"/>
          <a:srcRect xmlns:a="http://schemas.openxmlformats.org/drawingml/2006/main" l="4375" t="20139" r="4375" b="9861"/>
          <a:stretch xmlns:a="http://schemas.openxmlformats.org/drawingml/2006/main"/>
        </p:blipFill>
        <p:spPr>
          <a:xfrm xmlns:a="http://schemas.openxmlformats.org/drawingml/2006/main">
            <a:off x="10868025" y="2295525"/>
            <a:ext cx="1009650" cy="762000"/>
          </a:xfrm>
          <a:prstGeom xmlns:a="http://schemas.openxmlformats.org/drawingml/2006/main" prst="rect">
            <a:avLst/>
          </a:prstGeom>
        </p:spPr>
      </p:pic>
      <p:sp>
        <p:nvSpPr>
          <p:cNvPr id="30" name="Dashboard">
            <a:extLst xmlns:a="http://schemas.openxmlformats.org/drawingml/2006/main">
              <a:ext uri="{FF2B5EF4-FFF2-40B4-BE49-F238E27FC236}">
                <a16:creationId xmlns:a16="http://schemas.microsoft.com/office/drawing/2014/main" id="{F8E863C7-13AF-4E37-8E83-010BDB5F9C2F}"/>
              </a:ext>
            </a:extLst>
          </p:cNvPr>
          <p:cNvSpPr>
            <a:spLocks xmlns:a="http://schemas.openxmlformats.org/drawingml/2006/main" noGrp="1"/>
          </p:cNvSpPr>
          <p:nvPr/>
        </p:nvSpPr>
        <p:spPr>
          <a:xfrm xmlns:a="http://schemas.openxmlformats.org/drawingml/2006/main">
            <a:off x="10706100" y="3257550"/>
            <a:ext cx="1362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111111"/>
                </a:solidFill>
                <a:latin typeface="Geist"/>
                <a:ea typeface="Geist"/>
                <a:cs typeface="Geist"/>
              </a:defRPr>
            </a:defPPr>
          </a:lstStyle>
          <a:p xmlns:a="http://schemas.openxmlformats.org/drawingml/2006/main">
            <a:pPr algn="ctr">
              <a:defRPr sz="1575" b="1">
                <a:solidFill>
                  <a:srgbClr val="111111"/>
                </a:solidFill>
                <a:latin typeface="Geist"/>
                <a:ea typeface="Geist"/>
                <a:cs typeface="Geist"/>
              </a:defRPr>
            </a:pPr>
            <a:r>
              <a:rPr sz="1575" b="1">
                <a:solidFill>
                  <a:srgbClr val="111111"/>
                </a:solidFill>
                <a:latin typeface="Geist"/>
                <a:ea typeface="Geist"/>
                <a:cs typeface="Geist"/>
              </a:rPr>
              <a:t>Dashboard</a:t>
            </a:r>
          </a:p>
        </p:txBody>
      </p:sp>
      <p:cxnSp>
        <p:nvCxnSpPr>
          <p:cNvPr id="31" name="Data flow">
            <a:extLst xmlns:a="http://schemas.openxmlformats.org/drawingml/2006/main">
              <a:ext uri="{FF2B5EF4-FFF2-40B4-BE49-F238E27FC236}">
                <a16:creationId xmlns:a16="http://schemas.microsoft.com/office/drawing/2014/main" id="{0D915B2D-3633-46A9-A90B-F216FE589A91}"/>
              </a:ext>
            </a:extLst>
          </p:cNvPr>
          <p:cNvCxnSpPr/>
          <p:nvPr/>
        </p:nvCxnSpPr>
        <p:spPr>
          <a:xfrm xmlns:a="http://schemas.openxmlformats.org/drawingml/2006/main">
            <a:off x="2114550" y="252412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2" name="Data flow">
            <a:extLst xmlns:a="http://schemas.openxmlformats.org/drawingml/2006/main">
              <a:ext uri="{FF2B5EF4-FFF2-40B4-BE49-F238E27FC236}">
                <a16:creationId xmlns:a16="http://schemas.microsoft.com/office/drawing/2014/main" id="{A75F9D54-787B-4560-8DC4-334AA141F97D}"/>
              </a:ext>
            </a:extLst>
          </p:cNvPr>
          <p:cNvCxnSpPr/>
          <p:nvPr/>
        </p:nvCxnSpPr>
        <p:spPr>
          <a:xfrm xmlns:a="http://schemas.openxmlformats.org/drawingml/2006/main">
            <a:off x="3695700" y="2524125"/>
            <a:ext cx="52578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33" name="Daily prices">
            <a:extLst xmlns:a="http://schemas.openxmlformats.org/drawingml/2006/main">
              <a:ext uri="{FF2B5EF4-FFF2-40B4-BE49-F238E27FC236}">
                <a16:creationId xmlns:a16="http://schemas.microsoft.com/office/drawing/2014/main" id="{4CBA5A88-2816-48BB-BA9A-B6B860E8342F}"/>
              </a:ext>
            </a:extLst>
          </p:cNvPr>
          <p:cNvSpPr>
            <a:spLocks xmlns:a="http://schemas.openxmlformats.org/drawingml/2006/main" noGrp="1"/>
          </p:cNvSpPr>
          <p:nvPr/>
        </p:nvSpPr>
        <p:spPr>
          <a:xfrm xmlns:a="http://schemas.openxmlformats.org/drawingml/2006/main">
            <a:off x="5762625" y="217170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Daily prices</a:t>
            </a:r>
          </a:p>
        </p:txBody>
      </p:sp>
      <p:cxnSp>
        <p:nvCxnSpPr>
          <p:cNvPr id="34" name="Data flow">
            <a:extLst xmlns:a="http://schemas.openxmlformats.org/drawingml/2006/main">
              <a:ext uri="{FF2B5EF4-FFF2-40B4-BE49-F238E27FC236}">
                <a16:creationId xmlns:a16="http://schemas.microsoft.com/office/drawing/2014/main" id="{FACA4FE6-D3CC-4E8D-B795-7F6363185CDF}"/>
              </a:ext>
            </a:extLst>
          </p:cNvPr>
          <p:cNvCxnSpPr/>
          <p:nvPr/>
        </p:nvCxnSpPr>
        <p:spPr>
          <a:xfrm xmlns:a="http://schemas.openxmlformats.org/drawingml/2006/main">
            <a:off x="2457450" y="4371975"/>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5" name="Data flow">
            <a:extLst xmlns:a="http://schemas.openxmlformats.org/drawingml/2006/main">
              <a:ext uri="{FF2B5EF4-FFF2-40B4-BE49-F238E27FC236}">
                <a16:creationId xmlns:a16="http://schemas.microsoft.com/office/drawing/2014/main" id="{AD4CEA81-D972-4475-A7DB-2A698861AF3B}"/>
              </a:ext>
            </a:extLst>
          </p:cNvPr>
          <p:cNvCxnSpPr/>
          <p:nvPr/>
        </p:nvCxnSpPr>
        <p:spPr>
          <a:xfrm xmlns:a="http://schemas.openxmlformats.org/drawingml/2006/main">
            <a:off x="2457450" y="5105400"/>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6" name="Data flow">
            <a:extLst xmlns:a="http://schemas.openxmlformats.org/drawingml/2006/main">
              <a:ext uri="{FF2B5EF4-FFF2-40B4-BE49-F238E27FC236}">
                <a16:creationId xmlns:a16="http://schemas.microsoft.com/office/drawing/2014/main" id="{40D2A15C-8D9D-4C75-8919-D9317E6B9BB3}"/>
              </a:ext>
            </a:extLst>
          </p:cNvPr>
          <p:cNvCxnSpPr/>
          <p:nvPr/>
        </p:nvCxnSpPr>
        <p:spPr>
          <a:xfrm xmlns:a="http://schemas.openxmlformats.org/drawingml/2006/main">
            <a:off x="2552700" y="4371975"/>
            <a:ext cx="0" cy="733425"/>
          </a:xfrm>
          <a:prstGeom xmlns:a="http://schemas.openxmlformats.org/drawingml/2006/main" prst="straightConnector1">
            <a:avLst/>
          </a:prstGeom>
          <a:ln xmlns:a="http://schemas.openxmlformats.org/drawingml/2006/main" w="17145">
            <a:solidFill>
              <a:srgbClr val="555555"/>
            </a:solidFill>
            <a:prstDash val="solid"/>
          </a:ln>
        </p:spPr>
      </p:cxnSp>
      <p:cxnSp>
        <p:nvCxnSpPr>
          <p:cNvPr id="37" name="Data flow">
            <a:extLst xmlns:a="http://schemas.openxmlformats.org/drawingml/2006/main">
              <a:ext uri="{FF2B5EF4-FFF2-40B4-BE49-F238E27FC236}">
                <a16:creationId xmlns:a16="http://schemas.microsoft.com/office/drawing/2014/main" id="{6CCB7DDB-9C6B-48C4-9520-AD986AED5E6C}"/>
              </a:ext>
            </a:extLst>
          </p:cNvPr>
          <p:cNvCxnSpPr/>
          <p:nvPr/>
        </p:nvCxnSpPr>
        <p:spPr>
          <a:xfrm xmlns:a="http://schemas.openxmlformats.org/drawingml/2006/main">
            <a:off x="2552700" y="4752975"/>
            <a:ext cx="1143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8" name="Data flow">
            <a:extLst xmlns:a="http://schemas.openxmlformats.org/drawingml/2006/main">
              <a:ext uri="{FF2B5EF4-FFF2-40B4-BE49-F238E27FC236}">
                <a16:creationId xmlns:a16="http://schemas.microsoft.com/office/drawing/2014/main" id="{60D8BA9B-0220-4F29-9251-E0E4876D4B8A}"/>
              </a:ext>
            </a:extLst>
          </p:cNvPr>
          <p:cNvCxnSpPr/>
          <p:nvPr/>
        </p:nvCxnSpPr>
        <p:spPr>
          <a:xfrm xmlns:a="http://schemas.openxmlformats.org/drawingml/2006/main">
            <a:off x="3476625" y="4819650"/>
            <a:ext cx="4286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9" name="Data flow">
            <a:extLst xmlns:a="http://schemas.openxmlformats.org/drawingml/2006/main">
              <a:ext uri="{FF2B5EF4-FFF2-40B4-BE49-F238E27FC236}">
                <a16:creationId xmlns:a16="http://schemas.microsoft.com/office/drawing/2014/main" id="{78BB46CC-B34C-4A32-A5F3-FA7F84886FC4}"/>
              </a:ext>
            </a:extLst>
          </p:cNvPr>
          <p:cNvCxnSpPr/>
          <p:nvPr/>
        </p:nvCxnSpPr>
        <p:spPr>
          <a:xfrm xmlns:a="http://schemas.openxmlformats.org/drawingml/2006/main">
            <a:off x="5381625" y="4819650"/>
            <a:ext cx="5715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0" name="Data flow">
            <a:extLst xmlns:a="http://schemas.openxmlformats.org/drawingml/2006/main">
              <a:ext uri="{FF2B5EF4-FFF2-40B4-BE49-F238E27FC236}">
                <a16:creationId xmlns:a16="http://schemas.microsoft.com/office/drawing/2014/main" id="{978EF3B6-C650-49B6-9842-B47AA5AE8B1F}"/>
              </a:ext>
            </a:extLst>
          </p:cNvPr>
          <p:cNvCxnSpPr/>
          <p:nvPr/>
        </p:nvCxnSpPr>
        <p:spPr>
          <a:xfrm xmlns:a="http://schemas.openxmlformats.org/drawingml/2006/main">
            <a:off x="8686800" y="3171825"/>
            <a:ext cx="2667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1" name="Data flow">
            <a:extLst xmlns:a="http://schemas.openxmlformats.org/drawingml/2006/main">
              <a:ext uri="{FF2B5EF4-FFF2-40B4-BE49-F238E27FC236}">
                <a16:creationId xmlns:a16="http://schemas.microsoft.com/office/drawing/2014/main" id="{AC8AB621-1936-4572-A48B-192EBC80C38B}"/>
              </a:ext>
            </a:extLst>
          </p:cNvPr>
          <p:cNvCxnSpPr/>
          <p:nvPr/>
        </p:nvCxnSpPr>
        <p:spPr>
          <a:xfrm xmlns:a="http://schemas.openxmlformats.org/drawingml/2006/main">
            <a:off x="8686800" y="3171825"/>
            <a:ext cx="0" cy="552450"/>
          </a:xfrm>
          <a:prstGeom xmlns:a="http://schemas.openxmlformats.org/drawingml/2006/main" prst="straightConnector1">
            <a:avLst/>
          </a:prstGeom>
          <a:ln xmlns:a="http://schemas.openxmlformats.org/drawingml/2006/main" w="17145">
            <a:solidFill>
              <a:srgbClr val="555555"/>
            </a:solidFill>
            <a:prstDash val="solid"/>
          </a:ln>
        </p:spPr>
      </p:cxnSp>
      <p:cxnSp>
        <p:nvCxnSpPr>
          <p:cNvPr id="42" name="Data flow">
            <a:extLst xmlns:a="http://schemas.openxmlformats.org/drawingml/2006/main">
              <a:ext uri="{FF2B5EF4-FFF2-40B4-BE49-F238E27FC236}">
                <a16:creationId xmlns:a16="http://schemas.microsoft.com/office/drawing/2014/main" id="{9C6F2F9A-1DD5-4941-8CF2-1999167F463C}"/>
              </a:ext>
            </a:extLst>
          </p:cNvPr>
          <p:cNvCxnSpPr/>
          <p:nvPr/>
        </p:nvCxnSpPr>
        <p:spPr>
          <a:xfrm xmlns:a="http://schemas.openxmlformats.org/drawingml/2006/main">
            <a:off x="6638925" y="3724275"/>
            <a:ext cx="2047875"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3" name="Data flow">
            <a:extLst xmlns:a="http://schemas.openxmlformats.org/drawingml/2006/main">
              <a:ext uri="{FF2B5EF4-FFF2-40B4-BE49-F238E27FC236}">
                <a16:creationId xmlns:a16="http://schemas.microsoft.com/office/drawing/2014/main" id="{993310BE-E3F8-4818-9FB3-83AFF02713B5}"/>
              </a:ext>
            </a:extLst>
          </p:cNvPr>
          <p:cNvCxnSpPr/>
          <p:nvPr/>
        </p:nvCxnSpPr>
        <p:spPr>
          <a:xfrm xmlns:a="http://schemas.openxmlformats.org/drawingml/2006/main">
            <a:off x="6638925" y="3724275"/>
            <a:ext cx="0" cy="371475"/>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44" name="Price history">
            <a:extLst xmlns:a="http://schemas.openxmlformats.org/drawingml/2006/main">
              <a:ext uri="{FF2B5EF4-FFF2-40B4-BE49-F238E27FC236}">
                <a16:creationId xmlns:a16="http://schemas.microsoft.com/office/drawing/2014/main" id="{30D9595F-4CA9-45D5-AAF4-6D1C02A10998}"/>
              </a:ext>
            </a:extLst>
          </p:cNvPr>
          <p:cNvSpPr>
            <a:spLocks xmlns:a="http://schemas.openxmlformats.org/drawingml/2006/main" noGrp="1"/>
          </p:cNvSpPr>
          <p:nvPr/>
        </p:nvSpPr>
        <p:spPr>
          <a:xfrm xmlns:a="http://schemas.openxmlformats.org/drawingml/2006/main">
            <a:off x="6953250" y="3400425"/>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Price history</a:t>
            </a:r>
          </a:p>
        </p:txBody>
      </p:sp>
      <p:cxnSp>
        <p:nvCxnSpPr>
          <p:cNvPr id="45" name="Data flow">
            <a:extLst xmlns:a="http://schemas.openxmlformats.org/drawingml/2006/main">
              <a:ext uri="{FF2B5EF4-FFF2-40B4-BE49-F238E27FC236}">
                <a16:creationId xmlns:a16="http://schemas.microsoft.com/office/drawing/2014/main" id="{7AEBF023-1712-4FCA-95F6-C5359D54D532}"/>
              </a:ext>
            </a:extLst>
          </p:cNvPr>
          <p:cNvCxnSpPr/>
          <p:nvPr/>
        </p:nvCxnSpPr>
        <p:spPr>
          <a:xfrm xmlns:a="http://schemas.openxmlformats.org/drawingml/2006/main">
            <a:off x="7334250" y="4562475"/>
            <a:ext cx="33337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6" name="Data flow">
            <a:extLst xmlns:a="http://schemas.openxmlformats.org/drawingml/2006/main">
              <a:ext uri="{FF2B5EF4-FFF2-40B4-BE49-F238E27FC236}">
                <a16:creationId xmlns:a16="http://schemas.microsoft.com/office/drawing/2014/main" id="{94C8635C-6080-4EC4-9055-6B03993D4584}"/>
              </a:ext>
            </a:extLst>
          </p:cNvPr>
          <p:cNvCxnSpPr/>
          <p:nvPr/>
        </p:nvCxnSpPr>
        <p:spPr>
          <a:xfrm xmlns:a="http://schemas.openxmlformats.org/drawingml/2006/main">
            <a:off x="9191625" y="4552950"/>
            <a:ext cx="561975" cy="0"/>
          </a:xfrm>
          <a:prstGeom xmlns:a="http://schemas.openxmlformats.org/drawingml/2006/main" prst="straightConnector1">
            <a:avLst/>
          </a:prstGeom>
          <a:ln xmlns:a="http://schemas.openxmlformats.org/drawingml/2006/main" w="20955">
            <a:solidFill>
              <a:srgbClr val="A61955"/>
            </a:solidFill>
            <a:prstDash val="solid"/>
          </a:ln>
        </p:spPr>
      </p:cxnSp>
      <p:cxnSp>
        <p:nvCxnSpPr>
          <p:cNvPr id="47" name="Data flow">
            <a:extLst xmlns:a="http://schemas.openxmlformats.org/drawingml/2006/main">
              <a:ext uri="{FF2B5EF4-FFF2-40B4-BE49-F238E27FC236}">
                <a16:creationId xmlns:a16="http://schemas.microsoft.com/office/drawing/2014/main" id="{99E4E35B-FCAE-4009-87EB-00CBC3875F9B}"/>
              </a:ext>
            </a:extLst>
          </p:cNvPr>
          <p:cNvCxnSpPr/>
          <p:nvPr/>
        </p:nvCxnSpPr>
        <p:spPr>
          <a:xfrm xmlns:a="http://schemas.openxmlformats.org/drawingml/2006/main">
            <a:off x="9753600" y="3590925"/>
            <a:ext cx="0" cy="962025"/>
          </a:xfrm>
          <a:prstGeom xmlns:a="http://schemas.openxmlformats.org/drawingml/2006/main" prst="straightConnector1">
            <a:avLst/>
          </a:prstGeom>
          <a:ln xmlns:a="http://schemas.openxmlformats.org/drawingml/2006/main" w="20955">
            <a:solidFill>
              <a:srgbClr val="A61955"/>
            </a:solidFill>
            <a:prstDash val="solid"/>
            <a:headEnd type="arrow" w="sm" len="sm"/>
          </a:ln>
        </p:spPr>
      </p:cxnSp>
      <p:sp>
        <p:nvSpPr>
          <p:cNvPr id="48" name="Result">
            <a:extLst xmlns:a="http://schemas.openxmlformats.org/drawingml/2006/main">
              <a:ext uri="{FF2B5EF4-FFF2-40B4-BE49-F238E27FC236}">
                <a16:creationId xmlns:a16="http://schemas.microsoft.com/office/drawing/2014/main" id="{EFC53601-6B22-48A5-8206-7E0AC4CDF323}"/>
              </a:ext>
            </a:extLst>
          </p:cNvPr>
          <p:cNvSpPr>
            <a:spLocks xmlns:a="http://schemas.openxmlformats.org/drawingml/2006/main" noGrp="1"/>
          </p:cNvSpPr>
          <p:nvPr/>
        </p:nvSpPr>
        <p:spPr>
          <a:xfrm xmlns:a="http://schemas.openxmlformats.org/drawingml/2006/main">
            <a:off x="9906000" y="416242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Result</a:t>
            </a:r>
          </a:p>
        </p:txBody>
      </p:sp>
      <p:cxnSp>
        <p:nvCxnSpPr>
          <p:cNvPr id="49" name="Data flow">
            <a:extLst xmlns:a="http://schemas.openxmlformats.org/drawingml/2006/main">
              <a:ext uri="{FF2B5EF4-FFF2-40B4-BE49-F238E27FC236}">
                <a16:creationId xmlns:a16="http://schemas.microsoft.com/office/drawing/2014/main" id="{4ADACF4D-CF70-406A-96F8-62DACDFCE94B}"/>
              </a:ext>
            </a:extLst>
          </p:cNvPr>
          <p:cNvCxnSpPr/>
          <p:nvPr/>
        </p:nvCxnSpPr>
        <p:spPr>
          <a:xfrm xmlns:a="http://schemas.openxmlformats.org/drawingml/2006/main">
            <a:off x="10525125" y="269557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50" name="Outcome comparison">
            <a:extLst xmlns:a="http://schemas.openxmlformats.org/drawingml/2006/main">
              <a:ext uri="{FF2B5EF4-FFF2-40B4-BE49-F238E27FC236}">
                <a16:creationId xmlns:a16="http://schemas.microsoft.com/office/drawing/2014/main" id="{546EAA49-BD64-44F9-B5A1-0EDEFCF2350D}"/>
              </a:ext>
            </a:extLst>
          </p:cNvPr>
          <p:cNvSpPr>
            <a:spLocks xmlns:a="http://schemas.openxmlformats.org/drawingml/2006/main" noGrp="1"/>
          </p:cNvSpPr>
          <p:nvPr/>
        </p:nvSpPr>
        <p:spPr>
          <a:xfrm xmlns:a="http://schemas.openxmlformats.org/drawingml/2006/main">
            <a:off x="7915275" y="5686425"/>
            <a:ext cx="2076450" cy="466725"/>
          </a:xfrm>
          <a:prstGeom xmlns:a="http://schemas.openxmlformats.org/drawingml/2006/main" prst="roundRect">
            <a:avLst>
              <a:gd name="adj" fmla="val 12245"/>
            </a:avLst>
          </a:prstGeom>
          <a:noFill xmlns:a="http://schemas.openxmlformats.org/drawingml/2006/main"/>
          <a:ln xmlns:a="http://schemas.openxmlformats.org/drawingml/2006/main" w="12859">
            <a:solidFill>
              <a:srgbClr val="D5D5D5"/>
            </a:solidFill>
          </a:ln>
        </p:spPr>
      </p:sp>
      <p:sp>
        <p:nvSpPr>
          <p:cNvPr id="51" name="Score outcomes">
            <a:extLst xmlns:a="http://schemas.openxmlformats.org/drawingml/2006/main">
              <a:ext uri="{FF2B5EF4-FFF2-40B4-BE49-F238E27FC236}">
                <a16:creationId xmlns:a16="http://schemas.microsoft.com/office/drawing/2014/main" id="{FF9F6014-317F-46FE-80FD-E5232A898F8E}"/>
              </a:ext>
            </a:extLst>
          </p:cNvPr>
          <p:cNvSpPr>
            <a:spLocks xmlns:a="http://schemas.openxmlformats.org/drawingml/2006/main" noGrp="1"/>
          </p:cNvSpPr>
          <p:nvPr/>
        </p:nvSpPr>
        <p:spPr>
          <a:xfrm xmlns:a="http://schemas.openxmlformats.org/drawingml/2006/main">
            <a:off x="8010525" y="58102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11111"/>
                </a:solidFill>
                <a:latin typeface="Geist"/>
                <a:ea typeface="Geist"/>
                <a:cs typeface="Geist"/>
              </a:defRPr>
            </a:defPPr>
          </a:lstStyle>
          <a:p xmlns:a="http://schemas.openxmlformats.org/drawingml/2006/main">
            <a:pPr algn="ctr">
              <a:defRPr sz="1500" b="1">
                <a:solidFill>
                  <a:srgbClr val="111111"/>
                </a:solidFill>
                <a:latin typeface="Geist"/>
                <a:ea typeface="Geist"/>
                <a:cs typeface="Geist"/>
              </a:defRPr>
            </a:pPr>
            <a:r>
              <a:rPr sz="1500" b="1">
                <a:solidFill>
                  <a:srgbClr val="111111"/>
                </a:solidFill>
                <a:latin typeface="Geist"/>
                <a:ea typeface="Geist"/>
                <a:cs typeface="Geist"/>
              </a:rPr>
              <a:t>Score outcomes</a:t>
            </a:r>
          </a:p>
        </p:txBody>
      </p:sp>
      <p:cxnSp>
        <p:nvCxnSpPr>
          <p:cNvPr id="52" name="Data flow">
            <a:extLst xmlns:a="http://schemas.openxmlformats.org/drawingml/2006/main">
              <a:ext uri="{FF2B5EF4-FFF2-40B4-BE49-F238E27FC236}">
                <a16:creationId xmlns:a16="http://schemas.microsoft.com/office/drawing/2014/main" id="{F9708843-CB18-4AEE-BC8E-5BC8BA93CC3D}"/>
              </a:ext>
            </a:extLst>
          </p:cNvPr>
          <p:cNvCxnSpPr/>
          <p:nvPr/>
        </p:nvCxnSpPr>
        <p:spPr>
          <a:xfrm xmlns:a="http://schemas.openxmlformats.org/drawingml/2006/main">
            <a:off x="10525125" y="3333750"/>
            <a:ext cx="1333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53" name="Data flow">
            <a:extLst xmlns:a="http://schemas.openxmlformats.org/drawingml/2006/main">
              <a:ext uri="{FF2B5EF4-FFF2-40B4-BE49-F238E27FC236}">
                <a16:creationId xmlns:a16="http://schemas.microsoft.com/office/drawing/2014/main" id="{0BD3CD21-BB45-4BDB-BB6C-E65B38BC13D2}"/>
              </a:ext>
            </a:extLst>
          </p:cNvPr>
          <p:cNvCxnSpPr/>
          <p:nvPr/>
        </p:nvCxnSpPr>
        <p:spPr>
          <a:xfrm xmlns:a="http://schemas.openxmlformats.org/drawingml/2006/main">
            <a:off x="10658475" y="3333750"/>
            <a:ext cx="0" cy="2581275"/>
          </a:xfrm>
          <a:prstGeom xmlns:a="http://schemas.openxmlformats.org/drawingml/2006/main" prst="straightConnector1">
            <a:avLst/>
          </a:prstGeom>
          <a:ln xmlns:a="http://schemas.openxmlformats.org/drawingml/2006/main" w="17145">
            <a:solidFill>
              <a:srgbClr val="555555"/>
            </a:solidFill>
            <a:prstDash val="solid"/>
          </a:ln>
        </p:spPr>
      </p:cxnSp>
      <p:cxnSp>
        <p:nvCxnSpPr>
          <p:cNvPr id="54" name="Data flow">
            <a:extLst xmlns:a="http://schemas.openxmlformats.org/drawingml/2006/main">
              <a:ext uri="{FF2B5EF4-FFF2-40B4-BE49-F238E27FC236}">
                <a16:creationId xmlns:a16="http://schemas.microsoft.com/office/drawing/2014/main" id="{F15010B2-399F-4BE8-88DB-FF5D8D8AF40C}"/>
              </a:ext>
            </a:extLst>
          </p:cNvPr>
          <p:cNvCxnSpPr/>
          <p:nvPr/>
        </p:nvCxnSpPr>
        <p:spPr>
          <a:xfrm xmlns:a="http://schemas.openxmlformats.org/drawingml/2006/main">
            <a:off x="9991725" y="5915025"/>
            <a:ext cx="666750" cy="0"/>
          </a:xfrm>
          <a:prstGeom xmlns:a="http://schemas.openxmlformats.org/drawingml/2006/main" prst="straightConnector1">
            <a:avLst/>
          </a:prstGeom>
          <a:ln xmlns:a="http://schemas.openxmlformats.org/drawingml/2006/main" w="17145">
            <a:solidFill>
              <a:srgbClr val="555555"/>
            </a:solidFill>
            <a:prstDash val="solid"/>
            <a:headEnd type="arrow" w="sm" len="sm"/>
          </a:ln>
        </p:spPr>
      </p:cxnSp>
      <p:sp>
        <p:nvSpPr>
          <p:cNvPr id="55" name="Next close">
            <a:extLst xmlns:a="http://schemas.openxmlformats.org/drawingml/2006/main">
              <a:ext uri="{FF2B5EF4-FFF2-40B4-BE49-F238E27FC236}">
                <a16:creationId xmlns:a16="http://schemas.microsoft.com/office/drawing/2014/main" id="{3F4079A5-9734-45F3-8A63-3904BE6EB6BB}"/>
              </a:ext>
            </a:extLst>
          </p:cNvPr>
          <p:cNvSpPr>
            <a:spLocks xmlns:a="http://schemas.openxmlformats.org/drawingml/2006/main" noGrp="1"/>
          </p:cNvSpPr>
          <p:nvPr/>
        </p:nvSpPr>
        <p:spPr>
          <a:xfrm xmlns:a="http://schemas.openxmlformats.org/drawingml/2006/main">
            <a:off x="10763250" y="5267325"/>
            <a:ext cx="1181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Next close</a:t>
            </a:r>
          </a:p>
        </p:txBody>
      </p:sp>
      <p:cxnSp>
        <p:nvCxnSpPr>
          <p:cNvPr id="56" name="Review feedback">
            <a:extLst xmlns:a="http://schemas.openxmlformats.org/drawingml/2006/main">
              <a:ext uri="{FF2B5EF4-FFF2-40B4-BE49-F238E27FC236}">
                <a16:creationId xmlns:a16="http://schemas.microsoft.com/office/drawing/2014/main" id="{6FD2411B-AA5F-44AC-AA12-854A080870F5}"/>
              </a:ext>
            </a:extLst>
          </p:cNvPr>
          <p:cNvCxnSpPr/>
          <p:nvPr/>
        </p:nvCxnSpPr>
        <p:spPr>
          <a:xfrm xmlns:a="http://schemas.openxmlformats.org/drawingml/2006/main">
            <a:off x="6638925" y="5915025"/>
            <a:ext cx="1276350" cy="0"/>
          </a:xfrm>
          <a:prstGeom xmlns:a="http://schemas.openxmlformats.org/drawingml/2006/main" prst="straightConnector1">
            <a:avLst/>
          </a:prstGeom>
          <a:ln xmlns:a="http://schemas.openxmlformats.org/drawingml/2006/main" w="16193">
            <a:solidFill>
              <a:srgbClr val="A61955"/>
            </a:solidFill>
            <a:prstDash val="dash"/>
          </a:ln>
        </p:spPr>
      </p:cxnSp>
      <p:cxnSp>
        <p:nvCxnSpPr>
          <p:cNvPr id="57" name="Review feedback">
            <a:extLst xmlns:a="http://schemas.openxmlformats.org/drawingml/2006/main">
              <a:ext uri="{FF2B5EF4-FFF2-40B4-BE49-F238E27FC236}">
                <a16:creationId xmlns:a16="http://schemas.microsoft.com/office/drawing/2014/main" id="{0B92AB7C-CFDD-44C1-B37B-B482399FD8E3}"/>
              </a:ext>
            </a:extLst>
          </p:cNvPr>
          <p:cNvCxnSpPr/>
          <p:nvPr/>
        </p:nvCxnSpPr>
        <p:spPr>
          <a:xfrm xmlns:a="http://schemas.openxmlformats.org/drawingml/2006/main">
            <a:off x="6638925" y="5048250"/>
            <a:ext cx="0" cy="866775"/>
          </a:xfrm>
          <a:prstGeom xmlns:a="http://schemas.openxmlformats.org/drawingml/2006/main" prst="straightConnector1">
            <a:avLst/>
          </a:prstGeom>
          <a:ln xmlns:a="http://schemas.openxmlformats.org/drawingml/2006/main" w="16193">
            <a:solidFill>
              <a:srgbClr val="A61955"/>
            </a:solidFill>
            <a:prstDash val="dash"/>
            <a:headEnd type="arrow" w="sm" len="sm"/>
          </a:ln>
        </p:spPr>
      </p:cxnSp>
      <p:sp>
        <p:nvSpPr>
          <p:cNvPr id="58" name="Review inputs&#10;and prompt">
            <a:extLst xmlns:a="http://schemas.openxmlformats.org/drawingml/2006/main">
              <a:ext uri="{FF2B5EF4-FFF2-40B4-BE49-F238E27FC236}">
                <a16:creationId xmlns:a16="http://schemas.microsoft.com/office/drawing/2014/main" id="{5D4432A9-B3F3-48B0-99B9-4F62FF8E6530}"/>
              </a:ext>
            </a:extLst>
          </p:cNvPr>
          <p:cNvSpPr>
            <a:spLocks xmlns:a="http://schemas.openxmlformats.org/drawingml/2006/main" noGrp="1"/>
          </p:cNvSpPr>
          <p:nvPr/>
        </p:nvSpPr>
        <p:spPr>
          <a:xfrm xmlns:a="http://schemas.openxmlformats.org/drawingml/2006/main">
            <a:off x="4714875" y="54292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Review inputs</a:t>
            </a:r>
          </a:p>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and prompt</a:t>
            </a:r>
          </a:p>
        </p:txBody>
      </p:sp>
      <p:sp>
        <p:nvSpPr>
          <p:cNvPr id="59" name="Original CSV / JSON retained for replay.">
            <a:extLst xmlns:a="http://schemas.openxmlformats.org/drawingml/2006/main">
              <a:ext uri="{FF2B5EF4-FFF2-40B4-BE49-F238E27FC236}">
                <a16:creationId xmlns:a16="http://schemas.microsoft.com/office/drawing/2014/main" id="{E57A1E78-E5B6-43B9-9488-8A03D17E0CC1}"/>
              </a:ext>
            </a:extLst>
          </p:cNvPr>
          <p:cNvSpPr>
            <a:spLocks xmlns:a="http://schemas.openxmlformats.org/drawingml/2006/main" noGrp="1"/>
          </p:cNvSpPr>
          <p:nvPr/>
        </p:nvSpPr>
        <p:spPr>
          <a:xfrm xmlns:a="http://schemas.openxmlformats.org/drawingml/2006/main">
            <a:off x="685800" y="5734050"/>
            <a:ext cx="466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Original CSV / JSON retained for replay.</a:t>
            </a:r>
          </a:p>
        </p:txBody>
      </p:sp>
      <p:sp>
        <p:nvSpPr>
          <p:cNvPr id="60" name="Dashed: team review for future versions. Post details read MongoDB. * ">
            <a:extLst xmlns:a="http://schemas.openxmlformats.org/drawingml/2006/main">
              <a:ext uri="{FF2B5EF4-FFF2-40B4-BE49-F238E27FC236}">
                <a16:creationId xmlns:a16="http://schemas.microsoft.com/office/drawing/2014/main" id="{C818117A-A506-44C5-929D-2BAD081C91E3}"/>
              </a:ext>
            </a:extLst>
          </p:cNvPr>
          <p:cNvSpPr>
            <a:spLocks xmlns:a="http://schemas.openxmlformats.org/drawingml/2006/main" noGrp="1"/>
          </p:cNvSpPr>
          <p:nvPr/>
        </p:nvSpPr>
        <p:spPr>
          <a:xfrm xmlns:a="http://schemas.openxmlformats.org/drawingml/2006/main">
            <a:off x="685800" y="6372225"/>
            <a:ext cx="1029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555555"/>
                </a:solidFill>
                <a:latin typeface="Geist"/>
                <a:ea typeface="Geist"/>
                <a:cs typeface="Geist"/>
              </a:defRPr>
            </a:defPPr>
          </a:lstStyle>
          <a:p xmlns:a="http://schemas.openxmlformats.org/drawingml/2006/main">
            <a:pPr algn="l">
              <a:defRPr sz="1088" b="0">
                <a:solidFill>
                  <a:srgbClr val="555555"/>
                </a:solidFill>
                <a:latin typeface="Geist"/>
                <a:ea typeface="Geist"/>
                <a:cs typeface="Geist"/>
              </a:defRPr>
            </a:pPr>
            <a:r>
              <a:rPr sz="1088" b="0">
                <a:solidFill>
                  <a:srgbClr val="555555"/>
                </a:solidFill>
                <a:latin typeface="Geist"/>
                <a:ea typeface="Geist"/>
                <a:cs typeface="Geist"/>
              </a:rPr>
              <a:t>Dashed: team review for future versions. Post details read MongoDB. * Reddit: conditional access.</a:t>
            </a:r>
          </a:p>
        </p:txBody>
      </p:sp>
    </p:spTree>
    <p:extLst>
      <p:ext uri="{BB962C8B-B14F-4D97-AF65-F5344CB8AC3E}">
        <p14:creationId xmlns:p14="http://schemas.microsoft.com/office/powerpoint/2010/main" val="2479460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Data preprocessing">
            <a:extLst xmlns:a="http://schemas.openxmlformats.org/drawingml/2006/main">
              <a:ext uri="{FF2B5EF4-FFF2-40B4-BE49-F238E27FC236}">
                <a16:creationId xmlns:a16="http://schemas.microsoft.com/office/drawing/2014/main" id="{C3E8E1DA-AD8B-48D4-809C-A665365B54E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D312FC47-2723-40C1-9467-F4DB659C7ADD}"/>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06</a:t>
            </a:r>
          </a:p>
        </p:txBody>
      </p:sp>
      <p:sp>
        <p:nvSpPr>
          <p:cNvPr id="3" name="Only information available when the forecast is issued">
            <a:extLst xmlns:a="http://schemas.openxmlformats.org/drawingml/2006/main">
              <a:ext uri="{FF2B5EF4-FFF2-40B4-BE49-F238E27FC236}">
                <a16:creationId xmlns:a16="http://schemas.microsoft.com/office/drawing/2014/main" id="{007D07AD-ADEB-4B06-BE43-23AF6FCEBBD5}"/>
              </a:ext>
            </a:extLst>
          </p:cNvPr>
          <p:cNvSpPr>
            <a:spLocks xmlns:a="http://schemas.openxmlformats.org/drawingml/2006/main" noGrp="1"/>
          </p:cNvSpPr>
          <p:nvPr/>
        </p:nvSpPr>
        <p:spPr>
          <a:xfrm xmlns:a="http://schemas.openxmlformats.org/drawingml/2006/main">
            <a:off x="695325" y="12382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defRPr sz="2175" b="0">
                <a:solidFill>
                  <a:srgbClr val="555555"/>
                </a:solidFill>
                <a:latin typeface="Geist"/>
                <a:ea typeface="Geist"/>
                <a:cs typeface="Geist"/>
              </a:defRPr>
            </a:pPr>
            <a:r>
              <a:rPr sz="2175" b="0">
                <a:solidFill>
                  <a:srgbClr val="555555"/>
                </a:solidFill>
                <a:latin typeface="Geist"/>
                <a:ea typeface="Geist"/>
                <a:cs typeface="Geist"/>
              </a:rPr>
              <a:t>Only information available when the forecast is issued</a:t>
            </a:r>
          </a:p>
        </p:txBody>
      </p:sp>
      <p:cxnSp>
        <p:nvCxnSpPr>
          <p:cNvPr id="4" name="Data flow">
            <a:extLst xmlns:a="http://schemas.openxmlformats.org/drawingml/2006/main">
              <a:ext uri="{FF2B5EF4-FFF2-40B4-BE49-F238E27FC236}">
                <a16:creationId xmlns:a16="http://schemas.microsoft.com/office/drawing/2014/main" id="{BE30A4A8-032D-416F-95B0-B561DC0AEFAB}"/>
              </a:ext>
            </a:extLst>
          </p:cNvPr>
          <p:cNvCxnSpPr/>
          <p:nvPr/>
        </p:nvCxnSpPr>
        <p:spPr>
          <a:xfrm xmlns:a="http://schemas.openxmlformats.org/drawingml/2006/main">
            <a:off x="68580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5" name="Price features">
            <a:extLst xmlns:a="http://schemas.openxmlformats.org/drawingml/2006/main">
              <a:ext uri="{FF2B5EF4-FFF2-40B4-BE49-F238E27FC236}">
                <a16:creationId xmlns:a16="http://schemas.microsoft.com/office/drawing/2014/main" id="{E0A3CB64-80DE-45C4-9C8F-C285419681A6}"/>
              </a:ext>
            </a:extLst>
          </p:cNvPr>
          <p:cNvSpPr>
            <a:spLocks xmlns:a="http://schemas.openxmlformats.org/drawingml/2006/main" noGrp="1"/>
          </p:cNvSpPr>
          <p:nvPr/>
        </p:nvSpPr>
        <p:spPr>
          <a:xfrm xmlns:a="http://schemas.openxmlformats.org/drawingml/2006/main">
            <a:off x="68580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Price features</a:t>
            </a:r>
          </a:p>
        </p:txBody>
      </p:sp>
      <p:sp>
        <p:nvSpPr>
          <p:cNvPr id="6" name="31 daily closes&#10;Returns and volatility&#10;Volume changes">
            <a:extLst xmlns:a="http://schemas.openxmlformats.org/drawingml/2006/main">
              <a:ext uri="{FF2B5EF4-FFF2-40B4-BE49-F238E27FC236}">
                <a16:creationId xmlns:a16="http://schemas.microsoft.com/office/drawing/2014/main" id="{553F99BD-94C6-48DC-B5B5-CE58E7758AAE}"/>
              </a:ext>
            </a:extLst>
          </p:cNvPr>
          <p:cNvSpPr>
            <a:spLocks xmlns:a="http://schemas.openxmlformats.org/drawingml/2006/main" noGrp="1"/>
          </p:cNvSpPr>
          <p:nvPr/>
        </p:nvSpPr>
        <p:spPr>
          <a:xfrm xmlns:a="http://schemas.openxmlformats.org/drawingml/2006/main">
            <a:off x="68580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31 daily closes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Returns and volatility</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Volume changes</a:t>
            </a:r>
          </a:p>
        </p:txBody>
      </p:sp>
      <p:cxnSp>
        <p:nvCxnSpPr>
          <p:cNvPr id="7" name="Data flow">
            <a:extLst xmlns:a="http://schemas.openxmlformats.org/drawingml/2006/main">
              <a:ext uri="{FF2B5EF4-FFF2-40B4-BE49-F238E27FC236}">
                <a16:creationId xmlns:a16="http://schemas.microsoft.com/office/drawing/2014/main" id="{166B95DB-38CB-41EC-9B44-4AB309E1FAD2}"/>
              </a:ext>
            </a:extLst>
          </p:cNvPr>
          <p:cNvCxnSpPr/>
          <p:nvPr/>
        </p:nvCxnSpPr>
        <p:spPr>
          <a:xfrm xmlns:a="http://schemas.openxmlformats.org/drawingml/2006/main">
            <a:off x="4486275"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8" name="Social features">
            <a:extLst xmlns:a="http://schemas.openxmlformats.org/drawingml/2006/main">
              <a:ext uri="{FF2B5EF4-FFF2-40B4-BE49-F238E27FC236}">
                <a16:creationId xmlns:a16="http://schemas.microsoft.com/office/drawing/2014/main" id="{9712CDC4-4B72-4AF2-860B-7CFD5E0F85C0}"/>
              </a:ext>
            </a:extLst>
          </p:cNvPr>
          <p:cNvSpPr>
            <a:spLocks xmlns:a="http://schemas.openxmlformats.org/drawingml/2006/main" noGrp="1"/>
          </p:cNvSpPr>
          <p:nvPr/>
        </p:nvSpPr>
        <p:spPr>
          <a:xfrm xmlns:a="http://schemas.openxmlformats.org/drawingml/2006/main">
            <a:off x="4486275"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Social features</a:t>
            </a:r>
          </a:p>
        </p:txBody>
      </p:sp>
      <p:sp>
        <p:nvSpPr>
          <p:cNvPr id="9" name="Activity by source&#10;Sentiment + coverage&#10;Selected post excerpts">
            <a:extLst xmlns:a="http://schemas.openxmlformats.org/drawingml/2006/main">
              <a:ext uri="{FF2B5EF4-FFF2-40B4-BE49-F238E27FC236}">
                <a16:creationId xmlns:a16="http://schemas.microsoft.com/office/drawing/2014/main" id="{10FC8BAA-5512-458A-8D1E-CB32562E723D}"/>
              </a:ext>
            </a:extLst>
          </p:cNvPr>
          <p:cNvSpPr>
            <a:spLocks xmlns:a="http://schemas.openxmlformats.org/drawingml/2006/main" noGrp="1"/>
          </p:cNvSpPr>
          <p:nvPr/>
        </p:nvSpPr>
        <p:spPr>
          <a:xfrm xmlns:a="http://schemas.openxmlformats.org/drawingml/2006/main">
            <a:off x="4486275"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Activity by source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Sentiment + coverage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Selected post excerpts</a:t>
            </a:r>
          </a:p>
        </p:txBody>
      </p:sp>
      <p:cxnSp>
        <p:nvCxnSpPr>
          <p:cNvPr id="10" name="Data flow">
            <a:extLst xmlns:a="http://schemas.openxmlformats.org/drawingml/2006/main">
              <a:ext uri="{FF2B5EF4-FFF2-40B4-BE49-F238E27FC236}">
                <a16:creationId xmlns:a16="http://schemas.microsoft.com/office/drawing/2014/main" id="{46F9C29A-4EA7-44CD-B61E-55D16FAEBE86}"/>
              </a:ext>
            </a:extLst>
          </p:cNvPr>
          <p:cNvCxnSpPr/>
          <p:nvPr/>
        </p:nvCxnSpPr>
        <p:spPr>
          <a:xfrm xmlns:a="http://schemas.openxmlformats.org/drawingml/2006/main">
            <a:off x="828675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Frozen snapshot">
            <a:extLst xmlns:a="http://schemas.openxmlformats.org/drawingml/2006/main">
              <a:ext uri="{FF2B5EF4-FFF2-40B4-BE49-F238E27FC236}">
                <a16:creationId xmlns:a16="http://schemas.microsoft.com/office/drawing/2014/main" id="{3BD8B1CF-AEF4-4CE0-867A-0A62B150EE95}"/>
              </a:ext>
            </a:extLst>
          </p:cNvPr>
          <p:cNvSpPr>
            <a:spLocks xmlns:a="http://schemas.openxmlformats.org/drawingml/2006/main" noGrp="1"/>
          </p:cNvSpPr>
          <p:nvPr/>
        </p:nvSpPr>
        <p:spPr>
          <a:xfrm xmlns:a="http://schemas.openxmlformats.org/drawingml/2006/main">
            <a:off x="828675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Frozen snapshot</a:t>
            </a:r>
          </a:p>
        </p:txBody>
      </p:sp>
      <p:sp>
        <p:nvSpPr>
          <p:cNvPr id="12" name="Known before cutoff&#10;Stable IDs and hashes&#10;Model + prompt version">
            <a:extLst xmlns:a="http://schemas.openxmlformats.org/drawingml/2006/main">
              <a:ext uri="{FF2B5EF4-FFF2-40B4-BE49-F238E27FC236}">
                <a16:creationId xmlns:a16="http://schemas.microsoft.com/office/drawing/2014/main" id="{3CC57982-BDAE-4640-8791-DC32C4B6EB8D}"/>
              </a:ext>
            </a:extLst>
          </p:cNvPr>
          <p:cNvSpPr>
            <a:spLocks xmlns:a="http://schemas.openxmlformats.org/drawingml/2006/main" noGrp="1"/>
          </p:cNvSpPr>
          <p:nvPr/>
        </p:nvSpPr>
        <p:spPr>
          <a:xfrm xmlns:a="http://schemas.openxmlformats.org/drawingml/2006/main">
            <a:off x="828675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Known before cutoff</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Stable IDs and hashes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Model + prompt version</a:t>
            </a:r>
          </a:p>
        </p:txBody>
      </p:sp>
      <p:sp>
        <p:nvSpPr>
          <p:cNvPr id="13" name="UTC normalization · ID deduplication · verified coin matching">
            <a:extLst xmlns:a="http://schemas.openxmlformats.org/drawingml/2006/main">
              <a:ext uri="{FF2B5EF4-FFF2-40B4-BE49-F238E27FC236}">
                <a16:creationId xmlns:a16="http://schemas.microsoft.com/office/drawing/2014/main" id="{9844C37A-910F-478E-9790-33106AC21CAA}"/>
              </a:ext>
            </a:extLst>
          </p:cNvPr>
          <p:cNvSpPr>
            <a:spLocks xmlns:a="http://schemas.openxmlformats.org/drawingml/2006/main" noGrp="1"/>
          </p:cNvSpPr>
          <p:nvPr/>
        </p:nvSpPr>
        <p:spPr>
          <a:xfrm xmlns:a="http://schemas.openxmlformats.org/drawingml/2006/main">
            <a:off x="695325" y="4476750"/>
            <a:ext cx="1081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UTC normalization · ID deduplication · verified coin matching</a:t>
            </a:r>
          </a:p>
        </p:txBody>
      </p:sp>
      <p:sp>
        <p:nvSpPr>
          <p:cNvPr id="14" name="No future information">
            <a:extLst xmlns:a="http://schemas.openxmlformats.org/drawingml/2006/main">
              <a:ext uri="{FF2B5EF4-FFF2-40B4-BE49-F238E27FC236}">
                <a16:creationId xmlns:a16="http://schemas.microsoft.com/office/drawing/2014/main" id="{53F63235-2230-4F19-83FA-62E06ACF7F25}"/>
              </a:ext>
            </a:extLst>
          </p:cNvPr>
          <p:cNvSpPr>
            <a:spLocks xmlns:a="http://schemas.openxmlformats.org/drawingml/2006/main" noGrp="1"/>
          </p:cNvSpPr>
          <p:nvPr/>
        </p:nvSpPr>
        <p:spPr>
          <a:xfrm xmlns:a="http://schemas.openxmlformats.org/drawingml/2006/main">
            <a:off x="695325" y="50958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61955"/>
                </a:solidFill>
                <a:latin typeface="Geist"/>
                <a:ea typeface="Geist"/>
                <a:cs typeface="Geist"/>
              </a:defRPr>
            </a:defPPr>
          </a:lstStyle>
          <a:p xmlns:a="http://schemas.openxmlformats.org/drawingml/2006/main">
            <a:pPr algn="l">
              <a:defRPr sz="2550" b="1">
                <a:solidFill>
                  <a:srgbClr val="A61955"/>
                </a:solidFill>
                <a:latin typeface="Geist"/>
                <a:ea typeface="Geist"/>
                <a:cs typeface="Geist"/>
              </a:defRPr>
            </a:pPr>
            <a:r>
              <a:rPr sz="2550" b="1">
                <a:solidFill>
                  <a:srgbClr val="A61955"/>
                </a:solidFill>
                <a:latin typeface="Geist"/>
                <a:ea typeface="Geist"/>
                <a:cs typeface="Geist"/>
              </a:rPr>
              <a:t>No future information</a:t>
            </a:r>
          </a:p>
        </p:txBody>
      </p:sp>
      <p:sp>
        <p:nvSpPr>
          <p:cNvPr id="15" name="Later posts and updated reactions stay out of earlier inputs.">
            <a:extLst xmlns:a="http://schemas.openxmlformats.org/drawingml/2006/main">
              <a:ext uri="{FF2B5EF4-FFF2-40B4-BE49-F238E27FC236}">
                <a16:creationId xmlns:a16="http://schemas.microsoft.com/office/drawing/2014/main" id="{30F04F5E-B631-4D6C-A2F6-0DC565AAA516}"/>
              </a:ext>
            </a:extLst>
          </p:cNvPr>
          <p:cNvSpPr>
            <a:spLocks xmlns:a="http://schemas.openxmlformats.org/drawingml/2006/main" noGrp="1"/>
          </p:cNvSpPr>
          <p:nvPr/>
        </p:nvSpPr>
        <p:spPr>
          <a:xfrm xmlns:a="http://schemas.openxmlformats.org/drawingml/2006/main">
            <a:off x="695325" y="5619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Geist"/>
                <a:ea typeface="Geist"/>
                <a:cs typeface="Geist"/>
              </a:defRPr>
            </a:defPPr>
          </a:lstStyle>
          <a:p xmlns:a="http://schemas.openxmlformats.org/drawingml/2006/main">
            <a:pPr algn="l">
              <a:defRPr sz="2025" b="0">
                <a:solidFill>
                  <a:srgbClr val="111111"/>
                </a:solidFill>
                <a:latin typeface="Geist"/>
                <a:ea typeface="Geist"/>
                <a:cs typeface="Geist"/>
              </a:defRPr>
            </a:pPr>
            <a:r>
              <a:rPr sz="2025" b="0">
                <a:solidFill>
                  <a:srgbClr val="111111"/>
                </a:solidFill>
                <a:latin typeface="Geist"/>
                <a:ea typeface="Geist"/>
                <a:cs typeface="Geist"/>
              </a:rPr>
              <a:t>Later posts and updated reactions stay out of earlier inputs.</a:t>
            </a:r>
          </a:p>
        </p:txBody>
      </p:sp>
      <p:sp>
        <p:nvSpPr>
          <p:cNvPr id="16" name="Freeze at 03:00 UTC. Publish by 03:15. Missing data or failed inferenc">
            <a:extLst xmlns:a="http://schemas.openxmlformats.org/drawingml/2006/main">
              <a:ext uri="{FF2B5EF4-FFF2-40B4-BE49-F238E27FC236}">
                <a16:creationId xmlns:a16="http://schemas.microsoft.com/office/drawing/2014/main" id="{8F1DCC5F-462C-4B6F-91B4-422482D114FA}"/>
              </a:ext>
            </a:extLst>
          </p:cNvPr>
          <p:cNvSpPr>
            <a:spLocks xmlns:a="http://schemas.openxmlformats.org/drawingml/2006/main" noGrp="1"/>
          </p:cNvSpPr>
          <p:nvPr/>
        </p:nvSpPr>
        <p:spPr>
          <a:xfrm xmlns:a="http://schemas.openxmlformats.org/drawingml/2006/main">
            <a:off x="6858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Freeze at 03:00 UTC. Publish by 03:15. Missing data or failed inference remains unavailable.</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hy two databases?">
            <a:extLst xmlns:a="http://schemas.openxmlformats.org/drawingml/2006/main">
              <a:ext uri="{FF2B5EF4-FFF2-40B4-BE49-F238E27FC236}">
                <a16:creationId xmlns:a16="http://schemas.microsoft.com/office/drawing/2014/main" id="{D5631E69-9B70-4919-878A-5C1E67251D0B}"/>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two databases?</a:t>
            </a:r>
          </a:p>
        </p:txBody>
      </p:sp>
      <p:sp>
        <p:nvSpPr>
          <p:cNvPr id="2" name="07">
            <a:extLst xmlns:a="http://schemas.openxmlformats.org/drawingml/2006/main">
              <a:ext uri="{FF2B5EF4-FFF2-40B4-BE49-F238E27FC236}">
                <a16:creationId xmlns:a16="http://schemas.microsoft.com/office/drawing/2014/main" id="{A072B582-2814-4848-8E71-D636BFAA19C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buNone/>
              <a:defRPr sz="1200" b="0">
                <a:solidFill>
                  <a:srgbClr val="555555"/>
                </a:solidFill>
                <a:latin typeface="Geist"/>
                <a:ea typeface="Geist"/>
                <a:cs typeface="Geist"/>
              </a:defRPr>
            </a:pPr>
            <a:r>
              <a:rPr sz="1200" b="0">
                <a:solidFill>
                  <a:srgbClr val="555555"/>
                </a:solidFill>
                <a:latin typeface="Geist"/>
                <a:ea typeface="Geist"/>
                <a:cs typeface="Geist"/>
              </a:rPr>
              <a:t>07</a:t>
            </a:r>
          </a:p>
        </p:txBody>
      </p:sp>
      <p:sp>
        <p:nvSpPr>
          <p:cNvPr id="3" name="PostgreSQL can also store JSON.">
            <a:extLst xmlns:a="http://schemas.openxmlformats.org/drawingml/2006/main">
              <a:ext uri="{FF2B5EF4-FFF2-40B4-BE49-F238E27FC236}">
                <a16:creationId xmlns:a16="http://schemas.microsoft.com/office/drawing/2014/main" id="{186D33AC-F770-46E0-BDF0-51505890002F}"/>
              </a:ext>
            </a:extLst>
          </p:cNvPr>
          <p:cNvSpPr>
            <a:spLocks xmlns:a="http://schemas.openxmlformats.org/drawingml/2006/main" noGrp="1"/>
          </p:cNvSpPr>
          <p:nvPr/>
        </p:nvSpPr>
        <p:spPr>
          <a:xfrm xmlns:a="http://schemas.openxmlformats.org/drawingml/2006/main">
            <a:off x="695325" y="12382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55555"/>
                </a:solidFill>
                <a:latin typeface="Geist"/>
                <a:ea typeface="Geist"/>
                <a:cs typeface="Geist"/>
              </a:defRPr>
            </a:defPPr>
          </a:lstStyle>
          <a:p xmlns:a="http://schemas.openxmlformats.org/drawingml/2006/main">
            <a:pPr algn="l">
              <a:buNone/>
              <a:defRPr sz="2325" b="0">
                <a:solidFill>
                  <a:srgbClr val="555555"/>
                </a:solidFill>
                <a:latin typeface="Geist"/>
                <a:ea typeface="Geist"/>
                <a:cs typeface="Geist"/>
              </a:defRPr>
            </a:pPr>
            <a:r>
              <a:rPr sz="2325" b="0">
                <a:solidFill>
                  <a:srgbClr val="555555"/>
                </a:solidFill>
                <a:latin typeface="Geist"/>
                <a:ea typeface="Geist"/>
                <a:cs typeface="Geist"/>
              </a:rPr>
              <a:t>PostgreSQL can also store JSON.</a:t>
            </a:r>
          </a:p>
        </p:txBody>
      </p:sp>
      <p:pic>
        <p:nvPicPr>
          <p:cNvPr id="4" name="">
            <a:extLst xmlns:a="http://schemas.openxmlformats.org/drawingml/2006/main">
              <a:ext uri="{FF2B5EF4-FFF2-40B4-BE49-F238E27FC236}">
                <a16:creationId xmlns:a16="http://schemas.microsoft.com/office/drawing/2014/main" id="{F6E6AD94-713C-498D-A32C-A4444EDFF623}"/>
              </a:ext>
            </a:extLst>
          </p:cNvPr>
          <p:cNvPicPr>
            <a:picLocks xmlns:a="http://schemas.openxmlformats.org/drawingml/2006/main" noChangeAspect="1"/>
          </p:cNvPicPr>
          <p:nvPr/>
        </p:nvPicPr>
        <p:blipFill>
          <a:blip xmlns:r="http://schemas.openxmlformats.org/officeDocument/2006/relationships" xmlns:a="http://schemas.openxmlformats.org/drawingml/2006/main" r:embed="R7cc8bf7625704691">
            <a:extLst>
              <a:ext uri="{96DAC541-7B7A-43D3-8B79-37D633B846F1}">
                <asvg:svgBlip xmlns:asvg="http://schemas.microsoft.com/office/drawing/2016/SVG/main" r:embed="Rfd8b02e9d4804c71"/>
              </a:ext>
            </a:extLst>
          </a:blip>
          <a:stretch xmlns:a="http://schemas.openxmlformats.org/drawingml/2006/main"/>
        </p:blipFill>
        <p:spPr>
          <a:xfrm xmlns:a="http://schemas.openxmlformats.org/drawingml/2006/main">
            <a:off x="704850" y="2181225"/>
            <a:ext cx="447675" cy="447675"/>
          </a:xfrm>
          <a:prstGeom xmlns:a="http://schemas.openxmlformats.org/drawingml/2006/main" prst="rect">
            <a:avLst/>
          </a:prstGeom>
        </p:spPr>
      </p:pic>
      <p:sp>
        <p:nvSpPr>
          <p:cNvPr id="5" name="MongoDB">
            <a:extLst xmlns:a="http://schemas.openxmlformats.org/drawingml/2006/main">
              <a:ext uri="{FF2B5EF4-FFF2-40B4-BE49-F238E27FC236}">
                <a16:creationId xmlns:a16="http://schemas.microsoft.com/office/drawing/2014/main" id="{FFAC798C-78A0-4F61-A8AE-1B98FED3FECA}"/>
              </a:ext>
            </a:extLst>
          </p:cNvPr>
          <p:cNvSpPr>
            <a:spLocks xmlns:a="http://schemas.openxmlformats.org/drawingml/2006/main" noGrp="1"/>
          </p:cNvSpPr>
          <p:nvPr/>
        </p:nvSpPr>
        <p:spPr>
          <a:xfrm xmlns:a="http://schemas.openxmlformats.org/drawingml/2006/main">
            <a:off x="1371600" y="22002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MongoDB</a:t>
            </a:r>
          </a:p>
        </p:txBody>
      </p:sp>
      <p:pic>
        <p:nvPicPr>
          <p:cNvPr id="6" name="">
            <a:extLst xmlns:a="http://schemas.openxmlformats.org/drawingml/2006/main">
              <a:ext uri="{FF2B5EF4-FFF2-40B4-BE49-F238E27FC236}">
                <a16:creationId xmlns:a16="http://schemas.microsoft.com/office/drawing/2014/main" id="{A1692114-00B8-47E0-BD40-09960510C717}"/>
              </a:ext>
            </a:extLst>
          </p:cNvPr>
          <p:cNvPicPr>
            <a:picLocks xmlns:a="http://schemas.openxmlformats.org/drawingml/2006/main" noChangeAspect="1"/>
          </p:cNvPicPr>
          <p:nvPr/>
        </p:nvPicPr>
        <p:blipFill>
          <a:blip xmlns:r="http://schemas.openxmlformats.org/officeDocument/2006/relationships" xmlns:a="http://schemas.openxmlformats.org/drawingml/2006/main" r:embed="R1a584c57f8cd44cf">
            <a:extLst>
              <a:ext uri="{96DAC541-7B7A-43D3-8B79-37D633B846F1}">
                <asvg:svgBlip xmlns:asvg="http://schemas.microsoft.com/office/drawing/2016/SVG/main" r:embed="R3b127ec14dae4313"/>
              </a:ext>
            </a:extLst>
          </a:blip>
          <a:stretch xmlns:a="http://schemas.openxmlformats.org/drawingml/2006/main"/>
        </p:blipFill>
        <p:spPr>
          <a:xfrm xmlns:a="http://schemas.openxmlformats.org/drawingml/2006/main">
            <a:off x="6867525" y="2181225"/>
            <a:ext cx="447675" cy="447675"/>
          </a:xfrm>
          <a:prstGeom xmlns:a="http://schemas.openxmlformats.org/drawingml/2006/main" prst="rect">
            <a:avLst/>
          </a:prstGeom>
        </p:spPr>
      </p:pic>
      <p:sp>
        <p:nvSpPr>
          <p:cNvPr id="7" name="PostgreSQL">
            <a:extLst xmlns:a="http://schemas.openxmlformats.org/drawingml/2006/main">
              <a:ext uri="{FF2B5EF4-FFF2-40B4-BE49-F238E27FC236}">
                <a16:creationId xmlns:a16="http://schemas.microsoft.com/office/drawing/2014/main" id="{2637E0B1-99F1-488B-B592-8B65D7326B53}"/>
              </a:ext>
            </a:extLst>
          </p:cNvPr>
          <p:cNvSpPr>
            <a:spLocks xmlns:a="http://schemas.openxmlformats.org/drawingml/2006/main" noGrp="1"/>
          </p:cNvSpPr>
          <p:nvPr/>
        </p:nvSpPr>
        <p:spPr>
          <a:xfrm xmlns:a="http://schemas.openxmlformats.org/drawingml/2006/main">
            <a:off x="7534275" y="2200275"/>
            <a:ext cx="3981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PostgreSQL</a:t>
            </a:r>
          </a:p>
        </p:txBody>
      </p:sp>
      <p:sp>
        <p:nvSpPr>
          <p:cNvPr id="8" name="Social documents">
            <a:extLst xmlns:a="http://schemas.openxmlformats.org/drawingml/2006/main">
              <a:ext uri="{FF2B5EF4-FFF2-40B4-BE49-F238E27FC236}">
                <a16:creationId xmlns:a16="http://schemas.microsoft.com/office/drawing/2014/main" id="{45CE1DE8-D420-4349-AE04-3CFD6C3BCCB7}"/>
              </a:ext>
            </a:extLst>
          </p:cNvPr>
          <p:cNvSpPr>
            <a:spLocks xmlns:a="http://schemas.openxmlformats.org/drawingml/2006/main" noGrp="1"/>
          </p:cNvSpPr>
          <p:nvPr/>
        </p:nvSpPr>
        <p:spPr>
          <a:xfrm xmlns:a="http://schemas.openxmlformats.org/drawingml/2006/main">
            <a:off x="704850" y="29622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Social documents</a:t>
            </a:r>
          </a:p>
        </p:txBody>
      </p:sp>
      <p:sp>
        <p:nvSpPr>
          <p:cNvPr id="9" name="Relational analytics">
            <a:extLst xmlns:a="http://schemas.openxmlformats.org/drawingml/2006/main">
              <a:ext uri="{FF2B5EF4-FFF2-40B4-BE49-F238E27FC236}">
                <a16:creationId xmlns:a16="http://schemas.microsoft.com/office/drawing/2014/main" id="{3A393742-4E34-46E3-A85B-A086448FEE3C}"/>
              </a:ext>
            </a:extLst>
          </p:cNvPr>
          <p:cNvSpPr>
            <a:spLocks xmlns:a="http://schemas.openxmlformats.org/drawingml/2006/main" noGrp="1"/>
          </p:cNvSpPr>
          <p:nvPr/>
        </p:nvSpPr>
        <p:spPr>
          <a:xfrm xmlns:a="http://schemas.openxmlformats.org/drawingml/2006/main">
            <a:off x="6877050" y="2962275"/>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Relational analytics</a:t>
            </a:r>
          </a:p>
        </p:txBody>
      </p:sp>
      <p:sp>
        <p:nvSpPr>
          <p:cNvPr id="10" name="Platform-specific fields&#10;Post and comment details&#10;Reaction observation">
            <a:extLst xmlns:a="http://schemas.openxmlformats.org/drawingml/2006/main">
              <a:ext uri="{FF2B5EF4-FFF2-40B4-BE49-F238E27FC236}">
                <a16:creationId xmlns:a16="http://schemas.microsoft.com/office/drawing/2014/main" id="{C7A39177-B8EA-4EDF-8DC1-2AC7A023D40C}"/>
              </a:ext>
            </a:extLst>
          </p:cNvPr>
          <p:cNvSpPr>
            <a:spLocks xmlns:a="http://schemas.openxmlformats.org/drawingml/2006/main" noGrp="1"/>
          </p:cNvSpPr>
          <p:nvPr/>
        </p:nvSpPr>
        <p:spPr>
          <a:xfrm xmlns:a="http://schemas.openxmlformats.org/drawingml/2006/main">
            <a:off x="704850" y="3543300"/>
            <a:ext cx="4953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Posts and observations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Platform-specific fields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Model input / output</a:t>
            </a:r>
          </a:p>
        </p:txBody>
      </p:sp>
      <p:sp>
        <p:nvSpPr>
          <p:cNvPr id="11" name="Keys and constraints&#10;Prices and daily features&#10;SQL joins and aggregati">
            <a:extLst xmlns:a="http://schemas.openxmlformats.org/drawingml/2006/main">
              <a:ext uri="{FF2B5EF4-FFF2-40B4-BE49-F238E27FC236}">
                <a16:creationId xmlns:a16="http://schemas.microsoft.com/office/drawing/2014/main" id="{2958691D-66AA-4DC9-82FF-AD99BB54F343}"/>
              </a:ext>
            </a:extLst>
          </p:cNvPr>
          <p:cNvSpPr>
            <a:spLocks xmlns:a="http://schemas.openxmlformats.org/drawingml/2006/main" noGrp="1"/>
          </p:cNvSpPr>
          <p:nvPr/>
        </p:nvSpPr>
        <p:spPr>
          <a:xfrm xmlns:a="http://schemas.openxmlformats.org/drawingml/2006/main">
            <a:off x="6877050" y="3543300"/>
            <a:ext cx="46291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Prices and daily features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Predictions and outcomes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Keys, constraints and joins</a:t>
            </a:r>
          </a:p>
        </p:txBody>
      </p:sp>
      <p:cxnSp>
        <p:nvCxnSpPr>
          <p:cNvPr id="12" name="Batch data flow">
            <a:extLst xmlns:a="http://schemas.openxmlformats.org/drawingml/2006/main">
              <a:ext uri="{FF2B5EF4-FFF2-40B4-BE49-F238E27FC236}">
                <a16:creationId xmlns:a16="http://schemas.microsoft.com/office/drawing/2014/main" id="{C9ED7F8E-C486-4BC0-8808-A80E1547A6D2}"/>
              </a:ext>
            </a:extLst>
          </p:cNvPr>
          <p:cNvCxnSpPr/>
          <p:nvPr/>
        </p:nvCxnSpPr>
        <p:spPr>
          <a:xfrm xmlns:a="http://schemas.openxmlformats.org/drawingml/2006/main">
            <a:off x="685800" y="5143500"/>
            <a:ext cx="10820400" cy="0"/>
          </a:xfrm>
          <a:prstGeom xmlns:a="http://schemas.openxmlformats.org/drawingml/2006/main" prst="straightConnector1">
            <a:avLst/>
          </a:prstGeom>
          <a:ln xmlns:a="http://schemas.openxmlformats.org/drawingml/2006/main" w="9525">
            <a:solidFill>
              <a:srgbClr val="D5D5D5"/>
            </a:solidFill>
            <a:prstDash val="solid"/>
          </a:ln>
        </p:spPr>
      </p:cxnSp>
      <p:sp>
        <p:nvSpPr>
          <p:cNvPr id="13" name="Document model → ETL → relational model">
            <a:extLst xmlns:a="http://schemas.openxmlformats.org/drawingml/2006/main">
              <a:ext uri="{FF2B5EF4-FFF2-40B4-BE49-F238E27FC236}">
                <a16:creationId xmlns:a16="http://schemas.microsoft.com/office/drawing/2014/main" id="{1D3558F7-D127-47EF-9B06-5BE1CFD1CE2A}"/>
              </a:ext>
            </a:extLst>
          </p:cNvPr>
          <p:cNvSpPr>
            <a:spLocks xmlns:a="http://schemas.openxmlformats.org/drawingml/2006/main" noGrp="1"/>
          </p:cNvSpPr>
          <p:nvPr/>
        </p:nvSpPr>
        <p:spPr>
          <a:xfrm xmlns:a="http://schemas.openxmlformats.org/drawingml/2006/main">
            <a:off x="704850" y="5372100"/>
            <a:ext cx="10801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61955"/>
                </a:solidFill>
                <a:latin typeface="Geist"/>
                <a:ea typeface="Geist"/>
                <a:cs typeface="Geist"/>
              </a:defRPr>
            </a:defPPr>
          </a:lstStyle>
          <a:p xmlns:a="http://schemas.openxmlformats.org/drawingml/2006/main">
            <a:pPr algn="l">
              <a:buNone/>
              <a:defRPr sz="2400" b="1">
                <a:solidFill>
                  <a:srgbClr val="A61955"/>
                </a:solidFill>
                <a:latin typeface="Geist"/>
                <a:ea typeface="Geist"/>
                <a:cs typeface="Geist"/>
              </a:defRPr>
            </a:pPr>
            <a:r>
              <a:rPr sz="2400" b="1">
                <a:solidFill>
                  <a:srgbClr val="A61955"/>
                </a:solidFill>
                <a:latin typeface="Geist"/>
                <a:ea typeface="Geist"/>
                <a:cs typeface="Geist"/>
              </a:rPr>
              <a:t>Document model → ETL → relational model</a:t>
            </a:r>
          </a:p>
        </p:txBody>
      </p:sp>
      <p:sp>
        <p:nvSpPr>
          <p:cNvPr id="14" name="Model both SQL and NoSQL; keep social documents separate from analytic">
            <a:extLst xmlns:a="http://schemas.openxmlformats.org/drawingml/2006/main">
              <a:ext uri="{FF2B5EF4-FFF2-40B4-BE49-F238E27FC236}">
                <a16:creationId xmlns:a16="http://schemas.microsoft.com/office/drawing/2014/main" id="{E6F4A8BA-978B-4522-AB24-548E48E4D014}"/>
              </a:ext>
            </a:extLst>
          </p:cNvPr>
          <p:cNvSpPr>
            <a:spLocks xmlns:a="http://schemas.openxmlformats.org/drawingml/2006/main" noGrp="1"/>
          </p:cNvSpPr>
          <p:nvPr/>
        </p:nvSpPr>
        <p:spPr>
          <a:xfrm xmlns:a="http://schemas.openxmlformats.org/drawingml/2006/main">
            <a:off x="704850" y="58864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Geist"/>
                <a:ea typeface="Geist"/>
                <a:cs typeface="Geist"/>
              </a:defRPr>
            </a:defPPr>
          </a:lstStyle>
          <a:p xmlns:a="http://schemas.openxmlformats.org/drawingml/2006/main">
            <a:pPr algn="l">
              <a:buNone/>
              <a:defRPr sz="1725" b="0">
                <a:solidFill>
                  <a:srgbClr val="111111"/>
                </a:solidFill>
                <a:latin typeface="Geist"/>
                <a:ea typeface="Geist"/>
                <a:cs typeface="Geist"/>
              </a:defRPr>
            </a:pPr>
            <a:r>
              <a:rPr sz="1725" b="0">
                <a:solidFill>
                  <a:srgbClr val="111111"/>
                </a:solidFill>
                <a:latin typeface="Geist"/>
                <a:ea typeface="Geist"/>
                <a:cs typeface="Geist"/>
              </a:rPr>
              <a:t>Document storage and relational analysis, connected by a traceable ETL.</a:t>
            </a:r>
          </a:p>
        </p:txBody>
      </p:sp>
      <p:sp>
        <p:nvSpPr>
          <p:cNvPr id="15" name="Trade-off: two databases, indexes, backups and consistency checks.">
            <a:extLst xmlns:a="http://schemas.openxmlformats.org/drawingml/2006/main">
              <a:ext uri="{FF2B5EF4-FFF2-40B4-BE49-F238E27FC236}">
                <a16:creationId xmlns:a16="http://schemas.microsoft.com/office/drawing/2014/main" id="{43825BC2-D214-44B6-87BF-87FBCA011C5C}"/>
              </a:ext>
            </a:extLst>
          </p:cNvPr>
          <p:cNvSpPr>
            <a:spLocks xmlns:a="http://schemas.openxmlformats.org/drawingml/2006/main" noGrp="1"/>
          </p:cNvSpPr>
          <p:nvPr/>
        </p:nvSpPr>
        <p:spPr>
          <a:xfrm xmlns:a="http://schemas.openxmlformats.org/drawingml/2006/main">
            <a:off x="685800" y="63341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Trade-off: two databases, indexes, backups and consistency checks.</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8" name="Chart">
            <a:extLst xmlns:a="http://schemas.openxmlformats.org/drawingml/2006/main">
              <a:ext uri="{FF2B5EF4-FFF2-40B4-BE49-F238E27FC236}">
                <a16:creationId xmlns:a16="http://schemas.microsoft.com/office/drawing/2014/main" id="{6B7E4FD8-D54B-47F2-94B8-5FB3C1E8EDA0}"/>
              </a:ext>
            </a:extLst>
          </p:cNvPr>
          <p:cNvGraphicFramePr/>
          <p:nvPr/>
        </p:nvGraphicFramePr>
        <p:xfrm>
          <a:off xmlns:a="http://schemas.openxmlformats.org/drawingml/2006/main" x="2276475" y="2857500"/>
          <a:ext xmlns:a="http://schemas.openxmlformats.org/drawingml/2006/main" cx="5743575" cy="2238375"/>
        </p:xfrm>
        <a:graphic xmlns:a="http://schemas.openxmlformats.org/drawingml/2006/main">
          <a:graphicData uri="http://schemas.openxmlformats.org/drawingml/2006/chart">
            <c:chart xmlns:r="http://schemas.openxmlformats.org/officeDocument/2006/relationships" xmlns:c="http://schemas.openxmlformats.org/drawingml/2006/chart" r:id="R55cb470145ce45f8"/>
          </a:graphicData>
        </a:graphic>
      </p:graphicFrame>
      <p:sp>
        <p:nvSpPr>
          <p:cNvPr id="19" name="Prediction dashboard">
            <a:extLst xmlns:a="http://schemas.openxmlformats.org/drawingml/2006/main">
              <a:ext uri="{FF2B5EF4-FFF2-40B4-BE49-F238E27FC236}">
                <a16:creationId xmlns:a16="http://schemas.microsoft.com/office/drawing/2014/main" id="{42E2ED3B-F0B8-4DE9-A67B-69CEE8E62EB8}"/>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Prediction dashboard</a:t>
            </a:r>
          </a:p>
        </p:txBody>
      </p:sp>
      <p:sp>
        <p:nvSpPr>
          <p:cNvPr id="20" name="08">
            <a:extLst xmlns:a="http://schemas.openxmlformats.org/drawingml/2006/main">
              <a:ext uri="{FF2B5EF4-FFF2-40B4-BE49-F238E27FC236}">
                <a16:creationId xmlns:a16="http://schemas.microsoft.com/office/drawing/2014/main" id="{251E86B4-C6E0-451B-BED1-050C95609B2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08</a:t>
            </a:r>
          </a:p>
        </p:txBody>
      </p:sp>
      <p:sp>
        <p:nvSpPr>
          <p:cNvPr id="21" name="Application window">
            <a:extLst xmlns:a="http://schemas.openxmlformats.org/drawingml/2006/main">
              <a:ext uri="{FF2B5EF4-FFF2-40B4-BE49-F238E27FC236}">
                <a16:creationId xmlns:a16="http://schemas.microsoft.com/office/drawing/2014/main" id="{F1BB3AB9-746D-4273-89FF-F2EB2DE86324}"/>
              </a:ext>
            </a:extLst>
          </p:cNvPr>
          <p:cNvSpPr>
            <a:spLocks xmlns:a="http://schemas.openxmlformats.org/drawingml/2006/main" noGrp="1"/>
          </p:cNvSpPr>
          <p:nvPr/>
        </p:nvSpPr>
        <p:spPr>
          <a:xfrm xmlns:a="http://schemas.openxmlformats.org/drawingml/2006/main">
            <a:off x="533400" y="1381125"/>
            <a:ext cx="11125200" cy="4800600"/>
          </a:xfrm>
          <a:prstGeom xmlns:a="http://schemas.openxmlformats.org/drawingml/2006/main" prst="roundRect">
            <a:avLst>
              <a:gd name="adj" fmla="val 1190"/>
            </a:avLst>
          </a:prstGeom>
          <a:noFill xmlns:a="http://schemas.openxmlformats.org/drawingml/2006/main"/>
          <a:ln xmlns:a="http://schemas.openxmlformats.org/drawingml/2006/main" w="12859">
            <a:solidFill>
              <a:srgbClr val="D5D5D5"/>
            </a:solidFill>
          </a:ln>
        </p:spPr>
      </p:sp>
      <p:cxnSp>
        <p:nvCxnSpPr>
          <p:cNvPr id="22" name="Data flow">
            <a:extLst xmlns:a="http://schemas.openxmlformats.org/drawingml/2006/main">
              <a:ext uri="{FF2B5EF4-FFF2-40B4-BE49-F238E27FC236}">
                <a16:creationId xmlns:a16="http://schemas.microsoft.com/office/drawing/2014/main" id="{05E58C0C-AEB4-40FA-9A57-913A9687778E}"/>
              </a:ext>
            </a:extLst>
          </p:cNvPr>
          <p:cNvCxnSpPr/>
          <p:nvPr/>
        </p:nvCxnSpPr>
        <p:spPr>
          <a:xfrm xmlns:a="http://schemas.openxmlformats.org/drawingml/2006/main">
            <a:off x="533400" y="1952625"/>
            <a:ext cx="11125200" cy="0"/>
          </a:xfrm>
          <a:prstGeom xmlns:a="http://schemas.openxmlformats.org/drawingml/2006/main" prst="straightConnector1">
            <a:avLst/>
          </a:prstGeom>
          <a:ln xmlns:a="http://schemas.openxmlformats.org/drawingml/2006/main" w="9525">
            <a:solidFill>
              <a:srgbClr val="D5D5D5"/>
            </a:solidFill>
            <a:prstDash val="solid"/>
          </a:ln>
        </p:spPr>
      </p:cxnSp>
      <p:cxnSp>
        <p:nvCxnSpPr>
          <p:cNvPr id="23" name="Data flow">
            <a:extLst xmlns:a="http://schemas.openxmlformats.org/drawingml/2006/main">
              <a:ext uri="{FF2B5EF4-FFF2-40B4-BE49-F238E27FC236}">
                <a16:creationId xmlns:a16="http://schemas.microsoft.com/office/drawing/2014/main" id="{97A65B93-04D5-4A4C-8D5C-B7E7DB128FF4}"/>
              </a:ext>
            </a:extLst>
          </p:cNvPr>
          <p:cNvCxnSpPr/>
          <p:nvPr/>
        </p:nvCxnSpPr>
        <p:spPr>
          <a:xfrm xmlns:a="http://schemas.openxmlformats.org/drawingml/2006/main">
            <a:off x="2057400" y="1952625"/>
            <a:ext cx="0" cy="4229100"/>
          </a:xfrm>
          <a:prstGeom xmlns:a="http://schemas.openxmlformats.org/drawingml/2006/main" prst="straightConnector1">
            <a:avLst/>
          </a:prstGeom>
          <a:ln xmlns:a="http://schemas.openxmlformats.org/drawingml/2006/main" w="9525">
            <a:solidFill>
              <a:srgbClr val="D5D5D5"/>
            </a:solidFill>
            <a:prstDash val="solid"/>
          </a:ln>
        </p:spPr>
      </p:cxnSp>
      <p:sp>
        <p:nvSpPr>
          <p:cNvPr id="24" name="MemeScope">
            <a:extLst xmlns:a="http://schemas.openxmlformats.org/drawingml/2006/main">
              <a:ext uri="{FF2B5EF4-FFF2-40B4-BE49-F238E27FC236}">
                <a16:creationId xmlns:a16="http://schemas.microsoft.com/office/drawing/2014/main" id="{BA2CBB88-0C5C-4D4A-8ABA-9E6D7DB90646}"/>
              </a:ext>
            </a:extLst>
          </p:cNvPr>
          <p:cNvSpPr>
            <a:spLocks xmlns:a="http://schemas.openxmlformats.org/drawingml/2006/main" noGrp="1"/>
          </p:cNvSpPr>
          <p:nvPr/>
        </p:nvSpPr>
        <p:spPr>
          <a:xfrm xmlns:a="http://schemas.openxmlformats.org/drawingml/2006/main">
            <a:off x="742950" y="15525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MemeScope</a:t>
            </a:r>
          </a:p>
        </p:txBody>
      </p:sp>
      <p:sp>
        <p:nvSpPr>
          <p:cNvPr id="25" name="Price + social direction">
            <a:extLst xmlns:a="http://schemas.openxmlformats.org/drawingml/2006/main">
              <a:ext uri="{FF2B5EF4-FFF2-40B4-BE49-F238E27FC236}">
                <a16:creationId xmlns:a16="http://schemas.microsoft.com/office/drawing/2014/main" id="{66F48AFC-1852-4A0C-BE41-69D2857EA7E9}"/>
              </a:ext>
            </a:extLst>
          </p:cNvPr>
          <p:cNvSpPr>
            <a:spLocks xmlns:a="http://schemas.openxmlformats.org/drawingml/2006/main" noGrp="1"/>
          </p:cNvSpPr>
          <p:nvPr/>
        </p:nvSpPr>
        <p:spPr>
          <a:xfrm xmlns:a="http://schemas.openxmlformats.org/drawingml/2006/main">
            <a:off x="2667000" y="16097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Price + social direction</a:t>
            </a:r>
          </a:p>
        </p:txBody>
      </p:sp>
      <p:sp>
        <p:nvSpPr>
          <p:cNvPr id="26" name="ILLUSTRATIVE UI">
            <a:extLst xmlns:a="http://schemas.openxmlformats.org/drawingml/2006/main">
              <a:ext uri="{FF2B5EF4-FFF2-40B4-BE49-F238E27FC236}">
                <a16:creationId xmlns:a16="http://schemas.microsoft.com/office/drawing/2014/main" id="{DAF3F23C-5135-4A29-87B2-860CE4A2B8B8}"/>
              </a:ext>
            </a:extLst>
          </p:cNvPr>
          <p:cNvSpPr>
            <a:spLocks xmlns:a="http://schemas.openxmlformats.org/drawingml/2006/main" noGrp="1"/>
          </p:cNvSpPr>
          <p:nvPr/>
        </p:nvSpPr>
        <p:spPr>
          <a:xfrm xmlns:a="http://schemas.openxmlformats.org/drawingml/2006/main">
            <a:off x="9696450" y="1609725"/>
            <a:ext cx="1771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A61955"/>
                </a:solidFill>
                <a:latin typeface="Geist Mono"/>
                <a:ea typeface="Geist Mono"/>
                <a:cs typeface="Geist Mono"/>
              </a:defRPr>
            </a:defPPr>
          </a:lstStyle>
          <a:p xmlns:a="http://schemas.openxmlformats.org/drawingml/2006/main">
            <a:pPr algn="r">
              <a:defRPr sz="1125" b="1">
                <a:solidFill>
                  <a:srgbClr val="A61955"/>
                </a:solidFill>
                <a:latin typeface="Geist Mono"/>
                <a:ea typeface="Geist Mono"/>
                <a:cs typeface="Geist Mono"/>
              </a:defRPr>
            </a:pPr>
            <a:r>
              <a:rPr sz="1125" b="1">
                <a:solidFill>
                  <a:srgbClr val="A61955"/>
                </a:solidFill>
                <a:latin typeface="Geist Mono"/>
                <a:ea typeface="Geist Mono"/>
                <a:cs typeface="Geist Mono"/>
              </a:rPr>
              <a:t>ILLUSTRATIVE UI</a:t>
            </a:r>
          </a:p>
        </p:txBody>
      </p:sp>
      <p:sp>
        <p:nvSpPr>
          <p:cNvPr id="27" name="WATCHLIST">
            <a:extLst xmlns:a="http://schemas.openxmlformats.org/drawingml/2006/main">
              <a:ext uri="{FF2B5EF4-FFF2-40B4-BE49-F238E27FC236}">
                <a16:creationId xmlns:a16="http://schemas.microsoft.com/office/drawing/2014/main" id="{9D6E3557-4FF3-410A-BE43-1E7622AA177E}"/>
              </a:ext>
            </a:extLst>
          </p:cNvPr>
          <p:cNvSpPr>
            <a:spLocks xmlns:a="http://schemas.openxmlformats.org/drawingml/2006/main" noGrp="1"/>
          </p:cNvSpPr>
          <p:nvPr/>
        </p:nvSpPr>
        <p:spPr>
          <a:xfrm xmlns:a="http://schemas.openxmlformats.org/drawingml/2006/main">
            <a:off x="742950" y="215265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WATCHLIST</a:t>
            </a:r>
          </a:p>
        </p:txBody>
      </p:sp>
      <p:sp>
        <p:nvSpPr>
          <p:cNvPr id="28" name="Selected coin">
            <a:extLst xmlns:a="http://schemas.openxmlformats.org/drawingml/2006/main">
              <a:ext uri="{FF2B5EF4-FFF2-40B4-BE49-F238E27FC236}">
                <a16:creationId xmlns:a16="http://schemas.microsoft.com/office/drawing/2014/main" id="{9CF34A5D-7B86-4536-872D-19B4440D66F1}"/>
              </a:ext>
            </a:extLst>
          </p:cNvPr>
          <p:cNvSpPr>
            <a:spLocks xmlns:a="http://schemas.openxmlformats.org/drawingml/2006/main" noGrp="1"/>
          </p:cNvSpPr>
          <p:nvPr/>
        </p:nvSpPr>
        <p:spPr>
          <a:xfrm xmlns:a="http://schemas.openxmlformats.org/drawingml/2006/main">
            <a:off x="666750" y="2514600"/>
            <a:ext cx="1238250" cy="381000"/>
          </a:xfrm>
          <a:prstGeom xmlns:a="http://schemas.openxmlformats.org/drawingml/2006/main" prst="roundRect">
            <a:avLst>
              <a:gd name="adj" fmla="val 15000"/>
            </a:avLst>
          </a:prstGeom>
          <a:noFill xmlns:a="http://schemas.openxmlformats.org/drawingml/2006/main"/>
          <a:ln xmlns:a="http://schemas.openxmlformats.org/drawingml/2006/main" w="12859">
            <a:solidFill>
              <a:srgbClr val="A61955"/>
            </a:solidFill>
          </a:ln>
        </p:spPr>
      </p:sp>
      <p:sp>
        <p:nvSpPr>
          <p:cNvPr id="29" name="DOGE">
            <a:extLst xmlns:a="http://schemas.openxmlformats.org/drawingml/2006/main">
              <a:ext uri="{FF2B5EF4-FFF2-40B4-BE49-F238E27FC236}">
                <a16:creationId xmlns:a16="http://schemas.microsoft.com/office/drawing/2014/main" id="{1565C1DF-3F8C-4088-925D-C5DC5B0DFFEE}"/>
              </a:ext>
            </a:extLst>
          </p:cNvPr>
          <p:cNvSpPr>
            <a:spLocks xmlns:a="http://schemas.openxmlformats.org/drawingml/2006/main" noGrp="1"/>
          </p:cNvSpPr>
          <p:nvPr/>
        </p:nvSpPr>
        <p:spPr>
          <a:xfrm xmlns:a="http://schemas.openxmlformats.org/drawingml/2006/main">
            <a:off x="819150" y="26003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61955"/>
                </a:solidFill>
                <a:latin typeface="Geist"/>
                <a:ea typeface="Geist"/>
                <a:cs typeface="Geist"/>
              </a:defRPr>
            </a:defPPr>
          </a:lstStyle>
          <a:p xmlns:a="http://schemas.openxmlformats.org/drawingml/2006/main">
            <a:pPr algn="l">
              <a:defRPr sz="1500" b="1">
                <a:solidFill>
                  <a:srgbClr val="A61955"/>
                </a:solidFill>
                <a:latin typeface="Geist"/>
                <a:ea typeface="Geist"/>
                <a:cs typeface="Geist"/>
              </a:defRPr>
            </a:pPr>
            <a:r>
              <a:rPr sz="1500" b="1">
                <a:solidFill>
                  <a:srgbClr val="A61955"/>
                </a:solidFill>
                <a:latin typeface="Geist"/>
                <a:ea typeface="Geist"/>
                <a:cs typeface="Geist"/>
              </a:rPr>
              <a:t>DOGE</a:t>
            </a:r>
          </a:p>
        </p:txBody>
      </p:sp>
      <p:sp>
        <p:nvSpPr>
          <p:cNvPr id="30" name="SHIB">
            <a:extLst xmlns:a="http://schemas.openxmlformats.org/drawingml/2006/main">
              <a:ext uri="{FF2B5EF4-FFF2-40B4-BE49-F238E27FC236}">
                <a16:creationId xmlns:a16="http://schemas.microsoft.com/office/drawing/2014/main" id="{BDF7A130-275A-4A54-841E-60EF1E4DA924}"/>
              </a:ext>
            </a:extLst>
          </p:cNvPr>
          <p:cNvSpPr>
            <a:spLocks xmlns:a="http://schemas.openxmlformats.org/drawingml/2006/main" noGrp="1"/>
          </p:cNvSpPr>
          <p:nvPr/>
        </p:nvSpPr>
        <p:spPr>
          <a:xfrm xmlns:a="http://schemas.openxmlformats.org/drawingml/2006/main">
            <a:off x="819150" y="310515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SHIB</a:t>
            </a:r>
          </a:p>
        </p:txBody>
      </p:sp>
      <p:sp>
        <p:nvSpPr>
          <p:cNvPr id="31" name="PEPE">
            <a:extLst xmlns:a="http://schemas.openxmlformats.org/drawingml/2006/main">
              <a:ext uri="{FF2B5EF4-FFF2-40B4-BE49-F238E27FC236}">
                <a16:creationId xmlns:a16="http://schemas.microsoft.com/office/drawing/2014/main" id="{DC948950-FDCA-47B5-99B7-38EF011FB644}"/>
              </a:ext>
            </a:extLst>
          </p:cNvPr>
          <p:cNvSpPr>
            <a:spLocks xmlns:a="http://schemas.openxmlformats.org/drawingml/2006/main" noGrp="1"/>
          </p:cNvSpPr>
          <p:nvPr/>
        </p:nvSpPr>
        <p:spPr>
          <a:xfrm xmlns:a="http://schemas.openxmlformats.org/drawingml/2006/main">
            <a:off x="819150" y="351472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PEPE</a:t>
            </a:r>
          </a:p>
        </p:txBody>
      </p:sp>
      <p:sp>
        <p:nvSpPr>
          <p:cNvPr id="32" name="BONK">
            <a:extLst xmlns:a="http://schemas.openxmlformats.org/drawingml/2006/main">
              <a:ext uri="{FF2B5EF4-FFF2-40B4-BE49-F238E27FC236}">
                <a16:creationId xmlns:a16="http://schemas.microsoft.com/office/drawing/2014/main" id="{F19E0718-4ADB-459E-B173-6FB888490980}"/>
              </a:ext>
            </a:extLst>
          </p:cNvPr>
          <p:cNvSpPr>
            <a:spLocks xmlns:a="http://schemas.openxmlformats.org/drawingml/2006/main" noGrp="1"/>
          </p:cNvSpPr>
          <p:nvPr/>
        </p:nvSpPr>
        <p:spPr>
          <a:xfrm xmlns:a="http://schemas.openxmlformats.org/drawingml/2006/main">
            <a:off x="819150" y="392430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BONK</a:t>
            </a:r>
          </a:p>
        </p:txBody>
      </p:sp>
      <p:sp>
        <p:nvSpPr>
          <p:cNvPr id="33" name="SPX">
            <a:extLst xmlns:a="http://schemas.openxmlformats.org/drawingml/2006/main">
              <a:ext uri="{FF2B5EF4-FFF2-40B4-BE49-F238E27FC236}">
                <a16:creationId xmlns:a16="http://schemas.microsoft.com/office/drawing/2014/main" id="{A9A7CB90-7BF8-4473-AF81-06EB233E009C}"/>
              </a:ext>
            </a:extLst>
          </p:cNvPr>
          <p:cNvSpPr>
            <a:spLocks xmlns:a="http://schemas.openxmlformats.org/drawingml/2006/main" noGrp="1"/>
          </p:cNvSpPr>
          <p:nvPr/>
        </p:nvSpPr>
        <p:spPr>
          <a:xfrm xmlns:a="http://schemas.openxmlformats.org/drawingml/2006/main">
            <a:off x="819150" y="433387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SPX</a:t>
            </a:r>
          </a:p>
        </p:txBody>
      </p:sp>
      <p:sp>
        <p:nvSpPr>
          <p:cNvPr id="34" name="10 price assets&#10;5 forecast assets">
            <a:extLst xmlns:a="http://schemas.openxmlformats.org/drawingml/2006/main">
              <a:ext uri="{FF2B5EF4-FFF2-40B4-BE49-F238E27FC236}">
                <a16:creationId xmlns:a16="http://schemas.microsoft.com/office/drawing/2014/main" id="{DA0EDBFA-D4B1-409B-9FDD-45C20A704BC2}"/>
              </a:ext>
            </a:extLst>
          </p:cNvPr>
          <p:cNvSpPr>
            <a:spLocks xmlns:a="http://schemas.openxmlformats.org/drawingml/2006/main" noGrp="1"/>
          </p:cNvSpPr>
          <p:nvPr/>
        </p:nvSpPr>
        <p:spPr>
          <a:xfrm xmlns:a="http://schemas.openxmlformats.org/drawingml/2006/main">
            <a:off x="742950" y="525780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10 price assets</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5 forecast assets</a:t>
            </a:r>
          </a:p>
        </p:txBody>
      </p:sp>
      <p:sp>
        <p:nvSpPr>
          <p:cNvPr id="35" name="Daily batch">
            <a:extLst xmlns:a="http://schemas.openxmlformats.org/drawingml/2006/main">
              <a:ext uri="{FF2B5EF4-FFF2-40B4-BE49-F238E27FC236}">
                <a16:creationId xmlns:a16="http://schemas.microsoft.com/office/drawing/2014/main" id="{CDF1BFEE-EBEA-4656-BAA4-C4F3767D5CF0}"/>
              </a:ext>
            </a:extLst>
          </p:cNvPr>
          <p:cNvSpPr>
            <a:spLocks xmlns:a="http://schemas.openxmlformats.org/drawingml/2006/main" noGrp="1"/>
          </p:cNvSpPr>
          <p:nvPr/>
        </p:nvSpPr>
        <p:spPr>
          <a:xfrm xmlns:a="http://schemas.openxmlformats.org/drawingml/2006/main">
            <a:off x="742950" y="58578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Daily batch</a:t>
            </a:r>
          </a:p>
        </p:txBody>
      </p:sp>
      <p:sp>
        <p:nvSpPr>
          <p:cNvPr id="36" name="DOGE">
            <a:extLst xmlns:a="http://schemas.openxmlformats.org/drawingml/2006/main">
              <a:ext uri="{FF2B5EF4-FFF2-40B4-BE49-F238E27FC236}">
                <a16:creationId xmlns:a16="http://schemas.microsoft.com/office/drawing/2014/main" id="{BCA00378-1C8A-4ACD-AE0E-490F7436B494}"/>
              </a:ext>
            </a:extLst>
          </p:cNvPr>
          <p:cNvSpPr>
            <a:spLocks xmlns:a="http://schemas.openxmlformats.org/drawingml/2006/main" noGrp="1"/>
          </p:cNvSpPr>
          <p:nvPr/>
        </p:nvSpPr>
        <p:spPr>
          <a:xfrm xmlns:a="http://schemas.openxmlformats.org/drawingml/2006/main">
            <a:off x="2286000" y="2114550"/>
            <a:ext cx="95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DOGE</a:t>
            </a:r>
          </a:p>
        </p:txBody>
      </p:sp>
      <p:sp>
        <p:nvSpPr>
          <p:cNvPr id="37" name="$0.0945">
            <a:extLst xmlns:a="http://schemas.openxmlformats.org/drawingml/2006/main">
              <a:ext uri="{FF2B5EF4-FFF2-40B4-BE49-F238E27FC236}">
                <a16:creationId xmlns:a16="http://schemas.microsoft.com/office/drawing/2014/main" id="{F3E773A0-F9D1-4999-BFC9-ADB48ED82E12}"/>
              </a:ext>
            </a:extLst>
          </p:cNvPr>
          <p:cNvSpPr>
            <a:spLocks xmlns:a="http://schemas.openxmlformats.org/drawingml/2006/main" noGrp="1"/>
          </p:cNvSpPr>
          <p:nvPr/>
        </p:nvSpPr>
        <p:spPr>
          <a:xfrm xmlns:a="http://schemas.openxmlformats.org/drawingml/2006/main">
            <a:off x="3419475" y="2114550"/>
            <a:ext cx="128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$0.0945</a:t>
            </a:r>
          </a:p>
        </p:txBody>
      </p:sp>
      <p:sp>
        <p:nvSpPr>
          <p:cNvPr id="38" name="+0.66%  1D">
            <a:extLst xmlns:a="http://schemas.openxmlformats.org/drawingml/2006/main">
              <a:ext uri="{FF2B5EF4-FFF2-40B4-BE49-F238E27FC236}">
                <a16:creationId xmlns:a16="http://schemas.microsoft.com/office/drawing/2014/main" id="{14D16F45-AD88-4AD4-8A9B-F39EC402F4C4}"/>
              </a:ext>
            </a:extLst>
          </p:cNvPr>
          <p:cNvSpPr>
            <a:spLocks xmlns:a="http://schemas.openxmlformats.org/drawingml/2006/main" noGrp="1"/>
          </p:cNvSpPr>
          <p:nvPr/>
        </p:nvSpPr>
        <p:spPr>
          <a:xfrm xmlns:a="http://schemas.openxmlformats.org/drawingml/2006/main">
            <a:off x="4857750" y="21812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61955"/>
                </a:solidFill>
                <a:latin typeface="Geist"/>
                <a:ea typeface="Geist"/>
                <a:cs typeface="Geist"/>
              </a:defRPr>
            </a:defPPr>
          </a:lstStyle>
          <a:p xmlns:a="http://schemas.openxmlformats.org/drawingml/2006/main">
            <a:pPr algn="l">
              <a:defRPr sz="1350" b="0">
                <a:solidFill>
                  <a:srgbClr val="A61955"/>
                </a:solidFill>
                <a:latin typeface="Geist"/>
                <a:ea typeface="Geist"/>
                <a:cs typeface="Geist"/>
              </a:defRPr>
            </a:pPr>
            <a:r>
              <a:rPr sz="1350" b="0">
                <a:solidFill>
                  <a:srgbClr val="A61955"/>
                </a:solidFill>
                <a:latin typeface="Geist"/>
                <a:ea typeface="Geist"/>
                <a:cs typeface="Geist"/>
              </a:rPr>
              <a:t>+0.66%  1D</a:t>
            </a:r>
          </a:p>
        </p:txBody>
      </p:sp>
      <p:sp>
        <p:nvSpPr>
          <p:cNvPr id="39" name="Close: 30 Sep 2026">
            <a:extLst xmlns:a="http://schemas.openxmlformats.org/drawingml/2006/main">
              <a:ext uri="{FF2B5EF4-FFF2-40B4-BE49-F238E27FC236}">
                <a16:creationId xmlns:a16="http://schemas.microsoft.com/office/drawing/2014/main" id="{0DAE594F-BAD0-4CA3-92A4-AE3B80DD98F8}"/>
              </a:ext>
            </a:extLst>
          </p:cNvPr>
          <p:cNvSpPr>
            <a:spLocks xmlns:a="http://schemas.openxmlformats.org/drawingml/2006/main" noGrp="1"/>
          </p:cNvSpPr>
          <p:nvPr/>
        </p:nvSpPr>
        <p:spPr>
          <a:xfrm xmlns:a="http://schemas.openxmlformats.org/drawingml/2006/main">
            <a:off x="2286000" y="2514600"/>
            <a:ext cx="2714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Close: 30 Sep 2026</a:t>
            </a:r>
          </a:p>
        </p:txBody>
      </p:sp>
      <p:sp>
        <p:nvSpPr>
          <p:cNvPr id="40" name="Q3 2026">
            <a:extLst xmlns:a="http://schemas.openxmlformats.org/drawingml/2006/main">
              <a:ext uri="{FF2B5EF4-FFF2-40B4-BE49-F238E27FC236}">
                <a16:creationId xmlns:a16="http://schemas.microsoft.com/office/drawing/2014/main" id="{85497FBE-4A79-4357-BA28-705CAFE10915}"/>
              </a:ext>
            </a:extLst>
          </p:cNvPr>
          <p:cNvSpPr>
            <a:spLocks xmlns:a="http://schemas.openxmlformats.org/drawingml/2006/main" noGrp="1"/>
          </p:cNvSpPr>
          <p:nvPr/>
        </p:nvSpPr>
        <p:spPr>
          <a:xfrm xmlns:a="http://schemas.openxmlformats.org/drawingml/2006/main">
            <a:off x="6705600" y="2505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55555"/>
                </a:solidFill>
                <a:latin typeface="Geist Mono"/>
                <a:ea typeface="Geist Mono"/>
                <a:cs typeface="Geist Mono"/>
              </a:defRPr>
            </a:defPPr>
          </a:lstStyle>
          <a:p xmlns:a="http://schemas.openxmlformats.org/drawingml/2006/main">
            <a:pPr algn="r">
              <a:defRPr sz="1275" b="0">
                <a:solidFill>
                  <a:srgbClr val="555555"/>
                </a:solidFill>
                <a:latin typeface="Geist Mono"/>
                <a:ea typeface="Geist Mono"/>
                <a:cs typeface="Geist Mono"/>
              </a:defRPr>
            </a:pPr>
            <a:r>
              <a:rPr sz="1275" b="0">
                <a:solidFill>
                  <a:srgbClr val="555555"/>
                </a:solidFill>
                <a:latin typeface="Geist Mono"/>
                <a:ea typeface="Geist Mono"/>
                <a:cs typeface="Geist Mono"/>
              </a:rPr>
              <a:t>Q3 2026</a:t>
            </a:r>
          </a:p>
        </p:txBody>
      </p:sp>
      <p:cxnSp>
        <p:nvCxnSpPr>
          <p:cNvPr id="41" name="Data flow">
            <a:extLst xmlns:a="http://schemas.openxmlformats.org/drawingml/2006/main">
              <a:ext uri="{FF2B5EF4-FFF2-40B4-BE49-F238E27FC236}">
                <a16:creationId xmlns:a16="http://schemas.microsoft.com/office/drawing/2014/main" id="{429FEA2E-63CC-491C-85BB-59ECA316E274}"/>
              </a:ext>
            </a:extLst>
          </p:cNvPr>
          <p:cNvCxnSpPr/>
          <p:nvPr/>
        </p:nvCxnSpPr>
        <p:spPr>
          <a:xfrm xmlns:a="http://schemas.openxmlformats.org/drawingml/2006/main">
            <a:off x="2286000" y="5248275"/>
            <a:ext cx="5734050" cy="0"/>
          </a:xfrm>
          <a:prstGeom xmlns:a="http://schemas.openxmlformats.org/drawingml/2006/main" prst="straightConnector1">
            <a:avLst/>
          </a:prstGeom>
          <a:ln xmlns:a="http://schemas.openxmlformats.org/drawingml/2006/main" w="9525">
            <a:solidFill>
              <a:srgbClr val="D5D5D5"/>
            </a:solidFill>
            <a:prstDash val="solid"/>
          </a:ln>
        </p:spPr>
      </p:cxnSp>
      <p:sp>
        <p:nvSpPr>
          <p:cNvPr id="42" name="Past predictions">
            <a:extLst xmlns:a="http://schemas.openxmlformats.org/drawingml/2006/main">
              <a:ext uri="{FF2B5EF4-FFF2-40B4-BE49-F238E27FC236}">
                <a16:creationId xmlns:a16="http://schemas.microsoft.com/office/drawing/2014/main" id="{3F37995D-6B5D-4B0E-AAF5-73FE21027E8C}"/>
              </a:ext>
            </a:extLst>
          </p:cNvPr>
          <p:cNvSpPr>
            <a:spLocks xmlns:a="http://schemas.openxmlformats.org/drawingml/2006/main" noGrp="1"/>
          </p:cNvSpPr>
          <p:nvPr/>
        </p:nvSpPr>
        <p:spPr>
          <a:xfrm xmlns:a="http://schemas.openxmlformats.org/drawingml/2006/main">
            <a:off x="2286000" y="5381625"/>
            <a:ext cx="266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11111"/>
                </a:solidFill>
                <a:latin typeface="Geist"/>
                <a:ea typeface="Geist"/>
                <a:cs typeface="Geist"/>
              </a:defRPr>
            </a:defPPr>
          </a:lstStyle>
          <a:p xmlns:a="http://schemas.openxmlformats.org/drawingml/2006/main">
            <a:pPr algn="l">
              <a:defRPr sz="1500" b="1">
                <a:solidFill>
                  <a:srgbClr val="111111"/>
                </a:solidFill>
                <a:latin typeface="Geist"/>
                <a:ea typeface="Geist"/>
                <a:cs typeface="Geist"/>
              </a:defRPr>
            </a:pPr>
            <a:r>
              <a:rPr sz="1500" b="1">
                <a:solidFill>
                  <a:srgbClr val="111111"/>
                </a:solidFill>
                <a:latin typeface="Geist"/>
                <a:ea typeface="Geist"/>
                <a:cs typeface="Geist"/>
              </a:rPr>
              <a:t>Past predictions</a:t>
            </a:r>
          </a:p>
        </p:txBody>
      </p:sp>
      <p:sp>
        <p:nvSpPr>
          <p:cNvPr id="43" name="Awaiting prospective results">
            <a:extLst xmlns:a="http://schemas.openxmlformats.org/drawingml/2006/main">
              <a:ext uri="{FF2B5EF4-FFF2-40B4-BE49-F238E27FC236}">
                <a16:creationId xmlns:a16="http://schemas.microsoft.com/office/drawing/2014/main" id="{BFA998DF-7F66-4509-AD2D-65AAA5070FC2}"/>
              </a:ext>
            </a:extLst>
          </p:cNvPr>
          <p:cNvSpPr>
            <a:spLocks xmlns:a="http://schemas.openxmlformats.org/drawingml/2006/main" noGrp="1"/>
          </p:cNvSpPr>
          <p:nvPr/>
        </p:nvSpPr>
        <p:spPr>
          <a:xfrm xmlns:a="http://schemas.openxmlformats.org/drawingml/2006/main">
            <a:off x="2286000" y="57435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Awaiting prospective results</a:t>
            </a:r>
          </a:p>
        </p:txBody>
      </p:sp>
      <p:sp>
        <p:nvSpPr>
          <p:cNvPr id="44" name="No accuracy measured">
            <a:extLst xmlns:a="http://schemas.openxmlformats.org/drawingml/2006/main">
              <a:ext uri="{FF2B5EF4-FFF2-40B4-BE49-F238E27FC236}">
                <a16:creationId xmlns:a16="http://schemas.microsoft.com/office/drawing/2014/main" id="{83643B6D-8861-4D25-9087-0C2479D7EE3F}"/>
              </a:ext>
            </a:extLst>
          </p:cNvPr>
          <p:cNvSpPr>
            <a:spLocks xmlns:a="http://schemas.openxmlformats.org/drawingml/2006/main" noGrp="1"/>
          </p:cNvSpPr>
          <p:nvPr/>
        </p:nvSpPr>
        <p:spPr>
          <a:xfrm xmlns:a="http://schemas.openxmlformats.org/drawingml/2006/main">
            <a:off x="6048375" y="5410200"/>
            <a:ext cx="1971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5555"/>
                </a:solidFill>
                <a:latin typeface="Geist"/>
                <a:ea typeface="Geist"/>
                <a:cs typeface="Geist"/>
              </a:defRPr>
            </a:defPPr>
          </a:lstStyle>
          <a:p xmlns:a="http://schemas.openxmlformats.org/drawingml/2006/main">
            <a:pPr algn="r">
              <a:defRPr sz="1125" b="0">
                <a:solidFill>
                  <a:srgbClr val="555555"/>
                </a:solidFill>
                <a:latin typeface="Geist"/>
                <a:ea typeface="Geist"/>
                <a:cs typeface="Geist"/>
              </a:defRPr>
            </a:pPr>
            <a:r>
              <a:rPr sz="1125" b="0">
                <a:solidFill>
                  <a:srgbClr val="555555"/>
                </a:solidFill>
                <a:latin typeface="Geist"/>
                <a:ea typeface="Geist"/>
                <a:cs typeface="Geist"/>
              </a:rPr>
              <a:t>No accuracy measured</a:t>
            </a:r>
          </a:p>
        </p:txBody>
      </p:sp>
      <p:sp>
        <p:nvSpPr>
          <p:cNvPr id="45" name="Demo next-close prediction">
            <a:extLst xmlns:a="http://schemas.openxmlformats.org/drawingml/2006/main">
              <a:ext uri="{FF2B5EF4-FFF2-40B4-BE49-F238E27FC236}">
                <a16:creationId xmlns:a16="http://schemas.microsoft.com/office/drawing/2014/main" id="{B4D4D033-F417-4720-98E2-BECFF3EEC2C8}"/>
              </a:ext>
            </a:extLst>
          </p:cNvPr>
          <p:cNvSpPr>
            <a:spLocks xmlns:a="http://schemas.openxmlformats.org/drawingml/2006/main" noGrp="1"/>
          </p:cNvSpPr>
          <p:nvPr/>
        </p:nvSpPr>
        <p:spPr>
          <a:xfrm xmlns:a="http://schemas.openxmlformats.org/drawingml/2006/main">
            <a:off x="8239125" y="2095500"/>
            <a:ext cx="3190875" cy="1866900"/>
          </a:xfrm>
          <a:prstGeom xmlns:a="http://schemas.openxmlformats.org/drawingml/2006/main" prst="roundRect">
            <a:avLst>
              <a:gd name="adj" fmla="val 3061"/>
            </a:avLst>
          </a:prstGeom>
          <a:noFill xmlns:a="http://schemas.openxmlformats.org/drawingml/2006/main"/>
          <a:ln xmlns:a="http://schemas.openxmlformats.org/drawingml/2006/main" w="12859">
            <a:solidFill>
              <a:srgbClr val="A61955"/>
            </a:solidFill>
          </a:ln>
        </p:spPr>
      </p:sp>
      <p:sp>
        <p:nvSpPr>
          <p:cNvPr id="46" name="NEXT CLOSE">
            <a:extLst xmlns:a="http://schemas.openxmlformats.org/drawingml/2006/main">
              <a:ext uri="{FF2B5EF4-FFF2-40B4-BE49-F238E27FC236}">
                <a16:creationId xmlns:a16="http://schemas.microsoft.com/office/drawing/2014/main" id="{6A264DF0-1624-4530-8F1F-12B3DBB7065B}"/>
              </a:ext>
            </a:extLst>
          </p:cNvPr>
          <p:cNvSpPr>
            <a:spLocks xmlns:a="http://schemas.openxmlformats.org/drawingml/2006/main" noGrp="1"/>
          </p:cNvSpPr>
          <p:nvPr/>
        </p:nvSpPr>
        <p:spPr>
          <a:xfrm xmlns:a="http://schemas.openxmlformats.org/drawingml/2006/main">
            <a:off x="8410575" y="2257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NEXT CLOSE</a:t>
            </a:r>
          </a:p>
        </p:txBody>
      </p:sp>
      <p:sp>
        <p:nvSpPr>
          <p:cNvPr id="47" name="EXAMPLE">
            <a:extLst xmlns:a="http://schemas.openxmlformats.org/drawingml/2006/main">
              <a:ext uri="{FF2B5EF4-FFF2-40B4-BE49-F238E27FC236}">
                <a16:creationId xmlns:a16="http://schemas.microsoft.com/office/drawing/2014/main" id="{066FDFE0-BBFF-4D65-8412-863E88512D6D}"/>
              </a:ext>
            </a:extLst>
          </p:cNvPr>
          <p:cNvSpPr>
            <a:spLocks xmlns:a="http://schemas.openxmlformats.org/drawingml/2006/main" noGrp="1"/>
          </p:cNvSpPr>
          <p:nvPr/>
        </p:nvSpPr>
        <p:spPr>
          <a:xfrm xmlns:a="http://schemas.openxmlformats.org/drawingml/2006/main">
            <a:off x="10363200" y="2257425"/>
            <a:ext cx="895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1">
                <a:solidFill>
                  <a:srgbClr val="A61955"/>
                </a:solidFill>
                <a:latin typeface="Geist Mono"/>
                <a:ea typeface="Geist Mono"/>
                <a:cs typeface="Geist Mono"/>
              </a:defRPr>
            </a:defPPr>
          </a:lstStyle>
          <a:p xmlns:a="http://schemas.openxmlformats.org/drawingml/2006/main">
            <a:pPr algn="r">
              <a:defRPr sz="1050" b="1">
                <a:solidFill>
                  <a:srgbClr val="A61955"/>
                </a:solidFill>
                <a:latin typeface="Geist Mono"/>
                <a:ea typeface="Geist Mono"/>
                <a:cs typeface="Geist Mono"/>
              </a:defRPr>
            </a:pPr>
            <a:r>
              <a:rPr sz="1050" b="1">
                <a:solidFill>
                  <a:srgbClr val="A61955"/>
                </a:solidFill>
                <a:latin typeface="Geist Mono"/>
                <a:ea typeface="Geist Mono"/>
                <a:cs typeface="Geist Mono"/>
              </a:rPr>
              <a:t>EXAMPLE</a:t>
            </a:r>
          </a:p>
        </p:txBody>
      </p:sp>
      <p:sp>
        <p:nvSpPr>
          <p:cNvPr id="48" name="↑ UP">
            <a:extLst xmlns:a="http://schemas.openxmlformats.org/drawingml/2006/main">
              <a:ext uri="{FF2B5EF4-FFF2-40B4-BE49-F238E27FC236}">
                <a16:creationId xmlns:a16="http://schemas.microsoft.com/office/drawing/2014/main" id="{56C0C8E2-209C-4D59-BDF9-9CE78DFD4702}"/>
              </a:ext>
            </a:extLst>
          </p:cNvPr>
          <p:cNvSpPr>
            <a:spLocks xmlns:a="http://schemas.openxmlformats.org/drawingml/2006/main" noGrp="1"/>
          </p:cNvSpPr>
          <p:nvPr/>
        </p:nvSpPr>
        <p:spPr>
          <a:xfrm xmlns:a="http://schemas.openxmlformats.org/drawingml/2006/main">
            <a:off x="8401050" y="2543175"/>
            <a:ext cx="142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A61955"/>
                </a:solidFill>
                <a:latin typeface="Geist"/>
                <a:ea typeface="Geist"/>
                <a:cs typeface="Geist"/>
              </a:defRPr>
            </a:defPPr>
          </a:lstStyle>
          <a:p xmlns:a="http://schemas.openxmlformats.org/drawingml/2006/main">
            <a:pPr algn="l">
              <a:defRPr sz="3525" b="1">
                <a:solidFill>
                  <a:srgbClr val="A61955"/>
                </a:solidFill>
                <a:latin typeface="Geist"/>
                <a:ea typeface="Geist"/>
                <a:cs typeface="Geist"/>
              </a:defRPr>
            </a:pPr>
            <a:r>
              <a:rPr sz="3525" b="1">
                <a:solidFill>
                  <a:srgbClr val="A61955"/>
                </a:solidFill>
                <a:latin typeface="Geist"/>
                <a:ea typeface="Geist"/>
                <a:cs typeface="Geist"/>
              </a:rPr>
              <a:t>↑ UP</a:t>
            </a:r>
          </a:p>
        </p:txBody>
      </p:sp>
      <p:sp>
        <p:nvSpPr>
          <p:cNvPr id="49" name="Target&#10;01 Oct 2026">
            <a:extLst xmlns:a="http://schemas.openxmlformats.org/drawingml/2006/main">
              <a:ext uri="{FF2B5EF4-FFF2-40B4-BE49-F238E27FC236}">
                <a16:creationId xmlns:a16="http://schemas.microsoft.com/office/drawing/2014/main" id="{000D98EE-5C7F-461E-B4D0-B7A50DCA8EFB}"/>
              </a:ext>
            </a:extLst>
          </p:cNvPr>
          <p:cNvSpPr>
            <a:spLocks xmlns:a="http://schemas.openxmlformats.org/drawingml/2006/main" noGrp="1"/>
          </p:cNvSpPr>
          <p:nvPr/>
        </p:nvSpPr>
        <p:spPr>
          <a:xfrm xmlns:a="http://schemas.openxmlformats.org/drawingml/2006/main">
            <a:off x="9877425" y="262890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1111"/>
                </a:solidFill>
                <a:latin typeface="Geist"/>
                <a:ea typeface="Geist"/>
                <a:cs typeface="Geist"/>
              </a:defRPr>
            </a:defPPr>
          </a:lstStyle>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Target</a:t>
            </a:r>
          </a:p>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01 Oct 2026</a:t>
            </a:r>
          </a:p>
        </p:txBody>
      </p:sp>
      <p:sp>
        <p:nvSpPr>
          <p:cNvPr id="50" name="Example rationale">
            <a:extLst xmlns:a="http://schemas.openxmlformats.org/drawingml/2006/main">
              <a:ext uri="{FF2B5EF4-FFF2-40B4-BE49-F238E27FC236}">
                <a16:creationId xmlns:a16="http://schemas.microsoft.com/office/drawing/2014/main" id="{8640DC3B-F6C2-4B59-B6B9-8030D9F30BF1}"/>
              </a:ext>
            </a:extLst>
          </p:cNvPr>
          <p:cNvSpPr>
            <a:spLocks xmlns:a="http://schemas.openxmlformats.org/drawingml/2006/main" noGrp="1"/>
          </p:cNvSpPr>
          <p:nvPr/>
        </p:nvSpPr>
        <p:spPr>
          <a:xfrm xmlns:a="http://schemas.openxmlformats.org/drawingml/2006/main">
            <a:off x="8410575" y="3209925"/>
            <a:ext cx="276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11111"/>
                </a:solidFill>
                <a:latin typeface="Geist"/>
                <a:ea typeface="Geist"/>
                <a:cs typeface="Geist"/>
              </a:defRPr>
            </a:defPPr>
          </a:lstStyle>
          <a:p xmlns:a="http://schemas.openxmlformats.org/drawingml/2006/main">
            <a:pPr algn="l">
              <a:defRPr sz="1200" b="1">
                <a:solidFill>
                  <a:srgbClr val="111111"/>
                </a:solidFill>
                <a:latin typeface="Geist"/>
                <a:ea typeface="Geist"/>
                <a:cs typeface="Geist"/>
              </a:defRPr>
            </a:pPr>
            <a:r>
              <a:rPr sz="1200" b="1">
                <a:solidFill>
                  <a:srgbClr val="111111"/>
                </a:solidFill>
                <a:latin typeface="Geist"/>
                <a:ea typeface="Geist"/>
                <a:cs typeface="Geist"/>
              </a:rPr>
              <a:t>Example rationale</a:t>
            </a:r>
          </a:p>
        </p:txBody>
      </p:sp>
      <p:sp>
        <p:nvSpPr>
          <p:cNvPr id="51" name="Momentum + positive discussion">
            <a:extLst xmlns:a="http://schemas.openxmlformats.org/drawingml/2006/main">
              <a:ext uri="{FF2B5EF4-FFF2-40B4-BE49-F238E27FC236}">
                <a16:creationId xmlns:a16="http://schemas.microsoft.com/office/drawing/2014/main" id="{7ED4605C-DAA0-4297-B7E3-76BAB7492F43}"/>
              </a:ext>
            </a:extLst>
          </p:cNvPr>
          <p:cNvSpPr>
            <a:spLocks xmlns:a="http://schemas.openxmlformats.org/drawingml/2006/main" noGrp="1"/>
          </p:cNvSpPr>
          <p:nvPr/>
        </p:nvSpPr>
        <p:spPr>
          <a:xfrm xmlns:a="http://schemas.openxmlformats.org/drawingml/2006/main">
            <a:off x="8410575" y="3476625"/>
            <a:ext cx="2828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a:ea typeface="Geist"/>
                <a:cs typeface="Geist"/>
              </a:defRPr>
            </a:defPPr>
          </a:lstStyle>
          <a:p xmlns:a="http://schemas.openxmlformats.org/drawingml/2006/main">
            <a:pPr algn="l">
              <a:defRPr sz="1200" b="0">
                <a:solidFill>
                  <a:srgbClr val="555555"/>
                </a:solidFill>
                <a:latin typeface="Geist"/>
                <a:ea typeface="Geist"/>
                <a:cs typeface="Geist"/>
              </a:defRPr>
            </a:pPr>
            <a:r>
              <a:rPr sz="1200" b="0">
                <a:solidFill>
                  <a:srgbClr val="555555"/>
                </a:solidFill>
                <a:latin typeface="Geist"/>
                <a:ea typeface="Geist"/>
                <a:cs typeface="Geist"/>
              </a:rPr>
              <a:t>Momentum + positive discussion</a:t>
            </a:r>
          </a:p>
        </p:txBody>
      </p:sp>
      <p:sp>
        <p:nvSpPr>
          <p:cNvPr id="52" name="View supporting posts">
            <a:extLst xmlns:a="http://schemas.openxmlformats.org/drawingml/2006/main">
              <a:ext uri="{FF2B5EF4-FFF2-40B4-BE49-F238E27FC236}">
                <a16:creationId xmlns:a16="http://schemas.microsoft.com/office/drawing/2014/main" id="{726C2631-6C3F-444A-91EA-D9AFBEE2BAFC}"/>
              </a:ext>
            </a:extLst>
          </p:cNvPr>
          <p:cNvSpPr>
            <a:spLocks xmlns:a="http://schemas.openxmlformats.org/drawingml/2006/main" noGrp="1"/>
          </p:cNvSpPr>
          <p:nvPr/>
        </p:nvSpPr>
        <p:spPr>
          <a:xfrm xmlns:a="http://schemas.openxmlformats.org/drawingml/2006/main">
            <a:off x="8410575" y="3752850"/>
            <a:ext cx="2828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A61955"/>
                </a:solidFill>
                <a:latin typeface="Geist"/>
                <a:ea typeface="Geist"/>
                <a:cs typeface="Geist"/>
              </a:defRPr>
            </a:defPPr>
          </a:lstStyle>
          <a:p xmlns:a="http://schemas.openxmlformats.org/drawingml/2006/main">
            <a:pPr algn="l">
              <a:defRPr sz="1050" b="0">
                <a:solidFill>
                  <a:srgbClr val="A61955"/>
                </a:solidFill>
                <a:latin typeface="Geist"/>
                <a:ea typeface="Geist"/>
                <a:cs typeface="Geist"/>
              </a:defRPr>
            </a:pPr>
            <a:r>
              <a:rPr sz="1050" b="0">
                <a:solidFill>
                  <a:srgbClr val="A61955"/>
                </a:solidFill>
                <a:latin typeface="Geist"/>
                <a:ea typeface="Geist"/>
                <a:cs typeface="Geist"/>
              </a:rPr>
              <a:t>View supporting posts</a:t>
            </a:r>
          </a:p>
        </p:txBody>
      </p:sp>
      <p:cxnSp>
        <p:nvCxnSpPr>
          <p:cNvPr id="53" name="Data flow">
            <a:extLst xmlns:a="http://schemas.openxmlformats.org/drawingml/2006/main">
              <a:ext uri="{FF2B5EF4-FFF2-40B4-BE49-F238E27FC236}">
                <a16:creationId xmlns:a16="http://schemas.microsoft.com/office/drawing/2014/main" id="{EEC86681-6B41-44E6-A439-5D485CD56263}"/>
              </a:ext>
            </a:extLst>
          </p:cNvPr>
          <p:cNvCxnSpPr/>
          <p:nvPr/>
        </p:nvCxnSpPr>
        <p:spPr>
          <a:xfrm xmlns:a="http://schemas.openxmlformats.org/drawingml/2006/main">
            <a:off x="8239125" y="4143375"/>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4" name="Tracked topics">
            <a:extLst xmlns:a="http://schemas.openxmlformats.org/drawingml/2006/main">
              <a:ext uri="{FF2B5EF4-FFF2-40B4-BE49-F238E27FC236}">
                <a16:creationId xmlns:a16="http://schemas.microsoft.com/office/drawing/2014/main" id="{1DD82D4F-C591-44CB-9119-D3C68FF7AE17}"/>
              </a:ext>
            </a:extLst>
          </p:cNvPr>
          <p:cNvSpPr>
            <a:spLocks xmlns:a="http://schemas.openxmlformats.org/drawingml/2006/main" noGrp="1"/>
          </p:cNvSpPr>
          <p:nvPr/>
        </p:nvSpPr>
        <p:spPr>
          <a:xfrm xmlns:a="http://schemas.openxmlformats.org/drawingml/2006/main">
            <a:off x="8239125" y="425767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Tracked topics</a:t>
            </a:r>
          </a:p>
        </p:txBody>
      </p:sp>
      <p:sp>
        <p:nvSpPr>
          <p:cNvPr id="55" name="EXAMPLE">
            <a:extLst xmlns:a="http://schemas.openxmlformats.org/drawingml/2006/main">
              <a:ext uri="{FF2B5EF4-FFF2-40B4-BE49-F238E27FC236}">
                <a16:creationId xmlns:a16="http://schemas.microsoft.com/office/drawing/2014/main" id="{B8A25461-8063-405C-BE43-D330A3AF25A8}"/>
              </a:ext>
            </a:extLst>
          </p:cNvPr>
          <p:cNvSpPr>
            <a:spLocks xmlns:a="http://schemas.openxmlformats.org/drawingml/2006/main" noGrp="1"/>
          </p:cNvSpPr>
          <p:nvPr/>
        </p:nvSpPr>
        <p:spPr>
          <a:xfrm xmlns:a="http://schemas.openxmlformats.org/drawingml/2006/main">
            <a:off x="10477500" y="43053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61955"/>
                </a:solidFill>
                <a:latin typeface="Geist Mono"/>
                <a:ea typeface="Geist Mono"/>
                <a:cs typeface="Geist Mono"/>
              </a:defRPr>
            </a:defPPr>
          </a:lstStyle>
          <a:p xmlns:a="http://schemas.openxmlformats.org/drawingml/2006/main">
            <a:pPr algn="r">
              <a:defRPr sz="975" b="0">
                <a:solidFill>
                  <a:srgbClr val="A61955"/>
                </a:solidFill>
                <a:latin typeface="Geist Mono"/>
                <a:ea typeface="Geist Mono"/>
                <a:cs typeface="Geist Mono"/>
              </a:defRPr>
            </a:pPr>
            <a:r>
              <a:rPr sz="975" b="0">
                <a:solidFill>
                  <a:srgbClr val="A61955"/>
                </a:solidFill>
                <a:latin typeface="Geist Mono"/>
                <a:ea typeface="Geist Mono"/>
                <a:cs typeface="Geist Mono"/>
              </a:rPr>
              <a:t>EXAMPLE</a:t>
            </a:r>
          </a:p>
        </p:txBody>
      </p:sp>
      <p:sp>
        <p:nvSpPr>
          <p:cNvPr id="56" name="Community growth&#10;Exchange chatter">
            <a:extLst xmlns:a="http://schemas.openxmlformats.org/drawingml/2006/main">
              <a:ext uri="{FF2B5EF4-FFF2-40B4-BE49-F238E27FC236}">
                <a16:creationId xmlns:a16="http://schemas.microsoft.com/office/drawing/2014/main" id="{53A0E9EB-7983-4757-80E0-28AD612623EF}"/>
              </a:ext>
            </a:extLst>
          </p:cNvPr>
          <p:cNvSpPr>
            <a:spLocks xmlns:a="http://schemas.openxmlformats.org/drawingml/2006/main" noGrp="1"/>
          </p:cNvSpPr>
          <p:nvPr/>
        </p:nvSpPr>
        <p:spPr>
          <a:xfrm xmlns:a="http://schemas.openxmlformats.org/drawingml/2006/main">
            <a:off x="8239125" y="46005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a:ea typeface="Geist"/>
                <a:cs typeface="Geist"/>
              </a:defRPr>
            </a:defPPr>
          </a:lstStyle>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Community growth</a:t>
            </a:r>
          </a:p>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Exchange chatter</a:t>
            </a:r>
          </a:p>
        </p:txBody>
      </p:sp>
      <p:cxnSp>
        <p:nvCxnSpPr>
          <p:cNvPr id="57" name="Data flow">
            <a:extLst xmlns:a="http://schemas.openxmlformats.org/drawingml/2006/main">
              <a:ext uri="{FF2B5EF4-FFF2-40B4-BE49-F238E27FC236}">
                <a16:creationId xmlns:a16="http://schemas.microsoft.com/office/drawing/2014/main" id="{2ADEEEC5-BF73-4EB2-A41F-1F0C4ACA946C}"/>
              </a:ext>
            </a:extLst>
          </p:cNvPr>
          <p:cNvCxnSpPr/>
          <p:nvPr/>
        </p:nvCxnSpPr>
        <p:spPr>
          <a:xfrm xmlns:a="http://schemas.openxmlformats.org/drawingml/2006/main">
            <a:off x="8239125" y="5200650"/>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8" name="Meme gallery">
            <a:extLst xmlns:a="http://schemas.openxmlformats.org/drawingml/2006/main">
              <a:ext uri="{FF2B5EF4-FFF2-40B4-BE49-F238E27FC236}">
                <a16:creationId xmlns:a16="http://schemas.microsoft.com/office/drawing/2014/main" id="{1CD019F3-74D6-4830-B2F6-7CA1C035369A}"/>
              </a:ext>
            </a:extLst>
          </p:cNvPr>
          <p:cNvSpPr>
            <a:spLocks xmlns:a="http://schemas.openxmlformats.org/drawingml/2006/main" noGrp="1"/>
          </p:cNvSpPr>
          <p:nvPr/>
        </p:nvSpPr>
        <p:spPr>
          <a:xfrm xmlns:a="http://schemas.openxmlformats.org/drawingml/2006/main">
            <a:off x="8239125" y="5334000"/>
            <a:ext cx="185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Meme gallery</a:t>
            </a:r>
          </a:p>
        </p:txBody>
      </p:sp>
      <p:sp>
        <p:nvSpPr>
          <p:cNvPr id="59" name="Layout sample&#10;Icons8 illustration">
            <a:extLst xmlns:a="http://schemas.openxmlformats.org/drawingml/2006/main">
              <a:ext uri="{FF2B5EF4-FFF2-40B4-BE49-F238E27FC236}">
                <a16:creationId xmlns:a16="http://schemas.microsoft.com/office/drawing/2014/main" id="{C1E00E22-404A-41DA-A67D-0BBE595AA1BD}"/>
              </a:ext>
            </a:extLst>
          </p:cNvPr>
          <p:cNvSpPr>
            <a:spLocks xmlns:a="http://schemas.openxmlformats.org/drawingml/2006/main" noGrp="1"/>
          </p:cNvSpPr>
          <p:nvPr/>
        </p:nvSpPr>
        <p:spPr>
          <a:xfrm xmlns:a="http://schemas.openxmlformats.org/drawingml/2006/main">
            <a:off x="8239125" y="5610225"/>
            <a:ext cx="1924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Layout sample</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Icons8 illustration</a:t>
            </a:r>
          </a:p>
        </p:txBody>
      </p:sp>
      <p:pic>
        <p:nvPicPr>
          <p:cNvPr id="60" name="">
            <a:extLst xmlns:a="http://schemas.openxmlformats.org/drawingml/2006/main">
              <a:ext uri="{FF2B5EF4-FFF2-40B4-BE49-F238E27FC236}">
                <a16:creationId xmlns:a16="http://schemas.microsoft.com/office/drawing/2014/main" id="{E09AA9AA-7F90-47F3-97E3-B5C7990A9E4E}"/>
              </a:ext>
            </a:extLst>
          </p:cNvPr>
          <p:cNvPicPr>
            <a:picLocks xmlns:a="http://schemas.openxmlformats.org/drawingml/2006/main" noChangeAspect="1"/>
          </p:cNvPicPr>
          <p:nvPr/>
        </p:nvPicPr>
        <p:blipFill>
          <a:blip xmlns:r="http://schemas.openxmlformats.org/officeDocument/2006/relationships" xmlns:a="http://schemas.openxmlformats.org/drawingml/2006/main" r:embed="Rcba9b6ea2e7d49c0"/>
          <a:stretch xmlns:a="http://schemas.openxmlformats.org/drawingml/2006/main"/>
        </p:blipFill>
        <p:spPr>
          <a:xfrm xmlns:a="http://schemas.openxmlformats.org/drawingml/2006/main">
            <a:off x="10448925" y="5305425"/>
            <a:ext cx="781050" cy="781050"/>
          </a:xfrm>
          <a:prstGeom xmlns:a="http://schemas.openxmlformats.org/drawingml/2006/main" prst="rect">
            <a:avLst/>
          </a:prstGeom>
        </p:spPr>
      </p:pic>
      <p:sp>
        <p:nvSpPr>
          <p:cNvPr id="61" name="Supplied DOGE prices. Prediction and social text are examples. Image: ">
            <a:extLst xmlns:a="http://schemas.openxmlformats.org/drawingml/2006/main">
              <a:ext uri="{FF2B5EF4-FFF2-40B4-BE49-F238E27FC236}">
                <a16:creationId xmlns:a16="http://schemas.microsoft.com/office/drawing/2014/main" id="{733DD14C-51EE-4126-A040-B28A1CB69F75}"/>
              </a:ext>
            </a:extLst>
          </p:cNvPr>
          <p:cNvSpPr>
            <a:spLocks xmlns:a="http://schemas.openxmlformats.org/drawingml/2006/main" noGrp="1"/>
          </p:cNvSpPr>
          <p:nvPr/>
        </p:nvSpPr>
        <p:spPr>
          <a:xfrm xmlns:a="http://schemas.openxmlformats.org/drawingml/2006/main">
            <a:off x="685800" y="6372225"/>
            <a:ext cx="1004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Supplied DOGE prices. Prediction and social text are examples. Image: Icons8.</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2026-10-15T07:07:22.0920000Z</dcterms:created>
  <dcterms:modified xsi:type="dcterms:W3CDTF">2026-10-15T07:07:22.0920000Z</dcterms:modified>
</coreProperties>
</file>